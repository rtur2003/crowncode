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4688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88952" cy="64008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A800"/>
                </a:solidFill>
              </a:rPr>
              <a:t>03 — TASARIM VE GELİŞTİRME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Sistem Mimarisi ve Yöntem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C6D6"/>
                </a:solidFill>
              </a:rPr>
              <a:t>Ham sesten karara: yedi aşamalı uçtan uca işlem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2A2A2A"/>
                </a:solidFill>
              </a:rPr>
              <a:t>●  Veri katmanı: 5.195 ses örneği sekiz farklı insan ve YZ kaynağından derlendi.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A2A2A"/>
                </a:solidFill>
              </a:rPr>
              <a:t>●  Öznitelik katmanı: librosa ile 22.050 Hz'de 47 boyutlu vektör çıkarıldı.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A2A2A"/>
                </a:solidFill>
              </a:rPr>
              <a:t>●  Model katmanı: 7 ML + 4 DL modeli 5-katlı çapraz doğrulamada karşılaştırıldı.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A2A2A"/>
                </a:solidFill>
              </a:rPr>
              <a:t>●  Karar katmanı: LightGBM olasılığına Youden-optimal eşik (θ*=0,4316) uygulandı.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A2A2A"/>
                </a:solidFill>
              </a:rPr>
              <a:t>●  Açıklama katmanı: TreeSHAP her kararın akustik gerekçesini üretir.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MIMARI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AURIS Uçtan Uca İşleyiş Şeması</a:t>
            </a:r>
          </a:p>
        </p:txBody>
      </p:sp>
      <p:pic>
        <p:nvPicPr>
          <p:cNvPr id="6" name="Picture 5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68096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34456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707A"/>
                </a:solidFill>
              </a:rPr>
              <a:t>Şekil 1: Yedi aşamalı işlem zinciri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600200"/>
            <a:ext cx="3611880" cy="4297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600200"/>
            <a:ext cx="82296" cy="4297680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7099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A800"/>
                </a:solidFill>
              </a:rPr>
              <a:t>Aşamalar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2103120"/>
            <a:ext cx="32918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1 · Ham ses (WAV/MP3)
2 · Ön işleme: 22.050 Hz, mono
3 · 47 öznitelik çıkarma
4 · StandardScaler (kat-içi)
5 · 11 model / 5-katlı CV
6 · Youden eşik θ*=0,4316
7 · Karar + SHAP açıklaması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VERI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Veri Kümesi Kompozisyonu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875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AEC6D6"/>
                </a:solidFill>
              </a:rPr>
              <a:t>5.195 örnek · 8 kaynak · iki sınıf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39319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581912"/>
            <a:ext cx="38221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Kaynak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54480"/>
            <a:ext cx="26517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15819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Tür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554480"/>
            <a:ext cx="18288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2592" y="1581912"/>
            <a:ext cx="17190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Örnek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51392" y="1581912"/>
            <a:ext cx="1353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Etiket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56816"/>
            <a:ext cx="3931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993392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GTZAN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956816"/>
            <a:ext cx="26517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1993392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İnsan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1956816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59" y="1993392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899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0" y="1956816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1993392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350008"/>
            <a:ext cx="393192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386584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FMA Small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2350008"/>
            <a:ext cx="265176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386584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İnsan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350008"/>
            <a:ext cx="182880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59" y="2386584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1.000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2350008"/>
            <a:ext cx="146304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2386584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743200"/>
            <a:ext cx="3931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2779776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SleepyJesse (kapak)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2743200"/>
            <a:ext cx="26517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277977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İnsan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274320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779776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854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0" y="2743200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277977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136392"/>
            <a:ext cx="393192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172968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Diğer insan kaynağı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80" y="3136392"/>
            <a:ext cx="265176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43400" y="3172968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İnsan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3136392"/>
            <a:ext cx="182880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5159" y="3172968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360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0" y="3136392"/>
            <a:ext cx="146304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23960" y="3172968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29584"/>
            <a:ext cx="3931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3566160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Echoes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0" y="3529584"/>
            <a:ext cx="26517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43400" y="3566160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Yapay zekâ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3529584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95159" y="3566160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1.128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78240" y="3529584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23960" y="3566160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922776"/>
            <a:ext cx="393192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3959352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Suno (v3-v5)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97680" y="3922776"/>
            <a:ext cx="265176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43400" y="3959352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Yapay zekâ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3922776"/>
            <a:ext cx="182880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95159" y="3959352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500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78240" y="3922776"/>
            <a:ext cx="146304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23960" y="3959352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4315968"/>
            <a:ext cx="3931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4352544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Deepfake seti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0" y="4315968"/>
            <a:ext cx="26517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3400" y="4352544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Yapay zekâ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49440" y="4315968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995159" y="4352544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492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0" y="4315968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823960" y="4352544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709160"/>
            <a:ext cx="393192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4745736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AImE/Mustango/JEN-1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97680" y="4709160"/>
            <a:ext cx="265176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43400" y="474573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Yapay zekâ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49440" y="4709160"/>
            <a:ext cx="182880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4745736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204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78240" y="4709160"/>
            <a:ext cx="1463040" cy="365760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823960" y="474573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2A2A2A"/>
                </a:solidFill>
              </a:rP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5102352"/>
            <a:ext cx="3931920" cy="365760"/>
          </a:xfrm>
          <a:prstGeom prst="rect">
            <a:avLst/>
          </a:prstGeom>
          <a:solidFill>
            <a:srgbClr val="E9F6EC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5138928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1A6B3A"/>
                </a:solidFill>
              </a:rPr>
              <a:t>TOPLAM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97680" y="5102352"/>
            <a:ext cx="2651760" cy="365760"/>
          </a:xfrm>
          <a:prstGeom prst="rect">
            <a:avLst/>
          </a:prstGeom>
          <a:solidFill>
            <a:srgbClr val="E9F6EC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43400" y="5138928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1A6B3A"/>
                </a:solidFill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49440" y="5102352"/>
            <a:ext cx="1828800" cy="365760"/>
          </a:xfrm>
          <a:prstGeom prst="rect">
            <a:avLst/>
          </a:prstGeom>
          <a:solidFill>
            <a:srgbClr val="E9F6EC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95159" y="5138928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778240" y="5102352"/>
            <a:ext cx="1463040" cy="365760"/>
          </a:xfrm>
          <a:prstGeom prst="rect">
            <a:avLst/>
          </a:prstGeom>
          <a:solidFill>
            <a:srgbClr val="E9F6EC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823960" y="5138928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1A6B3A"/>
                </a:solidFill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8229600" y="1554480"/>
            <a:ext cx="3611880" cy="2103120"/>
          </a:xfrm>
          <a:prstGeom prst="rect">
            <a:avLst/>
          </a:prstGeom>
          <a:solidFill>
            <a:srgbClr val="E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229600" y="1554480"/>
            <a:ext cx="82296" cy="21031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30768" y="1664207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Sınıf Dengesi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8" y="20574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İnsan (sınıf 0):  3.113  ·  %59,9
Yapay zekâ (1):  2.082  ·  %40,1
Dengesizlik şu yöntemlerle giderildi:
class_weight='balanced'
is_unbalance=True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229600" y="3794760"/>
            <a:ext cx="3611880" cy="210312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29600" y="3794760"/>
            <a:ext cx="82296" cy="2103120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30768" y="39044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İnsan Kaynakları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30768" y="429768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GTZAN — tür çeşitliliği
FMA Small — bağımsız sanatçılar
SleepyJesse — kapak performansı
YZ kaynakları sekiz farklı üretici sistemden örneklendi.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ÖZNITELIK MÜHENDISLIĞI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47 Boyutlu Heterojen Akustik Vektör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875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AEC6D6"/>
                </a:solidFill>
              </a:rPr>
              <a:t>Beş işlevsel aile — tek temsile aşırı uyumu sınırlamak için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365760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365760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55064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Spektral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1691640"/>
            <a:ext cx="822960" cy="310896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1709928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D2B55"/>
                </a:solidFill>
              </a:rPr>
              <a:t>16 boyut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194560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MFCC, mel-spektrogram, spectral centroid,
bandwidth, rolloff, flatness ve delta istatistikleri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29184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007A87"/>
                </a:solidFill>
              </a:rPr>
              <a:t>▸ Frekans içeriği ve tını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0200"/>
            <a:ext cx="365760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600200"/>
            <a:ext cx="365760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1655064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Zamansal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691640"/>
            <a:ext cx="822960" cy="310896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1709928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D2B55"/>
                </a:solidFill>
              </a:rPr>
              <a:t>10 boyut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2194560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RMS enerjisi, sıfır geçiş hızı,
dinamik aralık türevleri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29184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007A87"/>
                </a:solidFill>
              </a:rPr>
              <a:t>▸ Enerji ve zaman yapısı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600200"/>
            <a:ext cx="365760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1600200"/>
            <a:ext cx="365760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1655064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Ritmik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835640" y="1691640"/>
            <a:ext cx="822960" cy="310896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5640" y="1709928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D2B55"/>
                </a:solidFill>
              </a:rPr>
              <a:t>9 boyut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2194560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Tempo, beat sayısı,
onset gücü istatistikleri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329184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007A87"/>
                </a:solidFill>
              </a:rPr>
              <a:t>▸ Ritim ve vuruş düzeni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886200"/>
            <a:ext cx="365760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3886200"/>
            <a:ext cx="365760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41063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Harmonik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3977639"/>
            <a:ext cx="822960" cy="310896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63240" y="3995927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D2B55"/>
                </a:solidFill>
              </a:rPr>
              <a:t>8 boyut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480560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Chroma vektörü, tonnetz,
harmonik-algısal ayrıştırma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" y="557784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007A87"/>
                </a:solidFill>
              </a:rPr>
              <a:t>▸ Perde ve akor yapısı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3886200"/>
            <a:ext cx="365760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1960" y="3886200"/>
            <a:ext cx="365760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3941063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Vokal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3977639"/>
            <a:ext cx="822960" cy="310896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3995927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D2B55"/>
                </a:solidFill>
              </a:rPr>
              <a:t>4 boyut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61688" y="4480560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Temel frekans, vibrato,
formant tutarlılığı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557784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007A87"/>
                </a:solidFill>
              </a:rPr>
              <a:t>▸ Şarkı sesi davranışı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09560" y="3886200"/>
            <a:ext cx="3886200" cy="2103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01000" y="4023360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Toplam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4389120"/>
            <a:ext cx="3703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0A800"/>
                </a:solidFill>
              </a:rPr>
              <a:t>47 boyut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1000" y="5212080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EC6D6"/>
                </a:solidFill>
              </a:rPr>
              <a:t>16 + 10 + 9 + 8 + 4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5623560"/>
            <a:ext cx="3703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A8C0"/>
                </a:solidFill>
              </a:rPr>
              <a:t>librosa ile çıkarıldı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ÖZNITELIK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YZ ve İnsan Müziğinin Dağılım Farkları</a:t>
            </a:r>
          </a:p>
        </p:txBody>
      </p:sp>
      <p:pic>
        <p:nvPicPr>
          <p:cNvPr id="6" name="Picture 5" descr="feature_distribution_ai_vs_hu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589520" cy="4434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071616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707A"/>
                </a:solidFill>
              </a:rPr>
              <a:t>Şekil 2: İlk sekiz özniteliğin sınıf bazlı dağılımları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1600200"/>
            <a:ext cx="3703320" cy="4434840"/>
          </a:xfrm>
          <a:prstGeom prst="rect">
            <a:avLst/>
          </a:prstGeom>
          <a:solidFill>
            <a:srgbClr val="E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38160" y="1600200"/>
            <a:ext cx="82296" cy="443484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709928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Yorum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03120"/>
            <a:ext cx="3383279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YZ üretimi parçalar belirli özniteliklerde insan kayıtlarından sistematik biçimde ayrışıyor.
Özellikle spectral_flatness değerleri YZ müziğinde daha düzenli ve yüksek — bu, üretim sistemlerinin algısal kaliteyi optimize ederken daha 'düz' bir spektrum bırakmasından kaynaklanıyor.
Bu görsel ayrım, sonradan SHAP analiziyle de doğrulanan en güçlü ayırt edici özelliğin temelini oluşturuyor.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MODELLEME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On Bir Sınıflandırma Modeli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875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AEC6D6"/>
                </a:solidFill>
              </a:rPr>
              <a:t>Ortak 5-katlı çapraz doğrulama protokolü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Makine Öğrenmesi (7) — scikit-learn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5669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02536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A87"/>
                </a:solidFill>
              </a:rPr>
              <a:t>LightGBM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02536"/>
            <a:ext cx="3429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n_estimators=300, num_leaves=31, lr=0,05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51176"/>
            <a:ext cx="5669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87752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A87"/>
                </a:solidFill>
              </a:rPr>
              <a:t>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587752"/>
            <a:ext cx="3429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n_estimators=240, max_depth=5, lr=0,06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36391"/>
            <a:ext cx="5669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72968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A87"/>
                </a:solidFill>
              </a:rPr>
              <a:t>Gradyan Artırma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172968"/>
            <a:ext cx="3429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n_estimators=180, max_depth=4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21608"/>
            <a:ext cx="5669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58184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A87"/>
                </a:solidFill>
              </a:rPr>
              <a:t>Rastgele Orman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58184"/>
            <a:ext cx="3429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n_estimators=500, max_features=log2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06824"/>
            <a:ext cx="5669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A87"/>
                </a:solidFill>
              </a:rPr>
              <a:t>SVM-RBF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343400"/>
            <a:ext cx="3429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C=10, gamma=0,05, balanced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92040"/>
            <a:ext cx="5669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928616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A87"/>
                </a:solidFill>
              </a:rPr>
              <a:t>ÇKA Sinir Ağı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4928616"/>
            <a:ext cx="3429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192-96-32, alpha=0,001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477256"/>
            <a:ext cx="5669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513832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A87"/>
                </a:solidFill>
              </a:rPr>
              <a:t>Lojistik Regresyon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5513832"/>
            <a:ext cx="3429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C=2,0, max_iter=2500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Derin Öğrenme (4) — PyTorch / Adam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1965960"/>
            <a:ext cx="5486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002536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Derin ÇKA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002536"/>
            <a:ext cx="3246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512-256-128-64, BatchNorm, dropout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551176"/>
            <a:ext cx="5486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587752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Artık ÇKA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87752"/>
            <a:ext cx="3246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3 artık blok, 256-256 boyut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136391"/>
            <a:ext cx="5486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172968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Dikkat ÇKA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172968"/>
            <a:ext cx="3246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Öz-dikkat mekanizması, 4 baş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721608"/>
            <a:ext cx="5486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758184"/>
            <a:ext cx="20116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1B-ESA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3758184"/>
            <a:ext cx="3246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A2A2A"/>
                </a:solidFill>
              </a:rPr>
              <a:t>Conv1D + max-pooling katmanları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434840"/>
            <a:ext cx="5486400" cy="16002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4434840"/>
            <a:ext cx="82296" cy="1600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64807" y="4544568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Eğitim Protokolü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7" y="4937759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•  Stratifiye 5-katlı çapraz doğrulama (sınıf oranı korunur)
•  StandardScaler her katta yalnız eğitim verisine fit edilir
•  Veri sızıntısı önlemi: duration_sec ve sample_rate dışlandı
•  Dengesizlik: class_weight + is_unbalance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BM498 — 03: Tasarım ve Geliştirme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960120"/>
            <a:ext cx="758952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078992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27632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1051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1051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148840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3774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15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44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4436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282696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11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49624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7822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16552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45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4515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Tasarım ve Geliştirme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83480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44068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88152"/>
            <a:ext cx="6080760" cy="0"/>
          </a:xfrm>
          <a:prstGeom prst="rect">
            <a:avLst/>
          </a:prstGeom>
          <a:ln w="190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843016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07A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