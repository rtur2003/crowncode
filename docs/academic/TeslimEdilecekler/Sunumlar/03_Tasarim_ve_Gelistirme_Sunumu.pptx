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4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88952" cy="5486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2514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D99A07"/>
                </a:solidFill>
                <a:latin typeface="Calibri"/>
              </a:rPr>
              <a:t>03 — TASARIM VE GELİŞTİRME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Sistem Mimarisi ve Yöntem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ADC4D6"/>
                </a:solidFill>
                <a:latin typeface="Calibri"/>
              </a:rPr>
              <a:t>Ham sesten karara: yedi aşamalı uçtan uca işlem zinciri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15568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42A30"/>
                </a:solidFill>
                <a:latin typeface="Calibri"/>
              </a:rPr>
              <a:t>●  Veri katmanı: 5.195 ses örneği sekiz farklı insan ve YZ kaynağından derlendi.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42A30"/>
                </a:solidFill>
                <a:latin typeface="Calibri"/>
              </a:rPr>
              <a:t>●  Öznitelik katmanı: librosa ile 22.050 Hz'de 47 boyutlu vektör çıkarıldı.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42A30"/>
                </a:solidFill>
                <a:latin typeface="Calibri"/>
              </a:rPr>
              <a:t>●  Model katmanı: 7 ML + 4 DL modeli 5-katlı çapraz doğrulamada karşılaştırıldı.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42A30"/>
                </a:solidFill>
                <a:latin typeface="Calibri"/>
              </a:rPr>
              <a:t>●  Karar katmanı: LightGBM olasılığına Youden-optimal eşik (θ*=0,4316) uygulandı.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42A30"/>
                </a:solidFill>
                <a:latin typeface="Calibri"/>
              </a:rPr>
              <a:t>●  Açıklama katmanı: TreeSHAP her kararın akustik gerekçesini üretir.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AURIS Uçtan Uca İşleyiş Şeması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73416"/>
            <a:ext cx="7863840" cy="1596766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per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9136"/>
            <a:ext cx="7772400" cy="15053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3779327"/>
            <a:ext cx="7772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Şekil 1: Yedi aşamalı işlem zinciri (ham ses → karar)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11430000" cy="155448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526280"/>
            <a:ext cx="91440" cy="155448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645152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D99A07"/>
                </a:solidFill>
                <a:latin typeface="Calibri"/>
              </a:rPr>
              <a:t>Aşamalar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5074920"/>
            <a:ext cx="11045952" cy="8961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1 · Ham ses (WAV/MP3)      2 · Ön işleme (22.050 Hz, mono)      3 · 47 öznitelik çıkarma      4 · StandardScaler (kat-içi)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5 · 11 model / 5-katlı CV      6 · Youden eşik (θ*=0,4316)      7 · Karar (YZ / İnsan) + SHAP açıklaması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VERI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Veri Kümesi Kompozisyonu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5.195 örnek · 8 kaynak · iki sınıf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402336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8404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Kaynak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27632"/>
            <a:ext cx="237744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627632"/>
            <a:ext cx="13716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27632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Örnek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GTZAN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011680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011680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011680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899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04872"/>
            <a:ext cx="402336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04872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FMA Small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404872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2404872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404872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404872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98064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98064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SleepyJesse (kapak)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798064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2798064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798064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2798064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854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91256"/>
            <a:ext cx="402336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191256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Diğer insan kaynağı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191256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3191256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191256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3191256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360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584448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84448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Echoes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584448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16552" y="3584448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584448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3992" y="3584448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1.128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977640"/>
            <a:ext cx="402336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77640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Suno (v3–v5)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977640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552" y="3977640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3977640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93992" y="3977640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500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370832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370832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Deepfake seti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4370832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4370832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37083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3992" y="4370832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492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764024"/>
            <a:ext cx="402336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764024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AImE / Mustango / JEN-1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764024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6552" y="4764024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4764024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3992" y="4764024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204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157216"/>
            <a:ext cx="402336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157216"/>
            <a:ext cx="3840480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B6E3C"/>
                </a:solidFill>
                <a:latin typeface="Calibri"/>
              </a:rPr>
              <a:t>TOPLAM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5157216"/>
            <a:ext cx="237744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6552" y="5157216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1B6E3C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5157216"/>
            <a:ext cx="137160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93992" y="5157216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1B6E3C"/>
                </a:solidFill>
                <a:latin typeface="Calibri"/>
              </a:rPr>
              <a:t>5.195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1627632"/>
            <a:ext cx="3502152" cy="214884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1627632"/>
            <a:ext cx="91440" cy="214884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0496" y="1746504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Sınıf Dengesi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40496" y="2176272"/>
            <a:ext cx="3118104" cy="149047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İnsan (0):  3.113  ·  %59,9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Yapay zekâ (1):  2.082  ·  %40,1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Giderme: class_weight='balanced', is_unbalance=True, stratifiye CV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931920"/>
            <a:ext cx="3502152" cy="2103120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21040" y="3931920"/>
            <a:ext cx="91440" cy="210312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40496" y="4050791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Veri Sızıntısı Önlemi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480559"/>
            <a:ext cx="3118104" cy="1444751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duration_sec ve sample_rate öznitelik kümesinden çıkarıldı.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StandardScaler her katta yalnız eğitim verisine fit edildi — doğrulama verisi sızmaz.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ÖZNITELIK MÜHENDISLIĞI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47 Boyutlu Heterojen Akustik Vektör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Beş işlevsel aile — tek temsile aşırı uyumu sınırlamak için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36576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3657600" cy="4572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27632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Spektral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709928"/>
            <a:ext cx="841248" cy="29260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709928"/>
            <a:ext cx="84124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16 boyut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176272"/>
            <a:ext cx="340156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MFCC, mel-spektrogram, centroid, bandwidth, rolloff, flatness + 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291840"/>
            <a:ext cx="3401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0A808C"/>
                </a:solidFill>
                <a:latin typeface="Calibri"/>
              </a:rPr>
              <a:t>▸ Frekans içeriği / tını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627632"/>
            <a:ext cx="36576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627632"/>
            <a:ext cx="3657600" cy="4572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627632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Zamansal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709928"/>
            <a:ext cx="841248" cy="29260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709928"/>
            <a:ext cx="84124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10 boyut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176272"/>
            <a:ext cx="340156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RMS enerjisi, sıfır geçiş hızı, dinamik aralık türevleri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3291840"/>
            <a:ext cx="3401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0A808C"/>
                </a:solidFill>
                <a:latin typeface="Calibri"/>
              </a:rPr>
              <a:t>▸ Enerji / zaman yapısı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27632"/>
            <a:ext cx="36576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27632"/>
            <a:ext cx="3657600" cy="4572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1627632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Ritmik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5640" y="1709928"/>
            <a:ext cx="841248" cy="29260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709928"/>
            <a:ext cx="84124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9 boyut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176272"/>
            <a:ext cx="340156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Tempo, beat sayısı, onset gücü istatistikleri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291840"/>
            <a:ext cx="3401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0A808C"/>
                </a:solidFill>
                <a:latin typeface="Calibri"/>
              </a:rPr>
              <a:t>▸ Ritim / vuruş düzeni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67912"/>
            <a:ext cx="36576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67912"/>
            <a:ext cx="3657600" cy="4572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867912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Harmonik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3950208"/>
            <a:ext cx="841248" cy="29260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950208"/>
            <a:ext cx="84124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8 boyut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4416552"/>
            <a:ext cx="340156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Chroma vektörü, tonnetz, harmonik–algısal ayrıştırma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5532120"/>
            <a:ext cx="3401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0A808C"/>
                </a:solidFill>
                <a:latin typeface="Calibri"/>
              </a:rPr>
              <a:t>▸ Perde / akor yapısı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3867912"/>
            <a:ext cx="36576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3867912"/>
            <a:ext cx="3657600" cy="4572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9976" y="3867912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Vokal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3950208"/>
            <a:ext cx="841248" cy="29260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3950208"/>
            <a:ext cx="84124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4 boyut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9976" y="4416552"/>
            <a:ext cx="340156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Temel frekans, vibrato, formant tutarlılığı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9976" y="5532120"/>
            <a:ext cx="3401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0A808C"/>
                </a:solidFill>
                <a:latin typeface="Calibri"/>
              </a:rPr>
              <a:t>▸ Şarkı sesi davranışı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3867912"/>
            <a:ext cx="3913632" cy="2084831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4005072"/>
            <a:ext cx="39136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Toplam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370832"/>
            <a:ext cx="3913632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D99A07"/>
                </a:solidFill>
                <a:latin typeface="Calibri"/>
              </a:rPr>
              <a:t>47 boyut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166360"/>
            <a:ext cx="39136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ADC4D6"/>
                </a:solidFill>
                <a:latin typeface="Calibri"/>
              </a:rPr>
              <a:t>16 + 10 + 9 + 8 + 4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ÖZNITELIK ANALIZI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YZ ve İnsan Müziğinin Dağılım Farkları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06499"/>
            <a:ext cx="7406640" cy="4048504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_distribution_ai_vs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2219"/>
            <a:ext cx="7315200" cy="3957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76414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Şekil 2: İlk sekiz özniteliğin sınıf bazlı dağılımları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627632"/>
            <a:ext cx="3913632" cy="45262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627632"/>
            <a:ext cx="91440" cy="45262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746504"/>
            <a:ext cx="35478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Yorum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6" y="2176272"/>
            <a:ext cx="3529584" cy="38679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YZ üretimi parçalar belirli özniteliklerde insan kayıtlarından sistematik biçimde ayrışıyor.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Özellikle spectral_flatness değerleri YZ müziğinde daha düzenli ve yüksek — üretim sistemleri algısal kaliteyi optimize ederken daha 'düz' bir spektrum bırakıyor.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Bu görsel ayrım, SHAP analiziyle doğrulanan en güçlü ayırt edici özelliğin temelidir.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MODELLEME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On Bir Sınıflandırma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Ortak 5-katlı çapraz doğrulama protokolü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6692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Makine Öğrenmesi (7) — scikit-learn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LightGBM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938528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n_estimators=300, num_leaves=31, lr=0,05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505456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05456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n_estimators=240, max_depth=5, lr=0,06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72384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072384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Gradyan Artırma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072384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n_estimators=180, max_depth=4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39312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39312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Rastgele Orman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39312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n_estimators=500, max_features=log2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206240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SVM-RBF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206240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C=10, gamma=0,05, balanced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73168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773168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ÇKA Sinir Ağı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773168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192-96-32, alpha=0,001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0096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340096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A808C"/>
                </a:solidFill>
                <a:latin typeface="Calibri"/>
              </a:rPr>
              <a:t>Lojistik Regresyon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340096"/>
            <a:ext cx="329184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C=2,0, max_iter=2500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508760"/>
            <a:ext cx="56235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Derin Öğrenme (4) — PyTorch / Adam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938528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938528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8A6600"/>
                </a:solidFill>
                <a:latin typeface="Calibri"/>
              </a:rPr>
              <a:t>Derin ÇKA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1938528"/>
            <a:ext cx="3246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512-256-128-64, BatchNorm, dropout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505456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505456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8A6600"/>
                </a:solidFill>
                <a:latin typeface="Calibri"/>
              </a:rPr>
              <a:t>Artık ÇKA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505456"/>
            <a:ext cx="3246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3 artık blok, 256-256 boyut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3072384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072384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8A6600"/>
                </a:solidFill>
                <a:latin typeface="Calibri"/>
              </a:rPr>
              <a:t>Dikkat ÇKA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072384"/>
            <a:ext cx="3246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Öz-dikkat mekanizması, 4 baş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3639312"/>
            <a:ext cx="562356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639312"/>
            <a:ext cx="2103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8A6600"/>
                </a:solidFill>
                <a:latin typeface="Calibri"/>
              </a:rPr>
              <a:t>1B-ESA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639312"/>
            <a:ext cx="324612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42A30"/>
                </a:solidFill>
                <a:latin typeface="Calibri"/>
              </a:rPr>
              <a:t>Conv1D + max-pooling katmanları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4343400"/>
            <a:ext cx="5623560" cy="173736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4343400"/>
            <a:ext cx="91440" cy="173736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462272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Ortak Eğitim Protokolü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892040"/>
            <a:ext cx="5239512" cy="107899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Stratifiye 5-katlı çapraz doğrulama (sınıf oranı korunur)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StandardScaler her katta yalnız eğitim verisine fit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Veri sızıntısı önlemi: duration_sec &amp; sample_rate dışlandı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Dengesizlik: class_weight + is_unbalance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7772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 ·  Yapay Zekâ Üretimli Müzik Tespiti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6473952"/>
            <a:ext cx="679399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BM498 Mezuniyet Tezi — 03: Tasarım ve Geliştirme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960120"/>
            <a:ext cx="777240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0" y="960120"/>
            <a:ext cx="7772400" cy="64008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960120"/>
            <a:ext cx="7772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ÖĞRENCİ İMZA SAYFASI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2024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2024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24942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46888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4688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79806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01752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346703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356616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6616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89534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11480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11480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44398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66344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466344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Tasarım ve Geliştirme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99262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440680"/>
            <a:ext cx="27432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797296"/>
            <a:ext cx="6126480" cy="12801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5852160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A7480"/>
                </a:solidFill>
                <a:latin typeface="Calibri"/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