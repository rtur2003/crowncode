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514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14600"/>
            <a:ext cx="12188952" cy="54864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" cy="2514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D99A07"/>
                </a:solidFill>
                <a:latin typeface="Calibri"/>
              </a:rPr>
              <a:t>03 — TASARIM VE GELİŞTİRME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Sistem Mimarisi ve Yöntem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9728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600" b="0" i="0">
                <a:solidFill>
                  <a:srgbClr val="ADC4D6"/>
                </a:solidFill>
                <a:latin typeface="Calibri"/>
              </a:rPr>
              <a:t>Ham sesten karara: yedi aşamalı uçtan uca işlem zinciri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1155680" cy="310896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42A30"/>
                </a:solidFill>
                <a:latin typeface="Calibri"/>
              </a:rPr>
              <a:t>●  Veri katmanı: 5.195 ses örneği sekiz farklı insan ve YZ kaynağından derlendi.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42A30"/>
                </a:solidFill>
                <a:latin typeface="Calibri"/>
              </a:rPr>
              <a:t>●  Öznitelik katmanı: librosa ile 22.050 Hz'de 47 boyutlu vektör çıkarıldı.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42A30"/>
                </a:solidFill>
                <a:latin typeface="Calibri"/>
              </a:rPr>
              <a:t>●  Model katmanı: 7 ML + 4 DL modeli 5-katlı çapraz doğrulamada karşılaştırıldı.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42A30"/>
                </a:solidFill>
                <a:latin typeface="Calibri"/>
              </a:rPr>
              <a:t>●  Karar katmanı: LightGBM olasılığına Youden-optimal eşik (θ*=0,4316) uygulandı.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42A30"/>
                </a:solidFill>
                <a:latin typeface="Calibri"/>
              </a:rPr>
              <a:t>●  Açıklama katmanı: TreeSHAP her kararın akustik gerekçesini üretir.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MIMARI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AURIS Uçtan Uca İşleyiş Şeması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2173416"/>
            <a:ext cx="7863840" cy="1596766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per_pipelin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19136"/>
            <a:ext cx="7772400" cy="150532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3779327"/>
            <a:ext cx="7772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Şekil 1: Yedi aşamalı işlem zinciri (ham ses → karar)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526280"/>
            <a:ext cx="11430000" cy="155448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4526280"/>
            <a:ext cx="91440" cy="155448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4645152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D99A07"/>
                </a:solidFill>
                <a:latin typeface="Calibri"/>
              </a:rPr>
              <a:t>Aşamalar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5074920"/>
            <a:ext cx="11045952" cy="89611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242A30"/>
                </a:solidFill>
                <a:latin typeface="Calibri"/>
              </a:rPr>
              <a:t>1 · Ham ses (WAV/MP3)      2 · Ön işleme (22.050 Hz, mono)      3 · 47 öznitelik çıkarma      4 · StandardScaler (kat-içi)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242A30"/>
                </a:solidFill>
                <a:latin typeface="Calibri"/>
              </a:rPr>
              <a:t>5 · 11 model / 5-katlı CV      6 · Youden eşik (θ*=0,4316)      7 · Karar (YZ / İnsan) + SHAP açıklaması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VERI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Veri Kümesi Kompozisyonu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5.195 örnek · 8 kaynak · iki sınıf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402336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27632"/>
            <a:ext cx="38404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Kaynak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627632"/>
            <a:ext cx="237744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627632"/>
            <a:ext cx="23774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Tür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1627632"/>
            <a:ext cx="13716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1627632"/>
            <a:ext cx="13716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Örnek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011680"/>
            <a:ext cx="40233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011680"/>
            <a:ext cx="3840480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GTZAN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2011680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16552" y="2011680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İnsan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0" y="2011680"/>
            <a:ext cx="1371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3992" y="2011680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899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404872"/>
            <a:ext cx="402336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404872"/>
            <a:ext cx="3840480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FMA Small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2404872"/>
            <a:ext cx="237744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6552" y="2404872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İnsan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66560" y="2404872"/>
            <a:ext cx="137160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2404872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1.000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798064"/>
            <a:ext cx="40233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798064"/>
            <a:ext cx="3840480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SleepyJesse (kapak)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0" y="2798064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16552" y="2798064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İnsan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60" y="2798064"/>
            <a:ext cx="1371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93992" y="2798064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854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191256"/>
            <a:ext cx="402336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3191256"/>
            <a:ext cx="3840480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Diğer insan kaynağı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0" y="3191256"/>
            <a:ext cx="237744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16552" y="3191256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İnsan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66560" y="3191256"/>
            <a:ext cx="137160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93992" y="3191256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360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584448"/>
            <a:ext cx="40233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3584448"/>
            <a:ext cx="3840480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Echoes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120" y="3584448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16552" y="3584448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Yapay zekâ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66560" y="3584448"/>
            <a:ext cx="1371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93992" y="3584448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1.128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3977640"/>
            <a:ext cx="402336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3977640"/>
            <a:ext cx="3840480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Suno (v3–v5)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120" y="3977640"/>
            <a:ext cx="237744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16552" y="3977640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Yapay zekâ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66560" y="3977640"/>
            <a:ext cx="137160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93992" y="3977640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500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370832"/>
            <a:ext cx="40233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4370832"/>
            <a:ext cx="3840480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Deepfake seti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120" y="4370832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16552" y="4370832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Yapay zekâ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66560" y="4370832"/>
            <a:ext cx="1371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793992" y="4370832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492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4764024"/>
            <a:ext cx="402336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4764024"/>
            <a:ext cx="3840480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AImE / Mustango / JEN-1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120" y="4764024"/>
            <a:ext cx="237744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16552" y="4764024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Yapay zekâ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766560" y="4764024"/>
            <a:ext cx="137160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793992" y="4764024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204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5157216"/>
            <a:ext cx="4023360" cy="39319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5157216"/>
            <a:ext cx="3840480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1B6E3C"/>
                </a:solidFill>
                <a:latin typeface="Calibri"/>
              </a:rPr>
              <a:t>TOPLAM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120" y="5157216"/>
            <a:ext cx="2377440" cy="39319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16552" y="5157216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1B6E3C"/>
                </a:solidFill>
                <a:latin typeface="Calibri"/>
              </a:rPr>
              <a:t>—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766560" y="5157216"/>
            <a:ext cx="1371600" cy="39319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93992" y="5157216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1B6E3C"/>
                </a:solidFill>
                <a:latin typeface="Calibri"/>
              </a:rPr>
              <a:t>5.195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321040" y="1627632"/>
            <a:ext cx="3502152" cy="214884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321040" y="1627632"/>
            <a:ext cx="91440" cy="214884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540496" y="1746504"/>
            <a:ext cx="313639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Sınıf Dengesi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40496" y="2176272"/>
            <a:ext cx="3118104" cy="149047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İnsan (0):  3.113  ·  %59,9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Yapay zekâ (1):  2.082  ·  %40,1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Giderme: class_weight='balanced', is_unbalance=True, stratifiye CV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321040" y="3931920"/>
            <a:ext cx="3502152" cy="2103120"/>
          </a:xfrm>
          <a:prstGeom prst="rect">
            <a:avLst/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321040" y="3931920"/>
            <a:ext cx="91440" cy="2103120"/>
          </a:xfrm>
          <a:prstGeom prst="rect">
            <a:avLst/>
          </a:prstGeom>
          <a:solidFill>
            <a:srgbClr val="B3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540496" y="4050791"/>
            <a:ext cx="313639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Veri Sızıntısı Önlemi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40496" y="4480559"/>
            <a:ext cx="3118104" cy="1444751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duration_sec ve sample_rate öznitelik kümesinden çıkarıldı.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StandardScaler her katta yalnız eğitim verisine fit edildi — doğrulama verisi sızmaz.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ÖZNITELIK MÜHENDISLIĞI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47 Boyutlu Heterojen Akustik Vektör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Beş işlevsel aile — tek temsile aşırı uyumu sınırlamak için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365760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27632"/>
            <a:ext cx="3657600" cy="45720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1627632"/>
            <a:ext cx="22860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Spektral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63240" y="1709928"/>
            <a:ext cx="841248" cy="29260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3240" y="1709928"/>
            <a:ext cx="841248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16 boyut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" y="2176272"/>
            <a:ext cx="3401568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MFCC, mel-spektrogram, centroid, bandwidth, rolloff, flatness +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3291840"/>
            <a:ext cx="340156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1">
                <a:solidFill>
                  <a:srgbClr val="0A808C"/>
                </a:solidFill>
                <a:latin typeface="Calibri"/>
              </a:rPr>
              <a:t>▸ Frekans içeriği / tını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1627632"/>
            <a:ext cx="365760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1627632"/>
            <a:ext cx="3657600" cy="45720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9976" y="1627632"/>
            <a:ext cx="22860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Zamansal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0" y="1709928"/>
            <a:ext cx="841248" cy="29260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1709928"/>
            <a:ext cx="841248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10 boyut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9976" y="2176272"/>
            <a:ext cx="3401568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RMS enerjisi, sıfır geçiş hızı, dinamik aralık türevleri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9976" y="3291840"/>
            <a:ext cx="340156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1">
                <a:solidFill>
                  <a:srgbClr val="0A808C"/>
                </a:solidFill>
                <a:latin typeface="Calibri"/>
              </a:rPr>
              <a:t>▸ Enerji / zaman yapısı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1627632"/>
            <a:ext cx="365760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8160" y="1627632"/>
            <a:ext cx="3657600" cy="45720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66176" y="1627632"/>
            <a:ext cx="22860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Ritmik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835640" y="1709928"/>
            <a:ext cx="841248" cy="29260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35640" y="1709928"/>
            <a:ext cx="841248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9 boyut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6" y="2176272"/>
            <a:ext cx="3401568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Tempo, beat sayısı, onset gücü istatistikleri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6176" y="3291840"/>
            <a:ext cx="340156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1">
                <a:solidFill>
                  <a:srgbClr val="0A808C"/>
                </a:solidFill>
                <a:latin typeface="Calibri"/>
              </a:rPr>
              <a:t>▸ Ritim / vuruş düzeni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867912"/>
            <a:ext cx="365760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3867912"/>
            <a:ext cx="3657600" cy="45720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" y="3867912"/>
            <a:ext cx="22860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Harmonik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63240" y="3950208"/>
            <a:ext cx="841248" cy="29260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63240" y="3950208"/>
            <a:ext cx="841248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8 boyut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" y="4416552"/>
            <a:ext cx="3401568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Chroma vektörü, tonnetz, harmonik–algısal ayrıştırma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" y="5532120"/>
            <a:ext cx="340156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1">
                <a:solidFill>
                  <a:srgbClr val="0A808C"/>
                </a:solidFill>
                <a:latin typeface="Calibri"/>
              </a:rPr>
              <a:t>▸ Perde / akor yapısı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51960" y="3867912"/>
            <a:ext cx="365760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51960" y="3867912"/>
            <a:ext cx="3657600" cy="45720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79976" y="3867912"/>
            <a:ext cx="22860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Vokal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49440" y="3950208"/>
            <a:ext cx="841248" cy="29260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49440" y="3950208"/>
            <a:ext cx="841248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4 boyut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79976" y="4416552"/>
            <a:ext cx="3401568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Temel frekans, vibrato, formant tutarlılığı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79976" y="5532120"/>
            <a:ext cx="340156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1">
                <a:solidFill>
                  <a:srgbClr val="0A808C"/>
                </a:solidFill>
                <a:latin typeface="Calibri"/>
              </a:rPr>
              <a:t>▸ Şarkı sesi davranışı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09560" y="3867912"/>
            <a:ext cx="3913632" cy="2084831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09560" y="4005072"/>
            <a:ext cx="39136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Toplam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09560" y="4370832"/>
            <a:ext cx="3913632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D99A07"/>
                </a:solidFill>
                <a:latin typeface="Calibri"/>
              </a:rPr>
              <a:t>47 boyut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09560" y="5166360"/>
            <a:ext cx="39136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400" b="0" i="0">
                <a:solidFill>
                  <a:srgbClr val="ADC4D6"/>
                </a:solidFill>
                <a:latin typeface="Calibri"/>
              </a:rPr>
              <a:t>16 + 10 + 9 + 8 + 4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ÖZNITELIK ANALIZI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YZ ve İnsan Müziğinin Dağılım Farkları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706499"/>
            <a:ext cx="7406640" cy="4048504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eature_distribution_ai_vs_hu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52219"/>
            <a:ext cx="7315200" cy="3957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764148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Şekil 2: İlk sekiz özniteliğin sınıf bazlı dağılımları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09560" y="1627632"/>
            <a:ext cx="3913632" cy="45262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09560" y="1627632"/>
            <a:ext cx="91440" cy="45262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29016" y="1746504"/>
            <a:ext cx="35478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Yorum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9016" y="2176272"/>
            <a:ext cx="3529584" cy="386791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YZ üretimi parçalar belirli özniteliklerde insan kayıtlarından sistematik biçimde ayrışıyor.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Özellikle spectral_flatness değerleri YZ müziğinde daha düzenli ve yüksek — üretim sistemleri algısal kaliteyi optimize ederken daha 'düz' bir spektrum bırakıyor.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Bu görsel ayrım, SHAP analiziyle doğrulanan en güçlü ayırt edici özelliğin temelidir.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MODELLEME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On Bir Sınıflandırma Modeli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Ortak 5-katlı çapraz doğrulama protokolü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508760"/>
            <a:ext cx="566928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Makine Öğrenmesi (7) — scikit-learn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38528"/>
            <a:ext cx="5623560" cy="493776"/>
          </a:xfrm>
          <a:prstGeom prst="rect">
            <a:avLst/>
          </a:prstGeom>
          <a:solidFill>
            <a:srgbClr val="FFFFFF"/>
          </a:solidFill>
          <a:ln w="1016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938528"/>
            <a:ext cx="2103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0A808C"/>
                </a:solidFill>
                <a:latin typeface="Calibri"/>
              </a:rPr>
              <a:t>LightGBM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938528"/>
            <a:ext cx="329184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 i="0">
                <a:solidFill>
                  <a:srgbClr val="242A30"/>
                </a:solidFill>
                <a:latin typeface="Calibri"/>
              </a:rPr>
              <a:t>n_estimators=300, num_leaves=31, lr=0,05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505456"/>
            <a:ext cx="5623560" cy="493776"/>
          </a:xfrm>
          <a:prstGeom prst="rect">
            <a:avLst/>
          </a:prstGeom>
          <a:solidFill>
            <a:srgbClr val="FFFFFF"/>
          </a:solidFill>
          <a:ln w="1016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2505456"/>
            <a:ext cx="2103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0A808C"/>
                </a:solidFill>
                <a:latin typeface="Calibri"/>
              </a:rPr>
              <a:t>XGBoost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2505456"/>
            <a:ext cx="329184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 i="0">
                <a:solidFill>
                  <a:srgbClr val="242A30"/>
                </a:solidFill>
                <a:latin typeface="Calibri"/>
              </a:rPr>
              <a:t>n_estimators=240, max_depth=5, lr=0,06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072384"/>
            <a:ext cx="5623560" cy="493776"/>
          </a:xfrm>
          <a:prstGeom prst="rect">
            <a:avLst/>
          </a:prstGeom>
          <a:solidFill>
            <a:srgbClr val="FFFFFF"/>
          </a:solidFill>
          <a:ln w="1016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3072384"/>
            <a:ext cx="2103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0A808C"/>
                </a:solidFill>
                <a:latin typeface="Calibri"/>
              </a:rPr>
              <a:t>Gradyan Artırma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072384"/>
            <a:ext cx="329184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 i="0">
                <a:solidFill>
                  <a:srgbClr val="242A30"/>
                </a:solidFill>
                <a:latin typeface="Calibri"/>
              </a:rPr>
              <a:t>n_estimators=180, max_depth=4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639312"/>
            <a:ext cx="5623560" cy="493776"/>
          </a:xfrm>
          <a:prstGeom prst="rect">
            <a:avLst/>
          </a:prstGeom>
          <a:solidFill>
            <a:srgbClr val="FFFFFF"/>
          </a:solidFill>
          <a:ln w="1016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3639312"/>
            <a:ext cx="2103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0A808C"/>
                </a:solidFill>
                <a:latin typeface="Calibri"/>
              </a:rPr>
              <a:t>Rastgele Orman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639312"/>
            <a:ext cx="329184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 i="0">
                <a:solidFill>
                  <a:srgbClr val="242A30"/>
                </a:solidFill>
                <a:latin typeface="Calibri"/>
              </a:rPr>
              <a:t>n_estimators=500, max_features=log2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206240"/>
            <a:ext cx="5623560" cy="493776"/>
          </a:xfrm>
          <a:prstGeom prst="rect">
            <a:avLst/>
          </a:prstGeom>
          <a:solidFill>
            <a:srgbClr val="FFFFFF"/>
          </a:solidFill>
          <a:ln w="1016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4206240"/>
            <a:ext cx="2103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0A808C"/>
                </a:solidFill>
                <a:latin typeface="Calibri"/>
              </a:rPr>
              <a:t>SVM-RBF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206240"/>
            <a:ext cx="329184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 i="0">
                <a:solidFill>
                  <a:srgbClr val="242A30"/>
                </a:solidFill>
                <a:latin typeface="Calibri"/>
              </a:rPr>
              <a:t>C=10, gamma=0,05, balanced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773168"/>
            <a:ext cx="5623560" cy="493776"/>
          </a:xfrm>
          <a:prstGeom prst="rect">
            <a:avLst/>
          </a:prstGeom>
          <a:solidFill>
            <a:srgbClr val="FFFFFF"/>
          </a:solidFill>
          <a:ln w="1016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4773168"/>
            <a:ext cx="2103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0A808C"/>
                </a:solidFill>
                <a:latin typeface="Calibri"/>
              </a:rPr>
              <a:t>ÇKA Sinir Ağı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4773168"/>
            <a:ext cx="329184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 i="0">
                <a:solidFill>
                  <a:srgbClr val="242A30"/>
                </a:solidFill>
                <a:latin typeface="Calibri"/>
              </a:rPr>
              <a:t>192-96-32, alpha=0,001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340096"/>
            <a:ext cx="5623560" cy="493776"/>
          </a:xfrm>
          <a:prstGeom prst="rect">
            <a:avLst/>
          </a:prstGeom>
          <a:solidFill>
            <a:srgbClr val="FFFFFF"/>
          </a:solidFill>
          <a:ln w="1016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5340096"/>
            <a:ext cx="2103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0A808C"/>
                </a:solidFill>
                <a:latin typeface="Calibri"/>
              </a:rPr>
              <a:t>Lojistik Regresyon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5340096"/>
            <a:ext cx="329184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 i="0">
                <a:solidFill>
                  <a:srgbClr val="242A30"/>
                </a:solidFill>
                <a:latin typeface="Calibri"/>
              </a:rPr>
              <a:t>C=2,0, max_iter=2500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9632" y="1508760"/>
            <a:ext cx="562356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Derin Öğrenme (4) — PyTorch / Adam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99632" y="1938528"/>
            <a:ext cx="5623560" cy="493776"/>
          </a:xfrm>
          <a:prstGeom prst="rect">
            <a:avLst/>
          </a:prstGeom>
          <a:solidFill>
            <a:srgbClr val="FFFFFF"/>
          </a:solidFill>
          <a:ln w="10160">
            <a:solidFill>
              <a:srgbClr val="D99A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1938528"/>
            <a:ext cx="2103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8A6600"/>
                </a:solidFill>
                <a:latin typeface="Calibri"/>
              </a:rPr>
              <a:t>Derin ÇKA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1938528"/>
            <a:ext cx="3246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 i="0">
                <a:solidFill>
                  <a:srgbClr val="242A30"/>
                </a:solidFill>
                <a:latin typeface="Calibri"/>
              </a:rPr>
              <a:t>512-256-128-64, BatchNorm, dropout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99632" y="2505456"/>
            <a:ext cx="5623560" cy="493776"/>
          </a:xfrm>
          <a:prstGeom prst="rect">
            <a:avLst/>
          </a:prstGeom>
          <a:solidFill>
            <a:srgbClr val="FFFFFF"/>
          </a:solidFill>
          <a:ln w="10160">
            <a:solidFill>
              <a:srgbClr val="D99A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0" y="2505456"/>
            <a:ext cx="2103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8A6600"/>
                </a:solidFill>
                <a:latin typeface="Calibri"/>
              </a:rPr>
              <a:t>Artık ÇKA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2505456"/>
            <a:ext cx="3246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 i="0">
                <a:solidFill>
                  <a:srgbClr val="242A30"/>
                </a:solidFill>
                <a:latin typeface="Calibri"/>
              </a:rPr>
              <a:t>3 artık blok, 256-256 boyut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99632" y="3072384"/>
            <a:ext cx="5623560" cy="493776"/>
          </a:xfrm>
          <a:prstGeom prst="rect">
            <a:avLst/>
          </a:prstGeom>
          <a:solidFill>
            <a:srgbClr val="FFFFFF"/>
          </a:solidFill>
          <a:ln w="10160">
            <a:solidFill>
              <a:srgbClr val="D99A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0" y="3072384"/>
            <a:ext cx="2103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8A6600"/>
                </a:solidFill>
                <a:latin typeface="Calibri"/>
              </a:rPr>
              <a:t>Dikkat ÇKA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8200" y="3072384"/>
            <a:ext cx="3246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 i="0">
                <a:solidFill>
                  <a:srgbClr val="242A30"/>
                </a:solidFill>
                <a:latin typeface="Calibri"/>
              </a:rPr>
              <a:t>Öz-dikkat mekanizması, 4 baş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99632" y="3639312"/>
            <a:ext cx="5623560" cy="493776"/>
          </a:xfrm>
          <a:prstGeom prst="rect">
            <a:avLst/>
          </a:prstGeom>
          <a:solidFill>
            <a:srgbClr val="FFFFFF"/>
          </a:solidFill>
          <a:ln w="10160">
            <a:solidFill>
              <a:srgbClr val="D99A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3639312"/>
            <a:ext cx="2103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8A6600"/>
                </a:solidFill>
                <a:latin typeface="Calibri"/>
              </a:rPr>
              <a:t>1B-ESA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3639312"/>
            <a:ext cx="3246120" cy="49377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 i="0">
                <a:solidFill>
                  <a:srgbClr val="242A30"/>
                </a:solidFill>
                <a:latin typeface="Calibri"/>
              </a:rPr>
              <a:t>Conv1D + max-pooling katmanları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99632" y="4343400"/>
            <a:ext cx="5623560" cy="173736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99632" y="4343400"/>
            <a:ext cx="91440" cy="173736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19088" y="4462272"/>
            <a:ext cx="5257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Ortak Eğitim Protokolü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19088" y="4892040"/>
            <a:ext cx="5239512" cy="107899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Stratifiye 5-katlı çapraz doğrulama (sınıf oranı korunur)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StandardScaler her katta yalnız eğitim verisine fit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Veri sızıntısı önlemi: duration_sec &amp; sample_rate dışlandı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Dengesizlik: class_weight + is_unbalance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300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BM498 Mezuniyet Tezi — 03: Tasarım ve Geliştirme Sunumu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2194560" y="960120"/>
            <a:ext cx="7772400" cy="5440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960120"/>
            <a:ext cx="7772400" cy="64008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960120"/>
            <a:ext cx="7772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ÖĞRENCİ İMZA SAYFASI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92024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Öğrenci Adı Soyadı: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0680" y="192024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Hasan Arthur Altuntaş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0" y="224942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4600" y="246888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Öğrenci Numarası: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0680" y="246888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394960" y="279806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4600" y="301752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Bölüm: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301752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Bilgisayar Mühendisliği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0" y="3346703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14600" y="356616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Danışman: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356616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389534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14600" y="411480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Sunum Tarihi: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411480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394960" y="444398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14600" y="466344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Sunum Adı: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466344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Tasarım ve Geliştirme Sunumu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4960" y="499262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14600" y="5440680"/>
            <a:ext cx="27432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İmza: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0" y="5797296"/>
            <a:ext cx="6126480" cy="12801"/>
          </a:xfrm>
          <a:prstGeom prst="rect">
            <a:avLst/>
          </a:prstGeom>
          <a:solidFill>
            <a:srgbClr val="24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0" y="5852160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A7480"/>
                </a:solidFill>
                <a:latin typeface="Calibri"/>
              </a:rPr>
              <a:t>(Öğrenci bu alanı imzalayarak sunumun kendisine ait olduğunu onaylar.)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