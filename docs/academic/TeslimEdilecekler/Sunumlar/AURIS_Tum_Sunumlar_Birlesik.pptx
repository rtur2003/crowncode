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83" r:id="rId2"/>
    <p:sldId id="284" r:id="rId3"/>
    <p:sldId id="285" r:id="rId4"/>
    <p:sldId id="286" r:id="rId5"/>
    <p:sldId id="287" r:id="rId6"/>
    <p:sldId id="288" r:id="rId7"/>
    <p:sldId id="289" r:id="rId8"/>
    <p:sldId id="290" r:id="rId9"/>
    <p:sldId id="291" r:id="rId10"/>
    <p:sldId id="292" r:id="rId11"/>
    <p:sldId id="293" r:id="rId12"/>
    <p:sldId id="294" r:id="rId13"/>
    <p:sldId id="295" r:id="rId14"/>
    <p:sldId id="296" r:id="rId15"/>
    <p:sldId id="297" r:id="rId16"/>
    <p:sldId id="298" r:id="rId17"/>
    <p:sldId id="299" r:id="rId18"/>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99" autoAdjust="0"/>
    <p:restoredTop sz="94660"/>
  </p:normalViewPr>
  <p:slideViewPr>
    <p:cSldViewPr snapToGrid="0" snapToObjects="1">
      <p:cViewPr varScale="1">
        <p:scale>
          <a:sx n="105" d="100"/>
          <a:sy n="105" d="100"/>
        </p:scale>
        <p:origin x="828"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02A4C"/>
        </a:solidFill>
        <a:effectLst/>
      </p:bgPr>
    </p:bg>
    <p:spTree>
      <p:nvGrpSpPr>
        <p:cNvPr id="1" name=""/>
        <p:cNvGrpSpPr/>
        <p:nvPr/>
      </p:nvGrpSpPr>
      <p:grpSpPr>
        <a:xfrm>
          <a:off x="0" y="0"/>
          <a:ext cx="0" cy="0"/>
          <a:chOff x="0" y="0"/>
          <a:chExt cx="0" cy="0"/>
        </a:xfrm>
      </p:grpSpPr>
      <p:sp>
        <p:nvSpPr>
          <p:cNvPr id="2" name="Rectangle 1"/>
          <p:cNvSpPr/>
          <p:nvPr/>
        </p:nvSpPr>
        <p:spPr>
          <a:xfrm>
            <a:off x="0" y="4480560"/>
            <a:ext cx="12188952" cy="54864"/>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914400"/>
            <a:ext cx="11247120" cy="1188720"/>
          </a:xfrm>
          <a:prstGeom prst="rect">
            <a:avLst/>
          </a:prstGeom>
          <a:noFill/>
        </p:spPr>
        <p:txBody>
          <a:bodyPr wrap="square" lIns="25400" tIns="12700" rIns="25400" bIns="12700" anchor="t">
            <a:spAutoFit/>
          </a:bodyPr>
          <a:lstStyle/>
          <a:p>
            <a:pPr algn="ctr"/>
            <a:r>
              <a:rPr sz="7800" b="1" i="0">
                <a:solidFill>
                  <a:srgbClr val="D99A07"/>
                </a:solidFill>
                <a:latin typeface="Calibri"/>
              </a:rPr>
              <a:t>AURIS</a:t>
            </a:r>
          </a:p>
        </p:txBody>
      </p:sp>
      <p:sp>
        <p:nvSpPr>
          <p:cNvPr id="4" name="TextBox 3"/>
          <p:cNvSpPr txBox="1"/>
          <p:nvPr/>
        </p:nvSpPr>
        <p:spPr>
          <a:xfrm>
            <a:off x="457200" y="2148840"/>
            <a:ext cx="11247120" cy="640080"/>
          </a:xfrm>
          <a:prstGeom prst="rect">
            <a:avLst/>
          </a:prstGeom>
          <a:noFill/>
        </p:spPr>
        <p:txBody>
          <a:bodyPr wrap="square" lIns="25400" tIns="12700" rIns="25400" bIns="12700" anchor="t">
            <a:spAutoFit/>
          </a:bodyPr>
          <a:lstStyle/>
          <a:p>
            <a:pPr algn="ctr"/>
            <a:r>
              <a:rPr sz="2200" b="1" i="0">
                <a:solidFill>
                  <a:srgbClr val="FFFFFF"/>
                </a:solidFill>
                <a:latin typeface="Calibri"/>
              </a:rPr>
              <a:t>Yapay Zekâ Üretimli Müzik Tespitinde Topluluk Öğrenmesi</a:t>
            </a:r>
          </a:p>
        </p:txBody>
      </p:sp>
      <p:sp>
        <p:nvSpPr>
          <p:cNvPr id="5" name="TextBox 4"/>
          <p:cNvSpPr txBox="1"/>
          <p:nvPr/>
        </p:nvSpPr>
        <p:spPr>
          <a:xfrm>
            <a:off x="457200" y="2788920"/>
            <a:ext cx="11247120" cy="457200"/>
          </a:xfrm>
          <a:prstGeom prst="rect">
            <a:avLst/>
          </a:prstGeom>
          <a:noFill/>
        </p:spPr>
        <p:txBody>
          <a:bodyPr wrap="square" lIns="25400" tIns="12700" rIns="25400" bIns="12700" anchor="t">
            <a:spAutoFit/>
          </a:bodyPr>
          <a:lstStyle/>
          <a:p>
            <a:pPr algn="ctr"/>
            <a:r>
              <a:rPr sz="1500" b="0" i="0">
                <a:solidFill>
                  <a:srgbClr val="ADC4D6"/>
                </a:solidFill>
                <a:latin typeface="Calibri"/>
              </a:rPr>
              <a:t>Heterojen Akustik Öznitelikler ve LightGBM Tabanlı Bir Yaklaşım</a:t>
            </a:r>
          </a:p>
        </p:txBody>
      </p:sp>
      <p:sp>
        <p:nvSpPr>
          <p:cNvPr id="6" name="TextBox 5"/>
          <p:cNvSpPr txBox="1"/>
          <p:nvPr/>
        </p:nvSpPr>
        <p:spPr>
          <a:xfrm>
            <a:off x="457200" y="3383280"/>
            <a:ext cx="11247120" cy="411480"/>
          </a:xfrm>
          <a:prstGeom prst="rect">
            <a:avLst/>
          </a:prstGeom>
          <a:noFill/>
        </p:spPr>
        <p:txBody>
          <a:bodyPr wrap="square" lIns="25400" tIns="12700" rIns="25400" bIns="12700" anchor="t">
            <a:spAutoFit/>
          </a:bodyPr>
          <a:lstStyle/>
          <a:p>
            <a:pPr algn="ctr"/>
            <a:r>
              <a:rPr sz="1400" b="0" i="1">
                <a:solidFill>
                  <a:srgbClr val="7E9AB4"/>
                </a:solidFill>
                <a:latin typeface="Calibri"/>
              </a:rPr>
              <a:t>BM498 Mezuniyet Tezi · Final Savunma Sunumu</a:t>
            </a:r>
          </a:p>
        </p:txBody>
      </p:sp>
      <p:sp>
        <p:nvSpPr>
          <p:cNvPr id="7" name="TextBox 6"/>
          <p:cNvSpPr txBox="1"/>
          <p:nvPr/>
        </p:nvSpPr>
        <p:spPr>
          <a:xfrm>
            <a:off x="457200" y="4754880"/>
            <a:ext cx="11247120" cy="411480"/>
          </a:xfrm>
          <a:prstGeom prst="rect">
            <a:avLst/>
          </a:prstGeom>
          <a:noFill/>
        </p:spPr>
        <p:txBody>
          <a:bodyPr wrap="square" lIns="25400" tIns="12700" rIns="25400" bIns="12700" anchor="t">
            <a:spAutoFit/>
          </a:bodyPr>
          <a:lstStyle/>
          <a:p>
            <a:pPr algn="ctr"/>
            <a:r>
              <a:rPr sz="1800" b="1" i="0">
                <a:solidFill>
                  <a:srgbClr val="FFFFFF"/>
                </a:solidFill>
                <a:latin typeface="Calibri"/>
              </a:rPr>
              <a:t>Hasan Arthur Altuntaş</a:t>
            </a:r>
          </a:p>
        </p:txBody>
      </p:sp>
      <p:sp>
        <p:nvSpPr>
          <p:cNvPr id="8" name="TextBox 7"/>
          <p:cNvSpPr txBox="1"/>
          <p:nvPr/>
        </p:nvSpPr>
        <p:spPr>
          <a:xfrm>
            <a:off x="457200" y="5212080"/>
            <a:ext cx="11247120" cy="365760"/>
          </a:xfrm>
          <a:prstGeom prst="rect">
            <a:avLst/>
          </a:prstGeom>
          <a:noFill/>
        </p:spPr>
        <p:txBody>
          <a:bodyPr wrap="square" lIns="25400" tIns="12700" rIns="25400" bIns="12700" anchor="t">
            <a:spAutoFit/>
          </a:bodyPr>
          <a:lstStyle/>
          <a:p>
            <a:pPr algn="ctr"/>
            <a:r>
              <a:rPr sz="1400" b="0" i="0">
                <a:solidFill>
                  <a:srgbClr val="ADC4D6"/>
                </a:solidFill>
                <a:latin typeface="Calibri"/>
              </a:rPr>
              <a:t>Danışman: ___________________________</a:t>
            </a:r>
          </a:p>
        </p:txBody>
      </p:sp>
      <p:sp>
        <p:nvSpPr>
          <p:cNvPr id="9" name="TextBox 8"/>
          <p:cNvSpPr txBox="1"/>
          <p:nvPr/>
        </p:nvSpPr>
        <p:spPr>
          <a:xfrm>
            <a:off x="457200" y="5897880"/>
            <a:ext cx="11247120" cy="365760"/>
          </a:xfrm>
          <a:prstGeom prst="rect">
            <a:avLst/>
          </a:prstGeom>
          <a:noFill/>
        </p:spPr>
        <p:txBody>
          <a:bodyPr wrap="square" lIns="25400" tIns="12700" rIns="25400" bIns="12700" anchor="t">
            <a:spAutoFit/>
          </a:bodyPr>
          <a:lstStyle/>
          <a:p>
            <a:pPr algn="ctr"/>
            <a:r>
              <a:rPr sz="1200" b="0" i="0">
                <a:solidFill>
                  <a:srgbClr val="5E7A94"/>
                </a:solidFill>
                <a:latin typeface="Calibri"/>
              </a:rPr>
              <a:t>Düzce Üniversitesi · Mühendislik Fakültesi · Bilgisayar Mühendisliği · 2025-2026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46304"/>
            <a:ext cx="10058400" cy="292608"/>
          </a:xfrm>
          <a:prstGeom prst="rect">
            <a:avLst/>
          </a:prstGeom>
          <a:noFill/>
        </p:spPr>
        <p:txBody>
          <a:bodyPr wrap="square" lIns="25400" tIns="12700" rIns="25400" bIns="12700" anchor="t">
            <a:spAutoFit/>
          </a:bodyPr>
          <a:lstStyle/>
          <a:p>
            <a:pPr algn="l"/>
            <a:r>
              <a:rPr sz="1150" b="1" i="0">
                <a:solidFill>
                  <a:srgbClr val="D99A07"/>
                </a:solidFill>
                <a:latin typeface="Calibri"/>
              </a:rPr>
              <a:t>GENEL BAKIŞ</a:t>
            </a:r>
          </a:p>
        </p:txBody>
      </p:sp>
      <p:sp>
        <p:nvSpPr>
          <p:cNvPr id="6" name="TextBox 5"/>
          <p:cNvSpPr txBox="1"/>
          <p:nvPr/>
        </p:nvSpPr>
        <p:spPr>
          <a:xfrm>
            <a:off x="411480" y="420624"/>
            <a:ext cx="11338560" cy="603504"/>
          </a:xfrm>
          <a:prstGeom prst="rect">
            <a:avLst/>
          </a:prstGeom>
          <a:noFill/>
        </p:spPr>
        <p:txBody>
          <a:bodyPr wrap="square" lIns="25400" tIns="12700" rIns="25400" bIns="12700" anchor="t">
            <a:spAutoFit/>
          </a:bodyPr>
          <a:lstStyle/>
          <a:p>
            <a:pPr algn="l"/>
            <a:r>
              <a:rPr sz="2300" b="1" i="0">
                <a:solidFill>
                  <a:srgbClr val="FFFFFF"/>
                </a:solidFill>
                <a:latin typeface="Calibri"/>
              </a:rPr>
              <a:t>Sunum Planı</a:t>
            </a:r>
          </a:p>
        </p:txBody>
      </p:sp>
      <p:sp>
        <p:nvSpPr>
          <p:cNvPr id="7" name="Rectangle 6"/>
          <p:cNvSpPr/>
          <p:nvPr/>
        </p:nvSpPr>
        <p:spPr>
          <a:xfrm>
            <a:off x="365760" y="169164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65760" y="169164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65760" y="1691640"/>
            <a:ext cx="621792" cy="621792"/>
          </a:xfrm>
          <a:prstGeom prst="rect">
            <a:avLst/>
          </a:prstGeom>
          <a:noFill/>
        </p:spPr>
        <p:txBody>
          <a:bodyPr wrap="square" lIns="25400" tIns="12700" rIns="25400" bIns="12700" anchor="ctr">
            <a:spAutoFit/>
          </a:bodyPr>
          <a:lstStyle/>
          <a:p>
            <a:pPr algn="ctr"/>
            <a:r>
              <a:rPr sz="1800" b="1" i="0">
                <a:solidFill>
                  <a:srgbClr val="D99A07"/>
                </a:solidFill>
                <a:latin typeface="Calibri"/>
              </a:rPr>
              <a:t>1</a:t>
            </a:r>
          </a:p>
        </p:txBody>
      </p:sp>
      <p:sp>
        <p:nvSpPr>
          <p:cNvPr id="10" name="TextBox 9"/>
          <p:cNvSpPr txBox="1"/>
          <p:nvPr/>
        </p:nvSpPr>
        <p:spPr>
          <a:xfrm>
            <a:off x="1143000" y="1691640"/>
            <a:ext cx="4754880" cy="621792"/>
          </a:xfrm>
          <a:prstGeom prst="rect">
            <a:avLst/>
          </a:prstGeom>
          <a:noFill/>
        </p:spPr>
        <p:txBody>
          <a:bodyPr wrap="square" lIns="25400" tIns="12700" rIns="25400" bIns="12700" anchor="ctr">
            <a:spAutoFit/>
          </a:bodyPr>
          <a:lstStyle/>
          <a:p>
            <a:pPr algn="l"/>
            <a:r>
              <a:rPr sz="1250" b="0" i="0">
                <a:solidFill>
                  <a:srgbClr val="242A30"/>
                </a:solidFill>
                <a:latin typeface="Calibri"/>
              </a:rPr>
              <a:t>Motivasyon ve Problem</a:t>
            </a:r>
          </a:p>
        </p:txBody>
      </p:sp>
      <p:sp>
        <p:nvSpPr>
          <p:cNvPr id="11" name="Rectangle 10"/>
          <p:cNvSpPr/>
          <p:nvPr/>
        </p:nvSpPr>
        <p:spPr>
          <a:xfrm>
            <a:off x="365760" y="242316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365760" y="242316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65760" y="2423160"/>
            <a:ext cx="621792" cy="621792"/>
          </a:xfrm>
          <a:prstGeom prst="rect">
            <a:avLst/>
          </a:prstGeom>
          <a:noFill/>
        </p:spPr>
        <p:txBody>
          <a:bodyPr wrap="square" lIns="25400" tIns="12700" rIns="25400" bIns="12700" anchor="ctr">
            <a:spAutoFit/>
          </a:bodyPr>
          <a:lstStyle/>
          <a:p>
            <a:pPr algn="ctr"/>
            <a:r>
              <a:rPr sz="1800" b="1" i="0">
                <a:solidFill>
                  <a:srgbClr val="D99A07"/>
                </a:solidFill>
                <a:latin typeface="Calibri"/>
              </a:rPr>
              <a:t>2</a:t>
            </a:r>
          </a:p>
        </p:txBody>
      </p:sp>
      <p:sp>
        <p:nvSpPr>
          <p:cNvPr id="14" name="TextBox 13"/>
          <p:cNvSpPr txBox="1"/>
          <p:nvPr/>
        </p:nvSpPr>
        <p:spPr>
          <a:xfrm>
            <a:off x="1143000" y="2423160"/>
            <a:ext cx="4754880" cy="621792"/>
          </a:xfrm>
          <a:prstGeom prst="rect">
            <a:avLst/>
          </a:prstGeom>
          <a:noFill/>
        </p:spPr>
        <p:txBody>
          <a:bodyPr wrap="square" lIns="25400" tIns="12700" rIns="25400" bIns="12700" anchor="ctr">
            <a:spAutoFit/>
          </a:bodyPr>
          <a:lstStyle/>
          <a:p>
            <a:pPr algn="l"/>
            <a:r>
              <a:rPr sz="1250" b="0" i="0">
                <a:solidFill>
                  <a:srgbClr val="242A30"/>
                </a:solidFill>
                <a:latin typeface="Calibri"/>
              </a:rPr>
              <a:t>Literatür ve Boşluk Analizi</a:t>
            </a:r>
          </a:p>
        </p:txBody>
      </p:sp>
      <p:sp>
        <p:nvSpPr>
          <p:cNvPr id="15" name="Rectangle 14"/>
          <p:cNvSpPr/>
          <p:nvPr/>
        </p:nvSpPr>
        <p:spPr>
          <a:xfrm>
            <a:off x="365760" y="315468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365760" y="315468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65760" y="3154680"/>
            <a:ext cx="621792" cy="621792"/>
          </a:xfrm>
          <a:prstGeom prst="rect">
            <a:avLst/>
          </a:prstGeom>
          <a:noFill/>
        </p:spPr>
        <p:txBody>
          <a:bodyPr wrap="square" lIns="25400" tIns="12700" rIns="25400" bIns="12700" anchor="ctr">
            <a:spAutoFit/>
          </a:bodyPr>
          <a:lstStyle/>
          <a:p>
            <a:pPr algn="ctr"/>
            <a:r>
              <a:rPr sz="1800" b="1" i="0">
                <a:solidFill>
                  <a:srgbClr val="D99A07"/>
                </a:solidFill>
                <a:latin typeface="Calibri"/>
              </a:rPr>
              <a:t>3</a:t>
            </a:r>
          </a:p>
        </p:txBody>
      </p:sp>
      <p:sp>
        <p:nvSpPr>
          <p:cNvPr id="18" name="TextBox 17"/>
          <p:cNvSpPr txBox="1"/>
          <p:nvPr/>
        </p:nvSpPr>
        <p:spPr>
          <a:xfrm>
            <a:off x="1143000" y="3154680"/>
            <a:ext cx="4754880" cy="621792"/>
          </a:xfrm>
          <a:prstGeom prst="rect">
            <a:avLst/>
          </a:prstGeom>
          <a:noFill/>
        </p:spPr>
        <p:txBody>
          <a:bodyPr wrap="square" lIns="25400" tIns="12700" rIns="25400" bIns="12700" anchor="ctr">
            <a:spAutoFit/>
          </a:bodyPr>
          <a:lstStyle/>
          <a:p>
            <a:pPr algn="l"/>
            <a:r>
              <a:rPr sz="1250" b="0" i="0">
                <a:solidFill>
                  <a:srgbClr val="242A30"/>
                </a:solidFill>
                <a:latin typeface="Calibri"/>
              </a:rPr>
              <a:t>Sistem Mimarisi</a:t>
            </a:r>
          </a:p>
        </p:txBody>
      </p:sp>
      <p:sp>
        <p:nvSpPr>
          <p:cNvPr id="19" name="Rectangle 18"/>
          <p:cNvSpPr/>
          <p:nvPr/>
        </p:nvSpPr>
        <p:spPr>
          <a:xfrm>
            <a:off x="365760" y="388620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365760" y="388620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65760" y="3886200"/>
            <a:ext cx="621792" cy="621792"/>
          </a:xfrm>
          <a:prstGeom prst="rect">
            <a:avLst/>
          </a:prstGeom>
          <a:noFill/>
        </p:spPr>
        <p:txBody>
          <a:bodyPr wrap="square" lIns="25400" tIns="12700" rIns="25400" bIns="12700" anchor="ctr">
            <a:spAutoFit/>
          </a:bodyPr>
          <a:lstStyle/>
          <a:p>
            <a:pPr algn="ctr"/>
            <a:r>
              <a:rPr sz="1800" b="1" i="0">
                <a:solidFill>
                  <a:srgbClr val="D99A07"/>
                </a:solidFill>
                <a:latin typeface="Calibri"/>
              </a:rPr>
              <a:t>4</a:t>
            </a:r>
          </a:p>
        </p:txBody>
      </p:sp>
      <p:sp>
        <p:nvSpPr>
          <p:cNvPr id="22" name="TextBox 21"/>
          <p:cNvSpPr txBox="1"/>
          <p:nvPr/>
        </p:nvSpPr>
        <p:spPr>
          <a:xfrm>
            <a:off x="1143000" y="3886200"/>
            <a:ext cx="4754880" cy="621792"/>
          </a:xfrm>
          <a:prstGeom prst="rect">
            <a:avLst/>
          </a:prstGeom>
          <a:noFill/>
        </p:spPr>
        <p:txBody>
          <a:bodyPr wrap="square" lIns="25400" tIns="12700" rIns="25400" bIns="12700" anchor="ctr">
            <a:spAutoFit/>
          </a:bodyPr>
          <a:lstStyle/>
          <a:p>
            <a:pPr algn="l"/>
            <a:r>
              <a:rPr sz="1250" b="0" i="0">
                <a:solidFill>
                  <a:srgbClr val="242A30"/>
                </a:solidFill>
                <a:latin typeface="Calibri"/>
              </a:rPr>
              <a:t>Veri Kümesi</a:t>
            </a:r>
          </a:p>
        </p:txBody>
      </p:sp>
      <p:sp>
        <p:nvSpPr>
          <p:cNvPr id="23" name="Rectangle 22"/>
          <p:cNvSpPr/>
          <p:nvPr/>
        </p:nvSpPr>
        <p:spPr>
          <a:xfrm>
            <a:off x="365760" y="461772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365760" y="461772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365760" y="4617720"/>
            <a:ext cx="621792" cy="621792"/>
          </a:xfrm>
          <a:prstGeom prst="rect">
            <a:avLst/>
          </a:prstGeom>
          <a:noFill/>
        </p:spPr>
        <p:txBody>
          <a:bodyPr wrap="square" lIns="25400" tIns="12700" rIns="25400" bIns="12700" anchor="ctr">
            <a:spAutoFit/>
          </a:bodyPr>
          <a:lstStyle/>
          <a:p>
            <a:pPr algn="ctr"/>
            <a:r>
              <a:rPr sz="1800" b="1" i="0">
                <a:solidFill>
                  <a:srgbClr val="D99A07"/>
                </a:solidFill>
                <a:latin typeface="Calibri"/>
              </a:rPr>
              <a:t>5</a:t>
            </a:r>
          </a:p>
        </p:txBody>
      </p:sp>
      <p:sp>
        <p:nvSpPr>
          <p:cNvPr id="26" name="TextBox 25"/>
          <p:cNvSpPr txBox="1"/>
          <p:nvPr/>
        </p:nvSpPr>
        <p:spPr>
          <a:xfrm>
            <a:off x="1143000" y="4617720"/>
            <a:ext cx="4754880" cy="621792"/>
          </a:xfrm>
          <a:prstGeom prst="rect">
            <a:avLst/>
          </a:prstGeom>
          <a:noFill/>
        </p:spPr>
        <p:txBody>
          <a:bodyPr wrap="square" lIns="25400" tIns="12700" rIns="25400" bIns="12700" anchor="ctr">
            <a:spAutoFit/>
          </a:bodyPr>
          <a:lstStyle/>
          <a:p>
            <a:pPr algn="l"/>
            <a:r>
              <a:rPr sz="1250" b="0" i="0">
                <a:solidFill>
                  <a:srgbClr val="242A30"/>
                </a:solidFill>
                <a:latin typeface="Calibri"/>
              </a:rPr>
              <a:t>Öznitelik Çıkarma (47 boyut)</a:t>
            </a:r>
          </a:p>
        </p:txBody>
      </p:sp>
      <p:sp>
        <p:nvSpPr>
          <p:cNvPr id="27" name="Rectangle 26"/>
          <p:cNvSpPr/>
          <p:nvPr/>
        </p:nvSpPr>
        <p:spPr>
          <a:xfrm>
            <a:off x="365760" y="534924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365760" y="534924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365760" y="5349240"/>
            <a:ext cx="621792" cy="621792"/>
          </a:xfrm>
          <a:prstGeom prst="rect">
            <a:avLst/>
          </a:prstGeom>
          <a:noFill/>
        </p:spPr>
        <p:txBody>
          <a:bodyPr wrap="square" lIns="25400" tIns="12700" rIns="25400" bIns="12700" anchor="ctr">
            <a:spAutoFit/>
          </a:bodyPr>
          <a:lstStyle/>
          <a:p>
            <a:pPr algn="ctr"/>
            <a:r>
              <a:rPr sz="1800" b="1" i="0">
                <a:solidFill>
                  <a:srgbClr val="D99A07"/>
                </a:solidFill>
                <a:latin typeface="Calibri"/>
              </a:rPr>
              <a:t>6</a:t>
            </a:r>
          </a:p>
        </p:txBody>
      </p:sp>
      <p:sp>
        <p:nvSpPr>
          <p:cNvPr id="30" name="TextBox 29"/>
          <p:cNvSpPr txBox="1"/>
          <p:nvPr/>
        </p:nvSpPr>
        <p:spPr>
          <a:xfrm>
            <a:off x="1143000" y="5349240"/>
            <a:ext cx="4754880" cy="621792"/>
          </a:xfrm>
          <a:prstGeom prst="rect">
            <a:avLst/>
          </a:prstGeom>
          <a:noFill/>
        </p:spPr>
        <p:txBody>
          <a:bodyPr wrap="square" lIns="25400" tIns="12700" rIns="25400" bIns="12700" anchor="ctr">
            <a:spAutoFit/>
          </a:bodyPr>
          <a:lstStyle/>
          <a:p>
            <a:pPr algn="l"/>
            <a:r>
              <a:rPr sz="1250" b="0" i="0">
                <a:solidFill>
                  <a:srgbClr val="242A30"/>
                </a:solidFill>
                <a:latin typeface="Calibri"/>
              </a:rPr>
              <a:t>Sınıflandırma Modelleri</a:t>
            </a:r>
          </a:p>
        </p:txBody>
      </p:sp>
      <p:sp>
        <p:nvSpPr>
          <p:cNvPr id="31" name="Rectangle 30"/>
          <p:cNvSpPr/>
          <p:nvPr/>
        </p:nvSpPr>
        <p:spPr>
          <a:xfrm>
            <a:off x="6199632" y="169164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6199632" y="169164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199632" y="1691640"/>
            <a:ext cx="621792" cy="621792"/>
          </a:xfrm>
          <a:prstGeom prst="rect">
            <a:avLst/>
          </a:prstGeom>
          <a:noFill/>
        </p:spPr>
        <p:txBody>
          <a:bodyPr wrap="square" lIns="25400" tIns="12700" rIns="25400" bIns="12700" anchor="ctr">
            <a:spAutoFit/>
          </a:bodyPr>
          <a:lstStyle/>
          <a:p>
            <a:pPr algn="ctr"/>
            <a:r>
              <a:rPr sz="1800" b="1" i="0">
                <a:solidFill>
                  <a:srgbClr val="D99A07"/>
                </a:solidFill>
                <a:latin typeface="Calibri"/>
              </a:rPr>
              <a:t>7</a:t>
            </a:r>
          </a:p>
        </p:txBody>
      </p:sp>
      <p:sp>
        <p:nvSpPr>
          <p:cNvPr id="34" name="TextBox 33"/>
          <p:cNvSpPr txBox="1"/>
          <p:nvPr/>
        </p:nvSpPr>
        <p:spPr>
          <a:xfrm>
            <a:off x="6976872" y="1691640"/>
            <a:ext cx="4754880" cy="621792"/>
          </a:xfrm>
          <a:prstGeom prst="rect">
            <a:avLst/>
          </a:prstGeom>
          <a:noFill/>
        </p:spPr>
        <p:txBody>
          <a:bodyPr wrap="square" lIns="25400" tIns="12700" rIns="25400" bIns="12700" anchor="ctr">
            <a:spAutoFit/>
          </a:bodyPr>
          <a:lstStyle/>
          <a:p>
            <a:pPr algn="l"/>
            <a:r>
              <a:rPr sz="1250" b="0" i="0">
                <a:solidFill>
                  <a:srgbClr val="242A30"/>
                </a:solidFill>
                <a:latin typeface="Calibri"/>
              </a:rPr>
              <a:t>Eğitim Protokolü ve Eşik</a:t>
            </a:r>
          </a:p>
        </p:txBody>
      </p:sp>
      <p:sp>
        <p:nvSpPr>
          <p:cNvPr id="35" name="Rectangle 34"/>
          <p:cNvSpPr/>
          <p:nvPr/>
        </p:nvSpPr>
        <p:spPr>
          <a:xfrm>
            <a:off x="6199632" y="242316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6199632" y="242316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6199632" y="2423160"/>
            <a:ext cx="621792" cy="621792"/>
          </a:xfrm>
          <a:prstGeom prst="rect">
            <a:avLst/>
          </a:prstGeom>
          <a:noFill/>
        </p:spPr>
        <p:txBody>
          <a:bodyPr wrap="square" lIns="25400" tIns="12700" rIns="25400" bIns="12700" anchor="ctr">
            <a:spAutoFit/>
          </a:bodyPr>
          <a:lstStyle/>
          <a:p>
            <a:pPr algn="ctr"/>
            <a:r>
              <a:rPr sz="1800" b="1" i="0">
                <a:solidFill>
                  <a:srgbClr val="D99A07"/>
                </a:solidFill>
                <a:latin typeface="Calibri"/>
              </a:rPr>
              <a:t>8</a:t>
            </a:r>
          </a:p>
        </p:txBody>
      </p:sp>
      <p:sp>
        <p:nvSpPr>
          <p:cNvPr id="38" name="TextBox 37"/>
          <p:cNvSpPr txBox="1"/>
          <p:nvPr/>
        </p:nvSpPr>
        <p:spPr>
          <a:xfrm>
            <a:off x="6976872" y="2423160"/>
            <a:ext cx="4754880" cy="621792"/>
          </a:xfrm>
          <a:prstGeom prst="rect">
            <a:avLst/>
          </a:prstGeom>
          <a:noFill/>
        </p:spPr>
        <p:txBody>
          <a:bodyPr wrap="square" lIns="25400" tIns="12700" rIns="25400" bIns="12700" anchor="ctr">
            <a:spAutoFit/>
          </a:bodyPr>
          <a:lstStyle/>
          <a:p>
            <a:pPr algn="l"/>
            <a:r>
              <a:rPr sz="1250" b="0" i="0">
                <a:solidFill>
                  <a:srgbClr val="242A30"/>
                </a:solidFill>
                <a:latin typeface="Calibri"/>
              </a:rPr>
              <a:t>Sonuçlar — Model Karşılaştırması</a:t>
            </a:r>
          </a:p>
        </p:txBody>
      </p:sp>
      <p:sp>
        <p:nvSpPr>
          <p:cNvPr id="39" name="Rectangle 38"/>
          <p:cNvSpPr/>
          <p:nvPr/>
        </p:nvSpPr>
        <p:spPr>
          <a:xfrm>
            <a:off x="6199632" y="315468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6199632" y="315468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199632" y="3154680"/>
            <a:ext cx="621792" cy="621792"/>
          </a:xfrm>
          <a:prstGeom prst="rect">
            <a:avLst/>
          </a:prstGeom>
          <a:noFill/>
        </p:spPr>
        <p:txBody>
          <a:bodyPr wrap="square" lIns="25400" tIns="12700" rIns="25400" bIns="12700" anchor="ctr">
            <a:spAutoFit/>
          </a:bodyPr>
          <a:lstStyle/>
          <a:p>
            <a:pPr algn="ctr"/>
            <a:r>
              <a:rPr sz="1800" b="1" i="0">
                <a:solidFill>
                  <a:srgbClr val="D99A07"/>
                </a:solidFill>
                <a:latin typeface="Calibri"/>
              </a:rPr>
              <a:t>9</a:t>
            </a:r>
          </a:p>
        </p:txBody>
      </p:sp>
      <p:sp>
        <p:nvSpPr>
          <p:cNvPr id="42" name="TextBox 41"/>
          <p:cNvSpPr txBox="1"/>
          <p:nvPr/>
        </p:nvSpPr>
        <p:spPr>
          <a:xfrm>
            <a:off x="6976872" y="3154680"/>
            <a:ext cx="4754880" cy="621792"/>
          </a:xfrm>
          <a:prstGeom prst="rect">
            <a:avLst/>
          </a:prstGeom>
          <a:noFill/>
        </p:spPr>
        <p:txBody>
          <a:bodyPr wrap="square" lIns="25400" tIns="12700" rIns="25400" bIns="12700" anchor="ctr">
            <a:spAutoFit/>
          </a:bodyPr>
          <a:lstStyle/>
          <a:p>
            <a:pPr algn="l"/>
            <a:r>
              <a:rPr sz="1250" b="0" i="0">
                <a:solidFill>
                  <a:srgbClr val="242A30"/>
                </a:solidFill>
                <a:latin typeface="Calibri"/>
              </a:rPr>
              <a:t>Açıklanabilirlik (SHAP)</a:t>
            </a:r>
          </a:p>
        </p:txBody>
      </p:sp>
      <p:sp>
        <p:nvSpPr>
          <p:cNvPr id="43" name="Rectangle 42"/>
          <p:cNvSpPr/>
          <p:nvPr/>
        </p:nvSpPr>
        <p:spPr>
          <a:xfrm>
            <a:off x="6199632" y="388620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43"/>
          <p:cNvSpPr/>
          <p:nvPr/>
        </p:nvSpPr>
        <p:spPr>
          <a:xfrm>
            <a:off x="6199632" y="388620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6199632" y="3886200"/>
            <a:ext cx="621792" cy="621792"/>
          </a:xfrm>
          <a:prstGeom prst="rect">
            <a:avLst/>
          </a:prstGeom>
          <a:noFill/>
        </p:spPr>
        <p:txBody>
          <a:bodyPr wrap="square" lIns="25400" tIns="12700" rIns="25400" bIns="12700" anchor="ctr">
            <a:spAutoFit/>
          </a:bodyPr>
          <a:lstStyle/>
          <a:p>
            <a:pPr algn="ctr"/>
            <a:r>
              <a:rPr sz="1800" b="1" i="0">
                <a:solidFill>
                  <a:srgbClr val="D99A07"/>
                </a:solidFill>
                <a:latin typeface="Calibri"/>
              </a:rPr>
              <a:t>10</a:t>
            </a:r>
          </a:p>
        </p:txBody>
      </p:sp>
      <p:sp>
        <p:nvSpPr>
          <p:cNvPr id="46" name="TextBox 45"/>
          <p:cNvSpPr txBox="1"/>
          <p:nvPr/>
        </p:nvSpPr>
        <p:spPr>
          <a:xfrm>
            <a:off x="6976872" y="3886200"/>
            <a:ext cx="4754880" cy="621792"/>
          </a:xfrm>
          <a:prstGeom prst="rect">
            <a:avLst/>
          </a:prstGeom>
          <a:noFill/>
        </p:spPr>
        <p:txBody>
          <a:bodyPr wrap="square" lIns="25400" tIns="12700" rIns="25400" bIns="12700" anchor="ctr">
            <a:spAutoFit/>
          </a:bodyPr>
          <a:lstStyle/>
          <a:p>
            <a:pPr algn="l"/>
            <a:r>
              <a:rPr sz="1250" b="0" i="0">
                <a:solidFill>
                  <a:srgbClr val="242A30"/>
                </a:solidFill>
                <a:latin typeface="Calibri"/>
              </a:rPr>
              <a:t>Tanılayıcı Analizler</a:t>
            </a:r>
          </a:p>
        </p:txBody>
      </p:sp>
      <p:sp>
        <p:nvSpPr>
          <p:cNvPr id="47" name="Rectangle 46"/>
          <p:cNvSpPr/>
          <p:nvPr/>
        </p:nvSpPr>
        <p:spPr>
          <a:xfrm>
            <a:off x="6199632" y="461772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6199632" y="461772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6199632" y="4617720"/>
            <a:ext cx="621792" cy="621792"/>
          </a:xfrm>
          <a:prstGeom prst="rect">
            <a:avLst/>
          </a:prstGeom>
          <a:noFill/>
        </p:spPr>
        <p:txBody>
          <a:bodyPr wrap="square" lIns="25400" tIns="12700" rIns="25400" bIns="12700" anchor="ctr">
            <a:spAutoFit/>
          </a:bodyPr>
          <a:lstStyle/>
          <a:p>
            <a:pPr algn="ctr"/>
            <a:r>
              <a:rPr sz="1800" b="1" i="0">
                <a:solidFill>
                  <a:srgbClr val="D99A07"/>
                </a:solidFill>
                <a:latin typeface="Calibri"/>
              </a:rPr>
              <a:t>11</a:t>
            </a:r>
          </a:p>
        </p:txBody>
      </p:sp>
      <p:sp>
        <p:nvSpPr>
          <p:cNvPr id="50" name="TextBox 49"/>
          <p:cNvSpPr txBox="1"/>
          <p:nvPr/>
        </p:nvSpPr>
        <p:spPr>
          <a:xfrm>
            <a:off x="6976872" y="4617720"/>
            <a:ext cx="4754880" cy="621792"/>
          </a:xfrm>
          <a:prstGeom prst="rect">
            <a:avLst/>
          </a:prstGeom>
          <a:noFill/>
        </p:spPr>
        <p:txBody>
          <a:bodyPr wrap="square" lIns="25400" tIns="12700" rIns="25400" bIns="12700" anchor="ctr">
            <a:spAutoFit/>
          </a:bodyPr>
          <a:lstStyle/>
          <a:p>
            <a:pPr algn="l"/>
            <a:r>
              <a:rPr sz="1250" b="0" i="0">
                <a:solidFill>
                  <a:srgbClr val="242A30"/>
                </a:solidFill>
                <a:latin typeface="Calibri"/>
              </a:rPr>
              <a:t>Literatür Karşılaştırması</a:t>
            </a:r>
          </a:p>
        </p:txBody>
      </p:sp>
      <p:sp>
        <p:nvSpPr>
          <p:cNvPr id="51" name="Rectangle 50"/>
          <p:cNvSpPr/>
          <p:nvPr/>
        </p:nvSpPr>
        <p:spPr>
          <a:xfrm>
            <a:off x="6199632" y="534924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Rectangle 51"/>
          <p:cNvSpPr/>
          <p:nvPr/>
        </p:nvSpPr>
        <p:spPr>
          <a:xfrm>
            <a:off x="6199632" y="534924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6199632" y="5349240"/>
            <a:ext cx="621792" cy="621792"/>
          </a:xfrm>
          <a:prstGeom prst="rect">
            <a:avLst/>
          </a:prstGeom>
          <a:noFill/>
        </p:spPr>
        <p:txBody>
          <a:bodyPr wrap="square" lIns="25400" tIns="12700" rIns="25400" bIns="12700" anchor="ctr">
            <a:spAutoFit/>
          </a:bodyPr>
          <a:lstStyle/>
          <a:p>
            <a:pPr algn="ctr"/>
            <a:r>
              <a:rPr sz="1800" b="1" i="0">
                <a:solidFill>
                  <a:srgbClr val="D99A07"/>
                </a:solidFill>
                <a:latin typeface="Calibri"/>
              </a:rPr>
              <a:t>12</a:t>
            </a:r>
          </a:p>
        </p:txBody>
      </p:sp>
      <p:sp>
        <p:nvSpPr>
          <p:cNvPr id="54" name="TextBox 53"/>
          <p:cNvSpPr txBox="1"/>
          <p:nvPr/>
        </p:nvSpPr>
        <p:spPr>
          <a:xfrm>
            <a:off x="6976872" y="5349240"/>
            <a:ext cx="4754880" cy="621792"/>
          </a:xfrm>
          <a:prstGeom prst="rect">
            <a:avLst/>
          </a:prstGeom>
          <a:noFill/>
        </p:spPr>
        <p:txBody>
          <a:bodyPr wrap="square" lIns="25400" tIns="12700" rIns="25400" bIns="12700" anchor="ctr">
            <a:spAutoFit/>
          </a:bodyPr>
          <a:lstStyle/>
          <a:p>
            <a:pPr algn="l"/>
            <a:r>
              <a:rPr sz="1250" b="0" i="0">
                <a:solidFill>
                  <a:srgbClr val="242A30"/>
                </a:solidFill>
                <a:latin typeface="Calibri"/>
              </a:rPr>
              <a:t>Kısıtlamalar, Sonuç, Gelecek</a:t>
            </a:r>
          </a:p>
        </p:txBody>
      </p:sp>
      <p:sp>
        <p:nvSpPr>
          <p:cNvPr id="55" name="Rectangle 54"/>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365760" y="6473952"/>
            <a:ext cx="4206240" cy="292608"/>
          </a:xfrm>
          <a:prstGeom prst="rect">
            <a:avLst/>
          </a:prstGeom>
          <a:noFill/>
        </p:spPr>
        <p:txBody>
          <a:bodyPr wrap="square" lIns="25400" tIns="12700" rIns="25400" bIns="12700" anchor="t">
            <a:spAutoFit/>
          </a:bodyPr>
          <a:lstStyle/>
          <a:p>
            <a:pPr algn="l"/>
            <a:r>
              <a:rPr sz="900" b="0" i="0">
                <a:solidFill>
                  <a:srgbClr val="6A7480"/>
                </a:solidFill>
                <a:latin typeface="Calibri"/>
              </a:rPr>
              <a:t>AURIS · YZ Üretimli Müzik Tespiti</a:t>
            </a:r>
          </a:p>
        </p:txBody>
      </p:sp>
      <p:sp>
        <p:nvSpPr>
          <p:cNvPr id="57" name="TextBox 56"/>
          <p:cNvSpPr txBox="1"/>
          <p:nvPr/>
        </p:nvSpPr>
        <p:spPr>
          <a:xfrm>
            <a:off x="4663440" y="6473952"/>
            <a:ext cx="7159752" cy="292608"/>
          </a:xfrm>
          <a:prstGeom prst="rect">
            <a:avLst/>
          </a:prstGeom>
          <a:noFill/>
        </p:spPr>
        <p:txBody>
          <a:bodyPr wrap="square" lIns="25400" tIns="12700" rIns="25400" bIns="12700" anchor="t">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46304"/>
            <a:ext cx="10058400" cy="292608"/>
          </a:xfrm>
          <a:prstGeom prst="rect">
            <a:avLst/>
          </a:prstGeom>
          <a:noFill/>
        </p:spPr>
        <p:txBody>
          <a:bodyPr wrap="square" lIns="25400" tIns="12700" rIns="25400" bIns="12700" anchor="t">
            <a:spAutoFit/>
          </a:bodyPr>
          <a:lstStyle/>
          <a:p>
            <a:pPr algn="l"/>
            <a:r>
              <a:rPr sz="1150" b="1" i="0">
                <a:solidFill>
                  <a:srgbClr val="D99A07"/>
                </a:solidFill>
                <a:latin typeface="Calibri"/>
              </a:rPr>
              <a:t>BÖLÜM 1</a:t>
            </a:r>
          </a:p>
        </p:txBody>
      </p:sp>
      <p:sp>
        <p:nvSpPr>
          <p:cNvPr id="6" name="TextBox 5"/>
          <p:cNvSpPr txBox="1"/>
          <p:nvPr/>
        </p:nvSpPr>
        <p:spPr>
          <a:xfrm>
            <a:off x="411480" y="420624"/>
            <a:ext cx="11338560" cy="603504"/>
          </a:xfrm>
          <a:prstGeom prst="rect">
            <a:avLst/>
          </a:prstGeom>
          <a:noFill/>
        </p:spPr>
        <p:txBody>
          <a:bodyPr wrap="square" lIns="25400" tIns="12700" rIns="25400" bIns="12700" anchor="t">
            <a:spAutoFit/>
          </a:bodyPr>
          <a:lstStyle/>
          <a:p>
            <a:pPr algn="l"/>
            <a:r>
              <a:rPr sz="2300" b="1" i="0">
                <a:solidFill>
                  <a:srgbClr val="FFFFFF"/>
                </a:solidFill>
                <a:latin typeface="Calibri"/>
              </a:rPr>
              <a:t>Motivasyon ve Problem Tanımı</a:t>
            </a:r>
          </a:p>
        </p:txBody>
      </p:sp>
      <p:sp>
        <p:nvSpPr>
          <p:cNvPr id="7" name="Rectangle 6"/>
          <p:cNvSpPr/>
          <p:nvPr/>
        </p:nvSpPr>
        <p:spPr>
          <a:xfrm>
            <a:off x="365760" y="1600200"/>
            <a:ext cx="6675120" cy="2103120"/>
          </a:xfrm>
          <a:prstGeom prst="rect">
            <a:avLst/>
          </a:prstGeom>
          <a:solidFill>
            <a:srgbClr val="FFF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65760" y="1600200"/>
            <a:ext cx="91440" cy="210312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85216" y="1719072"/>
            <a:ext cx="6309359" cy="365760"/>
          </a:xfrm>
          <a:prstGeom prst="rect">
            <a:avLst/>
          </a:prstGeom>
          <a:noFill/>
        </p:spPr>
        <p:txBody>
          <a:bodyPr wrap="square" lIns="25400" tIns="12700" rIns="25400" bIns="12700" anchor="t">
            <a:spAutoFit/>
          </a:bodyPr>
          <a:lstStyle/>
          <a:p>
            <a:pPr algn="l"/>
            <a:r>
              <a:rPr sz="1300" b="1" i="0">
                <a:solidFill>
                  <a:srgbClr val="102A4C"/>
                </a:solidFill>
                <a:latin typeface="Calibri"/>
              </a:rPr>
              <a:t>Üretken müzik patlaması</a:t>
            </a:r>
          </a:p>
        </p:txBody>
      </p:sp>
      <p:sp>
        <p:nvSpPr>
          <p:cNvPr id="10" name="TextBox 9"/>
          <p:cNvSpPr txBox="1"/>
          <p:nvPr/>
        </p:nvSpPr>
        <p:spPr>
          <a:xfrm>
            <a:off x="585216" y="2148840"/>
            <a:ext cx="6291072" cy="1444751"/>
          </a:xfrm>
          <a:prstGeom prst="rect">
            <a:avLst/>
          </a:prstGeom>
          <a:noFill/>
        </p:spPr>
        <p:txBody>
          <a:bodyPr wrap="square" lIns="25400" rIns="25400" anchor="t">
            <a:spAutoFit/>
          </a:bodyPr>
          <a:lstStyle/>
          <a:p>
            <a:pPr algn="l">
              <a:spcBef>
                <a:spcPts val="0"/>
              </a:spcBef>
              <a:spcAft>
                <a:spcPts val="500"/>
              </a:spcAft>
            </a:pPr>
            <a:r>
              <a:rPr sz="1150" b="0" i="0">
                <a:solidFill>
                  <a:srgbClr val="242A30"/>
                </a:solidFill>
                <a:latin typeface="Calibri"/>
              </a:rPr>
              <a:t>Suno, Udio ve MusicGen, tek bir metin istemiyle dakikalar içinde deneyimsiz dinleyicinin insan bestesinden ayıramayacağı tam uzunlukta parçalar üretiyor. Üretim erişilebilirliği telif, özgünlük ve içerik bütünlüğü açısından somut bir tespit problemi doğurdu.</a:t>
            </a:r>
          </a:p>
        </p:txBody>
      </p:sp>
      <p:sp>
        <p:nvSpPr>
          <p:cNvPr id="11" name="TextBox 10"/>
          <p:cNvSpPr txBox="1"/>
          <p:nvPr/>
        </p:nvSpPr>
        <p:spPr>
          <a:xfrm>
            <a:off x="365760" y="3931920"/>
            <a:ext cx="6675120" cy="347472"/>
          </a:xfrm>
          <a:prstGeom prst="rect">
            <a:avLst/>
          </a:prstGeom>
          <a:noFill/>
        </p:spPr>
        <p:txBody>
          <a:bodyPr wrap="square" lIns="25400" tIns="12700" rIns="25400" bIns="12700" anchor="t">
            <a:spAutoFit/>
          </a:bodyPr>
          <a:lstStyle/>
          <a:p>
            <a:pPr algn="l"/>
            <a:r>
              <a:rPr sz="1300" b="1" i="0">
                <a:solidFill>
                  <a:srgbClr val="102A4C"/>
                </a:solidFill>
                <a:latin typeface="Calibri"/>
              </a:rPr>
              <a:t>Tespit ihtiyacının kaynakları</a:t>
            </a:r>
          </a:p>
        </p:txBody>
      </p:sp>
      <p:sp>
        <p:nvSpPr>
          <p:cNvPr id="12" name="TextBox 11"/>
          <p:cNvSpPr txBox="1"/>
          <p:nvPr/>
        </p:nvSpPr>
        <p:spPr>
          <a:xfrm>
            <a:off x="411480" y="4370832"/>
            <a:ext cx="6629400" cy="1783080"/>
          </a:xfrm>
          <a:prstGeom prst="rect">
            <a:avLst/>
          </a:prstGeom>
          <a:noFill/>
        </p:spPr>
        <p:txBody>
          <a:bodyPr wrap="square" lIns="25400" rIns="25400" anchor="t">
            <a:spAutoFit/>
          </a:bodyPr>
          <a:lstStyle/>
          <a:p>
            <a:pPr algn="l">
              <a:spcBef>
                <a:spcPts val="0"/>
              </a:spcBef>
              <a:spcAft>
                <a:spcPts val="900"/>
              </a:spcAft>
            </a:pPr>
            <a:r>
              <a:rPr sz="1250" b="0" i="0">
                <a:solidFill>
                  <a:srgbClr val="242A30"/>
                </a:solidFill>
                <a:latin typeface="Calibri"/>
              </a:rPr>
              <a:t>•  Telif hakkı ve içerik sahipliği belirsizliği</a:t>
            </a:r>
          </a:p>
          <a:p>
            <a:pPr algn="l">
              <a:spcBef>
                <a:spcPts val="0"/>
              </a:spcBef>
              <a:spcAft>
                <a:spcPts val="900"/>
              </a:spcAft>
            </a:pPr>
            <a:r>
              <a:rPr sz="1250" b="0" i="0">
                <a:solidFill>
                  <a:srgbClr val="242A30"/>
                </a:solidFill>
                <a:latin typeface="Calibri"/>
              </a:rPr>
              <a:t>•  Akış platformlarında sahte dinlenme ve gelir manipülasyonu</a:t>
            </a:r>
          </a:p>
          <a:p>
            <a:pPr algn="l">
              <a:spcBef>
                <a:spcPts val="0"/>
              </a:spcBef>
              <a:spcAft>
                <a:spcPts val="900"/>
              </a:spcAft>
            </a:pPr>
            <a:r>
              <a:rPr sz="1250" b="0" i="0">
                <a:solidFill>
                  <a:srgbClr val="242A30"/>
                </a:solidFill>
                <a:latin typeface="Calibri"/>
              </a:rPr>
              <a:t>•  Dezenformasyon ile kimlik ve üslup taklidi</a:t>
            </a:r>
          </a:p>
          <a:p>
            <a:pPr algn="l">
              <a:spcBef>
                <a:spcPts val="0"/>
              </a:spcBef>
              <a:spcAft>
                <a:spcPts val="900"/>
              </a:spcAft>
            </a:pPr>
            <a:r>
              <a:rPr sz="1250" b="0" i="0">
                <a:solidFill>
                  <a:srgbClr val="242A30"/>
                </a:solidFill>
                <a:latin typeface="Calibri"/>
              </a:rPr>
              <a:t>•  Konuşma-odaklı dedektörlerin müziğe genelleyememesi</a:t>
            </a:r>
          </a:p>
        </p:txBody>
      </p:sp>
      <p:sp>
        <p:nvSpPr>
          <p:cNvPr id="13" name="Rectangle 12"/>
          <p:cNvSpPr/>
          <p:nvPr/>
        </p:nvSpPr>
        <p:spPr>
          <a:xfrm>
            <a:off x="7269480" y="1600200"/>
            <a:ext cx="455371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269480" y="1792224"/>
            <a:ext cx="4553712" cy="685800"/>
          </a:xfrm>
          <a:prstGeom prst="rect">
            <a:avLst/>
          </a:prstGeom>
          <a:noFill/>
        </p:spPr>
        <p:txBody>
          <a:bodyPr wrap="square" lIns="25400" tIns="12700" rIns="25400" bIns="12700" anchor="ctr">
            <a:spAutoFit/>
          </a:bodyPr>
          <a:lstStyle/>
          <a:p>
            <a:pPr algn="ctr"/>
            <a:r>
              <a:rPr sz="3000" b="1" i="0">
                <a:solidFill>
                  <a:srgbClr val="D99A07"/>
                </a:solidFill>
                <a:latin typeface="Calibri"/>
              </a:rPr>
              <a:t>0,9548</a:t>
            </a:r>
          </a:p>
        </p:txBody>
      </p:sp>
      <p:sp>
        <p:nvSpPr>
          <p:cNvPr id="15" name="TextBox 14"/>
          <p:cNvSpPr txBox="1"/>
          <p:nvPr/>
        </p:nvSpPr>
        <p:spPr>
          <a:xfrm>
            <a:off x="7269480" y="2464308"/>
            <a:ext cx="4553712" cy="466344"/>
          </a:xfrm>
          <a:prstGeom prst="rect">
            <a:avLst/>
          </a:prstGeom>
          <a:noFill/>
        </p:spPr>
        <p:txBody>
          <a:bodyPr wrap="square" lIns="25400" tIns="12700" rIns="25400" bIns="12700" anchor="ctr">
            <a:spAutoFit/>
          </a:bodyPr>
          <a:lstStyle/>
          <a:p>
            <a:pPr algn="ctr"/>
            <a:r>
              <a:rPr sz="1100" b="0" i="0">
                <a:solidFill>
                  <a:srgbClr val="FFFFFF"/>
                </a:solidFill>
                <a:latin typeface="Calibri"/>
              </a:rPr>
              <a:t>AURIS ROC-AUC</a:t>
            </a:r>
          </a:p>
        </p:txBody>
      </p:sp>
      <p:sp>
        <p:nvSpPr>
          <p:cNvPr id="16" name="Rectangle 15"/>
          <p:cNvSpPr/>
          <p:nvPr/>
        </p:nvSpPr>
        <p:spPr>
          <a:xfrm>
            <a:off x="7269480" y="3108960"/>
            <a:ext cx="2194560" cy="132588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269480" y="3294583"/>
            <a:ext cx="2194560" cy="662940"/>
          </a:xfrm>
          <a:prstGeom prst="rect">
            <a:avLst/>
          </a:prstGeom>
          <a:noFill/>
        </p:spPr>
        <p:txBody>
          <a:bodyPr wrap="square" lIns="25400" tIns="12700" rIns="25400" bIns="12700" anchor="ctr">
            <a:spAutoFit/>
          </a:bodyPr>
          <a:lstStyle/>
          <a:p>
            <a:pPr algn="ctr"/>
            <a:r>
              <a:rPr sz="2400" b="1" i="0">
                <a:solidFill>
                  <a:srgbClr val="D99A07"/>
                </a:solidFill>
                <a:latin typeface="Calibri"/>
              </a:rPr>
              <a:t>5.195</a:t>
            </a:r>
          </a:p>
        </p:txBody>
      </p:sp>
      <p:sp>
        <p:nvSpPr>
          <p:cNvPr id="18" name="TextBox 17"/>
          <p:cNvSpPr txBox="1"/>
          <p:nvPr/>
        </p:nvSpPr>
        <p:spPr>
          <a:xfrm>
            <a:off x="7269480" y="3944264"/>
            <a:ext cx="2194560" cy="450799"/>
          </a:xfrm>
          <a:prstGeom prst="rect">
            <a:avLst/>
          </a:prstGeom>
          <a:noFill/>
        </p:spPr>
        <p:txBody>
          <a:bodyPr wrap="square" lIns="25400" tIns="12700" rIns="25400" bIns="12700" anchor="ctr">
            <a:spAutoFit/>
          </a:bodyPr>
          <a:lstStyle/>
          <a:p>
            <a:pPr algn="ctr"/>
            <a:r>
              <a:rPr sz="1100" b="0" i="0">
                <a:solidFill>
                  <a:srgbClr val="FFFFFF"/>
                </a:solidFill>
                <a:latin typeface="Calibri"/>
              </a:rPr>
              <a:t>Örnek</a:t>
            </a:r>
          </a:p>
        </p:txBody>
      </p:sp>
      <p:sp>
        <p:nvSpPr>
          <p:cNvPr id="19" name="Rectangle 18"/>
          <p:cNvSpPr/>
          <p:nvPr/>
        </p:nvSpPr>
        <p:spPr>
          <a:xfrm>
            <a:off x="9628632" y="3108960"/>
            <a:ext cx="2194560" cy="132588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628632" y="3294583"/>
            <a:ext cx="2194560" cy="662940"/>
          </a:xfrm>
          <a:prstGeom prst="rect">
            <a:avLst/>
          </a:prstGeom>
          <a:noFill/>
        </p:spPr>
        <p:txBody>
          <a:bodyPr wrap="square" lIns="25400" tIns="12700" rIns="25400" bIns="12700" anchor="ctr">
            <a:spAutoFit/>
          </a:bodyPr>
          <a:lstStyle/>
          <a:p>
            <a:pPr algn="ctr"/>
            <a:r>
              <a:rPr sz="2400" b="1" i="0">
                <a:solidFill>
                  <a:srgbClr val="D99A07"/>
                </a:solidFill>
                <a:latin typeface="Calibri"/>
              </a:rPr>
              <a:t>8</a:t>
            </a:r>
          </a:p>
        </p:txBody>
      </p:sp>
      <p:sp>
        <p:nvSpPr>
          <p:cNvPr id="21" name="TextBox 20"/>
          <p:cNvSpPr txBox="1"/>
          <p:nvPr/>
        </p:nvSpPr>
        <p:spPr>
          <a:xfrm>
            <a:off x="9628632" y="3944264"/>
            <a:ext cx="2194560" cy="450799"/>
          </a:xfrm>
          <a:prstGeom prst="rect">
            <a:avLst/>
          </a:prstGeom>
          <a:noFill/>
        </p:spPr>
        <p:txBody>
          <a:bodyPr wrap="square" lIns="25400" tIns="12700" rIns="25400" bIns="12700" anchor="ctr">
            <a:spAutoFit/>
          </a:bodyPr>
          <a:lstStyle/>
          <a:p>
            <a:pPr algn="ctr"/>
            <a:r>
              <a:rPr sz="1100" b="0" i="0">
                <a:solidFill>
                  <a:srgbClr val="FFFFFF"/>
                </a:solidFill>
                <a:latin typeface="Calibri"/>
              </a:rPr>
              <a:t>Kaynak</a:t>
            </a:r>
          </a:p>
        </p:txBody>
      </p:sp>
      <p:sp>
        <p:nvSpPr>
          <p:cNvPr id="22" name="Rectangle 21"/>
          <p:cNvSpPr/>
          <p:nvPr/>
        </p:nvSpPr>
        <p:spPr>
          <a:xfrm>
            <a:off x="7269480" y="4572000"/>
            <a:ext cx="2194560" cy="132588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269480" y="4757623"/>
            <a:ext cx="2194560" cy="662940"/>
          </a:xfrm>
          <a:prstGeom prst="rect">
            <a:avLst/>
          </a:prstGeom>
          <a:noFill/>
        </p:spPr>
        <p:txBody>
          <a:bodyPr wrap="square" lIns="25400" tIns="12700" rIns="25400" bIns="12700" anchor="ctr">
            <a:spAutoFit/>
          </a:bodyPr>
          <a:lstStyle/>
          <a:p>
            <a:pPr algn="ctr"/>
            <a:r>
              <a:rPr sz="2400" b="1" i="0">
                <a:solidFill>
                  <a:srgbClr val="D99A07"/>
                </a:solidFill>
                <a:latin typeface="Calibri"/>
              </a:rPr>
              <a:t>47</a:t>
            </a:r>
          </a:p>
        </p:txBody>
      </p:sp>
      <p:sp>
        <p:nvSpPr>
          <p:cNvPr id="24" name="TextBox 23"/>
          <p:cNvSpPr txBox="1"/>
          <p:nvPr/>
        </p:nvSpPr>
        <p:spPr>
          <a:xfrm>
            <a:off x="7269480" y="5407304"/>
            <a:ext cx="2194560" cy="450799"/>
          </a:xfrm>
          <a:prstGeom prst="rect">
            <a:avLst/>
          </a:prstGeom>
          <a:noFill/>
        </p:spPr>
        <p:txBody>
          <a:bodyPr wrap="square" lIns="25400" tIns="12700" rIns="25400" bIns="12700" anchor="ctr">
            <a:spAutoFit/>
          </a:bodyPr>
          <a:lstStyle/>
          <a:p>
            <a:pPr algn="ctr"/>
            <a:r>
              <a:rPr sz="1100" b="0" i="0">
                <a:solidFill>
                  <a:srgbClr val="FFFFFF"/>
                </a:solidFill>
                <a:latin typeface="Calibri"/>
              </a:rPr>
              <a:t>Öznitelik</a:t>
            </a:r>
          </a:p>
        </p:txBody>
      </p:sp>
      <p:sp>
        <p:nvSpPr>
          <p:cNvPr id="25" name="Rectangle 24"/>
          <p:cNvSpPr/>
          <p:nvPr/>
        </p:nvSpPr>
        <p:spPr>
          <a:xfrm>
            <a:off x="9628632" y="4572000"/>
            <a:ext cx="2194560" cy="132588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628632" y="4757623"/>
            <a:ext cx="2194560" cy="662940"/>
          </a:xfrm>
          <a:prstGeom prst="rect">
            <a:avLst/>
          </a:prstGeom>
          <a:noFill/>
        </p:spPr>
        <p:txBody>
          <a:bodyPr wrap="square" lIns="25400" tIns="12700" rIns="25400" bIns="12700" anchor="ctr">
            <a:spAutoFit/>
          </a:bodyPr>
          <a:lstStyle/>
          <a:p>
            <a:pPr algn="ctr"/>
            <a:r>
              <a:rPr sz="2400" b="1" i="0">
                <a:solidFill>
                  <a:srgbClr val="D99A07"/>
                </a:solidFill>
                <a:latin typeface="Calibri"/>
              </a:rPr>
              <a:t>11</a:t>
            </a:r>
          </a:p>
        </p:txBody>
      </p:sp>
      <p:sp>
        <p:nvSpPr>
          <p:cNvPr id="27" name="TextBox 26"/>
          <p:cNvSpPr txBox="1"/>
          <p:nvPr/>
        </p:nvSpPr>
        <p:spPr>
          <a:xfrm>
            <a:off x="9628632" y="5407304"/>
            <a:ext cx="2194560" cy="450799"/>
          </a:xfrm>
          <a:prstGeom prst="rect">
            <a:avLst/>
          </a:prstGeom>
          <a:noFill/>
        </p:spPr>
        <p:txBody>
          <a:bodyPr wrap="square" lIns="25400" tIns="12700" rIns="25400" bIns="12700" anchor="ctr">
            <a:spAutoFit/>
          </a:bodyPr>
          <a:lstStyle/>
          <a:p>
            <a:pPr algn="ctr"/>
            <a:r>
              <a:rPr sz="1100" b="0" i="0">
                <a:solidFill>
                  <a:srgbClr val="FFFFFF"/>
                </a:solidFill>
                <a:latin typeface="Calibri"/>
              </a:rPr>
              <a:t>Model</a:t>
            </a:r>
          </a:p>
        </p:txBody>
      </p:sp>
      <p:sp>
        <p:nvSpPr>
          <p:cNvPr id="28" name="Rectangle 27"/>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365760" y="6473952"/>
            <a:ext cx="4206240" cy="292608"/>
          </a:xfrm>
          <a:prstGeom prst="rect">
            <a:avLst/>
          </a:prstGeom>
          <a:noFill/>
        </p:spPr>
        <p:txBody>
          <a:bodyPr wrap="square" lIns="25400" tIns="12700" rIns="25400" bIns="12700" anchor="t">
            <a:spAutoFit/>
          </a:bodyPr>
          <a:lstStyle/>
          <a:p>
            <a:pPr algn="l"/>
            <a:r>
              <a:rPr sz="900" b="0" i="0">
                <a:solidFill>
                  <a:srgbClr val="6A7480"/>
                </a:solidFill>
                <a:latin typeface="Calibri"/>
              </a:rPr>
              <a:t>AURIS · YZ Üretimli Müzik Tespiti</a:t>
            </a:r>
          </a:p>
        </p:txBody>
      </p:sp>
      <p:sp>
        <p:nvSpPr>
          <p:cNvPr id="30" name="TextBox 29"/>
          <p:cNvSpPr txBox="1"/>
          <p:nvPr/>
        </p:nvSpPr>
        <p:spPr>
          <a:xfrm>
            <a:off x="4663440" y="6473952"/>
            <a:ext cx="7159752" cy="292608"/>
          </a:xfrm>
          <a:prstGeom prst="rect">
            <a:avLst/>
          </a:prstGeom>
          <a:noFill/>
        </p:spPr>
        <p:txBody>
          <a:bodyPr wrap="square" lIns="25400" tIns="12700" rIns="25400" bIns="12700" anchor="t">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46304"/>
            <a:ext cx="10058400" cy="292608"/>
          </a:xfrm>
          <a:prstGeom prst="rect">
            <a:avLst/>
          </a:prstGeom>
          <a:noFill/>
        </p:spPr>
        <p:txBody>
          <a:bodyPr wrap="square" lIns="25400" tIns="12700" rIns="25400" bIns="12700" anchor="t">
            <a:spAutoFit/>
          </a:bodyPr>
          <a:lstStyle/>
          <a:p>
            <a:pPr algn="l"/>
            <a:r>
              <a:rPr sz="1150" b="1" i="0">
                <a:solidFill>
                  <a:srgbClr val="D99A07"/>
                </a:solidFill>
                <a:latin typeface="Calibri"/>
              </a:rPr>
              <a:t>BÖLÜM 2</a:t>
            </a:r>
          </a:p>
        </p:txBody>
      </p:sp>
      <p:sp>
        <p:nvSpPr>
          <p:cNvPr id="6" name="TextBox 5"/>
          <p:cNvSpPr txBox="1"/>
          <p:nvPr/>
        </p:nvSpPr>
        <p:spPr>
          <a:xfrm>
            <a:off x="411480" y="420624"/>
            <a:ext cx="11338560" cy="603504"/>
          </a:xfrm>
          <a:prstGeom prst="rect">
            <a:avLst/>
          </a:prstGeom>
          <a:noFill/>
        </p:spPr>
        <p:txBody>
          <a:bodyPr wrap="square" lIns="25400" tIns="12700" rIns="25400" bIns="12700" anchor="t">
            <a:spAutoFit/>
          </a:bodyPr>
          <a:lstStyle/>
          <a:p>
            <a:pPr algn="l"/>
            <a:r>
              <a:rPr sz="2300" b="1" i="0">
                <a:solidFill>
                  <a:srgbClr val="FFFFFF"/>
                </a:solidFill>
                <a:latin typeface="Calibri"/>
              </a:rPr>
              <a:t>Literatür Özeti ve Boşluk Analizi</a:t>
            </a:r>
          </a:p>
        </p:txBody>
      </p:sp>
      <p:sp>
        <p:nvSpPr>
          <p:cNvPr id="7" name="TextBox 6"/>
          <p:cNvSpPr txBox="1"/>
          <p:nvPr/>
        </p:nvSpPr>
        <p:spPr>
          <a:xfrm>
            <a:off x="365760" y="1554480"/>
            <a:ext cx="5669280" cy="347472"/>
          </a:xfrm>
          <a:prstGeom prst="rect">
            <a:avLst/>
          </a:prstGeom>
          <a:noFill/>
        </p:spPr>
        <p:txBody>
          <a:bodyPr wrap="square" lIns="25400" tIns="12700" rIns="25400" bIns="12700" anchor="t">
            <a:spAutoFit/>
          </a:bodyPr>
          <a:lstStyle/>
          <a:p>
            <a:pPr algn="l"/>
            <a:r>
              <a:rPr sz="1300" b="1" i="0">
                <a:solidFill>
                  <a:srgbClr val="102A4C"/>
                </a:solidFill>
                <a:latin typeface="Calibri"/>
              </a:rPr>
              <a:t>Üç araştırma alanı</a:t>
            </a:r>
          </a:p>
        </p:txBody>
      </p:sp>
      <p:sp>
        <p:nvSpPr>
          <p:cNvPr id="8" name="Rectangle 7"/>
          <p:cNvSpPr/>
          <p:nvPr/>
        </p:nvSpPr>
        <p:spPr>
          <a:xfrm>
            <a:off x="365760" y="1993392"/>
            <a:ext cx="5669280" cy="841248"/>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2920" y="2084832"/>
            <a:ext cx="5394960" cy="320040"/>
          </a:xfrm>
          <a:prstGeom prst="rect">
            <a:avLst/>
          </a:prstGeom>
          <a:noFill/>
        </p:spPr>
        <p:txBody>
          <a:bodyPr wrap="square" lIns="25400" tIns="12700" rIns="25400" bIns="12700" anchor="t">
            <a:spAutoFit/>
          </a:bodyPr>
          <a:lstStyle/>
          <a:p>
            <a:pPr algn="l"/>
            <a:r>
              <a:rPr sz="1250" b="1" i="0">
                <a:solidFill>
                  <a:srgbClr val="0A808C"/>
                </a:solidFill>
                <a:latin typeface="Calibri"/>
              </a:rPr>
              <a:t>Ses Deepfake Tespiti</a:t>
            </a:r>
          </a:p>
        </p:txBody>
      </p:sp>
      <p:sp>
        <p:nvSpPr>
          <p:cNvPr id="10" name="TextBox 9"/>
          <p:cNvSpPr txBox="1"/>
          <p:nvPr/>
        </p:nvSpPr>
        <p:spPr>
          <a:xfrm>
            <a:off x="502920" y="2414016"/>
            <a:ext cx="5394960" cy="384048"/>
          </a:xfrm>
          <a:prstGeom prst="rect">
            <a:avLst/>
          </a:prstGeom>
          <a:noFill/>
        </p:spPr>
        <p:txBody>
          <a:bodyPr wrap="square" lIns="25400" tIns="12700" rIns="25400" bIns="12700" anchor="t">
            <a:spAutoFit/>
          </a:bodyPr>
          <a:lstStyle/>
          <a:p>
            <a:pPr algn="l"/>
            <a:r>
              <a:rPr sz="1100" b="0" i="0">
                <a:solidFill>
                  <a:srgbClr val="242A30"/>
                </a:solidFill>
                <a:latin typeface="Calibri"/>
              </a:rPr>
              <a:t>AASIST, RawNet2, wav2vec 2.0, WavLM — konuşma için olgun</a:t>
            </a:r>
          </a:p>
        </p:txBody>
      </p:sp>
      <p:sp>
        <p:nvSpPr>
          <p:cNvPr id="11" name="Rectangle 10"/>
          <p:cNvSpPr/>
          <p:nvPr/>
        </p:nvSpPr>
        <p:spPr>
          <a:xfrm>
            <a:off x="365760" y="2953512"/>
            <a:ext cx="5669280" cy="841248"/>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02920" y="3044952"/>
            <a:ext cx="5394960" cy="320040"/>
          </a:xfrm>
          <a:prstGeom prst="rect">
            <a:avLst/>
          </a:prstGeom>
          <a:noFill/>
        </p:spPr>
        <p:txBody>
          <a:bodyPr wrap="square" lIns="25400" tIns="12700" rIns="25400" bIns="12700" anchor="t">
            <a:spAutoFit/>
          </a:bodyPr>
          <a:lstStyle/>
          <a:p>
            <a:pPr algn="l"/>
            <a:r>
              <a:rPr sz="1250" b="1" i="0">
                <a:solidFill>
                  <a:srgbClr val="0A808C"/>
                </a:solidFill>
                <a:latin typeface="Calibri"/>
              </a:rPr>
              <a:t>Üretken Müzik Sistemleri</a:t>
            </a:r>
          </a:p>
        </p:txBody>
      </p:sp>
      <p:sp>
        <p:nvSpPr>
          <p:cNvPr id="13" name="TextBox 12"/>
          <p:cNvSpPr txBox="1"/>
          <p:nvPr/>
        </p:nvSpPr>
        <p:spPr>
          <a:xfrm>
            <a:off x="502920" y="3374136"/>
            <a:ext cx="5394960" cy="384048"/>
          </a:xfrm>
          <a:prstGeom prst="rect">
            <a:avLst/>
          </a:prstGeom>
          <a:noFill/>
        </p:spPr>
        <p:txBody>
          <a:bodyPr wrap="square" lIns="25400" tIns="12700" rIns="25400" bIns="12700" anchor="t">
            <a:spAutoFit/>
          </a:bodyPr>
          <a:lstStyle/>
          <a:p>
            <a:pPr algn="l"/>
            <a:r>
              <a:rPr sz="1100" b="0" i="0">
                <a:solidFill>
                  <a:srgbClr val="242A30"/>
                </a:solidFill>
                <a:latin typeface="Calibri"/>
              </a:rPr>
              <a:t>MusicGen, AudioLDM2, Suno, Udio — tespit hedefini şekillendirir</a:t>
            </a:r>
          </a:p>
        </p:txBody>
      </p:sp>
      <p:sp>
        <p:nvSpPr>
          <p:cNvPr id="14" name="Rectangle 13"/>
          <p:cNvSpPr/>
          <p:nvPr/>
        </p:nvSpPr>
        <p:spPr>
          <a:xfrm>
            <a:off x="365760" y="3913632"/>
            <a:ext cx="5669280" cy="841248"/>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02920" y="4005072"/>
            <a:ext cx="5394960" cy="320040"/>
          </a:xfrm>
          <a:prstGeom prst="rect">
            <a:avLst/>
          </a:prstGeom>
          <a:noFill/>
        </p:spPr>
        <p:txBody>
          <a:bodyPr wrap="square" lIns="25400" tIns="12700" rIns="25400" bIns="12700" anchor="t">
            <a:spAutoFit/>
          </a:bodyPr>
          <a:lstStyle/>
          <a:p>
            <a:pPr algn="l"/>
            <a:r>
              <a:rPr sz="1250" b="1" i="0">
                <a:solidFill>
                  <a:srgbClr val="0A808C"/>
                </a:solidFill>
                <a:latin typeface="Calibri"/>
              </a:rPr>
              <a:t>YZ Müzik Tespiti</a:t>
            </a:r>
          </a:p>
        </p:txBody>
      </p:sp>
      <p:sp>
        <p:nvSpPr>
          <p:cNvPr id="16" name="TextBox 15"/>
          <p:cNvSpPr txBox="1"/>
          <p:nvPr/>
        </p:nvSpPr>
        <p:spPr>
          <a:xfrm>
            <a:off x="502920" y="4334256"/>
            <a:ext cx="5394960" cy="384048"/>
          </a:xfrm>
          <a:prstGeom prst="rect">
            <a:avLst/>
          </a:prstGeom>
          <a:noFill/>
        </p:spPr>
        <p:txBody>
          <a:bodyPr wrap="square" lIns="25400" tIns="12700" rIns="25400" bIns="12700" anchor="t">
            <a:spAutoFit/>
          </a:bodyPr>
          <a:lstStyle/>
          <a:p>
            <a:pPr algn="l"/>
            <a:r>
              <a:rPr sz="1100" b="0" i="0">
                <a:solidFill>
                  <a:srgbClr val="242A30"/>
                </a:solidFill>
                <a:latin typeface="Calibri"/>
              </a:rPr>
              <a:t>Afchar, Cros Vila, Li, SONICS, FakeMusicCaps — yeni ve dağınık</a:t>
            </a:r>
          </a:p>
        </p:txBody>
      </p:sp>
      <p:sp>
        <p:nvSpPr>
          <p:cNvPr id="17" name="Rectangle 16"/>
          <p:cNvSpPr/>
          <p:nvPr/>
        </p:nvSpPr>
        <p:spPr>
          <a:xfrm>
            <a:off x="6199632" y="1554480"/>
            <a:ext cx="5623560" cy="4526280"/>
          </a:xfrm>
          <a:prstGeom prst="rect">
            <a:avLst/>
          </a:prstGeom>
          <a:solidFill>
            <a:srgbClr val="E2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199632" y="1554480"/>
            <a:ext cx="91440" cy="452628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19088" y="1673352"/>
            <a:ext cx="5257800" cy="365760"/>
          </a:xfrm>
          <a:prstGeom prst="rect">
            <a:avLst/>
          </a:prstGeom>
          <a:noFill/>
        </p:spPr>
        <p:txBody>
          <a:bodyPr wrap="square" lIns="25400" tIns="12700" rIns="25400" bIns="12700" anchor="t">
            <a:spAutoFit/>
          </a:bodyPr>
          <a:lstStyle/>
          <a:p>
            <a:pPr algn="l"/>
            <a:r>
              <a:rPr sz="1300" b="1" i="0" dirty="0" err="1">
                <a:solidFill>
                  <a:srgbClr val="102A4C"/>
                </a:solidFill>
                <a:latin typeface="Calibri"/>
              </a:rPr>
              <a:t>Tespit</a:t>
            </a:r>
            <a:r>
              <a:rPr sz="1300" b="1" i="0" dirty="0">
                <a:solidFill>
                  <a:srgbClr val="102A4C"/>
                </a:solidFill>
                <a:latin typeface="Calibri"/>
              </a:rPr>
              <a:t> </a:t>
            </a:r>
            <a:r>
              <a:rPr sz="1300" b="1" i="0" dirty="0" err="1">
                <a:solidFill>
                  <a:srgbClr val="102A4C"/>
                </a:solidFill>
                <a:latin typeface="Calibri"/>
              </a:rPr>
              <a:t>edilen</a:t>
            </a:r>
            <a:r>
              <a:rPr sz="1300" b="1" i="0" dirty="0">
                <a:solidFill>
                  <a:srgbClr val="102A4C"/>
                </a:solidFill>
                <a:latin typeface="Calibri"/>
              </a:rPr>
              <a:t> </a:t>
            </a:r>
            <a:r>
              <a:rPr sz="1300" b="1" i="0" dirty="0" err="1">
                <a:solidFill>
                  <a:srgbClr val="102A4C"/>
                </a:solidFill>
                <a:latin typeface="Calibri"/>
              </a:rPr>
              <a:t>boşluk</a:t>
            </a:r>
            <a:endParaRPr sz="1300" b="1" i="0" dirty="0">
              <a:solidFill>
                <a:srgbClr val="102A4C"/>
              </a:solidFill>
              <a:latin typeface="Calibri"/>
            </a:endParaRPr>
          </a:p>
        </p:txBody>
      </p:sp>
      <p:sp>
        <p:nvSpPr>
          <p:cNvPr id="20" name="TextBox 19"/>
          <p:cNvSpPr txBox="1"/>
          <p:nvPr/>
        </p:nvSpPr>
        <p:spPr>
          <a:xfrm>
            <a:off x="6419088" y="2103120"/>
            <a:ext cx="5239512" cy="3867912"/>
          </a:xfrm>
          <a:prstGeom prst="rect">
            <a:avLst/>
          </a:prstGeom>
          <a:noFill/>
        </p:spPr>
        <p:txBody>
          <a:bodyPr wrap="square" lIns="25400" rIns="25400" anchor="t">
            <a:spAutoFit/>
          </a:bodyPr>
          <a:lstStyle/>
          <a:p>
            <a:pPr algn="l">
              <a:spcBef>
                <a:spcPts val="0"/>
              </a:spcBef>
              <a:spcAft>
                <a:spcPts val="500"/>
              </a:spcAft>
            </a:pPr>
            <a:r>
              <a:rPr sz="1150" b="0" i="0" dirty="0" err="1">
                <a:solidFill>
                  <a:srgbClr val="242A30"/>
                </a:solidFill>
                <a:latin typeface="Calibri"/>
              </a:rPr>
              <a:t>Literatürde</a:t>
            </a:r>
            <a:r>
              <a:rPr sz="1150" b="0" i="0" dirty="0">
                <a:solidFill>
                  <a:srgbClr val="242A30"/>
                </a:solidFill>
                <a:latin typeface="Calibri"/>
              </a:rPr>
              <a:t> </a:t>
            </a:r>
            <a:r>
              <a:rPr sz="1150" b="0" i="0" dirty="0" err="1">
                <a:solidFill>
                  <a:srgbClr val="242A30"/>
                </a:solidFill>
                <a:latin typeface="Calibri"/>
              </a:rPr>
              <a:t>müzik</a:t>
            </a:r>
            <a:r>
              <a:rPr sz="1150" b="0" i="0" dirty="0">
                <a:solidFill>
                  <a:srgbClr val="242A30"/>
                </a:solidFill>
                <a:latin typeface="Calibri"/>
              </a:rPr>
              <a:t> </a:t>
            </a:r>
            <a:r>
              <a:rPr sz="1150" b="0" i="0" dirty="0" err="1">
                <a:solidFill>
                  <a:srgbClr val="242A30"/>
                </a:solidFill>
                <a:latin typeface="Calibri"/>
              </a:rPr>
              <a:t>tespiti</a:t>
            </a:r>
            <a:r>
              <a:rPr sz="1150" b="0" i="0" dirty="0">
                <a:solidFill>
                  <a:srgbClr val="242A30"/>
                </a:solidFill>
                <a:latin typeface="Calibri"/>
              </a:rPr>
              <a:t> </a:t>
            </a:r>
            <a:r>
              <a:rPr sz="1150" b="0" i="0" dirty="0" err="1">
                <a:solidFill>
                  <a:srgbClr val="242A30"/>
                </a:solidFill>
                <a:latin typeface="Calibri"/>
              </a:rPr>
              <a:t>için</a:t>
            </a:r>
            <a:r>
              <a:rPr sz="1150" b="0" i="0" dirty="0">
                <a:solidFill>
                  <a:srgbClr val="242A30"/>
                </a:solidFill>
                <a:latin typeface="Calibri"/>
              </a:rPr>
              <a:t>:</a:t>
            </a:r>
          </a:p>
          <a:p>
            <a:pPr algn="l">
              <a:spcBef>
                <a:spcPts val="0"/>
              </a:spcBef>
              <a:spcAft>
                <a:spcPts val="500"/>
              </a:spcAft>
            </a:pPr>
            <a:endParaRPr sz="1150" b="0" i="0" dirty="0">
              <a:solidFill>
                <a:srgbClr val="242A30"/>
              </a:solidFill>
              <a:latin typeface="Calibri"/>
            </a:endParaRPr>
          </a:p>
          <a:p>
            <a:pPr algn="l">
              <a:spcBef>
                <a:spcPts val="0"/>
              </a:spcBef>
              <a:spcAft>
                <a:spcPts val="500"/>
              </a:spcAft>
            </a:pPr>
            <a:r>
              <a:rPr sz="1150" b="0" i="0" dirty="0">
                <a:solidFill>
                  <a:srgbClr val="242A30"/>
                </a:solidFill>
                <a:latin typeface="Calibri"/>
              </a:rPr>
              <a:t>✗  </a:t>
            </a:r>
            <a:r>
              <a:rPr sz="1150" b="0" i="0" dirty="0" err="1">
                <a:solidFill>
                  <a:srgbClr val="242A30"/>
                </a:solidFill>
                <a:latin typeface="Calibri"/>
              </a:rPr>
              <a:t>Topluluk</a:t>
            </a:r>
            <a:r>
              <a:rPr sz="1150" b="0" i="0" dirty="0">
                <a:solidFill>
                  <a:srgbClr val="242A30"/>
                </a:solidFill>
                <a:latin typeface="Calibri"/>
              </a:rPr>
              <a:t> </a:t>
            </a:r>
            <a:r>
              <a:rPr sz="1150" b="0" i="0" dirty="0" err="1">
                <a:solidFill>
                  <a:srgbClr val="242A30"/>
                </a:solidFill>
                <a:latin typeface="Calibri"/>
              </a:rPr>
              <a:t>öğrenmesi</a:t>
            </a:r>
            <a:r>
              <a:rPr sz="1150" b="0" i="0" dirty="0">
                <a:solidFill>
                  <a:srgbClr val="242A30"/>
                </a:solidFill>
                <a:latin typeface="Calibri"/>
              </a:rPr>
              <a:t> </a:t>
            </a:r>
            <a:r>
              <a:rPr sz="1150" b="0" i="0" dirty="0" err="1">
                <a:solidFill>
                  <a:srgbClr val="242A30"/>
                </a:solidFill>
                <a:latin typeface="Calibri"/>
              </a:rPr>
              <a:t>yetersiz</a:t>
            </a:r>
            <a:r>
              <a:rPr sz="1150" b="0" i="0" dirty="0">
                <a:solidFill>
                  <a:srgbClr val="242A30"/>
                </a:solidFill>
                <a:latin typeface="Calibri"/>
              </a:rPr>
              <a:t> </a:t>
            </a:r>
            <a:r>
              <a:rPr sz="1150" b="0" i="0" dirty="0" err="1">
                <a:solidFill>
                  <a:srgbClr val="242A30"/>
                </a:solidFill>
                <a:latin typeface="Calibri"/>
              </a:rPr>
              <a:t>uygulanmış</a:t>
            </a:r>
            <a:endParaRPr sz="1150" b="0" i="0" dirty="0">
              <a:solidFill>
                <a:srgbClr val="242A30"/>
              </a:solidFill>
              <a:latin typeface="Calibri"/>
            </a:endParaRPr>
          </a:p>
          <a:p>
            <a:pPr algn="l">
              <a:spcBef>
                <a:spcPts val="0"/>
              </a:spcBef>
              <a:spcAft>
                <a:spcPts val="500"/>
              </a:spcAft>
            </a:pPr>
            <a:r>
              <a:rPr sz="1150" b="0" i="0" dirty="0">
                <a:solidFill>
                  <a:srgbClr val="242A30"/>
                </a:solidFill>
                <a:latin typeface="Calibri"/>
              </a:rPr>
              <a:t>✗  </a:t>
            </a:r>
            <a:r>
              <a:rPr sz="1150" b="0" i="0" dirty="0" err="1">
                <a:solidFill>
                  <a:srgbClr val="242A30"/>
                </a:solidFill>
                <a:latin typeface="Calibri"/>
              </a:rPr>
              <a:t>Çok</a:t>
            </a:r>
            <a:r>
              <a:rPr sz="1150" b="0" i="0" dirty="0">
                <a:solidFill>
                  <a:srgbClr val="242A30"/>
                </a:solidFill>
                <a:latin typeface="Calibri"/>
              </a:rPr>
              <a:t> </a:t>
            </a:r>
            <a:r>
              <a:rPr sz="1150" b="0" i="0" dirty="0" err="1">
                <a:solidFill>
                  <a:srgbClr val="242A30"/>
                </a:solidFill>
                <a:latin typeface="Calibri"/>
              </a:rPr>
              <a:t>aileli</a:t>
            </a:r>
            <a:r>
              <a:rPr sz="1150" b="0" i="0" dirty="0">
                <a:solidFill>
                  <a:srgbClr val="242A30"/>
                </a:solidFill>
                <a:latin typeface="Calibri"/>
              </a:rPr>
              <a:t> (47 </a:t>
            </a:r>
            <a:r>
              <a:rPr sz="1150" b="0" i="0" dirty="0" err="1">
                <a:solidFill>
                  <a:srgbClr val="242A30"/>
                </a:solidFill>
                <a:latin typeface="Calibri"/>
              </a:rPr>
              <a:t>boyut</a:t>
            </a:r>
            <a:r>
              <a:rPr sz="1150" b="0" i="0" dirty="0">
                <a:solidFill>
                  <a:srgbClr val="242A30"/>
                </a:solidFill>
                <a:latin typeface="Calibri"/>
              </a:rPr>
              <a:t>) </a:t>
            </a:r>
            <a:r>
              <a:rPr sz="1150" b="0" i="0" dirty="0" err="1">
                <a:solidFill>
                  <a:srgbClr val="242A30"/>
                </a:solidFill>
                <a:latin typeface="Calibri"/>
              </a:rPr>
              <a:t>öznitelik</a:t>
            </a:r>
            <a:r>
              <a:rPr sz="1150" b="0" i="0" dirty="0">
                <a:solidFill>
                  <a:srgbClr val="242A30"/>
                </a:solidFill>
                <a:latin typeface="Calibri"/>
              </a:rPr>
              <a:t> </a:t>
            </a:r>
            <a:r>
              <a:rPr sz="1150" b="0" i="0" dirty="0" err="1">
                <a:solidFill>
                  <a:srgbClr val="242A30"/>
                </a:solidFill>
                <a:latin typeface="Calibri"/>
              </a:rPr>
              <a:t>seti</a:t>
            </a:r>
            <a:r>
              <a:rPr sz="1150" b="0" i="0" dirty="0">
                <a:solidFill>
                  <a:srgbClr val="242A30"/>
                </a:solidFill>
                <a:latin typeface="Calibri"/>
              </a:rPr>
              <a:t> yok</a:t>
            </a:r>
          </a:p>
          <a:p>
            <a:pPr algn="l">
              <a:spcBef>
                <a:spcPts val="0"/>
              </a:spcBef>
              <a:spcAft>
                <a:spcPts val="500"/>
              </a:spcAft>
            </a:pPr>
            <a:r>
              <a:rPr sz="1150" b="0" i="0" dirty="0">
                <a:solidFill>
                  <a:srgbClr val="242A30"/>
                </a:solidFill>
                <a:latin typeface="Calibri"/>
              </a:rPr>
              <a:t>✗  Kaynak </a:t>
            </a:r>
            <a:r>
              <a:rPr sz="1150" b="0" i="0" dirty="0" err="1">
                <a:solidFill>
                  <a:srgbClr val="242A30"/>
                </a:solidFill>
                <a:latin typeface="Calibri"/>
              </a:rPr>
              <a:t>bazlı</a:t>
            </a:r>
            <a:r>
              <a:rPr sz="1150" b="0" i="0" dirty="0">
                <a:solidFill>
                  <a:srgbClr val="242A30"/>
                </a:solidFill>
                <a:latin typeface="Calibri"/>
              </a:rPr>
              <a:t> </a:t>
            </a:r>
            <a:r>
              <a:rPr sz="1150" b="0" i="0" dirty="0" err="1">
                <a:solidFill>
                  <a:srgbClr val="242A30"/>
                </a:solidFill>
                <a:latin typeface="Calibri"/>
              </a:rPr>
              <a:t>performans</a:t>
            </a:r>
            <a:r>
              <a:rPr sz="1150" b="0" i="0" dirty="0">
                <a:solidFill>
                  <a:srgbClr val="242A30"/>
                </a:solidFill>
                <a:latin typeface="Calibri"/>
              </a:rPr>
              <a:t> </a:t>
            </a:r>
            <a:r>
              <a:rPr sz="1150" b="0" i="0" dirty="0" err="1">
                <a:solidFill>
                  <a:srgbClr val="242A30"/>
                </a:solidFill>
                <a:latin typeface="Calibri"/>
              </a:rPr>
              <a:t>analizi</a:t>
            </a:r>
            <a:r>
              <a:rPr sz="1150" b="0" i="0" dirty="0">
                <a:solidFill>
                  <a:srgbClr val="242A30"/>
                </a:solidFill>
                <a:latin typeface="Calibri"/>
              </a:rPr>
              <a:t> </a:t>
            </a:r>
            <a:r>
              <a:rPr sz="1150" b="0" i="0" dirty="0" err="1">
                <a:solidFill>
                  <a:srgbClr val="242A30"/>
                </a:solidFill>
                <a:latin typeface="Calibri"/>
              </a:rPr>
              <a:t>eksik</a:t>
            </a:r>
            <a:endParaRPr sz="1150" b="0" i="0" dirty="0">
              <a:solidFill>
                <a:srgbClr val="242A30"/>
              </a:solidFill>
              <a:latin typeface="Calibri"/>
            </a:endParaRPr>
          </a:p>
          <a:p>
            <a:pPr algn="l">
              <a:spcBef>
                <a:spcPts val="0"/>
              </a:spcBef>
              <a:spcAft>
                <a:spcPts val="500"/>
              </a:spcAft>
            </a:pPr>
            <a:r>
              <a:rPr sz="1150" b="0" i="0" dirty="0">
                <a:solidFill>
                  <a:srgbClr val="242A30"/>
                </a:solidFill>
                <a:latin typeface="Calibri"/>
              </a:rPr>
              <a:t>✗  SHAP </a:t>
            </a:r>
            <a:r>
              <a:rPr sz="1150" b="0" i="0" dirty="0" err="1">
                <a:solidFill>
                  <a:srgbClr val="242A30"/>
                </a:solidFill>
                <a:latin typeface="Calibri"/>
              </a:rPr>
              <a:t>açıklanabilirliği</a:t>
            </a:r>
            <a:r>
              <a:rPr sz="1150" b="0" i="0" dirty="0">
                <a:solidFill>
                  <a:srgbClr val="242A30"/>
                </a:solidFill>
                <a:latin typeface="Calibri"/>
              </a:rPr>
              <a:t> </a:t>
            </a:r>
            <a:r>
              <a:rPr sz="1150" b="0" i="0" dirty="0" err="1">
                <a:solidFill>
                  <a:srgbClr val="242A30"/>
                </a:solidFill>
                <a:latin typeface="Calibri"/>
              </a:rPr>
              <a:t>taşınmamış</a:t>
            </a:r>
            <a:endParaRPr sz="1150" b="0" i="0" dirty="0">
              <a:solidFill>
                <a:srgbClr val="242A30"/>
              </a:solidFill>
              <a:latin typeface="Calibri"/>
            </a:endParaRPr>
          </a:p>
          <a:p>
            <a:pPr algn="l">
              <a:spcBef>
                <a:spcPts val="0"/>
              </a:spcBef>
              <a:spcAft>
                <a:spcPts val="500"/>
              </a:spcAft>
            </a:pPr>
            <a:r>
              <a:rPr sz="1150" b="0" i="0" dirty="0">
                <a:solidFill>
                  <a:srgbClr val="242A30"/>
                </a:solidFill>
                <a:latin typeface="Calibri"/>
              </a:rPr>
              <a:t>✗  Youden J </a:t>
            </a:r>
            <a:r>
              <a:rPr sz="1150" b="0" i="0" dirty="0" err="1">
                <a:solidFill>
                  <a:srgbClr val="242A30"/>
                </a:solidFill>
                <a:latin typeface="Calibri"/>
              </a:rPr>
              <a:t>eşik</a:t>
            </a:r>
            <a:r>
              <a:rPr sz="1150" b="0" i="0" dirty="0">
                <a:solidFill>
                  <a:srgbClr val="242A30"/>
                </a:solidFill>
                <a:latin typeface="Calibri"/>
              </a:rPr>
              <a:t> </a:t>
            </a:r>
            <a:r>
              <a:rPr sz="1150" b="0" i="0" dirty="0" err="1">
                <a:solidFill>
                  <a:srgbClr val="242A30"/>
                </a:solidFill>
                <a:latin typeface="Calibri"/>
              </a:rPr>
              <a:t>optimizasyonu</a:t>
            </a:r>
            <a:r>
              <a:rPr sz="1150" b="0" i="0" dirty="0">
                <a:solidFill>
                  <a:srgbClr val="242A30"/>
                </a:solidFill>
                <a:latin typeface="Calibri"/>
              </a:rPr>
              <a:t> yok</a:t>
            </a:r>
          </a:p>
          <a:p>
            <a:pPr algn="l">
              <a:spcBef>
                <a:spcPts val="0"/>
              </a:spcBef>
              <a:spcAft>
                <a:spcPts val="500"/>
              </a:spcAft>
            </a:pPr>
            <a:endParaRPr sz="1150" b="0" i="0" dirty="0">
              <a:solidFill>
                <a:srgbClr val="242A30"/>
              </a:solidFill>
              <a:latin typeface="Calibri"/>
            </a:endParaRPr>
          </a:p>
          <a:p>
            <a:pPr algn="l">
              <a:spcBef>
                <a:spcPts val="0"/>
              </a:spcBef>
              <a:spcAft>
                <a:spcPts val="500"/>
              </a:spcAft>
            </a:pPr>
            <a:r>
              <a:rPr sz="1150" b="0" i="0" dirty="0">
                <a:solidFill>
                  <a:srgbClr val="242A30"/>
                </a:solidFill>
                <a:latin typeface="Calibri"/>
              </a:rPr>
              <a:t>AURIS </a:t>
            </a:r>
            <a:r>
              <a:rPr sz="1150" b="0" i="0" dirty="0" err="1">
                <a:solidFill>
                  <a:srgbClr val="242A30"/>
                </a:solidFill>
                <a:latin typeface="Calibri"/>
              </a:rPr>
              <a:t>bu</a:t>
            </a:r>
            <a:r>
              <a:rPr sz="1150" b="0" i="0" dirty="0">
                <a:solidFill>
                  <a:srgbClr val="242A30"/>
                </a:solidFill>
                <a:latin typeface="Calibri"/>
              </a:rPr>
              <a:t> </a:t>
            </a:r>
            <a:r>
              <a:rPr sz="1150" b="0" i="0" dirty="0" err="1">
                <a:solidFill>
                  <a:srgbClr val="242A30"/>
                </a:solidFill>
                <a:latin typeface="Calibri"/>
              </a:rPr>
              <a:t>beş</a:t>
            </a:r>
            <a:r>
              <a:rPr sz="1150" b="0" i="0" dirty="0">
                <a:solidFill>
                  <a:srgbClr val="242A30"/>
                </a:solidFill>
                <a:latin typeface="Calibri"/>
              </a:rPr>
              <a:t> </a:t>
            </a:r>
            <a:r>
              <a:rPr sz="1150" b="0" i="0" dirty="0" err="1">
                <a:solidFill>
                  <a:srgbClr val="242A30"/>
                </a:solidFill>
                <a:latin typeface="Calibri"/>
              </a:rPr>
              <a:t>boşluğu</a:t>
            </a:r>
            <a:r>
              <a:rPr sz="1150" b="0" i="0" dirty="0">
                <a:solidFill>
                  <a:srgbClr val="242A30"/>
                </a:solidFill>
                <a:latin typeface="Calibri"/>
              </a:rPr>
              <a:t> </a:t>
            </a:r>
            <a:r>
              <a:rPr sz="1150" b="0" i="0" dirty="0" err="1">
                <a:solidFill>
                  <a:srgbClr val="242A30"/>
                </a:solidFill>
                <a:latin typeface="Calibri"/>
              </a:rPr>
              <a:t>birlikte</a:t>
            </a:r>
            <a:r>
              <a:rPr sz="1150" b="0" i="0" dirty="0">
                <a:solidFill>
                  <a:srgbClr val="242A30"/>
                </a:solidFill>
                <a:latin typeface="Calibri"/>
              </a:rPr>
              <a:t> </a:t>
            </a:r>
            <a:r>
              <a:rPr sz="1150" b="0" i="0" dirty="0" err="1">
                <a:solidFill>
                  <a:srgbClr val="242A30"/>
                </a:solidFill>
                <a:latin typeface="Calibri"/>
              </a:rPr>
              <a:t>ele</a:t>
            </a:r>
            <a:r>
              <a:rPr sz="1150" b="0" i="0" dirty="0">
                <a:solidFill>
                  <a:srgbClr val="242A30"/>
                </a:solidFill>
                <a:latin typeface="Calibri"/>
              </a:rPr>
              <a:t> </a:t>
            </a:r>
            <a:r>
              <a:rPr sz="1150" b="0" i="0" dirty="0" err="1">
                <a:solidFill>
                  <a:srgbClr val="242A30"/>
                </a:solidFill>
                <a:latin typeface="Calibri"/>
              </a:rPr>
              <a:t>alarak</a:t>
            </a:r>
            <a:r>
              <a:rPr sz="1150" b="0" i="0" dirty="0">
                <a:solidFill>
                  <a:srgbClr val="242A30"/>
                </a:solidFill>
                <a:latin typeface="Calibri"/>
              </a:rPr>
              <a:t> </a:t>
            </a:r>
            <a:r>
              <a:rPr sz="1150" b="0" i="0" dirty="0" err="1">
                <a:solidFill>
                  <a:srgbClr val="242A30"/>
                </a:solidFill>
                <a:latin typeface="Calibri"/>
              </a:rPr>
              <a:t>hafif</a:t>
            </a:r>
            <a:r>
              <a:rPr sz="1150" b="0" i="0" dirty="0">
                <a:solidFill>
                  <a:srgbClr val="242A30"/>
                </a:solidFill>
                <a:latin typeface="Calibri"/>
              </a:rPr>
              <a:t>, </a:t>
            </a:r>
            <a:r>
              <a:rPr sz="1150" b="0" i="0" dirty="0" err="1">
                <a:solidFill>
                  <a:srgbClr val="242A30"/>
                </a:solidFill>
                <a:latin typeface="Calibri"/>
              </a:rPr>
              <a:t>açıklanabilir</a:t>
            </a:r>
            <a:r>
              <a:rPr sz="1150" b="0" i="0" dirty="0">
                <a:solidFill>
                  <a:srgbClr val="242A30"/>
                </a:solidFill>
                <a:latin typeface="Calibri"/>
              </a:rPr>
              <a:t> </a:t>
            </a:r>
            <a:r>
              <a:rPr sz="1150" b="0" i="0" dirty="0" err="1">
                <a:solidFill>
                  <a:srgbClr val="242A30"/>
                </a:solidFill>
                <a:latin typeface="Calibri"/>
              </a:rPr>
              <a:t>ve</a:t>
            </a:r>
            <a:r>
              <a:rPr sz="1150" b="0" i="0" dirty="0">
                <a:solidFill>
                  <a:srgbClr val="242A30"/>
                </a:solidFill>
                <a:latin typeface="Calibri"/>
              </a:rPr>
              <a:t> </a:t>
            </a:r>
            <a:r>
              <a:rPr sz="1150" b="0" i="0" dirty="0" err="1">
                <a:solidFill>
                  <a:srgbClr val="242A30"/>
                </a:solidFill>
                <a:latin typeface="Calibri"/>
              </a:rPr>
              <a:t>rekabetçi</a:t>
            </a:r>
            <a:r>
              <a:rPr sz="1150" b="0" i="0" dirty="0">
                <a:solidFill>
                  <a:srgbClr val="242A30"/>
                </a:solidFill>
                <a:latin typeface="Calibri"/>
              </a:rPr>
              <a:t> </a:t>
            </a:r>
            <a:r>
              <a:rPr sz="1150" b="0" i="0" dirty="0" err="1">
                <a:solidFill>
                  <a:srgbClr val="242A30"/>
                </a:solidFill>
                <a:latin typeface="Calibri"/>
              </a:rPr>
              <a:t>bir</a:t>
            </a:r>
            <a:r>
              <a:rPr sz="1150" b="0" i="0" dirty="0">
                <a:solidFill>
                  <a:srgbClr val="242A30"/>
                </a:solidFill>
                <a:latin typeface="Calibri"/>
              </a:rPr>
              <a:t> </a:t>
            </a:r>
            <a:r>
              <a:rPr sz="1150" b="0" i="0" dirty="0" err="1">
                <a:solidFill>
                  <a:srgbClr val="242A30"/>
                </a:solidFill>
                <a:latin typeface="Calibri"/>
              </a:rPr>
              <a:t>sistem</a:t>
            </a:r>
            <a:r>
              <a:rPr sz="1150" b="0" i="0" dirty="0">
                <a:solidFill>
                  <a:srgbClr val="242A30"/>
                </a:solidFill>
                <a:latin typeface="Calibri"/>
              </a:rPr>
              <a:t> </a:t>
            </a:r>
            <a:r>
              <a:rPr sz="1150" b="0" i="0" dirty="0" err="1">
                <a:solidFill>
                  <a:srgbClr val="242A30"/>
                </a:solidFill>
                <a:latin typeface="Calibri"/>
              </a:rPr>
              <a:t>sunar</a:t>
            </a:r>
            <a:r>
              <a:rPr sz="1150" b="0" i="0" dirty="0">
                <a:solidFill>
                  <a:srgbClr val="242A30"/>
                </a:solidFill>
                <a:latin typeface="Calibri"/>
              </a:rPr>
              <a:t>.</a:t>
            </a:r>
          </a:p>
        </p:txBody>
      </p:sp>
      <p:sp>
        <p:nvSpPr>
          <p:cNvPr id="21" name="Rectangle 20"/>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65760" y="6473952"/>
            <a:ext cx="4206240" cy="292608"/>
          </a:xfrm>
          <a:prstGeom prst="rect">
            <a:avLst/>
          </a:prstGeom>
          <a:noFill/>
        </p:spPr>
        <p:txBody>
          <a:bodyPr wrap="square" lIns="25400" tIns="12700" rIns="25400" bIns="12700" anchor="t">
            <a:spAutoFit/>
          </a:bodyPr>
          <a:lstStyle/>
          <a:p>
            <a:pPr algn="l"/>
            <a:r>
              <a:rPr sz="900" b="0" i="0">
                <a:solidFill>
                  <a:srgbClr val="6A7480"/>
                </a:solidFill>
                <a:latin typeface="Calibri"/>
              </a:rPr>
              <a:t>AURIS · YZ Üretimli Müzik Tespiti</a:t>
            </a:r>
          </a:p>
        </p:txBody>
      </p:sp>
      <p:sp>
        <p:nvSpPr>
          <p:cNvPr id="23" name="TextBox 22"/>
          <p:cNvSpPr txBox="1"/>
          <p:nvPr/>
        </p:nvSpPr>
        <p:spPr>
          <a:xfrm>
            <a:off x="4663440" y="6473952"/>
            <a:ext cx="7159752" cy="292608"/>
          </a:xfrm>
          <a:prstGeom prst="rect">
            <a:avLst/>
          </a:prstGeom>
          <a:noFill/>
        </p:spPr>
        <p:txBody>
          <a:bodyPr wrap="square" lIns="25400" tIns="12700" rIns="25400" bIns="12700" anchor="t">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46304"/>
            <a:ext cx="10058400" cy="292608"/>
          </a:xfrm>
          <a:prstGeom prst="rect">
            <a:avLst/>
          </a:prstGeom>
          <a:noFill/>
        </p:spPr>
        <p:txBody>
          <a:bodyPr wrap="square" lIns="25400" tIns="12700" rIns="25400" bIns="12700" anchor="t">
            <a:spAutoFit/>
          </a:bodyPr>
          <a:lstStyle/>
          <a:p>
            <a:pPr algn="l"/>
            <a:r>
              <a:rPr sz="1150" b="1" i="0">
                <a:solidFill>
                  <a:srgbClr val="D99A07"/>
                </a:solidFill>
                <a:latin typeface="Calibri"/>
              </a:rPr>
              <a:t>BÖLÜM 3</a:t>
            </a:r>
          </a:p>
        </p:txBody>
      </p:sp>
      <p:sp>
        <p:nvSpPr>
          <p:cNvPr id="6" name="TextBox 5"/>
          <p:cNvSpPr txBox="1"/>
          <p:nvPr/>
        </p:nvSpPr>
        <p:spPr>
          <a:xfrm>
            <a:off x="411480" y="420624"/>
            <a:ext cx="11338560" cy="603504"/>
          </a:xfrm>
          <a:prstGeom prst="rect">
            <a:avLst/>
          </a:prstGeom>
          <a:noFill/>
        </p:spPr>
        <p:txBody>
          <a:bodyPr wrap="square" lIns="25400" tIns="12700" rIns="25400" bIns="12700" anchor="t">
            <a:spAutoFit/>
          </a:bodyPr>
          <a:lstStyle/>
          <a:p>
            <a:pPr algn="l"/>
            <a:r>
              <a:rPr sz="2300" b="1" i="0">
                <a:solidFill>
                  <a:srgbClr val="FFFFFF"/>
                </a:solidFill>
                <a:latin typeface="Calibri"/>
              </a:rPr>
              <a:t>Sistem Mimarisi — Uçtan Uca Pipeline</a:t>
            </a:r>
          </a:p>
        </p:txBody>
      </p:sp>
      <p:sp>
        <p:nvSpPr>
          <p:cNvPr id="7" name="Rectangle 6"/>
          <p:cNvSpPr/>
          <p:nvPr/>
        </p:nvSpPr>
        <p:spPr>
          <a:xfrm>
            <a:off x="320040" y="1727782"/>
            <a:ext cx="11521440" cy="2305155"/>
          </a:xfrm>
          <a:prstGeom prst="rect">
            <a:avLst/>
          </a:prstGeom>
          <a:solidFill>
            <a:srgbClr val="FFFFFF"/>
          </a:solidFill>
          <a:ln w="9525">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paper_pipeline_diagram.png"/>
          <p:cNvPicPr>
            <a:picLocks noChangeAspect="1"/>
          </p:cNvPicPr>
          <p:nvPr/>
        </p:nvPicPr>
        <p:blipFill>
          <a:blip r:embed="rId2"/>
          <a:stretch>
            <a:fillRect/>
          </a:stretch>
        </p:blipFill>
        <p:spPr>
          <a:xfrm>
            <a:off x="365760" y="1773502"/>
            <a:ext cx="11430000" cy="2213715"/>
          </a:xfrm>
          <a:prstGeom prst="rect">
            <a:avLst/>
          </a:prstGeom>
        </p:spPr>
      </p:pic>
      <p:sp>
        <p:nvSpPr>
          <p:cNvPr id="9" name="TextBox 8"/>
          <p:cNvSpPr txBox="1"/>
          <p:nvPr/>
        </p:nvSpPr>
        <p:spPr>
          <a:xfrm>
            <a:off x="365760" y="4042081"/>
            <a:ext cx="11430000" cy="274320"/>
          </a:xfrm>
          <a:prstGeom prst="rect">
            <a:avLst/>
          </a:prstGeom>
          <a:noFill/>
        </p:spPr>
        <p:txBody>
          <a:bodyPr wrap="square" lIns="25400" tIns="12700" rIns="25400" bIns="12700" anchor="t">
            <a:spAutoFit/>
          </a:bodyPr>
          <a:lstStyle/>
          <a:p>
            <a:pPr algn="ctr"/>
            <a:r>
              <a:rPr sz="1000" b="0" i="1">
                <a:solidFill>
                  <a:srgbClr val="6A7480"/>
                </a:solidFill>
                <a:latin typeface="Calibri"/>
              </a:rPr>
              <a:t>Şekil 1: AURIS uçtan uca işleyiş şeması</a:t>
            </a:r>
          </a:p>
        </p:txBody>
      </p:sp>
      <p:sp>
        <p:nvSpPr>
          <p:cNvPr id="10" name="Rectangle 9"/>
          <p:cNvSpPr/>
          <p:nvPr/>
        </p:nvSpPr>
        <p:spPr>
          <a:xfrm>
            <a:off x="365760" y="4434840"/>
            <a:ext cx="1591056" cy="137160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365760" y="4434840"/>
            <a:ext cx="1591056"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11480" y="4434840"/>
            <a:ext cx="1499616" cy="457200"/>
          </a:xfrm>
          <a:prstGeom prst="rect">
            <a:avLst/>
          </a:prstGeom>
          <a:noFill/>
        </p:spPr>
        <p:txBody>
          <a:bodyPr wrap="square" lIns="25400" tIns="12700" rIns="25400" bIns="12700" anchor="ctr">
            <a:spAutoFit/>
          </a:bodyPr>
          <a:lstStyle/>
          <a:p>
            <a:pPr algn="ctr"/>
            <a:r>
              <a:rPr sz="1050" b="1" i="0">
                <a:solidFill>
                  <a:srgbClr val="FFFFFF"/>
                </a:solidFill>
                <a:latin typeface="Calibri"/>
              </a:rPr>
              <a:t>1 · Giriş</a:t>
            </a:r>
          </a:p>
        </p:txBody>
      </p:sp>
      <p:sp>
        <p:nvSpPr>
          <p:cNvPr id="13" name="TextBox 12"/>
          <p:cNvSpPr txBox="1"/>
          <p:nvPr/>
        </p:nvSpPr>
        <p:spPr>
          <a:xfrm>
            <a:off x="420624" y="4983480"/>
            <a:ext cx="1481328" cy="777240"/>
          </a:xfrm>
          <a:prstGeom prst="rect">
            <a:avLst/>
          </a:prstGeom>
          <a:noFill/>
        </p:spPr>
        <p:txBody>
          <a:bodyPr wrap="square" lIns="25400" tIns="12700" rIns="25400" bIns="12700" anchor="ctr">
            <a:spAutoFit/>
          </a:bodyPr>
          <a:lstStyle/>
          <a:p>
            <a:pPr algn="ctr"/>
            <a:r>
              <a:rPr sz="950" b="0" i="0">
                <a:solidFill>
                  <a:srgbClr val="242A30"/>
                </a:solidFill>
                <a:latin typeface="Calibri"/>
              </a:rPr>
              <a:t>Ham ses WAV/MP3</a:t>
            </a:r>
          </a:p>
        </p:txBody>
      </p:sp>
      <p:sp>
        <p:nvSpPr>
          <p:cNvPr id="14" name="Rectangle 13"/>
          <p:cNvSpPr/>
          <p:nvPr/>
        </p:nvSpPr>
        <p:spPr>
          <a:xfrm>
            <a:off x="2002536" y="4434840"/>
            <a:ext cx="1591056" cy="137160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2002536" y="4434840"/>
            <a:ext cx="1591056"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048255" y="4434840"/>
            <a:ext cx="1499616" cy="457200"/>
          </a:xfrm>
          <a:prstGeom prst="rect">
            <a:avLst/>
          </a:prstGeom>
          <a:noFill/>
        </p:spPr>
        <p:txBody>
          <a:bodyPr wrap="square" lIns="25400" tIns="12700" rIns="25400" bIns="12700" anchor="ctr">
            <a:spAutoFit/>
          </a:bodyPr>
          <a:lstStyle/>
          <a:p>
            <a:pPr algn="ctr"/>
            <a:r>
              <a:rPr sz="1050" b="1" i="0">
                <a:solidFill>
                  <a:srgbClr val="FFFFFF"/>
                </a:solidFill>
                <a:latin typeface="Calibri"/>
              </a:rPr>
              <a:t>2 · Ön işleme</a:t>
            </a:r>
          </a:p>
        </p:txBody>
      </p:sp>
      <p:sp>
        <p:nvSpPr>
          <p:cNvPr id="17" name="TextBox 16"/>
          <p:cNvSpPr txBox="1"/>
          <p:nvPr/>
        </p:nvSpPr>
        <p:spPr>
          <a:xfrm>
            <a:off x="2057400" y="4983480"/>
            <a:ext cx="1481328" cy="777240"/>
          </a:xfrm>
          <a:prstGeom prst="rect">
            <a:avLst/>
          </a:prstGeom>
          <a:noFill/>
        </p:spPr>
        <p:txBody>
          <a:bodyPr wrap="square" lIns="25400" tIns="12700" rIns="25400" bIns="12700" anchor="ctr">
            <a:spAutoFit/>
          </a:bodyPr>
          <a:lstStyle/>
          <a:p>
            <a:pPr algn="ctr"/>
            <a:r>
              <a:rPr sz="950" b="0" i="0">
                <a:solidFill>
                  <a:srgbClr val="242A30"/>
                </a:solidFill>
                <a:latin typeface="Calibri"/>
              </a:rPr>
              <a:t>22.050 Hz, mono</a:t>
            </a:r>
          </a:p>
        </p:txBody>
      </p:sp>
      <p:sp>
        <p:nvSpPr>
          <p:cNvPr id="18" name="Rectangle 17"/>
          <p:cNvSpPr/>
          <p:nvPr/>
        </p:nvSpPr>
        <p:spPr>
          <a:xfrm>
            <a:off x="3639312" y="4434840"/>
            <a:ext cx="1591056" cy="137160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3639312" y="4434840"/>
            <a:ext cx="1591056"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685032" y="4434840"/>
            <a:ext cx="1499616" cy="457200"/>
          </a:xfrm>
          <a:prstGeom prst="rect">
            <a:avLst/>
          </a:prstGeom>
          <a:noFill/>
        </p:spPr>
        <p:txBody>
          <a:bodyPr wrap="square" lIns="25400" tIns="12700" rIns="25400" bIns="12700" anchor="ctr">
            <a:spAutoFit/>
          </a:bodyPr>
          <a:lstStyle/>
          <a:p>
            <a:pPr algn="ctr"/>
            <a:r>
              <a:rPr sz="1050" b="1" i="0">
                <a:solidFill>
                  <a:srgbClr val="FFFFFF"/>
                </a:solidFill>
                <a:latin typeface="Calibri"/>
              </a:rPr>
              <a:t>3 · Öznitelik</a:t>
            </a:r>
          </a:p>
        </p:txBody>
      </p:sp>
      <p:sp>
        <p:nvSpPr>
          <p:cNvPr id="21" name="TextBox 20"/>
          <p:cNvSpPr txBox="1"/>
          <p:nvPr/>
        </p:nvSpPr>
        <p:spPr>
          <a:xfrm>
            <a:off x="3694176" y="4983480"/>
            <a:ext cx="1481328" cy="777240"/>
          </a:xfrm>
          <a:prstGeom prst="rect">
            <a:avLst/>
          </a:prstGeom>
          <a:noFill/>
        </p:spPr>
        <p:txBody>
          <a:bodyPr wrap="square" lIns="25400" tIns="12700" rIns="25400" bIns="12700" anchor="ctr">
            <a:spAutoFit/>
          </a:bodyPr>
          <a:lstStyle/>
          <a:p>
            <a:pPr algn="ctr"/>
            <a:r>
              <a:rPr sz="950" b="0" i="0">
                <a:solidFill>
                  <a:srgbClr val="242A30"/>
                </a:solidFill>
                <a:latin typeface="Calibri"/>
              </a:rPr>
              <a:t>47 boyutlu vektör</a:t>
            </a:r>
          </a:p>
        </p:txBody>
      </p:sp>
      <p:sp>
        <p:nvSpPr>
          <p:cNvPr id="22" name="Rectangle 21"/>
          <p:cNvSpPr/>
          <p:nvPr/>
        </p:nvSpPr>
        <p:spPr>
          <a:xfrm>
            <a:off x="5276088" y="4434840"/>
            <a:ext cx="1591056" cy="137160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5276088" y="4434840"/>
            <a:ext cx="1591056"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321808" y="4434840"/>
            <a:ext cx="1499616" cy="457200"/>
          </a:xfrm>
          <a:prstGeom prst="rect">
            <a:avLst/>
          </a:prstGeom>
          <a:noFill/>
        </p:spPr>
        <p:txBody>
          <a:bodyPr wrap="square" lIns="25400" tIns="12700" rIns="25400" bIns="12700" anchor="ctr">
            <a:spAutoFit/>
          </a:bodyPr>
          <a:lstStyle/>
          <a:p>
            <a:pPr algn="ctr"/>
            <a:r>
              <a:rPr sz="1050" b="1" i="0">
                <a:solidFill>
                  <a:srgbClr val="FFFFFF"/>
                </a:solidFill>
                <a:latin typeface="Calibri"/>
              </a:rPr>
              <a:t>4 · Ölçekleme</a:t>
            </a:r>
          </a:p>
        </p:txBody>
      </p:sp>
      <p:sp>
        <p:nvSpPr>
          <p:cNvPr id="25" name="TextBox 24"/>
          <p:cNvSpPr txBox="1"/>
          <p:nvPr/>
        </p:nvSpPr>
        <p:spPr>
          <a:xfrm>
            <a:off x="5330952" y="4983480"/>
            <a:ext cx="1481328" cy="777240"/>
          </a:xfrm>
          <a:prstGeom prst="rect">
            <a:avLst/>
          </a:prstGeom>
          <a:noFill/>
        </p:spPr>
        <p:txBody>
          <a:bodyPr wrap="square" lIns="25400" tIns="12700" rIns="25400" bIns="12700" anchor="ctr">
            <a:spAutoFit/>
          </a:bodyPr>
          <a:lstStyle/>
          <a:p>
            <a:pPr algn="ctr"/>
            <a:r>
              <a:rPr sz="950" b="0" i="0">
                <a:solidFill>
                  <a:srgbClr val="242A30"/>
                </a:solidFill>
                <a:latin typeface="Calibri"/>
              </a:rPr>
              <a:t>Kat-içi StandardScaler</a:t>
            </a:r>
          </a:p>
        </p:txBody>
      </p:sp>
      <p:sp>
        <p:nvSpPr>
          <p:cNvPr id="26" name="Rectangle 25"/>
          <p:cNvSpPr/>
          <p:nvPr/>
        </p:nvSpPr>
        <p:spPr>
          <a:xfrm>
            <a:off x="6912864" y="4434840"/>
            <a:ext cx="1591056" cy="137160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6912864" y="4434840"/>
            <a:ext cx="1591056"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958584" y="4434840"/>
            <a:ext cx="1499616" cy="457200"/>
          </a:xfrm>
          <a:prstGeom prst="rect">
            <a:avLst/>
          </a:prstGeom>
          <a:noFill/>
        </p:spPr>
        <p:txBody>
          <a:bodyPr wrap="square" lIns="25400" tIns="12700" rIns="25400" bIns="12700" anchor="ctr">
            <a:spAutoFit/>
          </a:bodyPr>
          <a:lstStyle/>
          <a:p>
            <a:pPr algn="ctr"/>
            <a:r>
              <a:rPr sz="1050" b="1" i="0">
                <a:solidFill>
                  <a:srgbClr val="FFFFFF"/>
                </a:solidFill>
                <a:latin typeface="Calibri"/>
              </a:rPr>
              <a:t>5 · Modeller</a:t>
            </a:r>
          </a:p>
        </p:txBody>
      </p:sp>
      <p:sp>
        <p:nvSpPr>
          <p:cNvPr id="29" name="TextBox 28"/>
          <p:cNvSpPr txBox="1"/>
          <p:nvPr/>
        </p:nvSpPr>
        <p:spPr>
          <a:xfrm>
            <a:off x="6967728" y="4983480"/>
            <a:ext cx="1481328" cy="777240"/>
          </a:xfrm>
          <a:prstGeom prst="rect">
            <a:avLst/>
          </a:prstGeom>
          <a:noFill/>
        </p:spPr>
        <p:txBody>
          <a:bodyPr wrap="square" lIns="25400" tIns="12700" rIns="25400" bIns="12700" anchor="ctr">
            <a:spAutoFit/>
          </a:bodyPr>
          <a:lstStyle/>
          <a:p>
            <a:pPr algn="ctr"/>
            <a:r>
              <a:rPr sz="950" b="0" i="0">
                <a:solidFill>
                  <a:srgbClr val="242A30"/>
                </a:solidFill>
                <a:latin typeface="Calibri"/>
              </a:rPr>
              <a:t>11 model, 5-katlı CV</a:t>
            </a:r>
          </a:p>
        </p:txBody>
      </p:sp>
      <p:sp>
        <p:nvSpPr>
          <p:cNvPr id="30" name="Rectangle 29"/>
          <p:cNvSpPr/>
          <p:nvPr/>
        </p:nvSpPr>
        <p:spPr>
          <a:xfrm>
            <a:off x="8549640" y="4434840"/>
            <a:ext cx="1591056" cy="137160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8549640" y="4434840"/>
            <a:ext cx="1591056"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595360" y="4434840"/>
            <a:ext cx="1499616" cy="457200"/>
          </a:xfrm>
          <a:prstGeom prst="rect">
            <a:avLst/>
          </a:prstGeom>
          <a:noFill/>
        </p:spPr>
        <p:txBody>
          <a:bodyPr wrap="square" lIns="25400" tIns="12700" rIns="25400" bIns="12700" anchor="ctr">
            <a:spAutoFit/>
          </a:bodyPr>
          <a:lstStyle/>
          <a:p>
            <a:pPr algn="ctr"/>
            <a:r>
              <a:rPr sz="1050" b="1" i="0">
                <a:solidFill>
                  <a:srgbClr val="FFFFFF"/>
                </a:solidFill>
                <a:latin typeface="Calibri"/>
              </a:rPr>
              <a:t>6 · Eşik</a:t>
            </a:r>
          </a:p>
        </p:txBody>
      </p:sp>
      <p:sp>
        <p:nvSpPr>
          <p:cNvPr id="33" name="TextBox 32"/>
          <p:cNvSpPr txBox="1"/>
          <p:nvPr/>
        </p:nvSpPr>
        <p:spPr>
          <a:xfrm>
            <a:off x="8604504" y="4983480"/>
            <a:ext cx="1481328" cy="777240"/>
          </a:xfrm>
          <a:prstGeom prst="rect">
            <a:avLst/>
          </a:prstGeom>
          <a:noFill/>
        </p:spPr>
        <p:txBody>
          <a:bodyPr wrap="square" lIns="25400" tIns="12700" rIns="25400" bIns="12700" anchor="ctr">
            <a:spAutoFit/>
          </a:bodyPr>
          <a:lstStyle/>
          <a:p>
            <a:pPr algn="ctr"/>
            <a:r>
              <a:rPr sz="950" b="0" i="0">
                <a:solidFill>
                  <a:srgbClr val="242A30"/>
                </a:solidFill>
                <a:latin typeface="Calibri"/>
              </a:rPr>
              <a:t>Youden θ*=0,4316</a:t>
            </a:r>
          </a:p>
        </p:txBody>
      </p:sp>
      <p:sp>
        <p:nvSpPr>
          <p:cNvPr id="34" name="Rectangle 33"/>
          <p:cNvSpPr/>
          <p:nvPr/>
        </p:nvSpPr>
        <p:spPr>
          <a:xfrm>
            <a:off x="10186416" y="4434840"/>
            <a:ext cx="1591056" cy="137160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10186416" y="4434840"/>
            <a:ext cx="1591056"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232136" y="4434840"/>
            <a:ext cx="1499616" cy="457200"/>
          </a:xfrm>
          <a:prstGeom prst="rect">
            <a:avLst/>
          </a:prstGeom>
          <a:noFill/>
        </p:spPr>
        <p:txBody>
          <a:bodyPr wrap="square" lIns="25400" tIns="12700" rIns="25400" bIns="12700" anchor="ctr">
            <a:spAutoFit/>
          </a:bodyPr>
          <a:lstStyle/>
          <a:p>
            <a:pPr algn="ctr"/>
            <a:r>
              <a:rPr sz="1050" b="1" i="0">
                <a:solidFill>
                  <a:srgbClr val="FFFFFF"/>
                </a:solidFill>
                <a:latin typeface="Calibri"/>
              </a:rPr>
              <a:t>7 · Karar</a:t>
            </a:r>
          </a:p>
        </p:txBody>
      </p:sp>
      <p:sp>
        <p:nvSpPr>
          <p:cNvPr id="37" name="TextBox 36"/>
          <p:cNvSpPr txBox="1"/>
          <p:nvPr/>
        </p:nvSpPr>
        <p:spPr>
          <a:xfrm>
            <a:off x="10241280" y="4983480"/>
            <a:ext cx="1481328" cy="777240"/>
          </a:xfrm>
          <a:prstGeom prst="rect">
            <a:avLst/>
          </a:prstGeom>
          <a:noFill/>
        </p:spPr>
        <p:txBody>
          <a:bodyPr wrap="square" lIns="25400" tIns="12700" rIns="25400" bIns="12700" anchor="ctr">
            <a:spAutoFit/>
          </a:bodyPr>
          <a:lstStyle/>
          <a:p>
            <a:pPr algn="ctr"/>
            <a:r>
              <a:rPr sz="950" b="0" i="0">
                <a:solidFill>
                  <a:srgbClr val="242A30"/>
                </a:solidFill>
                <a:latin typeface="Calibri"/>
              </a:rPr>
              <a:t>YZ/İnsan + SHAP</a:t>
            </a:r>
          </a:p>
        </p:txBody>
      </p:sp>
      <p:sp>
        <p:nvSpPr>
          <p:cNvPr id="38" name="Rectangle 37"/>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365760" y="6473952"/>
            <a:ext cx="4206240" cy="292608"/>
          </a:xfrm>
          <a:prstGeom prst="rect">
            <a:avLst/>
          </a:prstGeom>
          <a:noFill/>
        </p:spPr>
        <p:txBody>
          <a:bodyPr wrap="square" lIns="25400" tIns="12700" rIns="25400" bIns="12700" anchor="t">
            <a:spAutoFit/>
          </a:bodyPr>
          <a:lstStyle/>
          <a:p>
            <a:pPr algn="l"/>
            <a:r>
              <a:rPr sz="900" b="0" i="0">
                <a:solidFill>
                  <a:srgbClr val="6A7480"/>
                </a:solidFill>
                <a:latin typeface="Calibri"/>
              </a:rPr>
              <a:t>AURIS · YZ Üretimli Müzik Tespiti</a:t>
            </a:r>
          </a:p>
        </p:txBody>
      </p:sp>
      <p:sp>
        <p:nvSpPr>
          <p:cNvPr id="40" name="TextBox 39"/>
          <p:cNvSpPr txBox="1"/>
          <p:nvPr/>
        </p:nvSpPr>
        <p:spPr>
          <a:xfrm>
            <a:off x="4663440" y="6473952"/>
            <a:ext cx="7159752" cy="292608"/>
          </a:xfrm>
          <a:prstGeom prst="rect">
            <a:avLst/>
          </a:prstGeom>
          <a:noFill/>
        </p:spPr>
        <p:txBody>
          <a:bodyPr wrap="square" lIns="25400" tIns="12700" rIns="25400" bIns="12700" anchor="t">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46304"/>
            <a:ext cx="10058400" cy="292608"/>
          </a:xfrm>
          <a:prstGeom prst="rect">
            <a:avLst/>
          </a:prstGeom>
          <a:noFill/>
        </p:spPr>
        <p:txBody>
          <a:bodyPr wrap="square" lIns="25400" tIns="12700" rIns="25400" bIns="12700" anchor="t">
            <a:spAutoFit/>
          </a:bodyPr>
          <a:lstStyle/>
          <a:p>
            <a:pPr algn="l"/>
            <a:r>
              <a:rPr sz="1150" b="1" i="0">
                <a:solidFill>
                  <a:srgbClr val="D99A07"/>
                </a:solidFill>
                <a:latin typeface="Calibri"/>
              </a:rPr>
              <a:t>BÖLÜM 4</a:t>
            </a:r>
          </a:p>
        </p:txBody>
      </p:sp>
      <p:sp>
        <p:nvSpPr>
          <p:cNvPr id="6" name="TextBox 5"/>
          <p:cNvSpPr txBox="1"/>
          <p:nvPr/>
        </p:nvSpPr>
        <p:spPr>
          <a:xfrm>
            <a:off x="411480" y="420624"/>
            <a:ext cx="11338560" cy="603504"/>
          </a:xfrm>
          <a:prstGeom prst="rect">
            <a:avLst/>
          </a:prstGeom>
          <a:noFill/>
        </p:spPr>
        <p:txBody>
          <a:bodyPr wrap="square" lIns="25400" tIns="12700" rIns="25400" bIns="12700" anchor="t">
            <a:spAutoFit/>
          </a:bodyPr>
          <a:lstStyle/>
          <a:p>
            <a:pPr algn="l"/>
            <a:r>
              <a:rPr sz="2300" b="1" i="0">
                <a:solidFill>
                  <a:srgbClr val="FFFFFF"/>
                </a:solidFill>
                <a:latin typeface="Calibri"/>
              </a:rPr>
              <a:t>Veri Kümesi</a:t>
            </a:r>
          </a:p>
        </p:txBody>
      </p:sp>
      <p:sp>
        <p:nvSpPr>
          <p:cNvPr id="7" name="TextBox 6"/>
          <p:cNvSpPr txBox="1"/>
          <p:nvPr/>
        </p:nvSpPr>
        <p:spPr>
          <a:xfrm>
            <a:off x="411480" y="1024128"/>
            <a:ext cx="11338560" cy="329184"/>
          </a:xfrm>
          <a:prstGeom prst="rect">
            <a:avLst/>
          </a:prstGeom>
          <a:noFill/>
        </p:spPr>
        <p:txBody>
          <a:bodyPr wrap="square" lIns="25400" tIns="12700" rIns="25400" bIns="12700" anchor="t">
            <a:spAutoFit/>
          </a:bodyPr>
          <a:lstStyle/>
          <a:p>
            <a:pPr algn="l"/>
            <a:r>
              <a:rPr sz="1200" b="0" i="0">
                <a:solidFill>
                  <a:srgbClr val="ADC4D6"/>
                </a:solidFill>
                <a:latin typeface="Calibri"/>
              </a:rPr>
              <a:t>5.195 örnek · sekiz kaynak · iki sınıf</a:t>
            </a:r>
          </a:p>
        </p:txBody>
      </p:sp>
      <p:sp>
        <p:nvSpPr>
          <p:cNvPr id="8" name="Rectangle 7"/>
          <p:cNvSpPr/>
          <p:nvPr/>
        </p:nvSpPr>
        <p:spPr>
          <a:xfrm>
            <a:off x="365760" y="1627632"/>
            <a:ext cx="402336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627632"/>
            <a:ext cx="3840480" cy="384048"/>
          </a:xfrm>
          <a:prstGeom prst="rect">
            <a:avLst/>
          </a:prstGeom>
          <a:noFill/>
        </p:spPr>
        <p:txBody>
          <a:bodyPr wrap="square" lIns="25400" tIns="12700" rIns="25400" bIns="12700" anchor="ctr">
            <a:spAutoFit/>
          </a:bodyPr>
          <a:lstStyle/>
          <a:p>
            <a:pPr algn="l"/>
            <a:r>
              <a:rPr sz="1150" b="1" i="0">
                <a:solidFill>
                  <a:srgbClr val="FFFFFF"/>
                </a:solidFill>
                <a:latin typeface="Calibri"/>
              </a:rPr>
              <a:t>Kaynak</a:t>
            </a:r>
          </a:p>
        </p:txBody>
      </p:sp>
      <p:sp>
        <p:nvSpPr>
          <p:cNvPr id="10" name="Rectangle 9"/>
          <p:cNvSpPr/>
          <p:nvPr/>
        </p:nvSpPr>
        <p:spPr>
          <a:xfrm>
            <a:off x="4389120" y="1627632"/>
            <a:ext cx="237744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0" y="1627632"/>
            <a:ext cx="2377440" cy="384048"/>
          </a:xfrm>
          <a:prstGeom prst="rect">
            <a:avLst/>
          </a:prstGeom>
          <a:noFill/>
        </p:spPr>
        <p:txBody>
          <a:bodyPr wrap="square" lIns="25400" tIns="12700" rIns="25400" bIns="12700" anchor="ctr">
            <a:spAutoFit/>
          </a:bodyPr>
          <a:lstStyle/>
          <a:p>
            <a:pPr algn="ctr"/>
            <a:r>
              <a:rPr sz="1150" b="1" i="0">
                <a:solidFill>
                  <a:srgbClr val="FFFFFF"/>
                </a:solidFill>
                <a:latin typeface="Calibri"/>
              </a:rPr>
              <a:t>Tür</a:t>
            </a:r>
          </a:p>
        </p:txBody>
      </p:sp>
      <p:sp>
        <p:nvSpPr>
          <p:cNvPr id="12" name="Rectangle 11"/>
          <p:cNvSpPr/>
          <p:nvPr/>
        </p:nvSpPr>
        <p:spPr>
          <a:xfrm>
            <a:off x="6766560" y="1627632"/>
            <a:ext cx="137160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766560" y="1627632"/>
            <a:ext cx="1371600" cy="384048"/>
          </a:xfrm>
          <a:prstGeom prst="rect">
            <a:avLst/>
          </a:prstGeom>
          <a:noFill/>
        </p:spPr>
        <p:txBody>
          <a:bodyPr wrap="square" lIns="25400" tIns="12700" rIns="25400" bIns="12700" anchor="ctr">
            <a:spAutoFit/>
          </a:bodyPr>
          <a:lstStyle/>
          <a:p>
            <a:pPr algn="ctr"/>
            <a:r>
              <a:rPr sz="1150" b="1" i="0">
                <a:solidFill>
                  <a:srgbClr val="FFFFFF"/>
                </a:solidFill>
                <a:latin typeface="Calibri"/>
              </a:rPr>
              <a:t>Örnek</a:t>
            </a:r>
          </a:p>
        </p:txBody>
      </p:sp>
      <p:sp>
        <p:nvSpPr>
          <p:cNvPr id="14" name="Rectangle 13"/>
          <p:cNvSpPr/>
          <p:nvPr/>
        </p:nvSpPr>
        <p:spPr>
          <a:xfrm>
            <a:off x="365760" y="2011680"/>
            <a:ext cx="402336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2011680"/>
            <a:ext cx="3840480" cy="393192"/>
          </a:xfrm>
          <a:prstGeom prst="rect">
            <a:avLst/>
          </a:prstGeom>
          <a:noFill/>
        </p:spPr>
        <p:txBody>
          <a:bodyPr wrap="square" lIns="25400" tIns="12700" rIns="25400" bIns="12700" anchor="ctr">
            <a:spAutoFit/>
          </a:bodyPr>
          <a:lstStyle/>
          <a:p>
            <a:pPr algn="l"/>
            <a:r>
              <a:rPr sz="1150" b="0" i="0">
                <a:solidFill>
                  <a:srgbClr val="242A30"/>
                </a:solidFill>
                <a:latin typeface="Calibri"/>
              </a:rPr>
              <a:t>GTZAN</a:t>
            </a:r>
          </a:p>
        </p:txBody>
      </p:sp>
      <p:sp>
        <p:nvSpPr>
          <p:cNvPr id="16" name="Rectangle 15"/>
          <p:cNvSpPr/>
          <p:nvPr/>
        </p:nvSpPr>
        <p:spPr>
          <a:xfrm>
            <a:off x="4389120" y="2011680"/>
            <a:ext cx="23774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416552" y="2011680"/>
            <a:ext cx="2322576" cy="393192"/>
          </a:xfrm>
          <a:prstGeom prst="rect">
            <a:avLst/>
          </a:prstGeom>
          <a:noFill/>
        </p:spPr>
        <p:txBody>
          <a:bodyPr wrap="square" lIns="25400" tIns="12700" rIns="25400" bIns="12700" anchor="ctr">
            <a:spAutoFit/>
          </a:bodyPr>
          <a:lstStyle/>
          <a:p>
            <a:pPr algn="ctr"/>
            <a:r>
              <a:rPr sz="1150" b="0" i="0">
                <a:solidFill>
                  <a:srgbClr val="242A30"/>
                </a:solidFill>
                <a:latin typeface="Calibri"/>
              </a:rPr>
              <a:t>İnsan</a:t>
            </a:r>
          </a:p>
        </p:txBody>
      </p:sp>
      <p:sp>
        <p:nvSpPr>
          <p:cNvPr id="18" name="Rectangle 17"/>
          <p:cNvSpPr/>
          <p:nvPr/>
        </p:nvSpPr>
        <p:spPr>
          <a:xfrm>
            <a:off x="6766560" y="2011680"/>
            <a:ext cx="13716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793992" y="2011680"/>
            <a:ext cx="1316736" cy="393192"/>
          </a:xfrm>
          <a:prstGeom prst="rect">
            <a:avLst/>
          </a:prstGeom>
          <a:noFill/>
        </p:spPr>
        <p:txBody>
          <a:bodyPr wrap="square" lIns="25400" tIns="12700" rIns="25400" bIns="12700" anchor="ctr">
            <a:spAutoFit/>
          </a:bodyPr>
          <a:lstStyle/>
          <a:p>
            <a:pPr algn="ctr"/>
            <a:r>
              <a:rPr sz="1150" b="0" i="0">
                <a:solidFill>
                  <a:srgbClr val="242A30"/>
                </a:solidFill>
                <a:latin typeface="Calibri"/>
              </a:rPr>
              <a:t>899</a:t>
            </a:r>
          </a:p>
        </p:txBody>
      </p:sp>
      <p:sp>
        <p:nvSpPr>
          <p:cNvPr id="20" name="Rectangle 19"/>
          <p:cNvSpPr/>
          <p:nvPr/>
        </p:nvSpPr>
        <p:spPr>
          <a:xfrm>
            <a:off x="365760" y="2404872"/>
            <a:ext cx="402336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7200" y="2404872"/>
            <a:ext cx="3840480" cy="393192"/>
          </a:xfrm>
          <a:prstGeom prst="rect">
            <a:avLst/>
          </a:prstGeom>
          <a:noFill/>
        </p:spPr>
        <p:txBody>
          <a:bodyPr wrap="square" lIns="25400" tIns="12700" rIns="25400" bIns="12700" anchor="ctr">
            <a:spAutoFit/>
          </a:bodyPr>
          <a:lstStyle/>
          <a:p>
            <a:pPr algn="l"/>
            <a:r>
              <a:rPr sz="1150" b="0" i="0">
                <a:solidFill>
                  <a:srgbClr val="242A30"/>
                </a:solidFill>
                <a:latin typeface="Calibri"/>
              </a:rPr>
              <a:t>FMA Small</a:t>
            </a:r>
          </a:p>
        </p:txBody>
      </p:sp>
      <p:sp>
        <p:nvSpPr>
          <p:cNvPr id="22" name="Rectangle 21"/>
          <p:cNvSpPr/>
          <p:nvPr/>
        </p:nvSpPr>
        <p:spPr>
          <a:xfrm>
            <a:off x="4389120" y="2404872"/>
            <a:ext cx="23774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416552" y="2404872"/>
            <a:ext cx="2322576" cy="393192"/>
          </a:xfrm>
          <a:prstGeom prst="rect">
            <a:avLst/>
          </a:prstGeom>
          <a:noFill/>
        </p:spPr>
        <p:txBody>
          <a:bodyPr wrap="square" lIns="25400" tIns="12700" rIns="25400" bIns="12700" anchor="ctr">
            <a:spAutoFit/>
          </a:bodyPr>
          <a:lstStyle/>
          <a:p>
            <a:pPr algn="ctr"/>
            <a:r>
              <a:rPr sz="1150" b="0" i="0">
                <a:solidFill>
                  <a:srgbClr val="242A30"/>
                </a:solidFill>
                <a:latin typeface="Calibri"/>
              </a:rPr>
              <a:t>İnsan</a:t>
            </a:r>
          </a:p>
        </p:txBody>
      </p:sp>
      <p:sp>
        <p:nvSpPr>
          <p:cNvPr id="24" name="Rectangle 23"/>
          <p:cNvSpPr/>
          <p:nvPr/>
        </p:nvSpPr>
        <p:spPr>
          <a:xfrm>
            <a:off x="6766560" y="2404872"/>
            <a:ext cx="13716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793992" y="2404872"/>
            <a:ext cx="1316736" cy="393192"/>
          </a:xfrm>
          <a:prstGeom prst="rect">
            <a:avLst/>
          </a:prstGeom>
          <a:noFill/>
        </p:spPr>
        <p:txBody>
          <a:bodyPr wrap="square" lIns="25400" tIns="12700" rIns="25400" bIns="12700" anchor="ctr">
            <a:spAutoFit/>
          </a:bodyPr>
          <a:lstStyle/>
          <a:p>
            <a:pPr algn="ctr"/>
            <a:r>
              <a:rPr sz="1150" b="0" i="0">
                <a:solidFill>
                  <a:srgbClr val="242A30"/>
                </a:solidFill>
                <a:latin typeface="Calibri"/>
              </a:rPr>
              <a:t>1.000</a:t>
            </a:r>
          </a:p>
        </p:txBody>
      </p:sp>
      <p:sp>
        <p:nvSpPr>
          <p:cNvPr id="26" name="Rectangle 25"/>
          <p:cNvSpPr/>
          <p:nvPr/>
        </p:nvSpPr>
        <p:spPr>
          <a:xfrm>
            <a:off x="365760" y="2798064"/>
            <a:ext cx="402336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57200" y="2798064"/>
            <a:ext cx="3840480" cy="393192"/>
          </a:xfrm>
          <a:prstGeom prst="rect">
            <a:avLst/>
          </a:prstGeom>
          <a:noFill/>
        </p:spPr>
        <p:txBody>
          <a:bodyPr wrap="square" lIns="25400" tIns="12700" rIns="25400" bIns="12700" anchor="ctr">
            <a:spAutoFit/>
          </a:bodyPr>
          <a:lstStyle/>
          <a:p>
            <a:pPr algn="l"/>
            <a:r>
              <a:rPr sz="1150" b="0" i="0">
                <a:solidFill>
                  <a:srgbClr val="242A30"/>
                </a:solidFill>
                <a:latin typeface="Calibri"/>
              </a:rPr>
              <a:t>SleepyJesse (kapak)</a:t>
            </a:r>
          </a:p>
        </p:txBody>
      </p:sp>
      <p:sp>
        <p:nvSpPr>
          <p:cNvPr id="28" name="Rectangle 27"/>
          <p:cNvSpPr/>
          <p:nvPr/>
        </p:nvSpPr>
        <p:spPr>
          <a:xfrm>
            <a:off x="4389120" y="2798064"/>
            <a:ext cx="23774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416552" y="2798064"/>
            <a:ext cx="2322576" cy="393192"/>
          </a:xfrm>
          <a:prstGeom prst="rect">
            <a:avLst/>
          </a:prstGeom>
          <a:noFill/>
        </p:spPr>
        <p:txBody>
          <a:bodyPr wrap="square" lIns="25400" tIns="12700" rIns="25400" bIns="12700" anchor="ctr">
            <a:spAutoFit/>
          </a:bodyPr>
          <a:lstStyle/>
          <a:p>
            <a:pPr algn="ctr"/>
            <a:r>
              <a:rPr sz="1150" b="0" i="0">
                <a:solidFill>
                  <a:srgbClr val="242A30"/>
                </a:solidFill>
                <a:latin typeface="Calibri"/>
              </a:rPr>
              <a:t>İnsan</a:t>
            </a:r>
          </a:p>
        </p:txBody>
      </p:sp>
      <p:sp>
        <p:nvSpPr>
          <p:cNvPr id="30" name="Rectangle 29"/>
          <p:cNvSpPr/>
          <p:nvPr/>
        </p:nvSpPr>
        <p:spPr>
          <a:xfrm>
            <a:off x="6766560" y="2798064"/>
            <a:ext cx="13716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793992" y="2798064"/>
            <a:ext cx="1316736" cy="393192"/>
          </a:xfrm>
          <a:prstGeom prst="rect">
            <a:avLst/>
          </a:prstGeom>
          <a:noFill/>
        </p:spPr>
        <p:txBody>
          <a:bodyPr wrap="square" lIns="25400" tIns="12700" rIns="25400" bIns="12700" anchor="ctr">
            <a:spAutoFit/>
          </a:bodyPr>
          <a:lstStyle/>
          <a:p>
            <a:pPr algn="ctr"/>
            <a:r>
              <a:rPr sz="1150" b="0" i="0">
                <a:solidFill>
                  <a:srgbClr val="242A30"/>
                </a:solidFill>
                <a:latin typeface="Calibri"/>
              </a:rPr>
              <a:t>854</a:t>
            </a:r>
          </a:p>
        </p:txBody>
      </p:sp>
      <p:sp>
        <p:nvSpPr>
          <p:cNvPr id="32" name="Rectangle 31"/>
          <p:cNvSpPr/>
          <p:nvPr/>
        </p:nvSpPr>
        <p:spPr>
          <a:xfrm>
            <a:off x="365760" y="3191256"/>
            <a:ext cx="402336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457200" y="3191256"/>
            <a:ext cx="3840480" cy="393192"/>
          </a:xfrm>
          <a:prstGeom prst="rect">
            <a:avLst/>
          </a:prstGeom>
          <a:noFill/>
        </p:spPr>
        <p:txBody>
          <a:bodyPr wrap="square" lIns="25400" tIns="12700" rIns="25400" bIns="12700" anchor="ctr">
            <a:spAutoFit/>
          </a:bodyPr>
          <a:lstStyle/>
          <a:p>
            <a:pPr algn="l"/>
            <a:r>
              <a:rPr sz="1150" b="0" i="0">
                <a:solidFill>
                  <a:srgbClr val="242A30"/>
                </a:solidFill>
                <a:latin typeface="Calibri"/>
              </a:rPr>
              <a:t>Diğer insan kaynağı</a:t>
            </a:r>
          </a:p>
        </p:txBody>
      </p:sp>
      <p:sp>
        <p:nvSpPr>
          <p:cNvPr id="34" name="Rectangle 33"/>
          <p:cNvSpPr/>
          <p:nvPr/>
        </p:nvSpPr>
        <p:spPr>
          <a:xfrm>
            <a:off x="4389120" y="3191256"/>
            <a:ext cx="23774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416552" y="3191256"/>
            <a:ext cx="2322576" cy="393192"/>
          </a:xfrm>
          <a:prstGeom prst="rect">
            <a:avLst/>
          </a:prstGeom>
          <a:noFill/>
        </p:spPr>
        <p:txBody>
          <a:bodyPr wrap="square" lIns="25400" tIns="12700" rIns="25400" bIns="12700" anchor="ctr">
            <a:spAutoFit/>
          </a:bodyPr>
          <a:lstStyle/>
          <a:p>
            <a:pPr algn="ctr"/>
            <a:r>
              <a:rPr sz="1150" b="0" i="0">
                <a:solidFill>
                  <a:srgbClr val="242A30"/>
                </a:solidFill>
                <a:latin typeface="Calibri"/>
              </a:rPr>
              <a:t>İnsan</a:t>
            </a:r>
          </a:p>
        </p:txBody>
      </p:sp>
      <p:sp>
        <p:nvSpPr>
          <p:cNvPr id="36" name="Rectangle 35"/>
          <p:cNvSpPr/>
          <p:nvPr/>
        </p:nvSpPr>
        <p:spPr>
          <a:xfrm>
            <a:off x="6766560" y="3191256"/>
            <a:ext cx="13716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6793992" y="3191256"/>
            <a:ext cx="1316736" cy="393192"/>
          </a:xfrm>
          <a:prstGeom prst="rect">
            <a:avLst/>
          </a:prstGeom>
          <a:noFill/>
        </p:spPr>
        <p:txBody>
          <a:bodyPr wrap="square" lIns="25400" tIns="12700" rIns="25400" bIns="12700" anchor="ctr">
            <a:spAutoFit/>
          </a:bodyPr>
          <a:lstStyle/>
          <a:p>
            <a:pPr algn="ctr"/>
            <a:r>
              <a:rPr sz="1150" b="0" i="0">
                <a:solidFill>
                  <a:srgbClr val="242A30"/>
                </a:solidFill>
                <a:latin typeface="Calibri"/>
              </a:rPr>
              <a:t>360</a:t>
            </a:r>
          </a:p>
        </p:txBody>
      </p:sp>
      <p:sp>
        <p:nvSpPr>
          <p:cNvPr id="38" name="Rectangle 37"/>
          <p:cNvSpPr/>
          <p:nvPr/>
        </p:nvSpPr>
        <p:spPr>
          <a:xfrm>
            <a:off x="365760" y="3584448"/>
            <a:ext cx="402336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457200" y="3584448"/>
            <a:ext cx="3840480" cy="393192"/>
          </a:xfrm>
          <a:prstGeom prst="rect">
            <a:avLst/>
          </a:prstGeom>
          <a:noFill/>
        </p:spPr>
        <p:txBody>
          <a:bodyPr wrap="square" lIns="25400" tIns="12700" rIns="25400" bIns="12700" anchor="ctr">
            <a:spAutoFit/>
          </a:bodyPr>
          <a:lstStyle/>
          <a:p>
            <a:pPr algn="l"/>
            <a:r>
              <a:rPr sz="1150" b="0" i="0">
                <a:solidFill>
                  <a:srgbClr val="242A30"/>
                </a:solidFill>
                <a:latin typeface="Calibri"/>
              </a:rPr>
              <a:t>Echoes</a:t>
            </a:r>
          </a:p>
        </p:txBody>
      </p:sp>
      <p:sp>
        <p:nvSpPr>
          <p:cNvPr id="40" name="Rectangle 39"/>
          <p:cNvSpPr/>
          <p:nvPr/>
        </p:nvSpPr>
        <p:spPr>
          <a:xfrm>
            <a:off x="4389120" y="3584448"/>
            <a:ext cx="23774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416552" y="3584448"/>
            <a:ext cx="2322576" cy="393192"/>
          </a:xfrm>
          <a:prstGeom prst="rect">
            <a:avLst/>
          </a:prstGeom>
          <a:noFill/>
        </p:spPr>
        <p:txBody>
          <a:bodyPr wrap="square" lIns="25400" tIns="12700" rIns="25400" bIns="12700" anchor="ctr">
            <a:spAutoFit/>
          </a:bodyPr>
          <a:lstStyle/>
          <a:p>
            <a:pPr algn="ctr"/>
            <a:r>
              <a:rPr sz="1150" b="0" i="0">
                <a:solidFill>
                  <a:srgbClr val="242A30"/>
                </a:solidFill>
                <a:latin typeface="Calibri"/>
              </a:rPr>
              <a:t>Yapay zekâ</a:t>
            </a:r>
          </a:p>
        </p:txBody>
      </p:sp>
      <p:sp>
        <p:nvSpPr>
          <p:cNvPr id="42" name="Rectangle 41"/>
          <p:cNvSpPr/>
          <p:nvPr/>
        </p:nvSpPr>
        <p:spPr>
          <a:xfrm>
            <a:off x="6766560" y="3584448"/>
            <a:ext cx="13716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6793992" y="3584448"/>
            <a:ext cx="1316736" cy="393192"/>
          </a:xfrm>
          <a:prstGeom prst="rect">
            <a:avLst/>
          </a:prstGeom>
          <a:noFill/>
        </p:spPr>
        <p:txBody>
          <a:bodyPr wrap="square" lIns="25400" tIns="12700" rIns="25400" bIns="12700" anchor="ctr">
            <a:spAutoFit/>
          </a:bodyPr>
          <a:lstStyle/>
          <a:p>
            <a:pPr algn="ctr"/>
            <a:r>
              <a:rPr sz="1150" b="0" i="0">
                <a:solidFill>
                  <a:srgbClr val="242A30"/>
                </a:solidFill>
                <a:latin typeface="Calibri"/>
              </a:rPr>
              <a:t>1.128</a:t>
            </a:r>
          </a:p>
        </p:txBody>
      </p:sp>
      <p:sp>
        <p:nvSpPr>
          <p:cNvPr id="44" name="Rectangle 43"/>
          <p:cNvSpPr/>
          <p:nvPr/>
        </p:nvSpPr>
        <p:spPr>
          <a:xfrm>
            <a:off x="365760" y="3977640"/>
            <a:ext cx="402336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457200" y="3977640"/>
            <a:ext cx="3840480" cy="393192"/>
          </a:xfrm>
          <a:prstGeom prst="rect">
            <a:avLst/>
          </a:prstGeom>
          <a:noFill/>
        </p:spPr>
        <p:txBody>
          <a:bodyPr wrap="square" lIns="25400" tIns="12700" rIns="25400" bIns="12700" anchor="ctr">
            <a:spAutoFit/>
          </a:bodyPr>
          <a:lstStyle/>
          <a:p>
            <a:pPr algn="l"/>
            <a:r>
              <a:rPr sz="1150" b="0" i="0">
                <a:solidFill>
                  <a:srgbClr val="242A30"/>
                </a:solidFill>
                <a:latin typeface="Calibri"/>
              </a:rPr>
              <a:t>Suno (v3–v5)</a:t>
            </a:r>
          </a:p>
        </p:txBody>
      </p:sp>
      <p:sp>
        <p:nvSpPr>
          <p:cNvPr id="46" name="Rectangle 45"/>
          <p:cNvSpPr/>
          <p:nvPr/>
        </p:nvSpPr>
        <p:spPr>
          <a:xfrm>
            <a:off x="4389120" y="3977640"/>
            <a:ext cx="23774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4416552" y="3977640"/>
            <a:ext cx="2322576" cy="393192"/>
          </a:xfrm>
          <a:prstGeom prst="rect">
            <a:avLst/>
          </a:prstGeom>
          <a:noFill/>
        </p:spPr>
        <p:txBody>
          <a:bodyPr wrap="square" lIns="25400" tIns="12700" rIns="25400" bIns="12700" anchor="ctr">
            <a:spAutoFit/>
          </a:bodyPr>
          <a:lstStyle/>
          <a:p>
            <a:pPr algn="ctr"/>
            <a:r>
              <a:rPr sz="1150" b="0" i="0">
                <a:solidFill>
                  <a:srgbClr val="242A30"/>
                </a:solidFill>
                <a:latin typeface="Calibri"/>
              </a:rPr>
              <a:t>Yapay zekâ</a:t>
            </a:r>
          </a:p>
        </p:txBody>
      </p:sp>
      <p:sp>
        <p:nvSpPr>
          <p:cNvPr id="48" name="Rectangle 47"/>
          <p:cNvSpPr/>
          <p:nvPr/>
        </p:nvSpPr>
        <p:spPr>
          <a:xfrm>
            <a:off x="6766560" y="3977640"/>
            <a:ext cx="13716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6793992" y="3977640"/>
            <a:ext cx="1316736" cy="393192"/>
          </a:xfrm>
          <a:prstGeom prst="rect">
            <a:avLst/>
          </a:prstGeom>
          <a:noFill/>
        </p:spPr>
        <p:txBody>
          <a:bodyPr wrap="square" lIns="25400" tIns="12700" rIns="25400" bIns="12700" anchor="ctr">
            <a:spAutoFit/>
          </a:bodyPr>
          <a:lstStyle/>
          <a:p>
            <a:pPr algn="ctr"/>
            <a:r>
              <a:rPr sz="1150" b="0" i="0">
                <a:solidFill>
                  <a:srgbClr val="242A30"/>
                </a:solidFill>
                <a:latin typeface="Calibri"/>
              </a:rPr>
              <a:t>500</a:t>
            </a:r>
          </a:p>
        </p:txBody>
      </p:sp>
      <p:sp>
        <p:nvSpPr>
          <p:cNvPr id="50" name="Rectangle 49"/>
          <p:cNvSpPr/>
          <p:nvPr/>
        </p:nvSpPr>
        <p:spPr>
          <a:xfrm>
            <a:off x="365760" y="4370832"/>
            <a:ext cx="402336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457200" y="4370832"/>
            <a:ext cx="3840480" cy="393192"/>
          </a:xfrm>
          <a:prstGeom prst="rect">
            <a:avLst/>
          </a:prstGeom>
          <a:noFill/>
        </p:spPr>
        <p:txBody>
          <a:bodyPr wrap="square" lIns="25400" tIns="12700" rIns="25400" bIns="12700" anchor="ctr">
            <a:spAutoFit/>
          </a:bodyPr>
          <a:lstStyle/>
          <a:p>
            <a:pPr algn="l"/>
            <a:r>
              <a:rPr sz="1150" b="0" i="0">
                <a:solidFill>
                  <a:srgbClr val="242A30"/>
                </a:solidFill>
                <a:latin typeface="Calibri"/>
              </a:rPr>
              <a:t>Deepfake seti</a:t>
            </a:r>
          </a:p>
        </p:txBody>
      </p:sp>
      <p:sp>
        <p:nvSpPr>
          <p:cNvPr id="52" name="Rectangle 51"/>
          <p:cNvSpPr/>
          <p:nvPr/>
        </p:nvSpPr>
        <p:spPr>
          <a:xfrm>
            <a:off x="4389120" y="4370832"/>
            <a:ext cx="23774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4416552" y="4370832"/>
            <a:ext cx="2322576" cy="393192"/>
          </a:xfrm>
          <a:prstGeom prst="rect">
            <a:avLst/>
          </a:prstGeom>
          <a:noFill/>
        </p:spPr>
        <p:txBody>
          <a:bodyPr wrap="square" lIns="25400" tIns="12700" rIns="25400" bIns="12700" anchor="ctr">
            <a:spAutoFit/>
          </a:bodyPr>
          <a:lstStyle/>
          <a:p>
            <a:pPr algn="ctr"/>
            <a:r>
              <a:rPr sz="1150" b="0" i="0">
                <a:solidFill>
                  <a:srgbClr val="242A30"/>
                </a:solidFill>
                <a:latin typeface="Calibri"/>
              </a:rPr>
              <a:t>Yapay zekâ</a:t>
            </a:r>
          </a:p>
        </p:txBody>
      </p:sp>
      <p:sp>
        <p:nvSpPr>
          <p:cNvPr id="54" name="Rectangle 53"/>
          <p:cNvSpPr/>
          <p:nvPr/>
        </p:nvSpPr>
        <p:spPr>
          <a:xfrm>
            <a:off x="6766560" y="4370832"/>
            <a:ext cx="13716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6793992" y="4370832"/>
            <a:ext cx="1316736" cy="393192"/>
          </a:xfrm>
          <a:prstGeom prst="rect">
            <a:avLst/>
          </a:prstGeom>
          <a:noFill/>
        </p:spPr>
        <p:txBody>
          <a:bodyPr wrap="square" lIns="25400" tIns="12700" rIns="25400" bIns="12700" anchor="ctr">
            <a:spAutoFit/>
          </a:bodyPr>
          <a:lstStyle/>
          <a:p>
            <a:pPr algn="ctr"/>
            <a:r>
              <a:rPr sz="1150" b="0" i="0">
                <a:solidFill>
                  <a:srgbClr val="242A30"/>
                </a:solidFill>
                <a:latin typeface="Calibri"/>
              </a:rPr>
              <a:t>492</a:t>
            </a:r>
          </a:p>
        </p:txBody>
      </p:sp>
      <p:sp>
        <p:nvSpPr>
          <p:cNvPr id="56" name="Rectangle 55"/>
          <p:cNvSpPr/>
          <p:nvPr/>
        </p:nvSpPr>
        <p:spPr>
          <a:xfrm>
            <a:off x="365760" y="4764024"/>
            <a:ext cx="402336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457200" y="4764024"/>
            <a:ext cx="3840480" cy="393192"/>
          </a:xfrm>
          <a:prstGeom prst="rect">
            <a:avLst/>
          </a:prstGeom>
          <a:noFill/>
        </p:spPr>
        <p:txBody>
          <a:bodyPr wrap="square" lIns="25400" tIns="12700" rIns="25400" bIns="12700" anchor="ctr">
            <a:spAutoFit/>
          </a:bodyPr>
          <a:lstStyle/>
          <a:p>
            <a:pPr algn="l"/>
            <a:r>
              <a:rPr sz="1150" b="0" i="0">
                <a:solidFill>
                  <a:srgbClr val="242A30"/>
                </a:solidFill>
                <a:latin typeface="Calibri"/>
              </a:rPr>
              <a:t>AImE / Mustango / JEN-1</a:t>
            </a:r>
          </a:p>
        </p:txBody>
      </p:sp>
      <p:sp>
        <p:nvSpPr>
          <p:cNvPr id="58" name="Rectangle 57"/>
          <p:cNvSpPr/>
          <p:nvPr/>
        </p:nvSpPr>
        <p:spPr>
          <a:xfrm>
            <a:off x="4389120" y="4764024"/>
            <a:ext cx="23774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4416552" y="4764024"/>
            <a:ext cx="2322576" cy="393192"/>
          </a:xfrm>
          <a:prstGeom prst="rect">
            <a:avLst/>
          </a:prstGeom>
          <a:noFill/>
        </p:spPr>
        <p:txBody>
          <a:bodyPr wrap="square" lIns="25400" tIns="12700" rIns="25400" bIns="12700" anchor="ctr">
            <a:spAutoFit/>
          </a:bodyPr>
          <a:lstStyle/>
          <a:p>
            <a:pPr algn="ctr"/>
            <a:r>
              <a:rPr sz="1150" b="0" i="0">
                <a:solidFill>
                  <a:srgbClr val="242A30"/>
                </a:solidFill>
                <a:latin typeface="Calibri"/>
              </a:rPr>
              <a:t>Yapay zekâ</a:t>
            </a:r>
          </a:p>
        </p:txBody>
      </p:sp>
      <p:sp>
        <p:nvSpPr>
          <p:cNvPr id="60" name="Rectangle 59"/>
          <p:cNvSpPr/>
          <p:nvPr/>
        </p:nvSpPr>
        <p:spPr>
          <a:xfrm>
            <a:off x="6766560" y="4764024"/>
            <a:ext cx="13716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6793992" y="4764024"/>
            <a:ext cx="1316736" cy="393192"/>
          </a:xfrm>
          <a:prstGeom prst="rect">
            <a:avLst/>
          </a:prstGeom>
          <a:noFill/>
        </p:spPr>
        <p:txBody>
          <a:bodyPr wrap="square" lIns="25400" tIns="12700" rIns="25400" bIns="12700" anchor="ctr">
            <a:spAutoFit/>
          </a:bodyPr>
          <a:lstStyle/>
          <a:p>
            <a:pPr algn="ctr"/>
            <a:r>
              <a:rPr sz="1150" b="0" i="0">
                <a:solidFill>
                  <a:srgbClr val="242A30"/>
                </a:solidFill>
                <a:latin typeface="Calibri"/>
              </a:rPr>
              <a:t>204</a:t>
            </a:r>
          </a:p>
        </p:txBody>
      </p:sp>
      <p:sp>
        <p:nvSpPr>
          <p:cNvPr id="62" name="Rectangle 61"/>
          <p:cNvSpPr/>
          <p:nvPr/>
        </p:nvSpPr>
        <p:spPr>
          <a:xfrm>
            <a:off x="365760" y="5157216"/>
            <a:ext cx="4023360" cy="393192"/>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457200" y="5157216"/>
            <a:ext cx="3840480" cy="393192"/>
          </a:xfrm>
          <a:prstGeom prst="rect">
            <a:avLst/>
          </a:prstGeom>
          <a:noFill/>
        </p:spPr>
        <p:txBody>
          <a:bodyPr wrap="square" lIns="25400" tIns="12700" rIns="25400" bIns="12700" anchor="ctr">
            <a:spAutoFit/>
          </a:bodyPr>
          <a:lstStyle/>
          <a:p>
            <a:pPr algn="l"/>
            <a:r>
              <a:rPr sz="1150" b="1" i="0">
                <a:solidFill>
                  <a:srgbClr val="1B6E3C"/>
                </a:solidFill>
                <a:latin typeface="Calibri"/>
              </a:rPr>
              <a:t>TOPLAM</a:t>
            </a:r>
          </a:p>
        </p:txBody>
      </p:sp>
      <p:sp>
        <p:nvSpPr>
          <p:cNvPr id="64" name="Rectangle 63"/>
          <p:cNvSpPr/>
          <p:nvPr/>
        </p:nvSpPr>
        <p:spPr>
          <a:xfrm>
            <a:off x="4389120" y="5157216"/>
            <a:ext cx="2377440" cy="393192"/>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4416552" y="5157216"/>
            <a:ext cx="2322576" cy="393192"/>
          </a:xfrm>
          <a:prstGeom prst="rect">
            <a:avLst/>
          </a:prstGeom>
          <a:noFill/>
        </p:spPr>
        <p:txBody>
          <a:bodyPr wrap="square" lIns="25400" tIns="12700" rIns="25400" bIns="12700" anchor="ctr">
            <a:spAutoFit/>
          </a:bodyPr>
          <a:lstStyle/>
          <a:p>
            <a:pPr algn="ctr"/>
            <a:r>
              <a:rPr sz="1150" b="1" i="0">
                <a:solidFill>
                  <a:srgbClr val="1B6E3C"/>
                </a:solidFill>
                <a:latin typeface="Calibri"/>
              </a:rPr>
              <a:t>—</a:t>
            </a:r>
          </a:p>
        </p:txBody>
      </p:sp>
      <p:sp>
        <p:nvSpPr>
          <p:cNvPr id="66" name="Rectangle 65"/>
          <p:cNvSpPr/>
          <p:nvPr/>
        </p:nvSpPr>
        <p:spPr>
          <a:xfrm>
            <a:off x="6766560" y="5157216"/>
            <a:ext cx="1371600" cy="393192"/>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6793992" y="5157216"/>
            <a:ext cx="1316736" cy="393192"/>
          </a:xfrm>
          <a:prstGeom prst="rect">
            <a:avLst/>
          </a:prstGeom>
          <a:noFill/>
        </p:spPr>
        <p:txBody>
          <a:bodyPr wrap="square" lIns="25400" tIns="12700" rIns="25400" bIns="12700" anchor="ctr">
            <a:spAutoFit/>
          </a:bodyPr>
          <a:lstStyle/>
          <a:p>
            <a:pPr algn="ctr"/>
            <a:r>
              <a:rPr sz="1150" b="1" i="0">
                <a:solidFill>
                  <a:srgbClr val="1B6E3C"/>
                </a:solidFill>
                <a:latin typeface="Calibri"/>
              </a:rPr>
              <a:t>5.195</a:t>
            </a:r>
          </a:p>
        </p:txBody>
      </p:sp>
      <p:sp>
        <p:nvSpPr>
          <p:cNvPr id="68" name="Rectangle 67"/>
          <p:cNvSpPr/>
          <p:nvPr/>
        </p:nvSpPr>
        <p:spPr>
          <a:xfrm>
            <a:off x="8321040" y="1627632"/>
            <a:ext cx="3502152" cy="2240280"/>
          </a:xfrm>
          <a:prstGeom prst="rect">
            <a:avLst/>
          </a:prstGeom>
          <a:solidFill>
            <a:srgbClr val="E2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Rectangle 68"/>
          <p:cNvSpPr/>
          <p:nvPr/>
        </p:nvSpPr>
        <p:spPr>
          <a:xfrm>
            <a:off x="8321040" y="1627632"/>
            <a:ext cx="91440" cy="224028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8540496" y="1746504"/>
            <a:ext cx="3136392" cy="365760"/>
          </a:xfrm>
          <a:prstGeom prst="rect">
            <a:avLst/>
          </a:prstGeom>
          <a:noFill/>
        </p:spPr>
        <p:txBody>
          <a:bodyPr wrap="square" lIns="25400" tIns="12700" rIns="25400" bIns="12700" anchor="t">
            <a:spAutoFit/>
          </a:bodyPr>
          <a:lstStyle/>
          <a:p>
            <a:pPr algn="l"/>
            <a:r>
              <a:rPr sz="1300" b="1" i="0">
                <a:solidFill>
                  <a:srgbClr val="102A4C"/>
                </a:solidFill>
                <a:latin typeface="Calibri"/>
              </a:rPr>
              <a:t>Sınıf Dengesi</a:t>
            </a:r>
          </a:p>
        </p:txBody>
      </p:sp>
      <p:sp>
        <p:nvSpPr>
          <p:cNvPr id="71" name="TextBox 70"/>
          <p:cNvSpPr txBox="1"/>
          <p:nvPr/>
        </p:nvSpPr>
        <p:spPr>
          <a:xfrm>
            <a:off x="8540496" y="2176272"/>
            <a:ext cx="3118104" cy="1581912"/>
          </a:xfrm>
          <a:prstGeom prst="rect">
            <a:avLst/>
          </a:prstGeom>
          <a:noFill/>
        </p:spPr>
        <p:txBody>
          <a:bodyPr wrap="square" lIns="25400" rIns="25400" anchor="t">
            <a:spAutoFit/>
          </a:bodyPr>
          <a:lstStyle/>
          <a:p>
            <a:pPr algn="l">
              <a:spcBef>
                <a:spcPts val="0"/>
              </a:spcBef>
              <a:spcAft>
                <a:spcPts val="500"/>
              </a:spcAft>
            </a:pPr>
            <a:r>
              <a:rPr sz="1150" b="0" i="0">
                <a:solidFill>
                  <a:srgbClr val="242A30"/>
                </a:solidFill>
                <a:latin typeface="Calibri"/>
              </a:rPr>
              <a:t>İnsan (0):  3.113 · %59,9</a:t>
            </a:r>
          </a:p>
          <a:p>
            <a:pPr algn="l">
              <a:spcBef>
                <a:spcPts val="0"/>
              </a:spcBef>
              <a:spcAft>
                <a:spcPts val="500"/>
              </a:spcAft>
            </a:pPr>
            <a:r>
              <a:rPr sz="1150" b="0" i="0">
                <a:solidFill>
                  <a:srgbClr val="242A30"/>
                </a:solidFill>
                <a:latin typeface="Calibri"/>
              </a:rPr>
              <a:t>Yapay zekâ (1):  2.082 · %40,1</a:t>
            </a:r>
          </a:p>
          <a:p>
            <a:pPr algn="l">
              <a:spcBef>
                <a:spcPts val="0"/>
              </a:spcBef>
              <a:spcAft>
                <a:spcPts val="500"/>
              </a:spcAft>
            </a:pPr>
            <a:endParaRPr sz="1150" b="0" i="0">
              <a:solidFill>
                <a:srgbClr val="242A30"/>
              </a:solidFill>
              <a:latin typeface="Calibri"/>
            </a:endParaRPr>
          </a:p>
          <a:p>
            <a:pPr algn="l">
              <a:spcBef>
                <a:spcPts val="0"/>
              </a:spcBef>
              <a:spcAft>
                <a:spcPts val="500"/>
              </a:spcAft>
            </a:pPr>
            <a:r>
              <a:rPr sz="1150" b="0" i="0">
                <a:solidFill>
                  <a:srgbClr val="242A30"/>
                </a:solidFill>
                <a:latin typeface="Calibri"/>
              </a:rPr>
              <a:t>Giderme: class_weight='balanced', is_unbalance=True, stratifiye CV</a:t>
            </a:r>
          </a:p>
        </p:txBody>
      </p:sp>
      <p:sp>
        <p:nvSpPr>
          <p:cNvPr id="72" name="Rectangle 71"/>
          <p:cNvSpPr/>
          <p:nvPr/>
        </p:nvSpPr>
        <p:spPr>
          <a:xfrm>
            <a:off x="8321040" y="4023360"/>
            <a:ext cx="3502152" cy="2011680"/>
          </a:xfrm>
          <a:prstGeom prst="rect">
            <a:avLst/>
          </a:prstGeom>
          <a:solidFill>
            <a:srgbClr val="F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Rectangle 72"/>
          <p:cNvSpPr/>
          <p:nvPr/>
        </p:nvSpPr>
        <p:spPr>
          <a:xfrm>
            <a:off x="8321040" y="4023360"/>
            <a:ext cx="91440" cy="2011680"/>
          </a:xfrm>
          <a:prstGeom prst="rect">
            <a:avLst/>
          </a:prstGeom>
          <a:solidFill>
            <a:srgbClr val="B32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8540496" y="4142232"/>
            <a:ext cx="3136392" cy="365760"/>
          </a:xfrm>
          <a:prstGeom prst="rect">
            <a:avLst/>
          </a:prstGeom>
          <a:noFill/>
        </p:spPr>
        <p:txBody>
          <a:bodyPr wrap="square" lIns="25400" tIns="12700" rIns="25400" bIns="12700" anchor="t">
            <a:spAutoFit/>
          </a:bodyPr>
          <a:lstStyle/>
          <a:p>
            <a:pPr algn="l"/>
            <a:r>
              <a:rPr sz="1300" b="1" i="0">
                <a:solidFill>
                  <a:srgbClr val="102A4C"/>
                </a:solidFill>
                <a:latin typeface="Calibri"/>
              </a:rPr>
              <a:t>Sızıntı Önlemi</a:t>
            </a:r>
          </a:p>
        </p:txBody>
      </p:sp>
      <p:sp>
        <p:nvSpPr>
          <p:cNvPr id="75" name="TextBox 74"/>
          <p:cNvSpPr txBox="1"/>
          <p:nvPr/>
        </p:nvSpPr>
        <p:spPr>
          <a:xfrm>
            <a:off x="8540496" y="4572000"/>
            <a:ext cx="3118104" cy="1353312"/>
          </a:xfrm>
          <a:prstGeom prst="rect">
            <a:avLst/>
          </a:prstGeom>
          <a:noFill/>
        </p:spPr>
        <p:txBody>
          <a:bodyPr wrap="square" lIns="25400" rIns="25400" anchor="t">
            <a:spAutoFit/>
          </a:bodyPr>
          <a:lstStyle/>
          <a:p>
            <a:pPr algn="l">
              <a:spcBef>
                <a:spcPts val="0"/>
              </a:spcBef>
              <a:spcAft>
                <a:spcPts val="500"/>
              </a:spcAft>
            </a:pPr>
            <a:r>
              <a:rPr sz="1150" b="0" i="0">
                <a:solidFill>
                  <a:srgbClr val="242A30"/>
                </a:solidFill>
                <a:latin typeface="Calibri"/>
              </a:rPr>
              <a:t>duration_sec &amp; sample_rate çıkarıldı.</a:t>
            </a:r>
          </a:p>
          <a:p>
            <a:pPr algn="l">
              <a:spcBef>
                <a:spcPts val="0"/>
              </a:spcBef>
              <a:spcAft>
                <a:spcPts val="500"/>
              </a:spcAft>
            </a:pPr>
            <a:endParaRPr sz="1150" b="0" i="0">
              <a:solidFill>
                <a:srgbClr val="242A30"/>
              </a:solidFill>
              <a:latin typeface="Calibri"/>
            </a:endParaRPr>
          </a:p>
          <a:p>
            <a:pPr algn="l">
              <a:spcBef>
                <a:spcPts val="0"/>
              </a:spcBef>
              <a:spcAft>
                <a:spcPts val="500"/>
              </a:spcAft>
            </a:pPr>
            <a:r>
              <a:rPr sz="1150" b="0" i="0">
                <a:solidFill>
                  <a:srgbClr val="242A30"/>
                </a:solidFill>
                <a:latin typeface="Calibri"/>
              </a:rPr>
              <a:t>StandardScaler her katta yalnız eğitim verisine fit — doğrulama sızmaz.</a:t>
            </a:r>
          </a:p>
        </p:txBody>
      </p:sp>
      <p:sp>
        <p:nvSpPr>
          <p:cNvPr id="76" name="Rectangle 75"/>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365760" y="6473952"/>
            <a:ext cx="4206240" cy="292608"/>
          </a:xfrm>
          <a:prstGeom prst="rect">
            <a:avLst/>
          </a:prstGeom>
          <a:noFill/>
        </p:spPr>
        <p:txBody>
          <a:bodyPr wrap="square" lIns="25400" tIns="12700" rIns="25400" bIns="12700" anchor="t">
            <a:spAutoFit/>
          </a:bodyPr>
          <a:lstStyle/>
          <a:p>
            <a:pPr algn="l"/>
            <a:r>
              <a:rPr sz="900" b="0" i="0">
                <a:solidFill>
                  <a:srgbClr val="6A7480"/>
                </a:solidFill>
                <a:latin typeface="Calibri"/>
              </a:rPr>
              <a:t>AURIS · YZ Üretimli Müzik Tespiti</a:t>
            </a:r>
          </a:p>
        </p:txBody>
      </p:sp>
      <p:sp>
        <p:nvSpPr>
          <p:cNvPr id="78" name="TextBox 77"/>
          <p:cNvSpPr txBox="1"/>
          <p:nvPr/>
        </p:nvSpPr>
        <p:spPr>
          <a:xfrm>
            <a:off x="4663440" y="6473952"/>
            <a:ext cx="7159752" cy="292608"/>
          </a:xfrm>
          <a:prstGeom prst="rect">
            <a:avLst/>
          </a:prstGeom>
          <a:noFill/>
        </p:spPr>
        <p:txBody>
          <a:bodyPr wrap="square" lIns="25400" tIns="12700" rIns="25400" bIns="12700" anchor="t">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46304"/>
            <a:ext cx="10058400" cy="292608"/>
          </a:xfrm>
          <a:prstGeom prst="rect">
            <a:avLst/>
          </a:prstGeom>
          <a:noFill/>
        </p:spPr>
        <p:txBody>
          <a:bodyPr wrap="square" lIns="25400" tIns="12700" rIns="25400" bIns="12700" anchor="t">
            <a:spAutoFit/>
          </a:bodyPr>
          <a:lstStyle/>
          <a:p>
            <a:pPr algn="l"/>
            <a:r>
              <a:rPr sz="1150" b="1" i="0">
                <a:solidFill>
                  <a:srgbClr val="D99A07"/>
                </a:solidFill>
                <a:latin typeface="Calibri"/>
              </a:rPr>
              <a:t>BÖLÜM 5</a:t>
            </a:r>
          </a:p>
        </p:txBody>
      </p:sp>
      <p:sp>
        <p:nvSpPr>
          <p:cNvPr id="6" name="TextBox 5"/>
          <p:cNvSpPr txBox="1"/>
          <p:nvPr/>
        </p:nvSpPr>
        <p:spPr>
          <a:xfrm>
            <a:off x="411480" y="420624"/>
            <a:ext cx="11338560" cy="603504"/>
          </a:xfrm>
          <a:prstGeom prst="rect">
            <a:avLst/>
          </a:prstGeom>
          <a:noFill/>
        </p:spPr>
        <p:txBody>
          <a:bodyPr wrap="square" lIns="25400" tIns="12700" rIns="25400" bIns="12700" anchor="t">
            <a:spAutoFit/>
          </a:bodyPr>
          <a:lstStyle/>
          <a:p>
            <a:pPr algn="l"/>
            <a:r>
              <a:rPr sz="2300" b="1" i="0">
                <a:solidFill>
                  <a:srgbClr val="FFFFFF"/>
                </a:solidFill>
                <a:latin typeface="Calibri"/>
              </a:rPr>
              <a:t>Öznitelik Çıkarma — 47 Boyutlu Vektör</a:t>
            </a:r>
          </a:p>
        </p:txBody>
      </p:sp>
      <p:sp>
        <p:nvSpPr>
          <p:cNvPr id="7" name="TextBox 6"/>
          <p:cNvSpPr txBox="1"/>
          <p:nvPr/>
        </p:nvSpPr>
        <p:spPr>
          <a:xfrm>
            <a:off x="411480" y="1024128"/>
            <a:ext cx="11338560" cy="329184"/>
          </a:xfrm>
          <a:prstGeom prst="rect">
            <a:avLst/>
          </a:prstGeom>
          <a:noFill/>
        </p:spPr>
        <p:txBody>
          <a:bodyPr wrap="square" lIns="25400" tIns="12700" rIns="25400" bIns="12700" anchor="t">
            <a:spAutoFit/>
          </a:bodyPr>
          <a:lstStyle/>
          <a:p>
            <a:pPr algn="l"/>
            <a:r>
              <a:rPr sz="1200" b="0" i="0">
                <a:solidFill>
                  <a:srgbClr val="ADC4D6"/>
                </a:solidFill>
                <a:latin typeface="Calibri"/>
              </a:rPr>
              <a:t>Beş işlevsel aile · tek temsile aşırı uyumu sınırlamak için</a:t>
            </a:r>
          </a:p>
        </p:txBody>
      </p:sp>
      <p:sp>
        <p:nvSpPr>
          <p:cNvPr id="8" name="Rectangle 7"/>
          <p:cNvSpPr/>
          <p:nvPr/>
        </p:nvSpPr>
        <p:spPr>
          <a:xfrm>
            <a:off x="365760" y="1627632"/>
            <a:ext cx="3657600" cy="2084831"/>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365760" y="1627632"/>
            <a:ext cx="3657600" cy="45720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3776" y="1627632"/>
            <a:ext cx="2286000" cy="457200"/>
          </a:xfrm>
          <a:prstGeom prst="rect">
            <a:avLst/>
          </a:prstGeom>
          <a:noFill/>
        </p:spPr>
        <p:txBody>
          <a:bodyPr wrap="square" lIns="25400" tIns="12700" rIns="25400" bIns="12700" anchor="ctr">
            <a:spAutoFit/>
          </a:bodyPr>
          <a:lstStyle/>
          <a:p>
            <a:pPr algn="l"/>
            <a:r>
              <a:rPr sz="1400" b="1" i="0">
                <a:solidFill>
                  <a:srgbClr val="FFFFFF"/>
                </a:solidFill>
                <a:latin typeface="Calibri"/>
              </a:rPr>
              <a:t>Spektral</a:t>
            </a:r>
          </a:p>
        </p:txBody>
      </p:sp>
      <p:sp>
        <p:nvSpPr>
          <p:cNvPr id="11" name="Rectangle 10"/>
          <p:cNvSpPr/>
          <p:nvPr/>
        </p:nvSpPr>
        <p:spPr>
          <a:xfrm>
            <a:off x="3063240" y="1709928"/>
            <a:ext cx="841248" cy="292608"/>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063240" y="1709928"/>
            <a:ext cx="841248" cy="292608"/>
          </a:xfrm>
          <a:prstGeom prst="rect">
            <a:avLst/>
          </a:prstGeom>
          <a:noFill/>
        </p:spPr>
        <p:txBody>
          <a:bodyPr wrap="square" lIns="25400" tIns="12700" rIns="25400" bIns="12700" anchor="ctr">
            <a:spAutoFit/>
          </a:bodyPr>
          <a:lstStyle/>
          <a:p>
            <a:pPr algn="ctr"/>
            <a:r>
              <a:rPr sz="1000" b="1" i="0">
                <a:solidFill>
                  <a:srgbClr val="102A4C"/>
                </a:solidFill>
                <a:latin typeface="Calibri"/>
              </a:rPr>
              <a:t>16 boyut</a:t>
            </a:r>
          </a:p>
        </p:txBody>
      </p:sp>
      <p:sp>
        <p:nvSpPr>
          <p:cNvPr id="13" name="TextBox 12"/>
          <p:cNvSpPr txBox="1"/>
          <p:nvPr/>
        </p:nvSpPr>
        <p:spPr>
          <a:xfrm>
            <a:off x="493776" y="2176272"/>
            <a:ext cx="3401568" cy="1051560"/>
          </a:xfrm>
          <a:prstGeom prst="rect">
            <a:avLst/>
          </a:prstGeom>
          <a:noFill/>
        </p:spPr>
        <p:txBody>
          <a:bodyPr wrap="square" lIns="25400" tIns="12700" rIns="25400" bIns="12700" anchor="t">
            <a:spAutoFit/>
          </a:bodyPr>
          <a:lstStyle/>
          <a:p>
            <a:pPr algn="l"/>
            <a:r>
              <a:rPr sz="1100" b="0" i="0">
                <a:solidFill>
                  <a:srgbClr val="242A30"/>
                </a:solidFill>
                <a:latin typeface="Calibri"/>
              </a:rPr>
              <a:t>MFCC, mel-spektrogram, centroid, bandwidth, rolloff, flatness + delta</a:t>
            </a:r>
          </a:p>
        </p:txBody>
      </p:sp>
      <p:sp>
        <p:nvSpPr>
          <p:cNvPr id="14" name="TextBox 13"/>
          <p:cNvSpPr txBox="1"/>
          <p:nvPr/>
        </p:nvSpPr>
        <p:spPr>
          <a:xfrm>
            <a:off x="493776" y="3291840"/>
            <a:ext cx="3401568" cy="365760"/>
          </a:xfrm>
          <a:prstGeom prst="rect">
            <a:avLst/>
          </a:prstGeom>
          <a:noFill/>
        </p:spPr>
        <p:txBody>
          <a:bodyPr wrap="square" lIns="25400" tIns="12700" rIns="25400" bIns="12700" anchor="t">
            <a:spAutoFit/>
          </a:bodyPr>
          <a:lstStyle/>
          <a:p>
            <a:pPr algn="l"/>
            <a:r>
              <a:rPr sz="1050" b="0" i="1">
                <a:solidFill>
                  <a:srgbClr val="0A808C"/>
                </a:solidFill>
                <a:latin typeface="Calibri"/>
              </a:rPr>
              <a:t>▸ Frekans içeriği / tını</a:t>
            </a:r>
          </a:p>
        </p:txBody>
      </p:sp>
      <p:sp>
        <p:nvSpPr>
          <p:cNvPr id="15" name="Rectangle 14"/>
          <p:cNvSpPr/>
          <p:nvPr/>
        </p:nvSpPr>
        <p:spPr>
          <a:xfrm>
            <a:off x="4251960" y="1627632"/>
            <a:ext cx="3657600" cy="2084831"/>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251960" y="1627632"/>
            <a:ext cx="3657600" cy="45720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379976" y="1627632"/>
            <a:ext cx="2286000" cy="457200"/>
          </a:xfrm>
          <a:prstGeom prst="rect">
            <a:avLst/>
          </a:prstGeom>
          <a:noFill/>
        </p:spPr>
        <p:txBody>
          <a:bodyPr wrap="square" lIns="25400" tIns="12700" rIns="25400" bIns="12700" anchor="ctr">
            <a:spAutoFit/>
          </a:bodyPr>
          <a:lstStyle/>
          <a:p>
            <a:pPr algn="l"/>
            <a:r>
              <a:rPr sz="1400" b="1" i="0">
                <a:solidFill>
                  <a:srgbClr val="FFFFFF"/>
                </a:solidFill>
                <a:latin typeface="Calibri"/>
              </a:rPr>
              <a:t>Zamansal</a:t>
            </a:r>
          </a:p>
        </p:txBody>
      </p:sp>
      <p:sp>
        <p:nvSpPr>
          <p:cNvPr id="18" name="Rectangle 17"/>
          <p:cNvSpPr/>
          <p:nvPr/>
        </p:nvSpPr>
        <p:spPr>
          <a:xfrm>
            <a:off x="6949440" y="1709928"/>
            <a:ext cx="841248" cy="292608"/>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949440" y="1709928"/>
            <a:ext cx="841248" cy="292608"/>
          </a:xfrm>
          <a:prstGeom prst="rect">
            <a:avLst/>
          </a:prstGeom>
          <a:noFill/>
        </p:spPr>
        <p:txBody>
          <a:bodyPr wrap="square" lIns="25400" tIns="12700" rIns="25400" bIns="12700" anchor="ctr">
            <a:spAutoFit/>
          </a:bodyPr>
          <a:lstStyle/>
          <a:p>
            <a:pPr algn="ctr"/>
            <a:r>
              <a:rPr sz="1000" b="1" i="0">
                <a:solidFill>
                  <a:srgbClr val="102A4C"/>
                </a:solidFill>
                <a:latin typeface="Calibri"/>
              </a:rPr>
              <a:t>10 boyut</a:t>
            </a:r>
          </a:p>
        </p:txBody>
      </p:sp>
      <p:sp>
        <p:nvSpPr>
          <p:cNvPr id="20" name="TextBox 19"/>
          <p:cNvSpPr txBox="1"/>
          <p:nvPr/>
        </p:nvSpPr>
        <p:spPr>
          <a:xfrm>
            <a:off x="4379976" y="2176272"/>
            <a:ext cx="3401568" cy="1051560"/>
          </a:xfrm>
          <a:prstGeom prst="rect">
            <a:avLst/>
          </a:prstGeom>
          <a:noFill/>
        </p:spPr>
        <p:txBody>
          <a:bodyPr wrap="square" lIns="25400" tIns="12700" rIns="25400" bIns="12700" anchor="t">
            <a:spAutoFit/>
          </a:bodyPr>
          <a:lstStyle/>
          <a:p>
            <a:pPr algn="l"/>
            <a:r>
              <a:rPr sz="1100" b="0" i="0">
                <a:solidFill>
                  <a:srgbClr val="242A30"/>
                </a:solidFill>
                <a:latin typeface="Calibri"/>
              </a:rPr>
              <a:t>RMS enerjisi, sıfır geçiş hızı, dinamik aralık türevleri</a:t>
            </a:r>
          </a:p>
        </p:txBody>
      </p:sp>
      <p:sp>
        <p:nvSpPr>
          <p:cNvPr id="21" name="TextBox 20"/>
          <p:cNvSpPr txBox="1"/>
          <p:nvPr/>
        </p:nvSpPr>
        <p:spPr>
          <a:xfrm>
            <a:off x="4379976" y="3291840"/>
            <a:ext cx="3401568" cy="365760"/>
          </a:xfrm>
          <a:prstGeom prst="rect">
            <a:avLst/>
          </a:prstGeom>
          <a:noFill/>
        </p:spPr>
        <p:txBody>
          <a:bodyPr wrap="square" lIns="25400" tIns="12700" rIns="25400" bIns="12700" anchor="t">
            <a:spAutoFit/>
          </a:bodyPr>
          <a:lstStyle/>
          <a:p>
            <a:pPr algn="l"/>
            <a:r>
              <a:rPr sz="1050" b="0" i="1">
                <a:solidFill>
                  <a:srgbClr val="0A808C"/>
                </a:solidFill>
                <a:latin typeface="Calibri"/>
              </a:rPr>
              <a:t>▸ Enerji / zaman yapısı</a:t>
            </a:r>
          </a:p>
        </p:txBody>
      </p:sp>
      <p:sp>
        <p:nvSpPr>
          <p:cNvPr id="22" name="Rectangle 21"/>
          <p:cNvSpPr/>
          <p:nvPr/>
        </p:nvSpPr>
        <p:spPr>
          <a:xfrm>
            <a:off x="8138160" y="1627632"/>
            <a:ext cx="3657600" cy="2084831"/>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8138160" y="1627632"/>
            <a:ext cx="3657600" cy="45720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266176" y="1627632"/>
            <a:ext cx="2286000" cy="457200"/>
          </a:xfrm>
          <a:prstGeom prst="rect">
            <a:avLst/>
          </a:prstGeom>
          <a:noFill/>
        </p:spPr>
        <p:txBody>
          <a:bodyPr wrap="square" lIns="25400" tIns="12700" rIns="25400" bIns="12700" anchor="ctr">
            <a:spAutoFit/>
          </a:bodyPr>
          <a:lstStyle/>
          <a:p>
            <a:pPr algn="l"/>
            <a:r>
              <a:rPr sz="1400" b="1" i="0">
                <a:solidFill>
                  <a:srgbClr val="FFFFFF"/>
                </a:solidFill>
                <a:latin typeface="Calibri"/>
              </a:rPr>
              <a:t>Ritmik</a:t>
            </a:r>
          </a:p>
        </p:txBody>
      </p:sp>
      <p:sp>
        <p:nvSpPr>
          <p:cNvPr id="25" name="Rectangle 24"/>
          <p:cNvSpPr/>
          <p:nvPr/>
        </p:nvSpPr>
        <p:spPr>
          <a:xfrm>
            <a:off x="10835640" y="1709928"/>
            <a:ext cx="841248" cy="292608"/>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835640" y="1709928"/>
            <a:ext cx="841248" cy="292608"/>
          </a:xfrm>
          <a:prstGeom prst="rect">
            <a:avLst/>
          </a:prstGeom>
          <a:noFill/>
        </p:spPr>
        <p:txBody>
          <a:bodyPr wrap="square" lIns="25400" tIns="12700" rIns="25400" bIns="12700" anchor="ctr">
            <a:spAutoFit/>
          </a:bodyPr>
          <a:lstStyle/>
          <a:p>
            <a:pPr algn="ctr"/>
            <a:r>
              <a:rPr sz="1000" b="1" i="0">
                <a:solidFill>
                  <a:srgbClr val="102A4C"/>
                </a:solidFill>
                <a:latin typeface="Calibri"/>
              </a:rPr>
              <a:t>9 boyut</a:t>
            </a:r>
          </a:p>
        </p:txBody>
      </p:sp>
      <p:sp>
        <p:nvSpPr>
          <p:cNvPr id="27" name="TextBox 26"/>
          <p:cNvSpPr txBox="1"/>
          <p:nvPr/>
        </p:nvSpPr>
        <p:spPr>
          <a:xfrm>
            <a:off x="8266176" y="2176272"/>
            <a:ext cx="3401568" cy="1051560"/>
          </a:xfrm>
          <a:prstGeom prst="rect">
            <a:avLst/>
          </a:prstGeom>
          <a:noFill/>
        </p:spPr>
        <p:txBody>
          <a:bodyPr wrap="square" lIns="25400" tIns="12700" rIns="25400" bIns="12700" anchor="t">
            <a:spAutoFit/>
          </a:bodyPr>
          <a:lstStyle/>
          <a:p>
            <a:pPr algn="l"/>
            <a:r>
              <a:rPr sz="1100" b="0" i="0">
                <a:solidFill>
                  <a:srgbClr val="242A30"/>
                </a:solidFill>
                <a:latin typeface="Calibri"/>
              </a:rPr>
              <a:t>Tempo, beat sayısı, onset gücü istatistikleri</a:t>
            </a:r>
          </a:p>
        </p:txBody>
      </p:sp>
      <p:sp>
        <p:nvSpPr>
          <p:cNvPr id="28" name="TextBox 27"/>
          <p:cNvSpPr txBox="1"/>
          <p:nvPr/>
        </p:nvSpPr>
        <p:spPr>
          <a:xfrm>
            <a:off x="8266176" y="3291840"/>
            <a:ext cx="3401568" cy="365760"/>
          </a:xfrm>
          <a:prstGeom prst="rect">
            <a:avLst/>
          </a:prstGeom>
          <a:noFill/>
        </p:spPr>
        <p:txBody>
          <a:bodyPr wrap="square" lIns="25400" tIns="12700" rIns="25400" bIns="12700" anchor="t">
            <a:spAutoFit/>
          </a:bodyPr>
          <a:lstStyle/>
          <a:p>
            <a:pPr algn="l"/>
            <a:r>
              <a:rPr sz="1050" b="0" i="1">
                <a:solidFill>
                  <a:srgbClr val="0A808C"/>
                </a:solidFill>
                <a:latin typeface="Calibri"/>
              </a:rPr>
              <a:t>▸ Ritim / vuruş düzeni</a:t>
            </a:r>
          </a:p>
        </p:txBody>
      </p:sp>
      <p:sp>
        <p:nvSpPr>
          <p:cNvPr id="29" name="Rectangle 28"/>
          <p:cNvSpPr/>
          <p:nvPr/>
        </p:nvSpPr>
        <p:spPr>
          <a:xfrm>
            <a:off x="365760" y="3867912"/>
            <a:ext cx="3657600" cy="2084831"/>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365760" y="3867912"/>
            <a:ext cx="3657600" cy="45720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93776" y="3867912"/>
            <a:ext cx="2286000" cy="457200"/>
          </a:xfrm>
          <a:prstGeom prst="rect">
            <a:avLst/>
          </a:prstGeom>
          <a:noFill/>
        </p:spPr>
        <p:txBody>
          <a:bodyPr wrap="square" lIns="25400" tIns="12700" rIns="25400" bIns="12700" anchor="ctr">
            <a:spAutoFit/>
          </a:bodyPr>
          <a:lstStyle/>
          <a:p>
            <a:pPr algn="l"/>
            <a:r>
              <a:rPr sz="1400" b="1" i="0">
                <a:solidFill>
                  <a:srgbClr val="FFFFFF"/>
                </a:solidFill>
                <a:latin typeface="Calibri"/>
              </a:rPr>
              <a:t>Harmonik</a:t>
            </a:r>
          </a:p>
        </p:txBody>
      </p:sp>
      <p:sp>
        <p:nvSpPr>
          <p:cNvPr id="32" name="Rectangle 31"/>
          <p:cNvSpPr/>
          <p:nvPr/>
        </p:nvSpPr>
        <p:spPr>
          <a:xfrm>
            <a:off x="3063240" y="3950208"/>
            <a:ext cx="841248" cy="292608"/>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063240" y="3950208"/>
            <a:ext cx="841248" cy="292608"/>
          </a:xfrm>
          <a:prstGeom prst="rect">
            <a:avLst/>
          </a:prstGeom>
          <a:noFill/>
        </p:spPr>
        <p:txBody>
          <a:bodyPr wrap="square" lIns="25400" tIns="12700" rIns="25400" bIns="12700" anchor="ctr">
            <a:spAutoFit/>
          </a:bodyPr>
          <a:lstStyle/>
          <a:p>
            <a:pPr algn="ctr"/>
            <a:r>
              <a:rPr sz="1000" b="1" i="0">
                <a:solidFill>
                  <a:srgbClr val="102A4C"/>
                </a:solidFill>
                <a:latin typeface="Calibri"/>
              </a:rPr>
              <a:t>8 boyut</a:t>
            </a:r>
          </a:p>
        </p:txBody>
      </p:sp>
      <p:sp>
        <p:nvSpPr>
          <p:cNvPr id="34" name="TextBox 33"/>
          <p:cNvSpPr txBox="1"/>
          <p:nvPr/>
        </p:nvSpPr>
        <p:spPr>
          <a:xfrm>
            <a:off x="493776" y="4416552"/>
            <a:ext cx="3401568" cy="1051560"/>
          </a:xfrm>
          <a:prstGeom prst="rect">
            <a:avLst/>
          </a:prstGeom>
          <a:noFill/>
        </p:spPr>
        <p:txBody>
          <a:bodyPr wrap="square" lIns="25400" tIns="12700" rIns="25400" bIns="12700" anchor="t">
            <a:spAutoFit/>
          </a:bodyPr>
          <a:lstStyle/>
          <a:p>
            <a:pPr algn="l"/>
            <a:r>
              <a:rPr sz="1100" b="0" i="0">
                <a:solidFill>
                  <a:srgbClr val="242A30"/>
                </a:solidFill>
                <a:latin typeface="Calibri"/>
              </a:rPr>
              <a:t>Chroma vektörü, tonnetz, harmonik–algısal ayrıştırma</a:t>
            </a:r>
          </a:p>
        </p:txBody>
      </p:sp>
      <p:sp>
        <p:nvSpPr>
          <p:cNvPr id="35" name="TextBox 34"/>
          <p:cNvSpPr txBox="1"/>
          <p:nvPr/>
        </p:nvSpPr>
        <p:spPr>
          <a:xfrm>
            <a:off x="493776" y="5532120"/>
            <a:ext cx="3401568" cy="365760"/>
          </a:xfrm>
          <a:prstGeom prst="rect">
            <a:avLst/>
          </a:prstGeom>
          <a:noFill/>
        </p:spPr>
        <p:txBody>
          <a:bodyPr wrap="square" lIns="25400" tIns="12700" rIns="25400" bIns="12700" anchor="t">
            <a:spAutoFit/>
          </a:bodyPr>
          <a:lstStyle/>
          <a:p>
            <a:pPr algn="l"/>
            <a:r>
              <a:rPr sz="1050" b="0" i="1">
                <a:solidFill>
                  <a:srgbClr val="0A808C"/>
                </a:solidFill>
                <a:latin typeface="Calibri"/>
              </a:rPr>
              <a:t>▸ Perde / akor yapısı</a:t>
            </a:r>
          </a:p>
        </p:txBody>
      </p:sp>
      <p:sp>
        <p:nvSpPr>
          <p:cNvPr id="36" name="Rectangle 35"/>
          <p:cNvSpPr/>
          <p:nvPr/>
        </p:nvSpPr>
        <p:spPr>
          <a:xfrm>
            <a:off x="4251960" y="3867912"/>
            <a:ext cx="3657600" cy="2084831"/>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4251960" y="3867912"/>
            <a:ext cx="3657600" cy="45720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4379976" y="3867912"/>
            <a:ext cx="2286000" cy="457200"/>
          </a:xfrm>
          <a:prstGeom prst="rect">
            <a:avLst/>
          </a:prstGeom>
          <a:noFill/>
        </p:spPr>
        <p:txBody>
          <a:bodyPr wrap="square" lIns="25400" tIns="12700" rIns="25400" bIns="12700" anchor="ctr">
            <a:spAutoFit/>
          </a:bodyPr>
          <a:lstStyle/>
          <a:p>
            <a:pPr algn="l"/>
            <a:r>
              <a:rPr sz="1400" b="1" i="0">
                <a:solidFill>
                  <a:srgbClr val="FFFFFF"/>
                </a:solidFill>
                <a:latin typeface="Calibri"/>
              </a:rPr>
              <a:t>Vokal</a:t>
            </a:r>
          </a:p>
        </p:txBody>
      </p:sp>
      <p:sp>
        <p:nvSpPr>
          <p:cNvPr id="39" name="Rectangle 38"/>
          <p:cNvSpPr/>
          <p:nvPr/>
        </p:nvSpPr>
        <p:spPr>
          <a:xfrm>
            <a:off x="6949440" y="3950208"/>
            <a:ext cx="841248" cy="292608"/>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949440" y="3950208"/>
            <a:ext cx="841248" cy="292608"/>
          </a:xfrm>
          <a:prstGeom prst="rect">
            <a:avLst/>
          </a:prstGeom>
          <a:noFill/>
        </p:spPr>
        <p:txBody>
          <a:bodyPr wrap="square" lIns="25400" tIns="12700" rIns="25400" bIns="12700" anchor="ctr">
            <a:spAutoFit/>
          </a:bodyPr>
          <a:lstStyle/>
          <a:p>
            <a:pPr algn="ctr"/>
            <a:r>
              <a:rPr sz="1000" b="1" i="0">
                <a:solidFill>
                  <a:srgbClr val="102A4C"/>
                </a:solidFill>
                <a:latin typeface="Calibri"/>
              </a:rPr>
              <a:t>4 boyut</a:t>
            </a:r>
          </a:p>
        </p:txBody>
      </p:sp>
      <p:sp>
        <p:nvSpPr>
          <p:cNvPr id="41" name="TextBox 40"/>
          <p:cNvSpPr txBox="1"/>
          <p:nvPr/>
        </p:nvSpPr>
        <p:spPr>
          <a:xfrm>
            <a:off x="4379976" y="4416552"/>
            <a:ext cx="3401568" cy="1051560"/>
          </a:xfrm>
          <a:prstGeom prst="rect">
            <a:avLst/>
          </a:prstGeom>
          <a:noFill/>
        </p:spPr>
        <p:txBody>
          <a:bodyPr wrap="square" lIns="25400" tIns="12700" rIns="25400" bIns="12700" anchor="t">
            <a:spAutoFit/>
          </a:bodyPr>
          <a:lstStyle/>
          <a:p>
            <a:pPr algn="l"/>
            <a:r>
              <a:rPr sz="1100" b="0" i="0">
                <a:solidFill>
                  <a:srgbClr val="242A30"/>
                </a:solidFill>
                <a:latin typeface="Calibri"/>
              </a:rPr>
              <a:t>Temel frekans, vibrato, formant tutarlılığı</a:t>
            </a:r>
          </a:p>
        </p:txBody>
      </p:sp>
      <p:sp>
        <p:nvSpPr>
          <p:cNvPr id="42" name="TextBox 41"/>
          <p:cNvSpPr txBox="1"/>
          <p:nvPr/>
        </p:nvSpPr>
        <p:spPr>
          <a:xfrm>
            <a:off x="4379976" y="5532120"/>
            <a:ext cx="3401568" cy="365760"/>
          </a:xfrm>
          <a:prstGeom prst="rect">
            <a:avLst/>
          </a:prstGeom>
          <a:noFill/>
        </p:spPr>
        <p:txBody>
          <a:bodyPr wrap="square" lIns="25400" tIns="12700" rIns="25400" bIns="12700" anchor="t">
            <a:spAutoFit/>
          </a:bodyPr>
          <a:lstStyle/>
          <a:p>
            <a:pPr algn="l"/>
            <a:r>
              <a:rPr sz="1050" b="0" i="1">
                <a:solidFill>
                  <a:srgbClr val="0A808C"/>
                </a:solidFill>
                <a:latin typeface="Calibri"/>
              </a:rPr>
              <a:t>▸ Şarkı sesi davranışı</a:t>
            </a:r>
          </a:p>
        </p:txBody>
      </p:sp>
      <p:sp>
        <p:nvSpPr>
          <p:cNvPr id="43" name="Rectangle 42"/>
          <p:cNvSpPr/>
          <p:nvPr/>
        </p:nvSpPr>
        <p:spPr>
          <a:xfrm>
            <a:off x="7909560" y="3867912"/>
            <a:ext cx="3913632" cy="2084831"/>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7909560" y="4005072"/>
            <a:ext cx="3913632" cy="411480"/>
          </a:xfrm>
          <a:prstGeom prst="rect">
            <a:avLst/>
          </a:prstGeom>
          <a:noFill/>
        </p:spPr>
        <p:txBody>
          <a:bodyPr wrap="square" lIns="25400" tIns="12700" rIns="25400" bIns="12700" anchor="t">
            <a:spAutoFit/>
          </a:bodyPr>
          <a:lstStyle/>
          <a:p>
            <a:pPr algn="ctr"/>
            <a:r>
              <a:rPr sz="1400" b="0" i="0">
                <a:solidFill>
                  <a:srgbClr val="FFFFFF"/>
                </a:solidFill>
                <a:latin typeface="Calibri"/>
              </a:rPr>
              <a:t>Toplam</a:t>
            </a:r>
          </a:p>
        </p:txBody>
      </p:sp>
      <p:sp>
        <p:nvSpPr>
          <p:cNvPr id="45" name="TextBox 44"/>
          <p:cNvSpPr txBox="1"/>
          <p:nvPr/>
        </p:nvSpPr>
        <p:spPr>
          <a:xfrm>
            <a:off x="7909560" y="4370832"/>
            <a:ext cx="3913632" cy="731520"/>
          </a:xfrm>
          <a:prstGeom prst="rect">
            <a:avLst/>
          </a:prstGeom>
          <a:noFill/>
        </p:spPr>
        <p:txBody>
          <a:bodyPr wrap="square" lIns="25400" tIns="12700" rIns="25400" bIns="12700" anchor="t">
            <a:spAutoFit/>
          </a:bodyPr>
          <a:lstStyle/>
          <a:p>
            <a:pPr algn="ctr"/>
            <a:r>
              <a:rPr sz="3200" b="1" i="0">
                <a:solidFill>
                  <a:srgbClr val="D99A07"/>
                </a:solidFill>
                <a:latin typeface="Calibri"/>
              </a:rPr>
              <a:t>47 boyut</a:t>
            </a:r>
          </a:p>
        </p:txBody>
      </p:sp>
      <p:sp>
        <p:nvSpPr>
          <p:cNvPr id="46" name="TextBox 45"/>
          <p:cNvSpPr txBox="1"/>
          <p:nvPr/>
        </p:nvSpPr>
        <p:spPr>
          <a:xfrm>
            <a:off x="7909560" y="5166360"/>
            <a:ext cx="3913632" cy="411480"/>
          </a:xfrm>
          <a:prstGeom prst="rect">
            <a:avLst/>
          </a:prstGeom>
          <a:noFill/>
        </p:spPr>
        <p:txBody>
          <a:bodyPr wrap="square" lIns="25400" tIns="12700" rIns="25400" bIns="12700" anchor="t">
            <a:spAutoFit/>
          </a:bodyPr>
          <a:lstStyle/>
          <a:p>
            <a:pPr algn="ctr"/>
            <a:r>
              <a:rPr sz="1400" b="0" i="0">
                <a:solidFill>
                  <a:srgbClr val="ADC4D6"/>
                </a:solidFill>
                <a:latin typeface="Calibri"/>
              </a:rPr>
              <a:t>16 + 10 + 9 + 8 + 4</a:t>
            </a:r>
          </a:p>
        </p:txBody>
      </p:sp>
      <p:sp>
        <p:nvSpPr>
          <p:cNvPr id="47" name="Rectangle 46"/>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365760" y="6473952"/>
            <a:ext cx="4206240" cy="292608"/>
          </a:xfrm>
          <a:prstGeom prst="rect">
            <a:avLst/>
          </a:prstGeom>
          <a:noFill/>
        </p:spPr>
        <p:txBody>
          <a:bodyPr wrap="square" lIns="25400" tIns="12700" rIns="25400" bIns="12700" anchor="t">
            <a:spAutoFit/>
          </a:bodyPr>
          <a:lstStyle/>
          <a:p>
            <a:pPr algn="l"/>
            <a:r>
              <a:rPr sz="900" b="0" i="0">
                <a:solidFill>
                  <a:srgbClr val="6A7480"/>
                </a:solidFill>
                <a:latin typeface="Calibri"/>
              </a:rPr>
              <a:t>AURIS · YZ Üretimli Müzik Tespiti</a:t>
            </a:r>
          </a:p>
        </p:txBody>
      </p:sp>
      <p:sp>
        <p:nvSpPr>
          <p:cNvPr id="49" name="TextBox 48"/>
          <p:cNvSpPr txBox="1"/>
          <p:nvPr/>
        </p:nvSpPr>
        <p:spPr>
          <a:xfrm>
            <a:off x="4663440" y="6473952"/>
            <a:ext cx="7159752" cy="292608"/>
          </a:xfrm>
          <a:prstGeom prst="rect">
            <a:avLst/>
          </a:prstGeom>
          <a:noFill/>
        </p:spPr>
        <p:txBody>
          <a:bodyPr wrap="square" lIns="25400" tIns="12700" rIns="25400" bIns="12700" anchor="t">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46304"/>
            <a:ext cx="10058400" cy="292608"/>
          </a:xfrm>
          <a:prstGeom prst="rect">
            <a:avLst/>
          </a:prstGeom>
          <a:noFill/>
        </p:spPr>
        <p:txBody>
          <a:bodyPr wrap="square" lIns="25400" tIns="12700" rIns="25400" bIns="12700" anchor="t">
            <a:spAutoFit/>
          </a:bodyPr>
          <a:lstStyle/>
          <a:p>
            <a:pPr algn="l"/>
            <a:r>
              <a:rPr sz="1150" b="1" i="0">
                <a:solidFill>
                  <a:srgbClr val="D99A07"/>
                </a:solidFill>
                <a:latin typeface="Calibri"/>
              </a:rPr>
              <a:t>BÖLÜM 6-7</a:t>
            </a:r>
          </a:p>
        </p:txBody>
      </p:sp>
      <p:sp>
        <p:nvSpPr>
          <p:cNvPr id="6" name="TextBox 5"/>
          <p:cNvSpPr txBox="1"/>
          <p:nvPr/>
        </p:nvSpPr>
        <p:spPr>
          <a:xfrm>
            <a:off x="411480" y="420624"/>
            <a:ext cx="11338560" cy="603504"/>
          </a:xfrm>
          <a:prstGeom prst="rect">
            <a:avLst/>
          </a:prstGeom>
          <a:noFill/>
        </p:spPr>
        <p:txBody>
          <a:bodyPr wrap="square" lIns="25400" tIns="12700" rIns="25400" bIns="12700" anchor="t">
            <a:spAutoFit/>
          </a:bodyPr>
          <a:lstStyle/>
          <a:p>
            <a:pPr algn="l"/>
            <a:r>
              <a:rPr sz="2300" b="1" i="0">
                <a:solidFill>
                  <a:srgbClr val="FFFFFF"/>
                </a:solidFill>
                <a:latin typeface="Calibri"/>
              </a:rPr>
              <a:t>Modeller ve Eğitim Protokolü</a:t>
            </a:r>
          </a:p>
        </p:txBody>
      </p:sp>
      <p:sp>
        <p:nvSpPr>
          <p:cNvPr id="7" name="TextBox 6"/>
          <p:cNvSpPr txBox="1"/>
          <p:nvPr/>
        </p:nvSpPr>
        <p:spPr>
          <a:xfrm>
            <a:off x="365760" y="1481328"/>
            <a:ext cx="3657600" cy="329184"/>
          </a:xfrm>
          <a:prstGeom prst="rect">
            <a:avLst/>
          </a:prstGeom>
          <a:noFill/>
        </p:spPr>
        <p:txBody>
          <a:bodyPr wrap="square" lIns="25400" tIns="12700" rIns="25400" bIns="12700" anchor="t">
            <a:spAutoFit/>
          </a:bodyPr>
          <a:lstStyle/>
          <a:p>
            <a:pPr algn="l"/>
            <a:r>
              <a:rPr sz="1250" b="1" i="0">
                <a:solidFill>
                  <a:srgbClr val="0A808C"/>
                </a:solidFill>
                <a:latin typeface="Calibri"/>
              </a:rPr>
              <a:t>Makine Öğrenmesi (7)</a:t>
            </a:r>
          </a:p>
        </p:txBody>
      </p:sp>
      <p:sp>
        <p:nvSpPr>
          <p:cNvPr id="8" name="Rectangle 7"/>
          <p:cNvSpPr/>
          <p:nvPr/>
        </p:nvSpPr>
        <p:spPr>
          <a:xfrm>
            <a:off x="365760" y="1874519"/>
            <a:ext cx="3611880" cy="475488"/>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75488" y="1874519"/>
            <a:ext cx="3474720" cy="475488"/>
          </a:xfrm>
          <a:prstGeom prst="rect">
            <a:avLst/>
          </a:prstGeom>
          <a:noFill/>
        </p:spPr>
        <p:txBody>
          <a:bodyPr wrap="square" lIns="25400" tIns="12700" rIns="25400" bIns="12700" anchor="ctr">
            <a:spAutoFit/>
          </a:bodyPr>
          <a:lstStyle/>
          <a:p>
            <a:pPr algn="l"/>
            <a:r>
              <a:rPr sz="1150" b="0" i="0">
                <a:solidFill>
                  <a:srgbClr val="242A30"/>
                </a:solidFill>
                <a:latin typeface="Calibri"/>
              </a:rPr>
              <a:t>LightGBM</a:t>
            </a:r>
          </a:p>
        </p:txBody>
      </p:sp>
      <p:sp>
        <p:nvSpPr>
          <p:cNvPr id="10" name="Rectangle 9"/>
          <p:cNvSpPr/>
          <p:nvPr/>
        </p:nvSpPr>
        <p:spPr>
          <a:xfrm>
            <a:off x="365760" y="2423160"/>
            <a:ext cx="3611880" cy="475488"/>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75488" y="2423160"/>
            <a:ext cx="3474720" cy="475488"/>
          </a:xfrm>
          <a:prstGeom prst="rect">
            <a:avLst/>
          </a:prstGeom>
          <a:noFill/>
        </p:spPr>
        <p:txBody>
          <a:bodyPr wrap="square" lIns="25400" tIns="12700" rIns="25400" bIns="12700" anchor="ctr">
            <a:spAutoFit/>
          </a:bodyPr>
          <a:lstStyle/>
          <a:p>
            <a:pPr algn="l"/>
            <a:r>
              <a:rPr sz="1150" b="0" i="0">
                <a:solidFill>
                  <a:srgbClr val="242A30"/>
                </a:solidFill>
                <a:latin typeface="Calibri"/>
              </a:rPr>
              <a:t>XGBoost</a:t>
            </a:r>
          </a:p>
        </p:txBody>
      </p:sp>
      <p:sp>
        <p:nvSpPr>
          <p:cNvPr id="12" name="Rectangle 11"/>
          <p:cNvSpPr/>
          <p:nvPr/>
        </p:nvSpPr>
        <p:spPr>
          <a:xfrm>
            <a:off x="365760" y="2971800"/>
            <a:ext cx="3611880" cy="475488"/>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75488" y="2971800"/>
            <a:ext cx="3474720" cy="475488"/>
          </a:xfrm>
          <a:prstGeom prst="rect">
            <a:avLst/>
          </a:prstGeom>
          <a:noFill/>
        </p:spPr>
        <p:txBody>
          <a:bodyPr wrap="square" lIns="25400" tIns="12700" rIns="25400" bIns="12700" anchor="ctr">
            <a:spAutoFit/>
          </a:bodyPr>
          <a:lstStyle/>
          <a:p>
            <a:pPr algn="l"/>
            <a:r>
              <a:rPr sz="1150" b="0" i="0">
                <a:solidFill>
                  <a:srgbClr val="242A30"/>
                </a:solidFill>
                <a:latin typeface="Calibri"/>
              </a:rPr>
              <a:t>Gradyan Artırma</a:t>
            </a:r>
          </a:p>
        </p:txBody>
      </p:sp>
      <p:sp>
        <p:nvSpPr>
          <p:cNvPr id="14" name="Rectangle 13"/>
          <p:cNvSpPr/>
          <p:nvPr/>
        </p:nvSpPr>
        <p:spPr>
          <a:xfrm>
            <a:off x="365760" y="3520439"/>
            <a:ext cx="3611880" cy="475488"/>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75488" y="3520439"/>
            <a:ext cx="3474720" cy="475488"/>
          </a:xfrm>
          <a:prstGeom prst="rect">
            <a:avLst/>
          </a:prstGeom>
          <a:noFill/>
        </p:spPr>
        <p:txBody>
          <a:bodyPr wrap="square" lIns="25400" tIns="12700" rIns="25400" bIns="12700" anchor="ctr">
            <a:spAutoFit/>
          </a:bodyPr>
          <a:lstStyle/>
          <a:p>
            <a:pPr algn="l"/>
            <a:r>
              <a:rPr sz="1150" b="0" i="0">
                <a:solidFill>
                  <a:srgbClr val="242A30"/>
                </a:solidFill>
                <a:latin typeface="Calibri"/>
              </a:rPr>
              <a:t>Rastgele Orman</a:t>
            </a:r>
          </a:p>
        </p:txBody>
      </p:sp>
      <p:sp>
        <p:nvSpPr>
          <p:cNvPr id="16" name="Rectangle 15"/>
          <p:cNvSpPr/>
          <p:nvPr/>
        </p:nvSpPr>
        <p:spPr>
          <a:xfrm>
            <a:off x="365760" y="4069079"/>
            <a:ext cx="3611880" cy="475488"/>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75488" y="4069079"/>
            <a:ext cx="3474720" cy="475488"/>
          </a:xfrm>
          <a:prstGeom prst="rect">
            <a:avLst/>
          </a:prstGeom>
          <a:noFill/>
        </p:spPr>
        <p:txBody>
          <a:bodyPr wrap="square" lIns="25400" tIns="12700" rIns="25400" bIns="12700" anchor="ctr">
            <a:spAutoFit/>
          </a:bodyPr>
          <a:lstStyle/>
          <a:p>
            <a:pPr algn="l"/>
            <a:r>
              <a:rPr sz="1150" b="0" i="0">
                <a:solidFill>
                  <a:srgbClr val="242A30"/>
                </a:solidFill>
                <a:latin typeface="Calibri"/>
              </a:rPr>
              <a:t>SVM-RBF</a:t>
            </a:r>
          </a:p>
        </p:txBody>
      </p:sp>
      <p:sp>
        <p:nvSpPr>
          <p:cNvPr id="18" name="Rectangle 17"/>
          <p:cNvSpPr/>
          <p:nvPr/>
        </p:nvSpPr>
        <p:spPr>
          <a:xfrm>
            <a:off x="365760" y="4617720"/>
            <a:ext cx="3611880" cy="475488"/>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75488" y="4617720"/>
            <a:ext cx="3474720" cy="475488"/>
          </a:xfrm>
          <a:prstGeom prst="rect">
            <a:avLst/>
          </a:prstGeom>
          <a:noFill/>
        </p:spPr>
        <p:txBody>
          <a:bodyPr wrap="square" lIns="25400" tIns="12700" rIns="25400" bIns="12700" anchor="ctr">
            <a:spAutoFit/>
          </a:bodyPr>
          <a:lstStyle/>
          <a:p>
            <a:pPr algn="l"/>
            <a:r>
              <a:rPr sz="1150" b="0" i="0">
                <a:solidFill>
                  <a:srgbClr val="242A30"/>
                </a:solidFill>
                <a:latin typeface="Calibri"/>
              </a:rPr>
              <a:t>ÇKA Sinir Ağı</a:t>
            </a:r>
          </a:p>
        </p:txBody>
      </p:sp>
      <p:sp>
        <p:nvSpPr>
          <p:cNvPr id="20" name="Rectangle 19"/>
          <p:cNvSpPr/>
          <p:nvPr/>
        </p:nvSpPr>
        <p:spPr>
          <a:xfrm>
            <a:off x="365760" y="5166359"/>
            <a:ext cx="3611880" cy="475488"/>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75488" y="5166359"/>
            <a:ext cx="3474720" cy="475488"/>
          </a:xfrm>
          <a:prstGeom prst="rect">
            <a:avLst/>
          </a:prstGeom>
          <a:noFill/>
        </p:spPr>
        <p:txBody>
          <a:bodyPr wrap="square" lIns="25400" tIns="12700" rIns="25400" bIns="12700" anchor="ctr">
            <a:spAutoFit/>
          </a:bodyPr>
          <a:lstStyle/>
          <a:p>
            <a:pPr algn="l"/>
            <a:r>
              <a:rPr sz="1150" b="0" i="0">
                <a:solidFill>
                  <a:srgbClr val="242A30"/>
                </a:solidFill>
                <a:latin typeface="Calibri"/>
              </a:rPr>
              <a:t>Lojistik Reg.</a:t>
            </a:r>
          </a:p>
        </p:txBody>
      </p:sp>
      <p:sp>
        <p:nvSpPr>
          <p:cNvPr id="22" name="TextBox 21"/>
          <p:cNvSpPr txBox="1"/>
          <p:nvPr/>
        </p:nvSpPr>
        <p:spPr>
          <a:xfrm>
            <a:off x="4160520" y="1481328"/>
            <a:ext cx="3657600" cy="329184"/>
          </a:xfrm>
          <a:prstGeom prst="rect">
            <a:avLst/>
          </a:prstGeom>
          <a:noFill/>
        </p:spPr>
        <p:txBody>
          <a:bodyPr wrap="square" lIns="25400" tIns="12700" rIns="25400" bIns="12700" anchor="t">
            <a:spAutoFit/>
          </a:bodyPr>
          <a:lstStyle/>
          <a:p>
            <a:pPr algn="l"/>
            <a:r>
              <a:rPr sz="1250" b="1" i="0">
                <a:solidFill>
                  <a:srgbClr val="8A6600"/>
                </a:solidFill>
                <a:latin typeface="Calibri"/>
              </a:rPr>
              <a:t>Derin Öğrenme (4)</a:t>
            </a:r>
          </a:p>
        </p:txBody>
      </p:sp>
      <p:sp>
        <p:nvSpPr>
          <p:cNvPr id="23" name="Rectangle 22"/>
          <p:cNvSpPr/>
          <p:nvPr/>
        </p:nvSpPr>
        <p:spPr>
          <a:xfrm>
            <a:off x="4160520" y="1874519"/>
            <a:ext cx="3657600" cy="475488"/>
          </a:xfrm>
          <a:prstGeom prst="rect">
            <a:avLst/>
          </a:prstGeom>
          <a:solidFill>
            <a:srgbClr val="FFFFFF"/>
          </a:solidFill>
          <a:ln w="10160">
            <a:solidFill>
              <a:srgbClr val="D99A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270248" y="1874519"/>
            <a:ext cx="3474720" cy="475488"/>
          </a:xfrm>
          <a:prstGeom prst="rect">
            <a:avLst/>
          </a:prstGeom>
          <a:noFill/>
        </p:spPr>
        <p:txBody>
          <a:bodyPr wrap="square" lIns="25400" tIns="12700" rIns="25400" bIns="12700" anchor="ctr">
            <a:spAutoFit/>
          </a:bodyPr>
          <a:lstStyle/>
          <a:p>
            <a:pPr algn="l"/>
            <a:r>
              <a:rPr sz="1100" b="0" i="0">
                <a:solidFill>
                  <a:srgbClr val="242A30"/>
                </a:solidFill>
                <a:latin typeface="Calibri"/>
              </a:rPr>
              <a:t>Derin ÇKA (512-256-128-64)</a:t>
            </a:r>
          </a:p>
        </p:txBody>
      </p:sp>
      <p:sp>
        <p:nvSpPr>
          <p:cNvPr id="25" name="Rectangle 24"/>
          <p:cNvSpPr/>
          <p:nvPr/>
        </p:nvSpPr>
        <p:spPr>
          <a:xfrm>
            <a:off x="4160520" y="2423160"/>
            <a:ext cx="3657600" cy="475488"/>
          </a:xfrm>
          <a:prstGeom prst="rect">
            <a:avLst/>
          </a:prstGeom>
          <a:solidFill>
            <a:srgbClr val="FFFFFF"/>
          </a:solidFill>
          <a:ln w="10160">
            <a:solidFill>
              <a:srgbClr val="D99A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270248" y="2423160"/>
            <a:ext cx="3474720" cy="475488"/>
          </a:xfrm>
          <a:prstGeom prst="rect">
            <a:avLst/>
          </a:prstGeom>
          <a:noFill/>
        </p:spPr>
        <p:txBody>
          <a:bodyPr wrap="square" lIns="25400" tIns="12700" rIns="25400" bIns="12700" anchor="ctr">
            <a:spAutoFit/>
          </a:bodyPr>
          <a:lstStyle/>
          <a:p>
            <a:pPr algn="l"/>
            <a:r>
              <a:rPr sz="1100" b="0" i="0">
                <a:solidFill>
                  <a:srgbClr val="242A30"/>
                </a:solidFill>
                <a:latin typeface="Calibri"/>
              </a:rPr>
              <a:t>Artık ÇKA (3 blok)</a:t>
            </a:r>
          </a:p>
        </p:txBody>
      </p:sp>
      <p:sp>
        <p:nvSpPr>
          <p:cNvPr id="27" name="Rectangle 26"/>
          <p:cNvSpPr/>
          <p:nvPr/>
        </p:nvSpPr>
        <p:spPr>
          <a:xfrm>
            <a:off x="4160520" y="2971800"/>
            <a:ext cx="3657600" cy="475488"/>
          </a:xfrm>
          <a:prstGeom prst="rect">
            <a:avLst/>
          </a:prstGeom>
          <a:solidFill>
            <a:srgbClr val="FFFFFF"/>
          </a:solidFill>
          <a:ln w="10160">
            <a:solidFill>
              <a:srgbClr val="D99A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270248" y="2971800"/>
            <a:ext cx="3474720" cy="475488"/>
          </a:xfrm>
          <a:prstGeom prst="rect">
            <a:avLst/>
          </a:prstGeom>
          <a:noFill/>
        </p:spPr>
        <p:txBody>
          <a:bodyPr wrap="square" lIns="25400" tIns="12700" rIns="25400" bIns="12700" anchor="ctr">
            <a:spAutoFit/>
          </a:bodyPr>
          <a:lstStyle/>
          <a:p>
            <a:pPr algn="l"/>
            <a:r>
              <a:rPr sz="1100" b="0" i="0">
                <a:solidFill>
                  <a:srgbClr val="242A30"/>
                </a:solidFill>
                <a:latin typeface="Calibri"/>
              </a:rPr>
              <a:t>Dikkat ÇKA (4 baş)</a:t>
            </a:r>
          </a:p>
        </p:txBody>
      </p:sp>
      <p:sp>
        <p:nvSpPr>
          <p:cNvPr id="29" name="Rectangle 28"/>
          <p:cNvSpPr/>
          <p:nvPr/>
        </p:nvSpPr>
        <p:spPr>
          <a:xfrm>
            <a:off x="4160520" y="3520439"/>
            <a:ext cx="3657600" cy="475488"/>
          </a:xfrm>
          <a:prstGeom prst="rect">
            <a:avLst/>
          </a:prstGeom>
          <a:solidFill>
            <a:srgbClr val="FFFFFF"/>
          </a:solidFill>
          <a:ln w="10160">
            <a:solidFill>
              <a:srgbClr val="D99A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270248" y="3520439"/>
            <a:ext cx="3474720" cy="475488"/>
          </a:xfrm>
          <a:prstGeom prst="rect">
            <a:avLst/>
          </a:prstGeom>
          <a:noFill/>
        </p:spPr>
        <p:txBody>
          <a:bodyPr wrap="square" lIns="25400" tIns="12700" rIns="25400" bIns="12700" anchor="ctr">
            <a:spAutoFit/>
          </a:bodyPr>
          <a:lstStyle/>
          <a:p>
            <a:pPr algn="l"/>
            <a:r>
              <a:rPr sz="1100" b="0" i="0">
                <a:solidFill>
                  <a:srgbClr val="242A30"/>
                </a:solidFill>
                <a:latin typeface="Calibri"/>
              </a:rPr>
              <a:t>1B-ESA (Conv1D)</a:t>
            </a:r>
          </a:p>
        </p:txBody>
      </p:sp>
      <p:sp>
        <p:nvSpPr>
          <p:cNvPr id="31" name="Rectangle 30"/>
          <p:cNvSpPr/>
          <p:nvPr/>
        </p:nvSpPr>
        <p:spPr>
          <a:xfrm>
            <a:off x="8001000" y="1481328"/>
            <a:ext cx="3822191" cy="2286000"/>
          </a:xfrm>
          <a:prstGeom prst="rect">
            <a:avLst/>
          </a:prstGeom>
          <a:solidFill>
            <a:srgbClr val="EA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8001000" y="1481328"/>
            <a:ext cx="91440" cy="22860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220456" y="1600200"/>
            <a:ext cx="3456432" cy="365760"/>
          </a:xfrm>
          <a:prstGeom prst="rect">
            <a:avLst/>
          </a:prstGeom>
          <a:noFill/>
        </p:spPr>
        <p:txBody>
          <a:bodyPr wrap="square" lIns="25400" tIns="12700" rIns="25400" bIns="12700" anchor="t">
            <a:spAutoFit/>
          </a:bodyPr>
          <a:lstStyle/>
          <a:p>
            <a:pPr algn="l"/>
            <a:r>
              <a:rPr sz="1300" b="1" i="0">
                <a:solidFill>
                  <a:srgbClr val="102A4C"/>
                </a:solidFill>
                <a:latin typeface="Calibri"/>
              </a:rPr>
              <a:t>Eğitim Protokolü</a:t>
            </a:r>
          </a:p>
        </p:txBody>
      </p:sp>
      <p:sp>
        <p:nvSpPr>
          <p:cNvPr id="34" name="TextBox 33"/>
          <p:cNvSpPr txBox="1"/>
          <p:nvPr/>
        </p:nvSpPr>
        <p:spPr>
          <a:xfrm>
            <a:off x="8220456" y="2029968"/>
            <a:ext cx="3438144" cy="1627632"/>
          </a:xfrm>
          <a:prstGeom prst="rect">
            <a:avLst/>
          </a:prstGeom>
          <a:noFill/>
        </p:spPr>
        <p:txBody>
          <a:bodyPr wrap="square" lIns="25400" rIns="25400" anchor="t">
            <a:spAutoFit/>
          </a:bodyPr>
          <a:lstStyle/>
          <a:p>
            <a:pPr algn="l">
              <a:spcBef>
                <a:spcPts val="0"/>
              </a:spcBef>
              <a:spcAft>
                <a:spcPts val="600"/>
              </a:spcAft>
            </a:pPr>
            <a:r>
              <a:rPr sz="1150" b="0" i="0">
                <a:solidFill>
                  <a:srgbClr val="242A30"/>
                </a:solidFill>
                <a:latin typeface="Calibri"/>
              </a:rPr>
              <a:t>Stratifiye 5-katlı CV</a:t>
            </a:r>
          </a:p>
          <a:p>
            <a:pPr algn="l">
              <a:spcBef>
                <a:spcPts val="0"/>
              </a:spcBef>
              <a:spcAft>
                <a:spcPts val="600"/>
              </a:spcAft>
            </a:pPr>
            <a:r>
              <a:rPr sz="1150" b="0" i="0">
                <a:solidFill>
                  <a:srgbClr val="242A30"/>
                </a:solidFill>
                <a:latin typeface="Calibri"/>
              </a:rPr>
              <a:t>Kat-içi StandardScaler</a:t>
            </a:r>
          </a:p>
          <a:p>
            <a:pPr algn="l">
              <a:spcBef>
                <a:spcPts val="0"/>
              </a:spcBef>
              <a:spcAft>
                <a:spcPts val="600"/>
              </a:spcAft>
            </a:pPr>
            <a:r>
              <a:rPr sz="1150" b="0" i="0">
                <a:solidFill>
                  <a:srgbClr val="242A30"/>
                </a:solidFill>
                <a:latin typeface="Calibri"/>
              </a:rPr>
              <a:t>Adam optimize edici (DL)</a:t>
            </a:r>
          </a:p>
          <a:p>
            <a:pPr algn="l">
              <a:spcBef>
                <a:spcPts val="0"/>
              </a:spcBef>
              <a:spcAft>
                <a:spcPts val="600"/>
              </a:spcAft>
            </a:pPr>
            <a:r>
              <a:rPr sz="1150" b="0" i="0">
                <a:solidFill>
                  <a:srgbClr val="242A30"/>
                </a:solidFill>
                <a:latin typeface="Calibri"/>
              </a:rPr>
              <a:t>class_weight + is_unbalance</a:t>
            </a:r>
          </a:p>
          <a:p>
            <a:pPr algn="l">
              <a:spcBef>
                <a:spcPts val="0"/>
              </a:spcBef>
              <a:spcAft>
                <a:spcPts val="600"/>
              </a:spcAft>
            </a:pPr>
            <a:r>
              <a:rPr sz="1150" b="0" i="0">
                <a:solidFill>
                  <a:srgbClr val="242A30"/>
                </a:solidFill>
                <a:latin typeface="Calibri"/>
              </a:rPr>
              <a:t>TreeSHAP açıklanabilirlik</a:t>
            </a:r>
          </a:p>
        </p:txBody>
      </p:sp>
      <p:sp>
        <p:nvSpPr>
          <p:cNvPr id="35" name="Rectangle 34"/>
          <p:cNvSpPr/>
          <p:nvPr/>
        </p:nvSpPr>
        <p:spPr>
          <a:xfrm>
            <a:off x="8001000" y="3950208"/>
            <a:ext cx="3822191" cy="2240280"/>
          </a:xfrm>
          <a:prstGeom prst="rect">
            <a:avLst/>
          </a:prstGeom>
          <a:solidFill>
            <a:srgbClr val="E2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8001000" y="3950208"/>
            <a:ext cx="91440" cy="224028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8220456" y="4069080"/>
            <a:ext cx="3456432" cy="365760"/>
          </a:xfrm>
          <a:prstGeom prst="rect">
            <a:avLst/>
          </a:prstGeom>
          <a:noFill/>
        </p:spPr>
        <p:txBody>
          <a:bodyPr wrap="square" lIns="25400" tIns="12700" rIns="25400" bIns="12700" anchor="t">
            <a:spAutoFit/>
          </a:bodyPr>
          <a:lstStyle/>
          <a:p>
            <a:pPr algn="l"/>
            <a:r>
              <a:rPr sz="1300" b="1" i="0">
                <a:solidFill>
                  <a:srgbClr val="102A4C"/>
                </a:solidFill>
                <a:latin typeface="Calibri"/>
              </a:rPr>
              <a:t>Eşik Optimizasyonu (Youden J)</a:t>
            </a:r>
          </a:p>
        </p:txBody>
      </p:sp>
      <p:sp>
        <p:nvSpPr>
          <p:cNvPr id="38" name="TextBox 37"/>
          <p:cNvSpPr txBox="1"/>
          <p:nvPr/>
        </p:nvSpPr>
        <p:spPr>
          <a:xfrm>
            <a:off x="8220456" y="4498848"/>
            <a:ext cx="3438144" cy="1581912"/>
          </a:xfrm>
          <a:prstGeom prst="rect">
            <a:avLst/>
          </a:prstGeom>
          <a:noFill/>
        </p:spPr>
        <p:txBody>
          <a:bodyPr wrap="square" lIns="25400" rIns="25400" anchor="t">
            <a:spAutoFit/>
          </a:bodyPr>
          <a:lstStyle/>
          <a:p>
            <a:pPr algn="l">
              <a:spcBef>
                <a:spcPts val="0"/>
              </a:spcBef>
              <a:spcAft>
                <a:spcPts val="500"/>
              </a:spcAft>
            </a:pPr>
            <a:r>
              <a:rPr sz="1150" b="0" i="0">
                <a:solidFill>
                  <a:srgbClr val="242A30"/>
                </a:solidFill>
                <a:latin typeface="Calibri"/>
              </a:rPr>
              <a:t>J(θ) = TPR(θ) − FPR(θ)</a:t>
            </a:r>
          </a:p>
          <a:p>
            <a:pPr algn="l">
              <a:spcBef>
                <a:spcPts val="0"/>
              </a:spcBef>
              <a:spcAft>
                <a:spcPts val="500"/>
              </a:spcAft>
            </a:pPr>
            <a:endParaRPr sz="1150" b="0" i="0">
              <a:solidFill>
                <a:srgbClr val="242A30"/>
              </a:solidFill>
              <a:latin typeface="Calibri"/>
            </a:endParaRPr>
          </a:p>
          <a:p>
            <a:pPr algn="l">
              <a:spcBef>
                <a:spcPts val="0"/>
              </a:spcBef>
              <a:spcAft>
                <a:spcPts val="500"/>
              </a:spcAft>
            </a:pPr>
            <a:r>
              <a:rPr sz="1150" b="0" i="0">
                <a:solidFill>
                  <a:srgbClr val="242A30"/>
                </a:solidFill>
                <a:latin typeface="Calibri"/>
              </a:rPr>
              <a:t>θ* = 0,4316  (varsayılan 0,5 yerine)</a:t>
            </a:r>
          </a:p>
          <a:p>
            <a:pPr algn="l">
              <a:spcBef>
                <a:spcPts val="0"/>
              </a:spcBef>
              <a:spcAft>
                <a:spcPts val="500"/>
              </a:spcAft>
            </a:pPr>
            <a:endParaRPr sz="1150" b="0" i="0">
              <a:solidFill>
                <a:srgbClr val="242A30"/>
              </a:solidFill>
              <a:latin typeface="Calibri"/>
            </a:endParaRPr>
          </a:p>
          <a:p>
            <a:pPr algn="l">
              <a:spcBef>
                <a:spcPts val="0"/>
              </a:spcBef>
              <a:spcAft>
                <a:spcPts val="500"/>
              </a:spcAft>
            </a:pPr>
            <a:r>
              <a:rPr sz="1150" b="0" i="0">
                <a:solidFill>
                  <a:srgbClr val="242A30"/>
                </a:solidFill>
                <a:latin typeface="Calibri"/>
              </a:rPr>
              <a:t>Brier skoru = 0,083 → model iyi kalibre; güven düzeyleri gerçek doğruluğu yansıtır.</a:t>
            </a:r>
          </a:p>
        </p:txBody>
      </p:sp>
      <p:sp>
        <p:nvSpPr>
          <p:cNvPr id="39" name="Rectangle 38"/>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365760" y="6473952"/>
            <a:ext cx="4206240" cy="292608"/>
          </a:xfrm>
          <a:prstGeom prst="rect">
            <a:avLst/>
          </a:prstGeom>
          <a:noFill/>
        </p:spPr>
        <p:txBody>
          <a:bodyPr wrap="square" lIns="25400" tIns="12700" rIns="25400" bIns="12700" anchor="t">
            <a:spAutoFit/>
          </a:bodyPr>
          <a:lstStyle/>
          <a:p>
            <a:pPr algn="l"/>
            <a:r>
              <a:rPr sz="900" b="0" i="0">
                <a:solidFill>
                  <a:srgbClr val="6A7480"/>
                </a:solidFill>
                <a:latin typeface="Calibri"/>
              </a:rPr>
              <a:t>AURIS · YZ Üretimli Müzik Tespiti</a:t>
            </a:r>
          </a:p>
        </p:txBody>
      </p:sp>
      <p:sp>
        <p:nvSpPr>
          <p:cNvPr id="41" name="TextBox 40"/>
          <p:cNvSpPr txBox="1"/>
          <p:nvPr/>
        </p:nvSpPr>
        <p:spPr>
          <a:xfrm>
            <a:off x="4663440" y="6473952"/>
            <a:ext cx="7159752" cy="292608"/>
          </a:xfrm>
          <a:prstGeom prst="rect">
            <a:avLst/>
          </a:prstGeom>
          <a:noFill/>
        </p:spPr>
        <p:txBody>
          <a:bodyPr wrap="square" lIns="25400" tIns="12700" rIns="25400" bIns="12700" anchor="t">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46304"/>
            <a:ext cx="10058400" cy="292608"/>
          </a:xfrm>
          <a:prstGeom prst="rect">
            <a:avLst/>
          </a:prstGeom>
          <a:noFill/>
        </p:spPr>
        <p:txBody>
          <a:bodyPr wrap="square" lIns="25400" tIns="12700" rIns="25400" bIns="12700" anchor="t">
            <a:spAutoFit/>
          </a:bodyPr>
          <a:lstStyle/>
          <a:p>
            <a:pPr algn="l"/>
            <a:r>
              <a:rPr sz="1150" b="1" i="0">
                <a:solidFill>
                  <a:srgbClr val="D99A07"/>
                </a:solidFill>
                <a:latin typeface="Calibri"/>
              </a:rPr>
              <a:t>BÖLÜM 8</a:t>
            </a:r>
          </a:p>
        </p:txBody>
      </p:sp>
      <p:sp>
        <p:nvSpPr>
          <p:cNvPr id="6" name="TextBox 5"/>
          <p:cNvSpPr txBox="1"/>
          <p:nvPr/>
        </p:nvSpPr>
        <p:spPr>
          <a:xfrm>
            <a:off x="411480" y="420624"/>
            <a:ext cx="11338560" cy="603504"/>
          </a:xfrm>
          <a:prstGeom prst="rect">
            <a:avLst/>
          </a:prstGeom>
          <a:noFill/>
        </p:spPr>
        <p:txBody>
          <a:bodyPr wrap="square" lIns="25400" tIns="12700" rIns="25400" bIns="12700" anchor="t">
            <a:spAutoFit/>
          </a:bodyPr>
          <a:lstStyle/>
          <a:p>
            <a:pPr algn="l"/>
            <a:r>
              <a:rPr sz="2300" b="1" i="0">
                <a:solidFill>
                  <a:srgbClr val="FFFFFF"/>
                </a:solidFill>
                <a:latin typeface="Calibri"/>
              </a:rPr>
              <a:t>Sonuçlar — Model Karşılaştırması</a:t>
            </a:r>
          </a:p>
        </p:txBody>
      </p:sp>
      <p:sp>
        <p:nvSpPr>
          <p:cNvPr id="7" name="TextBox 6"/>
          <p:cNvSpPr txBox="1"/>
          <p:nvPr/>
        </p:nvSpPr>
        <p:spPr>
          <a:xfrm>
            <a:off x="411480" y="1024128"/>
            <a:ext cx="11338560" cy="329184"/>
          </a:xfrm>
          <a:prstGeom prst="rect">
            <a:avLst/>
          </a:prstGeom>
          <a:noFill/>
        </p:spPr>
        <p:txBody>
          <a:bodyPr wrap="square" lIns="25400" tIns="12700" rIns="25400" bIns="12700" anchor="t">
            <a:spAutoFit/>
          </a:bodyPr>
          <a:lstStyle/>
          <a:p>
            <a:pPr algn="l"/>
            <a:r>
              <a:rPr sz="1200" b="0" i="0">
                <a:solidFill>
                  <a:srgbClr val="ADC4D6"/>
                </a:solidFill>
                <a:latin typeface="Calibri"/>
              </a:rPr>
              <a:t>5-katlı çapraz doğrulama · ROC-AUC sırasına göre</a:t>
            </a:r>
          </a:p>
        </p:txBody>
      </p:sp>
      <p:sp>
        <p:nvSpPr>
          <p:cNvPr id="8" name="Rectangle 7"/>
          <p:cNvSpPr/>
          <p:nvPr/>
        </p:nvSpPr>
        <p:spPr>
          <a:xfrm>
            <a:off x="365760" y="1536192"/>
            <a:ext cx="54864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65760" y="1536192"/>
            <a:ext cx="548640" cy="384048"/>
          </a:xfrm>
          <a:prstGeom prst="rect">
            <a:avLst/>
          </a:prstGeom>
          <a:noFill/>
        </p:spPr>
        <p:txBody>
          <a:bodyPr wrap="square" lIns="25400" tIns="12700" rIns="25400" bIns="12700" anchor="ctr">
            <a:spAutoFit/>
          </a:bodyPr>
          <a:lstStyle/>
          <a:p>
            <a:pPr algn="ctr"/>
            <a:r>
              <a:rPr sz="1150" b="1" i="0">
                <a:solidFill>
                  <a:srgbClr val="FFFFFF"/>
                </a:solidFill>
                <a:latin typeface="Calibri"/>
              </a:rPr>
              <a:t>#</a:t>
            </a:r>
          </a:p>
        </p:txBody>
      </p:sp>
      <p:sp>
        <p:nvSpPr>
          <p:cNvPr id="10" name="Rectangle 9"/>
          <p:cNvSpPr/>
          <p:nvPr/>
        </p:nvSpPr>
        <p:spPr>
          <a:xfrm>
            <a:off x="914400" y="1536192"/>
            <a:ext cx="283464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05840" y="1536192"/>
            <a:ext cx="2651760" cy="384048"/>
          </a:xfrm>
          <a:prstGeom prst="rect">
            <a:avLst/>
          </a:prstGeom>
          <a:noFill/>
        </p:spPr>
        <p:txBody>
          <a:bodyPr wrap="square" lIns="25400" tIns="12700" rIns="25400" bIns="12700" anchor="ctr">
            <a:spAutoFit/>
          </a:bodyPr>
          <a:lstStyle/>
          <a:p>
            <a:pPr algn="l"/>
            <a:r>
              <a:rPr sz="1150" b="1" i="0">
                <a:solidFill>
                  <a:srgbClr val="FFFFFF"/>
                </a:solidFill>
                <a:latin typeface="Calibri"/>
              </a:rPr>
              <a:t>Model</a:t>
            </a:r>
          </a:p>
        </p:txBody>
      </p:sp>
      <p:sp>
        <p:nvSpPr>
          <p:cNvPr id="12" name="Rectangle 11"/>
          <p:cNvSpPr/>
          <p:nvPr/>
        </p:nvSpPr>
        <p:spPr>
          <a:xfrm>
            <a:off x="3749039" y="1536192"/>
            <a:ext cx="91440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749039" y="1536192"/>
            <a:ext cx="914400" cy="384048"/>
          </a:xfrm>
          <a:prstGeom prst="rect">
            <a:avLst/>
          </a:prstGeom>
          <a:noFill/>
        </p:spPr>
        <p:txBody>
          <a:bodyPr wrap="square" lIns="25400" tIns="12700" rIns="25400" bIns="12700" anchor="ctr">
            <a:spAutoFit/>
          </a:bodyPr>
          <a:lstStyle/>
          <a:p>
            <a:pPr algn="ctr"/>
            <a:r>
              <a:rPr sz="1150" b="1" i="0">
                <a:solidFill>
                  <a:srgbClr val="FFFFFF"/>
                </a:solidFill>
                <a:latin typeface="Calibri"/>
              </a:rPr>
              <a:t>Tip</a:t>
            </a:r>
          </a:p>
        </p:txBody>
      </p:sp>
      <p:sp>
        <p:nvSpPr>
          <p:cNvPr id="14" name="Rectangle 13"/>
          <p:cNvSpPr/>
          <p:nvPr/>
        </p:nvSpPr>
        <p:spPr>
          <a:xfrm>
            <a:off x="4663440" y="1536192"/>
            <a:ext cx="178308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663440" y="1536192"/>
            <a:ext cx="1783080" cy="384048"/>
          </a:xfrm>
          <a:prstGeom prst="rect">
            <a:avLst/>
          </a:prstGeom>
          <a:noFill/>
        </p:spPr>
        <p:txBody>
          <a:bodyPr wrap="square" lIns="25400" tIns="12700" rIns="25400" bIns="12700" anchor="ctr">
            <a:spAutoFit/>
          </a:bodyPr>
          <a:lstStyle/>
          <a:p>
            <a:pPr algn="ctr"/>
            <a:r>
              <a:rPr sz="1150" b="1" i="0">
                <a:solidFill>
                  <a:srgbClr val="FFFFFF"/>
                </a:solidFill>
                <a:latin typeface="Calibri"/>
              </a:rPr>
              <a:t>Doğruluk</a:t>
            </a:r>
          </a:p>
        </p:txBody>
      </p:sp>
      <p:sp>
        <p:nvSpPr>
          <p:cNvPr id="16" name="Rectangle 15"/>
          <p:cNvSpPr/>
          <p:nvPr/>
        </p:nvSpPr>
        <p:spPr>
          <a:xfrm>
            <a:off x="6446520" y="1536192"/>
            <a:ext cx="160020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46520" y="1536192"/>
            <a:ext cx="1600200" cy="384048"/>
          </a:xfrm>
          <a:prstGeom prst="rect">
            <a:avLst/>
          </a:prstGeom>
          <a:noFill/>
        </p:spPr>
        <p:txBody>
          <a:bodyPr wrap="square" lIns="25400" tIns="12700" rIns="25400" bIns="12700" anchor="ctr">
            <a:spAutoFit/>
          </a:bodyPr>
          <a:lstStyle/>
          <a:p>
            <a:pPr algn="ctr"/>
            <a:r>
              <a:rPr sz="1150" b="1" i="0">
                <a:solidFill>
                  <a:srgbClr val="FFFFFF"/>
                </a:solidFill>
                <a:latin typeface="Calibri"/>
              </a:rPr>
              <a:t>F1</a:t>
            </a:r>
          </a:p>
        </p:txBody>
      </p:sp>
      <p:sp>
        <p:nvSpPr>
          <p:cNvPr id="18" name="Rectangle 17"/>
          <p:cNvSpPr/>
          <p:nvPr/>
        </p:nvSpPr>
        <p:spPr>
          <a:xfrm>
            <a:off x="8046720" y="1536192"/>
            <a:ext cx="178308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046720" y="1536192"/>
            <a:ext cx="1783080" cy="384048"/>
          </a:xfrm>
          <a:prstGeom prst="rect">
            <a:avLst/>
          </a:prstGeom>
          <a:noFill/>
        </p:spPr>
        <p:txBody>
          <a:bodyPr wrap="square" lIns="25400" tIns="12700" rIns="25400" bIns="12700" anchor="ctr">
            <a:spAutoFit/>
          </a:bodyPr>
          <a:lstStyle/>
          <a:p>
            <a:pPr algn="ctr"/>
            <a:r>
              <a:rPr sz="1150" b="1" i="0">
                <a:solidFill>
                  <a:srgbClr val="FFFFFF"/>
                </a:solidFill>
                <a:latin typeface="Calibri"/>
              </a:rPr>
              <a:t>ROC-AUC</a:t>
            </a:r>
          </a:p>
        </p:txBody>
      </p:sp>
      <p:sp>
        <p:nvSpPr>
          <p:cNvPr id="20" name="Rectangle 19"/>
          <p:cNvSpPr/>
          <p:nvPr/>
        </p:nvSpPr>
        <p:spPr>
          <a:xfrm>
            <a:off x="9829800" y="1536192"/>
            <a:ext cx="1627632"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829800" y="1536192"/>
            <a:ext cx="1627632" cy="384048"/>
          </a:xfrm>
          <a:prstGeom prst="rect">
            <a:avLst/>
          </a:prstGeom>
          <a:noFill/>
        </p:spPr>
        <p:txBody>
          <a:bodyPr wrap="square" lIns="25400" tIns="12700" rIns="25400" bIns="12700" anchor="ctr">
            <a:spAutoFit/>
          </a:bodyPr>
          <a:lstStyle/>
          <a:p>
            <a:pPr algn="ctr"/>
            <a:r>
              <a:rPr sz="1150" b="1" i="0">
                <a:solidFill>
                  <a:srgbClr val="FFFFFF"/>
                </a:solidFill>
                <a:latin typeface="Calibri"/>
              </a:rPr>
              <a:t>Std</a:t>
            </a:r>
          </a:p>
        </p:txBody>
      </p:sp>
      <p:sp>
        <p:nvSpPr>
          <p:cNvPr id="22" name="Rectangle 21"/>
          <p:cNvSpPr/>
          <p:nvPr/>
        </p:nvSpPr>
        <p:spPr>
          <a:xfrm>
            <a:off x="365760" y="1920240"/>
            <a:ext cx="548640" cy="374904"/>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93192" y="1920240"/>
            <a:ext cx="493776" cy="374904"/>
          </a:xfrm>
          <a:prstGeom prst="rect">
            <a:avLst/>
          </a:prstGeom>
          <a:noFill/>
        </p:spPr>
        <p:txBody>
          <a:bodyPr wrap="square" lIns="25400" tIns="12700" rIns="25400" bIns="12700" anchor="ctr">
            <a:spAutoFit/>
          </a:bodyPr>
          <a:lstStyle/>
          <a:p>
            <a:pPr algn="ctr"/>
            <a:r>
              <a:rPr sz="1100" b="1" i="0">
                <a:solidFill>
                  <a:srgbClr val="1B6E3C"/>
                </a:solidFill>
                <a:latin typeface="Calibri"/>
              </a:rPr>
              <a:t>1</a:t>
            </a:r>
          </a:p>
        </p:txBody>
      </p:sp>
      <p:sp>
        <p:nvSpPr>
          <p:cNvPr id="24" name="Rectangle 23"/>
          <p:cNvSpPr/>
          <p:nvPr/>
        </p:nvSpPr>
        <p:spPr>
          <a:xfrm>
            <a:off x="914400" y="1920240"/>
            <a:ext cx="2834640" cy="374904"/>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005840" y="1920240"/>
            <a:ext cx="2651760" cy="374904"/>
          </a:xfrm>
          <a:prstGeom prst="rect">
            <a:avLst/>
          </a:prstGeom>
          <a:noFill/>
        </p:spPr>
        <p:txBody>
          <a:bodyPr wrap="square" lIns="25400" tIns="12700" rIns="25400" bIns="12700" anchor="ctr">
            <a:spAutoFit/>
          </a:bodyPr>
          <a:lstStyle/>
          <a:p>
            <a:pPr algn="l"/>
            <a:r>
              <a:rPr sz="1100" b="1" i="0">
                <a:solidFill>
                  <a:srgbClr val="1B6E3C"/>
                </a:solidFill>
                <a:latin typeface="Calibri"/>
              </a:rPr>
              <a:t>LightGBM</a:t>
            </a:r>
          </a:p>
        </p:txBody>
      </p:sp>
      <p:sp>
        <p:nvSpPr>
          <p:cNvPr id="26" name="Rectangle 25"/>
          <p:cNvSpPr/>
          <p:nvPr/>
        </p:nvSpPr>
        <p:spPr>
          <a:xfrm>
            <a:off x="3749039" y="1920240"/>
            <a:ext cx="914400" cy="374904"/>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776472" y="1920240"/>
            <a:ext cx="859536" cy="374904"/>
          </a:xfrm>
          <a:prstGeom prst="rect">
            <a:avLst/>
          </a:prstGeom>
          <a:noFill/>
        </p:spPr>
        <p:txBody>
          <a:bodyPr wrap="square" lIns="25400" tIns="12700" rIns="25400" bIns="12700" anchor="ctr">
            <a:spAutoFit/>
          </a:bodyPr>
          <a:lstStyle/>
          <a:p>
            <a:pPr algn="ctr"/>
            <a:r>
              <a:rPr sz="1100" b="1" i="0">
                <a:solidFill>
                  <a:srgbClr val="1B6E3C"/>
                </a:solidFill>
                <a:latin typeface="Calibri"/>
              </a:rPr>
              <a:t>ML</a:t>
            </a:r>
          </a:p>
        </p:txBody>
      </p:sp>
      <p:sp>
        <p:nvSpPr>
          <p:cNvPr id="28" name="Rectangle 27"/>
          <p:cNvSpPr/>
          <p:nvPr/>
        </p:nvSpPr>
        <p:spPr>
          <a:xfrm>
            <a:off x="4663440" y="1920240"/>
            <a:ext cx="1783080" cy="374904"/>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690872" y="1920240"/>
            <a:ext cx="1728216" cy="374904"/>
          </a:xfrm>
          <a:prstGeom prst="rect">
            <a:avLst/>
          </a:prstGeom>
          <a:noFill/>
        </p:spPr>
        <p:txBody>
          <a:bodyPr wrap="square" lIns="25400" tIns="12700" rIns="25400" bIns="12700" anchor="ctr">
            <a:spAutoFit/>
          </a:bodyPr>
          <a:lstStyle/>
          <a:p>
            <a:pPr algn="ctr"/>
            <a:r>
              <a:rPr sz="1100" b="1" i="0">
                <a:solidFill>
                  <a:srgbClr val="1B6E3C"/>
                </a:solidFill>
                <a:latin typeface="Calibri"/>
              </a:rPr>
              <a:t>0,8839</a:t>
            </a:r>
          </a:p>
        </p:txBody>
      </p:sp>
      <p:sp>
        <p:nvSpPr>
          <p:cNvPr id="30" name="Rectangle 29"/>
          <p:cNvSpPr/>
          <p:nvPr/>
        </p:nvSpPr>
        <p:spPr>
          <a:xfrm>
            <a:off x="6446520" y="1920240"/>
            <a:ext cx="1600200" cy="374904"/>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473952" y="1920240"/>
            <a:ext cx="1545336" cy="374904"/>
          </a:xfrm>
          <a:prstGeom prst="rect">
            <a:avLst/>
          </a:prstGeom>
          <a:noFill/>
        </p:spPr>
        <p:txBody>
          <a:bodyPr wrap="square" lIns="25400" tIns="12700" rIns="25400" bIns="12700" anchor="ctr">
            <a:spAutoFit/>
          </a:bodyPr>
          <a:lstStyle/>
          <a:p>
            <a:pPr algn="ctr"/>
            <a:r>
              <a:rPr sz="1100" b="1" i="0">
                <a:solidFill>
                  <a:srgbClr val="1B6E3C"/>
                </a:solidFill>
                <a:latin typeface="Calibri"/>
              </a:rPr>
              <a:t>0,8575</a:t>
            </a:r>
          </a:p>
        </p:txBody>
      </p:sp>
      <p:sp>
        <p:nvSpPr>
          <p:cNvPr id="32" name="Rectangle 31"/>
          <p:cNvSpPr/>
          <p:nvPr/>
        </p:nvSpPr>
        <p:spPr>
          <a:xfrm>
            <a:off x="8046720" y="1920240"/>
            <a:ext cx="1783080" cy="374904"/>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074152" y="1920240"/>
            <a:ext cx="1728216" cy="374904"/>
          </a:xfrm>
          <a:prstGeom prst="rect">
            <a:avLst/>
          </a:prstGeom>
          <a:noFill/>
        </p:spPr>
        <p:txBody>
          <a:bodyPr wrap="square" lIns="25400" tIns="12700" rIns="25400" bIns="12700" anchor="ctr">
            <a:spAutoFit/>
          </a:bodyPr>
          <a:lstStyle/>
          <a:p>
            <a:pPr algn="ctr"/>
            <a:r>
              <a:rPr sz="1100" b="1" i="0">
                <a:solidFill>
                  <a:srgbClr val="1B6E3C"/>
                </a:solidFill>
                <a:latin typeface="Calibri"/>
              </a:rPr>
              <a:t>0,9548</a:t>
            </a:r>
          </a:p>
        </p:txBody>
      </p:sp>
      <p:sp>
        <p:nvSpPr>
          <p:cNvPr id="34" name="Rectangle 33"/>
          <p:cNvSpPr/>
          <p:nvPr/>
        </p:nvSpPr>
        <p:spPr>
          <a:xfrm>
            <a:off x="9829800" y="1920240"/>
            <a:ext cx="1627632" cy="374904"/>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9857232" y="1920240"/>
            <a:ext cx="1572768" cy="374904"/>
          </a:xfrm>
          <a:prstGeom prst="rect">
            <a:avLst/>
          </a:prstGeom>
          <a:noFill/>
        </p:spPr>
        <p:txBody>
          <a:bodyPr wrap="square" lIns="25400" tIns="12700" rIns="25400" bIns="12700" anchor="ctr">
            <a:spAutoFit/>
          </a:bodyPr>
          <a:lstStyle/>
          <a:p>
            <a:pPr algn="ctr"/>
            <a:r>
              <a:rPr sz="1100" b="1" i="0">
                <a:solidFill>
                  <a:srgbClr val="1B6E3C"/>
                </a:solidFill>
                <a:latin typeface="Calibri"/>
              </a:rPr>
              <a:t>±0,0023</a:t>
            </a:r>
          </a:p>
        </p:txBody>
      </p:sp>
      <p:sp>
        <p:nvSpPr>
          <p:cNvPr id="36" name="Rectangle 35"/>
          <p:cNvSpPr/>
          <p:nvPr/>
        </p:nvSpPr>
        <p:spPr>
          <a:xfrm>
            <a:off x="365760" y="2295144"/>
            <a:ext cx="54864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393192" y="2295144"/>
            <a:ext cx="49377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2</a:t>
            </a:r>
          </a:p>
        </p:txBody>
      </p:sp>
      <p:sp>
        <p:nvSpPr>
          <p:cNvPr id="38" name="Rectangle 37"/>
          <p:cNvSpPr/>
          <p:nvPr/>
        </p:nvSpPr>
        <p:spPr>
          <a:xfrm>
            <a:off x="914400" y="2295144"/>
            <a:ext cx="283464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05840" y="2295144"/>
            <a:ext cx="2651760" cy="374904"/>
          </a:xfrm>
          <a:prstGeom prst="rect">
            <a:avLst/>
          </a:prstGeom>
          <a:noFill/>
        </p:spPr>
        <p:txBody>
          <a:bodyPr wrap="square" lIns="25400" tIns="12700" rIns="25400" bIns="12700" anchor="ctr">
            <a:spAutoFit/>
          </a:bodyPr>
          <a:lstStyle/>
          <a:p>
            <a:pPr algn="l"/>
            <a:r>
              <a:rPr sz="1100" b="0" i="0">
                <a:solidFill>
                  <a:srgbClr val="242A30"/>
                </a:solidFill>
                <a:latin typeface="Calibri"/>
              </a:rPr>
              <a:t>Derin ÇKA</a:t>
            </a:r>
          </a:p>
        </p:txBody>
      </p:sp>
      <p:sp>
        <p:nvSpPr>
          <p:cNvPr id="40" name="Rectangle 39"/>
          <p:cNvSpPr/>
          <p:nvPr/>
        </p:nvSpPr>
        <p:spPr>
          <a:xfrm>
            <a:off x="3749039" y="2295144"/>
            <a:ext cx="91440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3776472" y="2295144"/>
            <a:ext cx="85953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DL</a:t>
            </a:r>
          </a:p>
        </p:txBody>
      </p:sp>
      <p:sp>
        <p:nvSpPr>
          <p:cNvPr id="42" name="Rectangle 41"/>
          <p:cNvSpPr/>
          <p:nvPr/>
        </p:nvSpPr>
        <p:spPr>
          <a:xfrm>
            <a:off x="4663440" y="2295144"/>
            <a:ext cx="178308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4690872" y="2295144"/>
            <a:ext cx="172821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0,8849</a:t>
            </a:r>
          </a:p>
        </p:txBody>
      </p:sp>
      <p:sp>
        <p:nvSpPr>
          <p:cNvPr id="44" name="Rectangle 43"/>
          <p:cNvSpPr/>
          <p:nvPr/>
        </p:nvSpPr>
        <p:spPr>
          <a:xfrm>
            <a:off x="6446520" y="2295144"/>
            <a:ext cx="160020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6473952" y="2295144"/>
            <a:ext cx="154533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0,8596</a:t>
            </a:r>
          </a:p>
        </p:txBody>
      </p:sp>
      <p:sp>
        <p:nvSpPr>
          <p:cNvPr id="46" name="Rectangle 45"/>
          <p:cNvSpPr/>
          <p:nvPr/>
        </p:nvSpPr>
        <p:spPr>
          <a:xfrm>
            <a:off x="8046720" y="2295144"/>
            <a:ext cx="178308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8074152" y="2295144"/>
            <a:ext cx="172821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0,9542</a:t>
            </a:r>
          </a:p>
        </p:txBody>
      </p:sp>
      <p:sp>
        <p:nvSpPr>
          <p:cNvPr id="48" name="Rectangle 47"/>
          <p:cNvSpPr/>
          <p:nvPr/>
        </p:nvSpPr>
        <p:spPr>
          <a:xfrm>
            <a:off x="9829800" y="2295144"/>
            <a:ext cx="1627632"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9857232" y="2295144"/>
            <a:ext cx="1572768"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±0,0036</a:t>
            </a:r>
          </a:p>
        </p:txBody>
      </p:sp>
      <p:sp>
        <p:nvSpPr>
          <p:cNvPr id="50" name="Rectangle 49"/>
          <p:cNvSpPr/>
          <p:nvPr/>
        </p:nvSpPr>
        <p:spPr>
          <a:xfrm>
            <a:off x="365760" y="2670048"/>
            <a:ext cx="54864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393192" y="2670048"/>
            <a:ext cx="49377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3</a:t>
            </a:r>
          </a:p>
        </p:txBody>
      </p:sp>
      <p:sp>
        <p:nvSpPr>
          <p:cNvPr id="52" name="Rectangle 51"/>
          <p:cNvSpPr/>
          <p:nvPr/>
        </p:nvSpPr>
        <p:spPr>
          <a:xfrm>
            <a:off x="914400" y="2670048"/>
            <a:ext cx="283464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1005840" y="2670048"/>
            <a:ext cx="2651760" cy="374904"/>
          </a:xfrm>
          <a:prstGeom prst="rect">
            <a:avLst/>
          </a:prstGeom>
          <a:noFill/>
        </p:spPr>
        <p:txBody>
          <a:bodyPr wrap="square" lIns="25400" tIns="12700" rIns="25400" bIns="12700" anchor="ctr">
            <a:spAutoFit/>
          </a:bodyPr>
          <a:lstStyle/>
          <a:p>
            <a:pPr algn="l"/>
            <a:r>
              <a:rPr sz="1100" b="0" i="0">
                <a:solidFill>
                  <a:srgbClr val="242A30"/>
                </a:solidFill>
                <a:latin typeface="Calibri"/>
              </a:rPr>
              <a:t>Artık ÇKA</a:t>
            </a:r>
          </a:p>
        </p:txBody>
      </p:sp>
      <p:sp>
        <p:nvSpPr>
          <p:cNvPr id="54" name="Rectangle 53"/>
          <p:cNvSpPr/>
          <p:nvPr/>
        </p:nvSpPr>
        <p:spPr>
          <a:xfrm>
            <a:off x="3749039" y="2670048"/>
            <a:ext cx="91440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3776472" y="2670048"/>
            <a:ext cx="85953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DL</a:t>
            </a:r>
          </a:p>
        </p:txBody>
      </p:sp>
      <p:sp>
        <p:nvSpPr>
          <p:cNvPr id="56" name="Rectangle 55"/>
          <p:cNvSpPr/>
          <p:nvPr/>
        </p:nvSpPr>
        <p:spPr>
          <a:xfrm>
            <a:off x="4663440" y="2670048"/>
            <a:ext cx="178308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4690872" y="2670048"/>
            <a:ext cx="172821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0,8756</a:t>
            </a:r>
          </a:p>
        </p:txBody>
      </p:sp>
      <p:sp>
        <p:nvSpPr>
          <p:cNvPr id="58" name="Rectangle 57"/>
          <p:cNvSpPr/>
          <p:nvPr/>
        </p:nvSpPr>
        <p:spPr>
          <a:xfrm>
            <a:off x="6446520" y="2670048"/>
            <a:ext cx="160020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6473952" y="2670048"/>
            <a:ext cx="154533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0,8476</a:t>
            </a:r>
          </a:p>
        </p:txBody>
      </p:sp>
      <p:sp>
        <p:nvSpPr>
          <p:cNvPr id="60" name="Rectangle 59"/>
          <p:cNvSpPr/>
          <p:nvPr/>
        </p:nvSpPr>
        <p:spPr>
          <a:xfrm>
            <a:off x="8046720" y="2670048"/>
            <a:ext cx="178308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8074152" y="2670048"/>
            <a:ext cx="172821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0,9485</a:t>
            </a:r>
          </a:p>
        </p:txBody>
      </p:sp>
      <p:sp>
        <p:nvSpPr>
          <p:cNvPr id="62" name="Rectangle 61"/>
          <p:cNvSpPr/>
          <p:nvPr/>
        </p:nvSpPr>
        <p:spPr>
          <a:xfrm>
            <a:off x="9829800" y="2670048"/>
            <a:ext cx="1627632"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9857232" y="2670048"/>
            <a:ext cx="1572768"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±0,0048</a:t>
            </a:r>
          </a:p>
        </p:txBody>
      </p:sp>
      <p:sp>
        <p:nvSpPr>
          <p:cNvPr id="64" name="Rectangle 63"/>
          <p:cNvSpPr/>
          <p:nvPr/>
        </p:nvSpPr>
        <p:spPr>
          <a:xfrm>
            <a:off x="365760" y="3044952"/>
            <a:ext cx="54864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393192" y="3044952"/>
            <a:ext cx="49377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4</a:t>
            </a:r>
          </a:p>
        </p:txBody>
      </p:sp>
      <p:sp>
        <p:nvSpPr>
          <p:cNvPr id="66" name="Rectangle 65"/>
          <p:cNvSpPr/>
          <p:nvPr/>
        </p:nvSpPr>
        <p:spPr>
          <a:xfrm>
            <a:off x="914400" y="3044952"/>
            <a:ext cx="283464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1005840" y="3044952"/>
            <a:ext cx="2651760" cy="374904"/>
          </a:xfrm>
          <a:prstGeom prst="rect">
            <a:avLst/>
          </a:prstGeom>
          <a:noFill/>
        </p:spPr>
        <p:txBody>
          <a:bodyPr wrap="square" lIns="25400" tIns="12700" rIns="25400" bIns="12700" anchor="ctr">
            <a:spAutoFit/>
          </a:bodyPr>
          <a:lstStyle/>
          <a:p>
            <a:pPr algn="l"/>
            <a:r>
              <a:rPr sz="1100" b="0" i="0">
                <a:solidFill>
                  <a:srgbClr val="242A30"/>
                </a:solidFill>
                <a:latin typeface="Calibri"/>
              </a:rPr>
              <a:t>XGBoost</a:t>
            </a:r>
          </a:p>
        </p:txBody>
      </p:sp>
      <p:sp>
        <p:nvSpPr>
          <p:cNvPr id="68" name="Rectangle 67"/>
          <p:cNvSpPr/>
          <p:nvPr/>
        </p:nvSpPr>
        <p:spPr>
          <a:xfrm>
            <a:off x="3749039" y="3044952"/>
            <a:ext cx="91440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3776472" y="3044952"/>
            <a:ext cx="85953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ML</a:t>
            </a:r>
          </a:p>
        </p:txBody>
      </p:sp>
      <p:sp>
        <p:nvSpPr>
          <p:cNvPr id="70" name="Rectangle 69"/>
          <p:cNvSpPr/>
          <p:nvPr/>
        </p:nvSpPr>
        <p:spPr>
          <a:xfrm>
            <a:off x="4663440" y="3044952"/>
            <a:ext cx="178308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p:cNvSpPr txBox="1"/>
          <p:nvPr/>
        </p:nvSpPr>
        <p:spPr>
          <a:xfrm>
            <a:off x="4690872" y="3044952"/>
            <a:ext cx="172821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0,8751</a:t>
            </a:r>
          </a:p>
        </p:txBody>
      </p:sp>
      <p:sp>
        <p:nvSpPr>
          <p:cNvPr id="72" name="Rectangle 71"/>
          <p:cNvSpPr/>
          <p:nvPr/>
        </p:nvSpPr>
        <p:spPr>
          <a:xfrm>
            <a:off x="6446520" y="3044952"/>
            <a:ext cx="160020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p:cNvSpPr txBox="1"/>
          <p:nvPr/>
        </p:nvSpPr>
        <p:spPr>
          <a:xfrm>
            <a:off x="6473952" y="3044952"/>
            <a:ext cx="154533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0,8408</a:t>
            </a:r>
          </a:p>
        </p:txBody>
      </p:sp>
      <p:sp>
        <p:nvSpPr>
          <p:cNvPr id="74" name="Rectangle 73"/>
          <p:cNvSpPr/>
          <p:nvPr/>
        </p:nvSpPr>
        <p:spPr>
          <a:xfrm>
            <a:off x="8046720" y="3044952"/>
            <a:ext cx="178308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8074152" y="3044952"/>
            <a:ext cx="172821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0,9465</a:t>
            </a:r>
          </a:p>
        </p:txBody>
      </p:sp>
      <p:sp>
        <p:nvSpPr>
          <p:cNvPr id="76" name="Rectangle 75"/>
          <p:cNvSpPr/>
          <p:nvPr/>
        </p:nvSpPr>
        <p:spPr>
          <a:xfrm>
            <a:off x="9829800" y="3044952"/>
            <a:ext cx="1627632"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9857232" y="3044952"/>
            <a:ext cx="1572768"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±0,0029</a:t>
            </a:r>
          </a:p>
        </p:txBody>
      </p:sp>
      <p:sp>
        <p:nvSpPr>
          <p:cNvPr id="78" name="Rectangle 77"/>
          <p:cNvSpPr/>
          <p:nvPr/>
        </p:nvSpPr>
        <p:spPr>
          <a:xfrm>
            <a:off x="365760" y="3419856"/>
            <a:ext cx="54864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393192" y="3419856"/>
            <a:ext cx="49377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5</a:t>
            </a:r>
          </a:p>
        </p:txBody>
      </p:sp>
      <p:sp>
        <p:nvSpPr>
          <p:cNvPr id="80" name="Rectangle 79"/>
          <p:cNvSpPr/>
          <p:nvPr/>
        </p:nvSpPr>
        <p:spPr>
          <a:xfrm>
            <a:off x="914400" y="3419856"/>
            <a:ext cx="283464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TextBox 80"/>
          <p:cNvSpPr txBox="1"/>
          <p:nvPr/>
        </p:nvSpPr>
        <p:spPr>
          <a:xfrm>
            <a:off x="1005840" y="3419856"/>
            <a:ext cx="2651760" cy="374904"/>
          </a:xfrm>
          <a:prstGeom prst="rect">
            <a:avLst/>
          </a:prstGeom>
          <a:noFill/>
        </p:spPr>
        <p:txBody>
          <a:bodyPr wrap="square" lIns="25400" tIns="12700" rIns="25400" bIns="12700" anchor="ctr">
            <a:spAutoFit/>
          </a:bodyPr>
          <a:lstStyle/>
          <a:p>
            <a:pPr algn="l"/>
            <a:r>
              <a:rPr sz="1100" b="0" i="0">
                <a:solidFill>
                  <a:srgbClr val="242A30"/>
                </a:solidFill>
                <a:latin typeface="Calibri"/>
              </a:rPr>
              <a:t>Gradyan Artırma</a:t>
            </a:r>
          </a:p>
        </p:txBody>
      </p:sp>
      <p:sp>
        <p:nvSpPr>
          <p:cNvPr id="82" name="Rectangle 81"/>
          <p:cNvSpPr/>
          <p:nvPr/>
        </p:nvSpPr>
        <p:spPr>
          <a:xfrm>
            <a:off x="3749039" y="3419856"/>
            <a:ext cx="91440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TextBox 82"/>
          <p:cNvSpPr txBox="1"/>
          <p:nvPr/>
        </p:nvSpPr>
        <p:spPr>
          <a:xfrm>
            <a:off x="3776472" y="3419856"/>
            <a:ext cx="85953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ML</a:t>
            </a:r>
          </a:p>
        </p:txBody>
      </p:sp>
      <p:sp>
        <p:nvSpPr>
          <p:cNvPr id="84" name="Rectangle 83"/>
          <p:cNvSpPr/>
          <p:nvPr/>
        </p:nvSpPr>
        <p:spPr>
          <a:xfrm>
            <a:off x="4663440" y="3419856"/>
            <a:ext cx="178308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TextBox 84"/>
          <p:cNvSpPr txBox="1"/>
          <p:nvPr/>
        </p:nvSpPr>
        <p:spPr>
          <a:xfrm>
            <a:off x="4690872" y="3419856"/>
            <a:ext cx="172821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0,8685</a:t>
            </a:r>
          </a:p>
        </p:txBody>
      </p:sp>
      <p:sp>
        <p:nvSpPr>
          <p:cNvPr id="86" name="Rectangle 85"/>
          <p:cNvSpPr/>
          <p:nvPr/>
        </p:nvSpPr>
        <p:spPr>
          <a:xfrm>
            <a:off x="6446520" y="3419856"/>
            <a:ext cx="160020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TextBox 86"/>
          <p:cNvSpPr txBox="1"/>
          <p:nvPr/>
        </p:nvSpPr>
        <p:spPr>
          <a:xfrm>
            <a:off x="6473952" y="3419856"/>
            <a:ext cx="154533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0,8337</a:t>
            </a:r>
          </a:p>
        </p:txBody>
      </p:sp>
      <p:sp>
        <p:nvSpPr>
          <p:cNvPr id="88" name="Rectangle 87"/>
          <p:cNvSpPr/>
          <p:nvPr/>
        </p:nvSpPr>
        <p:spPr>
          <a:xfrm>
            <a:off x="8046720" y="3419856"/>
            <a:ext cx="178308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TextBox 88"/>
          <p:cNvSpPr txBox="1"/>
          <p:nvPr/>
        </p:nvSpPr>
        <p:spPr>
          <a:xfrm>
            <a:off x="8074152" y="3419856"/>
            <a:ext cx="172821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0,9397</a:t>
            </a:r>
          </a:p>
        </p:txBody>
      </p:sp>
      <p:sp>
        <p:nvSpPr>
          <p:cNvPr id="90" name="Rectangle 89"/>
          <p:cNvSpPr/>
          <p:nvPr/>
        </p:nvSpPr>
        <p:spPr>
          <a:xfrm>
            <a:off x="9829800" y="3419856"/>
            <a:ext cx="1627632"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TextBox 90"/>
          <p:cNvSpPr txBox="1"/>
          <p:nvPr/>
        </p:nvSpPr>
        <p:spPr>
          <a:xfrm>
            <a:off x="9857232" y="3419856"/>
            <a:ext cx="1572768"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±0,0038</a:t>
            </a:r>
          </a:p>
        </p:txBody>
      </p:sp>
      <p:sp>
        <p:nvSpPr>
          <p:cNvPr id="92" name="Rectangle 91"/>
          <p:cNvSpPr/>
          <p:nvPr/>
        </p:nvSpPr>
        <p:spPr>
          <a:xfrm>
            <a:off x="365760" y="3794760"/>
            <a:ext cx="54864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TextBox 92"/>
          <p:cNvSpPr txBox="1"/>
          <p:nvPr/>
        </p:nvSpPr>
        <p:spPr>
          <a:xfrm>
            <a:off x="393192" y="3794760"/>
            <a:ext cx="49377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6</a:t>
            </a:r>
          </a:p>
        </p:txBody>
      </p:sp>
      <p:sp>
        <p:nvSpPr>
          <p:cNvPr id="94" name="Rectangle 93"/>
          <p:cNvSpPr/>
          <p:nvPr/>
        </p:nvSpPr>
        <p:spPr>
          <a:xfrm>
            <a:off x="914400" y="3794760"/>
            <a:ext cx="283464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TextBox 94"/>
          <p:cNvSpPr txBox="1"/>
          <p:nvPr/>
        </p:nvSpPr>
        <p:spPr>
          <a:xfrm>
            <a:off x="1005840" y="3794760"/>
            <a:ext cx="2651760" cy="374904"/>
          </a:xfrm>
          <a:prstGeom prst="rect">
            <a:avLst/>
          </a:prstGeom>
          <a:noFill/>
        </p:spPr>
        <p:txBody>
          <a:bodyPr wrap="square" lIns="25400" tIns="12700" rIns="25400" bIns="12700" anchor="ctr">
            <a:spAutoFit/>
          </a:bodyPr>
          <a:lstStyle/>
          <a:p>
            <a:pPr algn="l"/>
            <a:r>
              <a:rPr sz="1100" b="0" i="0">
                <a:solidFill>
                  <a:srgbClr val="242A30"/>
                </a:solidFill>
                <a:latin typeface="Calibri"/>
              </a:rPr>
              <a:t>Rastgele Orman</a:t>
            </a:r>
          </a:p>
        </p:txBody>
      </p:sp>
      <p:sp>
        <p:nvSpPr>
          <p:cNvPr id="96" name="Rectangle 95"/>
          <p:cNvSpPr/>
          <p:nvPr/>
        </p:nvSpPr>
        <p:spPr>
          <a:xfrm>
            <a:off x="3749039" y="3794760"/>
            <a:ext cx="91440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 name="TextBox 96"/>
          <p:cNvSpPr txBox="1"/>
          <p:nvPr/>
        </p:nvSpPr>
        <p:spPr>
          <a:xfrm>
            <a:off x="3776472" y="3794760"/>
            <a:ext cx="85953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ML</a:t>
            </a:r>
          </a:p>
        </p:txBody>
      </p:sp>
      <p:sp>
        <p:nvSpPr>
          <p:cNvPr id="98" name="Rectangle 97"/>
          <p:cNvSpPr/>
          <p:nvPr/>
        </p:nvSpPr>
        <p:spPr>
          <a:xfrm>
            <a:off x="4663440" y="3794760"/>
            <a:ext cx="178308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9" name="TextBox 98"/>
          <p:cNvSpPr txBox="1"/>
          <p:nvPr/>
        </p:nvSpPr>
        <p:spPr>
          <a:xfrm>
            <a:off x="4690872" y="3794760"/>
            <a:ext cx="172821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0,8606</a:t>
            </a:r>
          </a:p>
        </p:txBody>
      </p:sp>
      <p:sp>
        <p:nvSpPr>
          <p:cNvPr id="100" name="Rectangle 99"/>
          <p:cNvSpPr/>
          <p:nvPr/>
        </p:nvSpPr>
        <p:spPr>
          <a:xfrm>
            <a:off x="6446520" y="3794760"/>
            <a:ext cx="160020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TextBox 100"/>
          <p:cNvSpPr txBox="1"/>
          <p:nvPr/>
        </p:nvSpPr>
        <p:spPr>
          <a:xfrm>
            <a:off x="6473952" y="3794760"/>
            <a:ext cx="154533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0,8183</a:t>
            </a:r>
          </a:p>
        </p:txBody>
      </p:sp>
      <p:sp>
        <p:nvSpPr>
          <p:cNvPr id="102" name="Rectangle 101"/>
          <p:cNvSpPr/>
          <p:nvPr/>
        </p:nvSpPr>
        <p:spPr>
          <a:xfrm>
            <a:off x="8046720" y="3794760"/>
            <a:ext cx="178308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 name="TextBox 102"/>
          <p:cNvSpPr txBox="1"/>
          <p:nvPr/>
        </p:nvSpPr>
        <p:spPr>
          <a:xfrm>
            <a:off x="8074152" y="3794760"/>
            <a:ext cx="172821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0,9394</a:t>
            </a:r>
          </a:p>
        </p:txBody>
      </p:sp>
      <p:sp>
        <p:nvSpPr>
          <p:cNvPr id="104" name="Rectangle 103"/>
          <p:cNvSpPr/>
          <p:nvPr/>
        </p:nvSpPr>
        <p:spPr>
          <a:xfrm>
            <a:off x="9829800" y="3794760"/>
            <a:ext cx="1627632"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TextBox 104"/>
          <p:cNvSpPr txBox="1"/>
          <p:nvPr/>
        </p:nvSpPr>
        <p:spPr>
          <a:xfrm>
            <a:off x="9857232" y="3794760"/>
            <a:ext cx="1572768"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±0,0051</a:t>
            </a:r>
          </a:p>
        </p:txBody>
      </p:sp>
      <p:sp>
        <p:nvSpPr>
          <p:cNvPr id="106" name="Rectangle 105"/>
          <p:cNvSpPr/>
          <p:nvPr/>
        </p:nvSpPr>
        <p:spPr>
          <a:xfrm>
            <a:off x="365760" y="4169664"/>
            <a:ext cx="54864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TextBox 106"/>
          <p:cNvSpPr txBox="1"/>
          <p:nvPr/>
        </p:nvSpPr>
        <p:spPr>
          <a:xfrm>
            <a:off x="393192" y="4169664"/>
            <a:ext cx="49377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7</a:t>
            </a:r>
          </a:p>
        </p:txBody>
      </p:sp>
      <p:sp>
        <p:nvSpPr>
          <p:cNvPr id="108" name="Rectangle 107"/>
          <p:cNvSpPr/>
          <p:nvPr/>
        </p:nvSpPr>
        <p:spPr>
          <a:xfrm>
            <a:off x="914400" y="4169664"/>
            <a:ext cx="283464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TextBox 108"/>
          <p:cNvSpPr txBox="1"/>
          <p:nvPr/>
        </p:nvSpPr>
        <p:spPr>
          <a:xfrm>
            <a:off x="1005840" y="4169664"/>
            <a:ext cx="2651760" cy="374904"/>
          </a:xfrm>
          <a:prstGeom prst="rect">
            <a:avLst/>
          </a:prstGeom>
          <a:noFill/>
        </p:spPr>
        <p:txBody>
          <a:bodyPr wrap="square" lIns="25400" tIns="12700" rIns="25400" bIns="12700" anchor="ctr">
            <a:spAutoFit/>
          </a:bodyPr>
          <a:lstStyle/>
          <a:p>
            <a:pPr algn="l"/>
            <a:r>
              <a:rPr sz="1100" b="0" i="0">
                <a:solidFill>
                  <a:srgbClr val="242A30"/>
                </a:solidFill>
                <a:latin typeface="Calibri"/>
              </a:rPr>
              <a:t>Dikkat ÇKA</a:t>
            </a:r>
          </a:p>
        </p:txBody>
      </p:sp>
      <p:sp>
        <p:nvSpPr>
          <p:cNvPr id="110" name="Rectangle 109"/>
          <p:cNvSpPr/>
          <p:nvPr/>
        </p:nvSpPr>
        <p:spPr>
          <a:xfrm>
            <a:off x="3749039" y="4169664"/>
            <a:ext cx="91440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TextBox 110"/>
          <p:cNvSpPr txBox="1"/>
          <p:nvPr/>
        </p:nvSpPr>
        <p:spPr>
          <a:xfrm>
            <a:off x="3776472" y="4169664"/>
            <a:ext cx="85953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DL</a:t>
            </a:r>
          </a:p>
        </p:txBody>
      </p:sp>
      <p:sp>
        <p:nvSpPr>
          <p:cNvPr id="112" name="Rectangle 111"/>
          <p:cNvSpPr/>
          <p:nvPr/>
        </p:nvSpPr>
        <p:spPr>
          <a:xfrm>
            <a:off x="4663440" y="4169664"/>
            <a:ext cx="178308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TextBox 112"/>
          <p:cNvSpPr txBox="1"/>
          <p:nvPr/>
        </p:nvSpPr>
        <p:spPr>
          <a:xfrm>
            <a:off x="4690872" y="4169664"/>
            <a:ext cx="172821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0,8628</a:t>
            </a:r>
          </a:p>
        </p:txBody>
      </p:sp>
      <p:sp>
        <p:nvSpPr>
          <p:cNvPr id="114" name="Rectangle 113"/>
          <p:cNvSpPr/>
          <p:nvPr/>
        </p:nvSpPr>
        <p:spPr>
          <a:xfrm>
            <a:off x="6446520" y="4169664"/>
            <a:ext cx="160020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TextBox 114"/>
          <p:cNvSpPr txBox="1"/>
          <p:nvPr/>
        </p:nvSpPr>
        <p:spPr>
          <a:xfrm>
            <a:off x="6473952" y="4169664"/>
            <a:ext cx="154533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0,8293</a:t>
            </a:r>
          </a:p>
        </p:txBody>
      </p:sp>
      <p:sp>
        <p:nvSpPr>
          <p:cNvPr id="116" name="Rectangle 115"/>
          <p:cNvSpPr/>
          <p:nvPr/>
        </p:nvSpPr>
        <p:spPr>
          <a:xfrm>
            <a:off x="8046720" y="4169664"/>
            <a:ext cx="178308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TextBox 116"/>
          <p:cNvSpPr txBox="1"/>
          <p:nvPr/>
        </p:nvSpPr>
        <p:spPr>
          <a:xfrm>
            <a:off x="8074152" y="4169664"/>
            <a:ext cx="172821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0,9359</a:t>
            </a:r>
          </a:p>
        </p:txBody>
      </p:sp>
      <p:sp>
        <p:nvSpPr>
          <p:cNvPr id="118" name="Rectangle 117"/>
          <p:cNvSpPr/>
          <p:nvPr/>
        </p:nvSpPr>
        <p:spPr>
          <a:xfrm>
            <a:off x="9829800" y="4169664"/>
            <a:ext cx="1627632"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9" name="TextBox 118"/>
          <p:cNvSpPr txBox="1"/>
          <p:nvPr/>
        </p:nvSpPr>
        <p:spPr>
          <a:xfrm>
            <a:off x="9857232" y="4169664"/>
            <a:ext cx="1572768"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±0,0059</a:t>
            </a:r>
          </a:p>
        </p:txBody>
      </p:sp>
      <p:sp>
        <p:nvSpPr>
          <p:cNvPr id="120" name="Rectangle 119"/>
          <p:cNvSpPr/>
          <p:nvPr/>
        </p:nvSpPr>
        <p:spPr>
          <a:xfrm>
            <a:off x="365760" y="4544568"/>
            <a:ext cx="54864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TextBox 120"/>
          <p:cNvSpPr txBox="1"/>
          <p:nvPr/>
        </p:nvSpPr>
        <p:spPr>
          <a:xfrm>
            <a:off x="393192" y="4544568"/>
            <a:ext cx="49377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8</a:t>
            </a:r>
          </a:p>
        </p:txBody>
      </p:sp>
      <p:sp>
        <p:nvSpPr>
          <p:cNvPr id="122" name="Rectangle 121"/>
          <p:cNvSpPr/>
          <p:nvPr/>
        </p:nvSpPr>
        <p:spPr>
          <a:xfrm>
            <a:off x="914400" y="4544568"/>
            <a:ext cx="283464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3" name="TextBox 122"/>
          <p:cNvSpPr txBox="1"/>
          <p:nvPr/>
        </p:nvSpPr>
        <p:spPr>
          <a:xfrm>
            <a:off x="1005840" y="4544568"/>
            <a:ext cx="2651760" cy="374904"/>
          </a:xfrm>
          <a:prstGeom prst="rect">
            <a:avLst/>
          </a:prstGeom>
          <a:noFill/>
        </p:spPr>
        <p:txBody>
          <a:bodyPr wrap="square" lIns="25400" tIns="12700" rIns="25400" bIns="12700" anchor="ctr">
            <a:spAutoFit/>
          </a:bodyPr>
          <a:lstStyle/>
          <a:p>
            <a:pPr algn="l"/>
            <a:r>
              <a:rPr sz="1100" b="0" i="0">
                <a:solidFill>
                  <a:srgbClr val="242A30"/>
                </a:solidFill>
                <a:latin typeface="Calibri"/>
              </a:rPr>
              <a:t>SVM-RBF</a:t>
            </a:r>
          </a:p>
        </p:txBody>
      </p:sp>
      <p:sp>
        <p:nvSpPr>
          <p:cNvPr id="124" name="Rectangle 123"/>
          <p:cNvSpPr/>
          <p:nvPr/>
        </p:nvSpPr>
        <p:spPr>
          <a:xfrm>
            <a:off x="3749039" y="4544568"/>
            <a:ext cx="91440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5" name="TextBox 124"/>
          <p:cNvSpPr txBox="1"/>
          <p:nvPr/>
        </p:nvSpPr>
        <p:spPr>
          <a:xfrm>
            <a:off x="3776472" y="4544568"/>
            <a:ext cx="85953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ML</a:t>
            </a:r>
          </a:p>
        </p:txBody>
      </p:sp>
      <p:sp>
        <p:nvSpPr>
          <p:cNvPr id="126" name="Rectangle 125"/>
          <p:cNvSpPr/>
          <p:nvPr/>
        </p:nvSpPr>
        <p:spPr>
          <a:xfrm>
            <a:off x="4663440" y="4544568"/>
            <a:ext cx="178308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7" name="TextBox 126"/>
          <p:cNvSpPr txBox="1"/>
          <p:nvPr/>
        </p:nvSpPr>
        <p:spPr>
          <a:xfrm>
            <a:off x="4690872" y="4544568"/>
            <a:ext cx="172821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0,8612</a:t>
            </a:r>
          </a:p>
        </p:txBody>
      </p:sp>
      <p:sp>
        <p:nvSpPr>
          <p:cNvPr id="128" name="Rectangle 127"/>
          <p:cNvSpPr/>
          <p:nvPr/>
        </p:nvSpPr>
        <p:spPr>
          <a:xfrm>
            <a:off x="6446520" y="4544568"/>
            <a:ext cx="160020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9" name="TextBox 128"/>
          <p:cNvSpPr txBox="1"/>
          <p:nvPr/>
        </p:nvSpPr>
        <p:spPr>
          <a:xfrm>
            <a:off x="6473952" y="4544568"/>
            <a:ext cx="154533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0,8252</a:t>
            </a:r>
          </a:p>
        </p:txBody>
      </p:sp>
      <p:sp>
        <p:nvSpPr>
          <p:cNvPr id="130" name="Rectangle 129"/>
          <p:cNvSpPr/>
          <p:nvPr/>
        </p:nvSpPr>
        <p:spPr>
          <a:xfrm>
            <a:off x="8046720" y="4544568"/>
            <a:ext cx="178308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1" name="TextBox 130"/>
          <p:cNvSpPr txBox="1"/>
          <p:nvPr/>
        </p:nvSpPr>
        <p:spPr>
          <a:xfrm>
            <a:off x="8074152" y="4544568"/>
            <a:ext cx="172821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0,9346</a:t>
            </a:r>
          </a:p>
        </p:txBody>
      </p:sp>
      <p:sp>
        <p:nvSpPr>
          <p:cNvPr id="132" name="Rectangle 131"/>
          <p:cNvSpPr/>
          <p:nvPr/>
        </p:nvSpPr>
        <p:spPr>
          <a:xfrm>
            <a:off x="9829800" y="4544568"/>
            <a:ext cx="1627632"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3" name="TextBox 132"/>
          <p:cNvSpPr txBox="1"/>
          <p:nvPr/>
        </p:nvSpPr>
        <p:spPr>
          <a:xfrm>
            <a:off x="9857232" y="4544568"/>
            <a:ext cx="1572768"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±0,0075</a:t>
            </a:r>
          </a:p>
        </p:txBody>
      </p:sp>
      <p:sp>
        <p:nvSpPr>
          <p:cNvPr id="134" name="Rectangle 133"/>
          <p:cNvSpPr/>
          <p:nvPr/>
        </p:nvSpPr>
        <p:spPr>
          <a:xfrm>
            <a:off x="365760" y="4919472"/>
            <a:ext cx="54864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5" name="TextBox 134"/>
          <p:cNvSpPr txBox="1"/>
          <p:nvPr/>
        </p:nvSpPr>
        <p:spPr>
          <a:xfrm>
            <a:off x="393192" y="4919472"/>
            <a:ext cx="49377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9</a:t>
            </a:r>
          </a:p>
        </p:txBody>
      </p:sp>
      <p:sp>
        <p:nvSpPr>
          <p:cNvPr id="136" name="Rectangle 135"/>
          <p:cNvSpPr/>
          <p:nvPr/>
        </p:nvSpPr>
        <p:spPr>
          <a:xfrm>
            <a:off x="914400" y="4919472"/>
            <a:ext cx="283464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7" name="TextBox 136"/>
          <p:cNvSpPr txBox="1"/>
          <p:nvPr/>
        </p:nvSpPr>
        <p:spPr>
          <a:xfrm>
            <a:off x="1005840" y="4919472"/>
            <a:ext cx="2651760" cy="374904"/>
          </a:xfrm>
          <a:prstGeom prst="rect">
            <a:avLst/>
          </a:prstGeom>
          <a:noFill/>
        </p:spPr>
        <p:txBody>
          <a:bodyPr wrap="square" lIns="25400" tIns="12700" rIns="25400" bIns="12700" anchor="ctr">
            <a:spAutoFit/>
          </a:bodyPr>
          <a:lstStyle/>
          <a:p>
            <a:pPr algn="l"/>
            <a:r>
              <a:rPr sz="1100" b="0" i="0">
                <a:solidFill>
                  <a:srgbClr val="242A30"/>
                </a:solidFill>
                <a:latin typeface="Calibri"/>
              </a:rPr>
              <a:t>ÇKA Sinir Ağı</a:t>
            </a:r>
          </a:p>
        </p:txBody>
      </p:sp>
      <p:sp>
        <p:nvSpPr>
          <p:cNvPr id="138" name="Rectangle 137"/>
          <p:cNvSpPr/>
          <p:nvPr/>
        </p:nvSpPr>
        <p:spPr>
          <a:xfrm>
            <a:off x="3749039" y="4919472"/>
            <a:ext cx="91440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TextBox 138"/>
          <p:cNvSpPr txBox="1"/>
          <p:nvPr/>
        </p:nvSpPr>
        <p:spPr>
          <a:xfrm>
            <a:off x="3776472" y="4919472"/>
            <a:ext cx="85953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ML</a:t>
            </a:r>
          </a:p>
        </p:txBody>
      </p:sp>
      <p:sp>
        <p:nvSpPr>
          <p:cNvPr id="140" name="Rectangle 139"/>
          <p:cNvSpPr/>
          <p:nvPr/>
        </p:nvSpPr>
        <p:spPr>
          <a:xfrm>
            <a:off x="4663440" y="4919472"/>
            <a:ext cx="178308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1" name="TextBox 140"/>
          <p:cNvSpPr txBox="1"/>
          <p:nvPr/>
        </p:nvSpPr>
        <p:spPr>
          <a:xfrm>
            <a:off x="4690872" y="4919472"/>
            <a:ext cx="172821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0,8566</a:t>
            </a:r>
          </a:p>
        </p:txBody>
      </p:sp>
      <p:sp>
        <p:nvSpPr>
          <p:cNvPr id="142" name="Rectangle 141"/>
          <p:cNvSpPr/>
          <p:nvPr/>
        </p:nvSpPr>
        <p:spPr>
          <a:xfrm>
            <a:off x="6446520" y="4919472"/>
            <a:ext cx="160020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3" name="TextBox 142"/>
          <p:cNvSpPr txBox="1"/>
          <p:nvPr/>
        </p:nvSpPr>
        <p:spPr>
          <a:xfrm>
            <a:off x="6473952" y="4919472"/>
            <a:ext cx="154533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0,8189</a:t>
            </a:r>
          </a:p>
        </p:txBody>
      </p:sp>
      <p:sp>
        <p:nvSpPr>
          <p:cNvPr id="144" name="Rectangle 143"/>
          <p:cNvSpPr/>
          <p:nvPr/>
        </p:nvSpPr>
        <p:spPr>
          <a:xfrm>
            <a:off x="8046720" y="4919472"/>
            <a:ext cx="178308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5" name="TextBox 144"/>
          <p:cNvSpPr txBox="1"/>
          <p:nvPr/>
        </p:nvSpPr>
        <p:spPr>
          <a:xfrm>
            <a:off x="8074152" y="4919472"/>
            <a:ext cx="172821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0,9276</a:t>
            </a:r>
          </a:p>
        </p:txBody>
      </p:sp>
      <p:sp>
        <p:nvSpPr>
          <p:cNvPr id="146" name="Rectangle 145"/>
          <p:cNvSpPr/>
          <p:nvPr/>
        </p:nvSpPr>
        <p:spPr>
          <a:xfrm>
            <a:off x="9829800" y="4919472"/>
            <a:ext cx="1627632"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7" name="TextBox 146"/>
          <p:cNvSpPr txBox="1"/>
          <p:nvPr/>
        </p:nvSpPr>
        <p:spPr>
          <a:xfrm>
            <a:off x="9857232" y="4919472"/>
            <a:ext cx="1572768"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±0,0061</a:t>
            </a:r>
          </a:p>
        </p:txBody>
      </p:sp>
      <p:sp>
        <p:nvSpPr>
          <p:cNvPr id="148" name="Rectangle 147"/>
          <p:cNvSpPr/>
          <p:nvPr/>
        </p:nvSpPr>
        <p:spPr>
          <a:xfrm>
            <a:off x="365760" y="5294376"/>
            <a:ext cx="54864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9" name="TextBox 148"/>
          <p:cNvSpPr txBox="1"/>
          <p:nvPr/>
        </p:nvSpPr>
        <p:spPr>
          <a:xfrm>
            <a:off x="393192" y="5294376"/>
            <a:ext cx="49377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10</a:t>
            </a:r>
          </a:p>
        </p:txBody>
      </p:sp>
      <p:sp>
        <p:nvSpPr>
          <p:cNvPr id="150" name="Rectangle 149"/>
          <p:cNvSpPr/>
          <p:nvPr/>
        </p:nvSpPr>
        <p:spPr>
          <a:xfrm>
            <a:off x="914400" y="5294376"/>
            <a:ext cx="283464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1" name="TextBox 150"/>
          <p:cNvSpPr txBox="1"/>
          <p:nvPr/>
        </p:nvSpPr>
        <p:spPr>
          <a:xfrm>
            <a:off x="1005840" y="5294376"/>
            <a:ext cx="2651760" cy="374904"/>
          </a:xfrm>
          <a:prstGeom prst="rect">
            <a:avLst/>
          </a:prstGeom>
          <a:noFill/>
        </p:spPr>
        <p:txBody>
          <a:bodyPr wrap="square" lIns="25400" tIns="12700" rIns="25400" bIns="12700" anchor="ctr">
            <a:spAutoFit/>
          </a:bodyPr>
          <a:lstStyle/>
          <a:p>
            <a:pPr algn="l"/>
            <a:r>
              <a:rPr sz="1100" b="0" i="0">
                <a:solidFill>
                  <a:srgbClr val="242A30"/>
                </a:solidFill>
                <a:latin typeface="Calibri"/>
              </a:rPr>
              <a:t>1B-ESA</a:t>
            </a:r>
          </a:p>
        </p:txBody>
      </p:sp>
      <p:sp>
        <p:nvSpPr>
          <p:cNvPr id="152" name="Rectangle 151"/>
          <p:cNvSpPr/>
          <p:nvPr/>
        </p:nvSpPr>
        <p:spPr>
          <a:xfrm>
            <a:off x="3749039" y="5294376"/>
            <a:ext cx="91440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3" name="TextBox 152"/>
          <p:cNvSpPr txBox="1"/>
          <p:nvPr/>
        </p:nvSpPr>
        <p:spPr>
          <a:xfrm>
            <a:off x="3776472" y="5294376"/>
            <a:ext cx="85953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DL</a:t>
            </a:r>
          </a:p>
        </p:txBody>
      </p:sp>
      <p:sp>
        <p:nvSpPr>
          <p:cNvPr id="154" name="Rectangle 153"/>
          <p:cNvSpPr/>
          <p:nvPr/>
        </p:nvSpPr>
        <p:spPr>
          <a:xfrm>
            <a:off x="4663440" y="5294376"/>
            <a:ext cx="178308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5" name="TextBox 154"/>
          <p:cNvSpPr txBox="1"/>
          <p:nvPr/>
        </p:nvSpPr>
        <p:spPr>
          <a:xfrm>
            <a:off x="4690872" y="5294376"/>
            <a:ext cx="172821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0,7665</a:t>
            </a:r>
          </a:p>
        </p:txBody>
      </p:sp>
      <p:sp>
        <p:nvSpPr>
          <p:cNvPr id="156" name="Rectangle 155"/>
          <p:cNvSpPr/>
          <p:nvPr/>
        </p:nvSpPr>
        <p:spPr>
          <a:xfrm>
            <a:off x="6446520" y="5294376"/>
            <a:ext cx="160020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7" name="TextBox 156"/>
          <p:cNvSpPr txBox="1"/>
          <p:nvPr/>
        </p:nvSpPr>
        <p:spPr>
          <a:xfrm>
            <a:off x="6473952" y="5294376"/>
            <a:ext cx="154533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0,7159</a:t>
            </a:r>
          </a:p>
        </p:txBody>
      </p:sp>
      <p:sp>
        <p:nvSpPr>
          <p:cNvPr id="158" name="Rectangle 157"/>
          <p:cNvSpPr/>
          <p:nvPr/>
        </p:nvSpPr>
        <p:spPr>
          <a:xfrm>
            <a:off x="8046720" y="5294376"/>
            <a:ext cx="178308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9" name="TextBox 158"/>
          <p:cNvSpPr txBox="1"/>
          <p:nvPr/>
        </p:nvSpPr>
        <p:spPr>
          <a:xfrm>
            <a:off x="8074152" y="5294376"/>
            <a:ext cx="172821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0,8543</a:t>
            </a:r>
          </a:p>
        </p:txBody>
      </p:sp>
      <p:sp>
        <p:nvSpPr>
          <p:cNvPr id="160" name="Rectangle 159"/>
          <p:cNvSpPr/>
          <p:nvPr/>
        </p:nvSpPr>
        <p:spPr>
          <a:xfrm>
            <a:off x="9829800" y="5294376"/>
            <a:ext cx="1627632"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1" name="TextBox 160"/>
          <p:cNvSpPr txBox="1"/>
          <p:nvPr/>
        </p:nvSpPr>
        <p:spPr>
          <a:xfrm>
            <a:off x="9857232" y="5294376"/>
            <a:ext cx="1572768"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±0,0087</a:t>
            </a:r>
          </a:p>
        </p:txBody>
      </p:sp>
      <p:sp>
        <p:nvSpPr>
          <p:cNvPr id="162" name="Rectangle 161"/>
          <p:cNvSpPr/>
          <p:nvPr/>
        </p:nvSpPr>
        <p:spPr>
          <a:xfrm>
            <a:off x="365760" y="5669280"/>
            <a:ext cx="54864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3" name="TextBox 162"/>
          <p:cNvSpPr txBox="1"/>
          <p:nvPr/>
        </p:nvSpPr>
        <p:spPr>
          <a:xfrm>
            <a:off x="393192" y="5669280"/>
            <a:ext cx="49377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11</a:t>
            </a:r>
          </a:p>
        </p:txBody>
      </p:sp>
      <p:sp>
        <p:nvSpPr>
          <p:cNvPr id="164" name="Rectangle 163"/>
          <p:cNvSpPr/>
          <p:nvPr/>
        </p:nvSpPr>
        <p:spPr>
          <a:xfrm>
            <a:off x="914400" y="5669280"/>
            <a:ext cx="283464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5" name="TextBox 164"/>
          <p:cNvSpPr txBox="1"/>
          <p:nvPr/>
        </p:nvSpPr>
        <p:spPr>
          <a:xfrm>
            <a:off x="1005840" y="5669280"/>
            <a:ext cx="2651760" cy="374904"/>
          </a:xfrm>
          <a:prstGeom prst="rect">
            <a:avLst/>
          </a:prstGeom>
          <a:noFill/>
        </p:spPr>
        <p:txBody>
          <a:bodyPr wrap="square" lIns="25400" tIns="12700" rIns="25400" bIns="12700" anchor="ctr">
            <a:spAutoFit/>
          </a:bodyPr>
          <a:lstStyle/>
          <a:p>
            <a:pPr algn="l"/>
            <a:r>
              <a:rPr sz="1100" b="0" i="0">
                <a:solidFill>
                  <a:srgbClr val="242A30"/>
                </a:solidFill>
                <a:latin typeface="Calibri"/>
              </a:rPr>
              <a:t>Lojistik Regresyon</a:t>
            </a:r>
          </a:p>
        </p:txBody>
      </p:sp>
      <p:sp>
        <p:nvSpPr>
          <p:cNvPr id="166" name="Rectangle 165"/>
          <p:cNvSpPr/>
          <p:nvPr/>
        </p:nvSpPr>
        <p:spPr>
          <a:xfrm>
            <a:off x="3749039" y="5669280"/>
            <a:ext cx="91440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7" name="TextBox 166"/>
          <p:cNvSpPr txBox="1"/>
          <p:nvPr/>
        </p:nvSpPr>
        <p:spPr>
          <a:xfrm>
            <a:off x="3776472" y="5669280"/>
            <a:ext cx="85953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ML</a:t>
            </a:r>
          </a:p>
        </p:txBody>
      </p:sp>
      <p:sp>
        <p:nvSpPr>
          <p:cNvPr id="168" name="Rectangle 167"/>
          <p:cNvSpPr/>
          <p:nvPr/>
        </p:nvSpPr>
        <p:spPr>
          <a:xfrm>
            <a:off x="4663440" y="5669280"/>
            <a:ext cx="178308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9" name="TextBox 168"/>
          <p:cNvSpPr txBox="1"/>
          <p:nvPr/>
        </p:nvSpPr>
        <p:spPr>
          <a:xfrm>
            <a:off x="4690872" y="5669280"/>
            <a:ext cx="172821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0,7779</a:t>
            </a:r>
          </a:p>
        </p:txBody>
      </p:sp>
      <p:sp>
        <p:nvSpPr>
          <p:cNvPr id="170" name="Rectangle 169"/>
          <p:cNvSpPr/>
          <p:nvPr/>
        </p:nvSpPr>
        <p:spPr>
          <a:xfrm>
            <a:off x="6446520" y="5669280"/>
            <a:ext cx="160020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1" name="TextBox 170"/>
          <p:cNvSpPr txBox="1"/>
          <p:nvPr/>
        </p:nvSpPr>
        <p:spPr>
          <a:xfrm>
            <a:off x="6473952" y="5669280"/>
            <a:ext cx="154533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0,7390</a:t>
            </a:r>
          </a:p>
        </p:txBody>
      </p:sp>
      <p:sp>
        <p:nvSpPr>
          <p:cNvPr id="172" name="Rectangle 171"/>
          <p:cNvSpPr/>
          <p:nvPr/>
        </p:nvSpPr>
        <p:spPr>
          <a:xfrm>
            <a:off x="8046720" y="5669280"/>
            <a:ext cx="178308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3" name="TextBox 172"/>
          <p:cNvSpPr txBox="1"/>
          <p:nvPr/>
        </p:nvSpPr>
        <p:spPr>
          <a:xfrm>
            <a:off x="8074152" y="5669280"/>
            <a:ext cx="1728216"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0,8515</a:t>
            </a:r>
          </a:p>
        </p:txBody>
      </p:sp>
      <p:sp>
        <p:nvSpPr>
          <p:cNvPr id="174" name="Rectangle 173"/>
          <p:cNvSpPr/>
          <p:nvPr/>
        </p:nvSpPr>
        <p:spPr>
          <a:xfrm>
            <a:off x="9829800" y="5669280"/>
            <a:ext cx="1627632"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5" name="TextBox 174"/>
          <p:cNvSpPr txBox="1"/>
          <p:nvPr/>
        </p:nvSpPr>
        <p:spPr>
          <a:xfrm>
            <a:off x="9857232" y="5669280"/>
            <a:ext cx="1572768" cy="374904"/>
          </a:xfrm>
          <a:prstGeom prst="rect">
            <a:avLst/>
          </a:prstGeom>
          <a:noFill/>
        </p:spPr>
        <p:txBody>
          <a:bodyPr wrap="square" lIns="25400" tIns="12700" rIns="25400" bIns="12700" anchor="ctr">
            <a:spAutoFit/>
          </a:bodyPr>
          <a:lstStyle/>
          <a:p>
            <a:pPr algn="ctr"/>
            <a:r>
              <a:rPr sz="1100" b="0" i="0">
                <a:solidFill>
                  <a:srgbClr val="242A30"/>
                </a:solidFill>
                <a:latin typeface="Calibri"/>
              </a:rPr>
              <a:t>±0,0042</a:t>
            </a:r>
          </a:p>
        </p:txBody>
      </p:sp>
      <p:sp>
        <p:nvSpPr>
          <p:cNvPr id="176" name="TextBox 175"/>
          <p:cNvSpPr txBox="1"/>
          <p:nvPr/>
        </p:nvSpPr>
        <p:spPr>
          <a:xfrm>
            <a:off x="365760" y="6053328"/>
            <a:ext cx="11430000" cy="310896"/>
          </a:xfrm>
          <a:prstGeom prst="rect">
            <a:avLst/>
          </a:prstGeom>
          <a:noFill/>
        </p:spPr>
        <p:txBody>
          <a:bodyPr wrap="square" lIns="25400" tIns="12700" rIns="25400" bIns="12700" anchor="t">
            <a:spAutoFit/>
          </a:bodyPr>
          <a:lstStyle/>
          <a:p>
            <a:pPr algn="l"/>
            <a:r>
              <a:rPr sz="1050" b="0" i="1">
                <a:solidFill>
                  <a:srgbClr val="6A7480"/>
                </a:solidFill>
                <a:latin typeface="Calibri"/>
              </a:rPr>
              <a:t>LightGBM en yüksek ROC-AUC (0,9548) ve en düşük varyans (±0,0023) — yüksek performans istikrarsız optimumlardan değil, sağlam öznitelik temsilinden geliyor.</a:t>
            </a:r>
          </a:p>
        </p:txBody>
      </p:sp>
      <p:sp>
        <p:nvSpPr>
          <p:cNvPr id="177" name="Rectangle 176"/>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8" name="TextBox 177"/>
          <p:cNvSpPr txBox="1"/>
          <p:nvPr/>
        </p:nvSpPr>
        <p:spPr>
          <a:xfrm>
            <a:off x="365760" y="6473952"/>
            <a:ext cx="4206240" cy="292608"/>
          </a:xfrm>
          <a:prstGeom prst="rect">
            <a:avLst/>
          </a:prstGeom>
          <a:noFill/>
        </p:spPr>
        <p:txBody>
          <a:bodyPr wrap="square" lIns="25400" tIns="12700" rIns="25400" bIns="12700" anchor="t">
            <a:spAutoFit/>
          </a:bodyPr>
          <a:lstStyle/>
          <a:p>
            <a:pPr algn="l"/>
            <a:r>
              <a:rPr sz="900" b="0" i="0">
                <a:solidFill>
                  <a:srgbClr val="6A7480"/>
                </a:solidFill>
                <a:latin typeface="Calibri"/>
              </a:rPr>
              <a:t>AURIS · YZ Üretimli Müzik Tespiti</a:t>
            </a:r>
          </a:p>
        </p:txBody>
      </p:sp>
      <p:sp>
        <p:nvSpPr>
          <p:cNvPr id="179" name="TextBox 178"/>
          <p:cNvSpPr txBox="1"/>
          <p:nvPr/>
        </p:nvSpPr>
        <p:spPr>
          <a:xfrm>
            <a:off x="4663440" y="6473952"/>
            <a:ext cx="7159752" cy="292608"/>
          </a:xfrm>
          <a:prstGeom prst="rect">
            <a:avLst/>
          </a:prstGeom>
          <a:noFill/>
        </p:spPr>
        <p:txBody>
          <a:bodyPr wrap="square" lIns="25400" tIns="12700" rIns="25400" bIns="12700" anchor="t">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46304"/>
            <a:ext cx="10058400" cy="292608"/>
          </a:xfrm>
          <a:prstGeom prst="rect">
            <a:avLst/>
          </a:prstGeom>
          <a:noFill/>
        </p:spPr>
        <p:txBody>
          <a:bodyPr wrap="square" lIns="25400" tIns="12700" rIns="25400" bIns="12700" anchor="t">
            <a:spAutoFit/>
          </a:bodyPr>
          <a:lstStyle/>
          <a:p>
            <a:pPr algn="l"/>
            <a:r>
              <a:rPr sz="1150" b="1" i="0">
                <a:solidFill>
                  <a:srgbClr val="D99A07"/>
                </a:solidFill>
                <a:latin typeface="Calibri"/>
              </a:rPr>
              <a:t>BÖLÜM 8</a:t>
            </a:r>
          </a:p>
        </p:txBody>
      </p:sp>
      <p:sp>
        <p:nvSpPr>
          <p:cNvPr id="6" name="TextBox 5"/>
          <p:cNvSpPr txBox="1"/>
          <p:nvPr/>
        </p:nvSpPr>
        <p:spPr>
          <a:xfrm>
            <a:off x="411480" y="420624"/>
            <a:ext cx="11338560" cy="603504"/>
          </a:xfrm>
          <a:prstGeom prst="rect">
            <a:avLst/>
          </a:prstGeom>
          <a:noFill/>
        </p:spPr>
        <p:txBody>
          <a:bodyPr wrap="square" lIns="25400" tIns="12700" rIns="25400" bIns="12700" anchor="t">
            <a:spAutoFit/>
          </a:bodyPr>
          <a:lstStyle/>
          <a:p>
            <a:pPr algn="l"/>
            <a:r>
              <a:rPr sz="2300" b="1" i="0">
                <a:solidFill>
                  <a:srgbClr val="FFFFFF"/>
                </a:solidFill>
                <a:latin typeface="Calibri"/>
              </a:rPr>
              <a:t>ROC Eğrileri ve Karmaşıklık Matrisi</a:t>
            </a:r>
          </a:p>
        </p:txBody>
      </p:sp>
      <p:sp>
        <p:nvSpPr>
          <p:cNvPr id="7" name="Rectangle 6"/>
          <p:cNvSpPr/>
          <p:nvPr/>
        </p:nvSpPr>
        <p:spPr>
          <a:xfrm>
            <a:off x="668184" y="1581912"/>
            <a:ext cx="4790110" cy="4023359"/>
          </a:xfrm>
          <a:prstGeom prst="rect">
            <a:avLst/>
          </a:prstGeom>
          <a:solidFill>
            <a:srgbClr val="FFFFFF"/>
          </a:solidFill>
          <a:ln w="9525">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paper_roc_curves.png"/>
          <p:cNvPicPr>
            <a:picLocks noChangeAspect="1"/>
          </p:cNvPicPr>
          <p:nvPr/>
        </p:nvPicPr>
        <p:blipFill>
          <a:blip r:embed="rId2"/>
          <a:stretch>
            <a:fillRect/>
          </a:stretch>
        </p:blipFill>
        <p:spPr>
          <a:xfrm>
            <a:off x="713904" y="1627632"/>
            <a:ext cx="4698670" cy="3931920"/>
          </a:xfrm>
          <a:prstGeom prst="rect">
            <a:avLst/>
          </a:prstGeom>
        </p:spPr>
      </p:pic>
      <p:sp>
        <p:nvSpPr>
          <p:cNvPr id="9" name="TextBox 8"/>
          <p:cNvSpPr txBox="1"/>
          <p:nvPr/>
        </p:nvSpPr>
        <p:spPr>
          <a:xfrm>
            <a:off x="365760" y="5614416"/>
            <a:ext cx="5394960" cy="274320"/>
          </a:xfrm>
          <a:prstGeom prst="rect">
            <a:avLst/>
          </a:prstGeom>
          <a:noFill/>
        </p:spPr>
        <p:txBody>
          <a:bodyPr wrap="square" lIns="25400" tIns="12700" rIns="25400" bIns="12700" anchor="t">
            <a:spAutoFit/>
          </a:bodyPr>
          <a:lstStyle/>
          <a:p>
            <a:pPr algn="ctr"/>
            <a:r>
              <a:rPr sz="1000" b="0" i="1">
                <a:solidFill>
                  <a:srgbClr val="6A7480"/>
                </a:solidFill>
                <a:latin typeface="Calibri"/>
              </a:rPr>
              <a:t>Şekil 4: Makine öğrenmesi ROC eğrileri</a:t>
            </a:r>
          </a:p>
        </p:txBody>
      </p:sp>
      <p:sp>
        <p:nvSpPr>
          <p:cNvPr id="10" name="Rectangle 9"/>
          <p:cNvSpPr/>
          <p:nvPr/>
        </p:nvSpPr>
        <p:spPr>
          <a:xfrm>
            <a:off x="5943600" y="1705852"/>
            <a:ext cx="4206240" cy="3775478"/>
          </a:xfrm>
          <a:prstGeom prst="rect">
            <a:avLst/>
          </a:prstGeom>
          <a:solidFill>
            <a:srgbClr val="FFFFFF"/>
          </a:solidFill>
          <a:ln w="9525">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paper_confusion_matrix_lightgbm.png"/>
          <p:cNvPicPr>
            <a:picLocks noChangeAspect="1"/>
          </p:cNvPicPr>
          <p:nvPr/>
        </p:nvPicPr>
        <p:blipFill>
          <a:blip r:embed="rId3"/>
          <a:stretch>
            <a:fillRect/>
          </a:stretch>
        </p:blipFill>
        <p:spPr>
          <a:xfrm>
            <a:off x="5989320" y="1751572"/>
            <a:ext cx="4114800" cy="3684038"/>
          </a:xfrm>
          <a:prstGeom prst="rect">
            <a:avLst/>
          </a:prstGeom>
        </p:spPr>
      </p:pic>
      <p:sp>
        <p:nvSpPr>
          <p:cNvPr id="12" name="TextBox 11"/>
          <p:cNvSpPr txBox="1"/>
          <p:nvPr/>
        </p:nvSpPr>
        <p:spPr>
          <a:xfrm>
            <a:off x="5989320" y="5490475"/>
            <a:ext cx="4114800" cy="274320"/>
          </a:xfrm>
          <a:prstGeom prst="rect">
            <a:avLst/>
          </a:prstGeom>
          <a:noFill/>
        </p:spPr>
        <p:txBody>
          <a:bodyPr wrap="square" lIns="25400" tIns="12700" rIns="25400" bIns="12700" anchor="t">
            <a:spAutoFit/>
          </a:bodyPr>
          <a:lstStyle/>
          <a:p>
            <a:pPr algn="ctr"/>
            <a:r>
              <a:rPr sz="1000" b="0" i="1">
                <a:solidFill>
                  <a:srgbClr val="6A7480"/>
                </a:solidFill>
                <a:latin typeface="Calibri"/>
              </a:rPr>
              <a:t>Şekil 8: LightGBM karmaşıklık matrisi (θ*=0,4316)</a:t>
            </a:r>
          </a:p>
        </p:txBody>
      </p:sp>
      <p:sp>
        <p:nvSpPr>
          <p:cNvPr id="13" name="Rectangle 12"/>
          <p:cNvSpPr/>
          <p:nvPr/>
        </p:nvSpPr>
        <p:spPr>
          <a:xfrm>
            <a:off x="10287000" y="1627632"/>
            <a:ext cx="1536192" cy="3931920"/>
          </a:xfrm>
          <a:prstGeom prst="rect">
            <a:avLst/>
          </a:prstGeom>
          <a:solidFill>
            <a:srgbClr val="EA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10287000" y="1627632"/>
            <a:ext cx="91440" cy="393192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0506456" y="1746504"/>
            <a:ext cx="1170431" cy="365760"/>
          </a:xfrm>
          <a:prstGeom prst="rect">
            <a:avLst/>
          </a:prstGeom>
          <a:noFill/>
        </p:spPr>
        <p:txBody>
          <a:bodyPr wrap="square" lIns="25400" tIns="12700" rIns="25400" bIns="12700" anchor="t">
            <a:spAutoFit/>
          </a:bodyPr>
          <a:lstStyle/>
          <a:p>
            <a:pPr algn="l"/>
            <a:r>
              <a:rPr sz="1200" b="1" i="0">
                <a:solidFill>
                  <a:srgbClr val="102A4C"/>
                </a:solidFill>
                <a:latin typeface="Calibri"/>
              </a:rPr>
              <a:t>Matris</a:t>
            </a:r>
          </a:p>
        </p:txBody>
      </p:sp>
      <p:sp>
        <p:nvSpPr>
          <p:cNvPr id="16" name="TextBox 15"/>
          <p:cNvSpPr txBox="1"/>
          <p:nvPr/>
        </p:nvSpPr>
        <p:spPr>
          <a:xfrm>
            <a:off x="10506456" y="2176272"/>
            <a:ext cx="1152144" cy="3273552"/>
          </a:xfrm>
          <a:prstGeom prst="rect">
            <a:avLst/>
          </a:prstGeom>
          <a:noFill/>
        </p:spPr>
        <p:txBody>
          <a:bodyPr wrap="square" lIns="25400" rIns="25400" anchor="t">
            <a:spAutoFit/>
          </a:bodyPr>
          <a:lstStyle/>
          <a:p>
            <a:pPr algn="l">
              <a:spcBef>
                <a:spcPts val="0"/>
              </a:spcBef>
              <a:spcAft>
                <a:spcPts val="200"/>
              </a:spcAft>
            </a:pPr>
            <a:r>
              <a:rPr sz="1000" b="0" i="0">
                <a:solidFill>
                  <a:srgbClr val="242A30"/>
                </a:solidFill>
                <a:latin typeface="Calibri"/>
              </a:rPr>
              <a:t>DN 2.721</a:t>
            </a:r>
          </a:p>
          <a:p>
            <a:pPr algn="l">
              <a:spcBef>
                <a:spcPts val="0"/>
              </a:spcBef>
              <a:spcAft>
                <a:spcPts val="200"/>
              </a:spcAft>
            </a:pPr>
            <a:r>
              <a:rPr sz="1000" b="0" i="0">
                <a:solidFill>
                  <a:srgbClr val="242A30"/>
                </a:solidFill>
                <a:latin typeface="Calibri"/>
              </a:rPr>
              <a:t>(%87,4)</a:t>
            </a:r>
          </a:p>
          <a:p>
            <a:pPr algn="l">
              <a:spcBef>
                <a:spcPts val="0"/>
              </a:spcBef>
              <a:spcAft>
                <a:spcPts val="200"/>
              </a:spcAft>
            </a:pPr>
            <a:endParaRPr sz="1000" b="0" i="0">
              <a:solidFill>
                <a:srgbClr val="242A30"/>
              </a:solidFill>
              <a:latin typeface="Calibri"/>
            </a:endParaRPr>
          </a:p>
          <a:p>
            <a:pPr algn="l">
              <a:spcBef>
                <a:spcPts val="0"/>
              </a:spcBef>
              <a:spcAft>
                <a:spcPts val="200"/>
              </a:spcAft>
            </a:pPr>
            <a:r>
              <a:rPr sz="1000" b="0" i="0">
                <a:solidFill>
                  <a:srgbClr val="242A30"/>
                </a:solidFill>
                <a:latin typeface="Calibri"/>
              </a:rPr>
              <a:t>DP 1.862</a:t>
            </a:r>
          </a:p>
          <a:p>
            <a:pPr algn="l">
              <a:spcBef>
                <a:spcPts val="0"/>
              </a:spcBef>
              <a:spcAft>
                <a:spcPts val="200"/>
              </a:spcAft>
            </a:pPr>
            <a:r>
              <a:rPr sz="1000" b="0" i="0">
                <a:solidFill>
                  <a:srgbClr val="242A30"/>
                </a:solidFill>
                <a:latin typeface="Calibri"/>
              </a:rPr>
              <a:t>(%89,4)</a:t>
            </a:r>
          </a:p>
          <a:p>
            <a:pPr algn="l">
              <a:spcBef>
                <a:spcPts val="0"/>
              </a:spcBef>
              <a:spcAft>
                <a:spcPts val="200"/>
              </a:spcAft>
            </a:pPr>
            <a:endParaRPr sz="1000" b="0" i="0">
              <a:solidFill>
                <a:srgbClr val="242A30"/>
              </a:solidFill>
              <a:latin typeface="Calibri"/>
            </a:endParaRPr>
          </a:p>
          <a:p>
            <a:pPr algn="l">
              <a:spcBef>
                <a:spcPts val="0"/>
              </a:spcBef>
              <a:spcAft>
                <a:spcPts val="200"/>
              </a:spcAft>
            </a:pPr>
            <a:r>
              <a:rPr sz="1000" b="0" i="0">
                <a:solidFill>
                  <a:srgbClr val="242A30"/>
                </a:solidFill>
                <a:latin typeface="Calibri"/>
              </a:rPr>
              <a:t>YP 392</a:t>
            </a:r>
          </a:p>
          <a:p>
            <a:pPr algn="l">
              <a:spcBef>
                <a:spcPts val="0"/>
              </a:spcBef>
              <a:spcAft>
                <a:spcPts val="200"/>
              </a:spcAft>
            </a:pPr>
            <a:r>
              <a:rPr sz="1000" b="0" i="0">
                <a:solidFill>
                  <a:srgbClr val="242A30"/>
                </a:solidFill>
                <a:latin typeface="Calibri"/>
              </a:rPr>
              <a:t>(%12,6)</a:t>
            </a:r>
          </a:p>
          <a:p>
            <a:pPr algn="l">
              <a:spcBef>
                <a:spcPts val="0"/>
              </a:spcBef>
              <a:spcAft>
                <a:spcPts val="200"/>
              </a:spcAft>
            </a:pPr>
            <a:endParaRPr sz="1000" b="0" i="0">
              <a:solidFill>
                <a:srgbClr val="242A30"/>
              </a:solidFill>
              <a:latin typeface="Calibri"/>
            </a:endParaRPr>
          </a:p>
          <a:p>
            <a:pPr algn="l">
              <a:spcBef>
                <a:spcPts val="0"/>
              </a:spcBef>
              <a:spcAft>
                <a:spcPts val="200"/>
              </a:spcAft>
            </a:pPr>
            <a:r>
              <a:rPr sz="1000" b="0" i="0">
                <a:solidFill>
                  <a:srgbClr val="242A30"/>
                </a:solidFill>
                <a:latin typeface="Calibri"/>
              </a:rPr>
              <a:t>YN 220</a:t>
            </a:r>
          </a:p>
          <a:p>
            <a:pPr algn="l">
              <a:spcBef>
                <a:spcPts val="0"/>
              </a:spcBef>
              <a:spcAft>
                <a:spcPts val="200"/>
              </a:spcAft>
            </a:pPr>
            <a:r>
              <a:rPr sz="1000" b="0" i="0">
                <a:solidFill>
                  <a:srgbClr val="242A30"/>
                </a:solidFill>
                <a:latin typeface="Calibri"/>
              </a:rPr>
              <a:t>(%10,6)</a:t>
            </a:r>
          </a:p>
        </p:txBody>
      </p:sp>
      <p:sp>
        <p:nvSpPr>
          <p:cNvPr id="17" name="Rectangle 16"/>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65760" y="6473952"/>
            <a:ext cx="4206240" cy="292608"/>
          </a:xfrm>
          <a:prstGeom prst="rect">
            <a:avLst/>
          </a:prstGeom>
          <a:noFill/>
        </p:spPr>
        <p:txBody>
          <a:bodyPr wrap="square" lIns="25400" tIns="12700" rIns="25400" bIns="12700" anchor="t">
            <a:spAutoFit/>
          </a:bodyPr>
          <a:lstStyle/>
          <a:p>
            <a:pPr algn="l"/>
            <a:r>
              <a:rPr sz="900" b="0" i="0">
                <a:solidFill>
                  <a:srgbClr val="6A7480"/>
                </a:solidFill>
                <a:latin typeface="Calibri"/>
              </a:rPr>
              <a:t>AURIS · YZ Üretimli Müzik Tespiti</a:t>
            </a:r>
          </a:p>
        </p:txBody>
      </p:sp>
      <p:sp>
        <p:nvSpPr>
          <p:cNvPr id="19" name="TextBox 18"/>
          <p:cNvSpPr txBox="1"/>
          <p:nvPr/>
        </p:nvSpPr>
        <p:spPr>
          <a:xfrm>
            <a:off x="4663440" y="6473952"/>
            <a:ext cx="7159752" cy="292608"/>
          </a:xfrm>
          <a:prstGeom prst="rect">
            <a:avLst/>
          </a:prstGeom>
          <a:noFill/>
        </p:spPr>
        <p:txBody>
          <a:bodyPr wrap="square" lIns="25400" tIns="12700" rIns="25400" bIns="12700" anchor="t">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46304"/>
            <a:ext cx="10058400" cy="292608"/>
          </a:xfrm>
          <a:prstGeom prst="rect">
            <a:avLst/>
          </a:prstGeom>
          <a:noFill/>
        </p:spPr>
        <p:txBody>
          <a:bodyPr wrap="square" lIns="25400" tIns="12700" rIns="25400" bIns="12700" anchor="t">
            <a:spAutoFit/>
          </a:bodyPr>
          <a:lstStyle/>
          <a:p>
            <a:pPr algn="l"/>
            <a:r>
              <a:rPr sz="1150" b="1" i="0">
                <a:solidFill>
                  <a:srgbClr val="D99A07"/>
                </a:solidFill>
                <a:latin typeface="Calibri"/>
              </a:rPr>
              <a:t>BÖLÜM 9</a:t>
            </a:r>
          </a:p>
        </p:txBody>
      </p:sp>
      <p:sp>
        <p:nvSpPr>
          <p:cNvPr id="6" name="TextBox 5"/>
          <p:cNvSpPr txBox="1"/>
          <p:nvPr/>
        </p:nvSpPr>
        <p:spPr>
          <a:xfrm>
            <a:off x="411480" y="420624"/>
            <a:ext cx="11338560" cy="603504"/>
          </a:xfrm>
          <a:prstGeom prst="rect">
            <a:avLst/>
          </a:prstGeom>
          <a:noFill/>
        </p:spPr>
        <p:txBody>
          <a:bodyPr wrap="square" lIns="25400" tIns="12700" rIns="25400" bIns="12700" anchor="t">
            <a:spAutoFit/>
          </a:bodyPr>
          <a:lstStyle/>
          <a:p>
            <a:pPr algn="l"/>
            <a:r>
              <a:rPr sz="2300" b="1" i="0">
                <a:solidFill>
                  <a:srgbClr val="FFFFFF"/>
                </a:solidFill>
                <a:latin typeface="Calibri"/>
              </a:rPr>
              <a:t>Açıklanabilirlik — SHAP / TreeSHAP</a:t>
            </a:r>
          </a:p>
        </p:txBody>
      </p:sp>
      <p:sp>
        <p:nvSpPr>
          <p:cNvPr id="7" name="TextBox 6"/>
          <p:cNvSpPr txBox="1"/>
          <p:nvPr/>
        </p:nvSpPr>
        <p:spPr>
          <a:xfrm>
            <a:off x="411480" y="1024128"/>
            <a:ext cx="11338560" cy="329184"/>
          </a:xfrm>
          <a:prstGeom prst="rect">
            <a:avLst/>
          </a:prstGeom>
          <a:noFill/>
        </p:spPr>
        <p:txBody>
          <a:bodyPr wrap="square" lIns="25400" tIns="12700" rIns="25400" bIns="12700" anchor="t">
            <a:spAutoFit/>
          </a:bodyPr>
          <a:lstStyle/>
          <a:p>
            <a:pPr algn="l"/>
            <a:r>
              <a:rPr sz="1200" b="0" i="0">
                <a:solidFill>
                  <a:srgbClr val="ADC4D6"/>
                </a:solidFill>
                <a:latin typeface="Calibri"/>
              </a:rPr>
              <a:t>En belirleyici öznitelik: spectral_flatness_std</a:t>
            </a:r>
          </a:p>
        </p:txBody>
      </p:sp>
      <p:sp>
        <p:nvSpPr>
          <p:cNvPr id="8" name="Rectangle 7"/>
          <p:cNvSpPr/>
          <p:nvPr/>
        </p:nvSpPr>
        <p:spPr>
          <a:xfrm>
            <a:off x="991653" y="1581912"/>
            <a:ext cx="4051733" cy="4297679"/>
          </a:xfrm>
          <a:prstGeom prst="rect">
            <a:avLst/>
          </a:prstGeom>
          <a:solidFill>
            <a:srgbClr val="FFFFFF"/>
          </a:solidFill>
          <a:ln w="9525">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 name="Picture 8" descr="shap_summary.png"/>
          <p:cNvPicPr>
            <a:picLocks noChangeAspect="1"/>
          </p:cNvPicPr>
          <p:nvPr/>
        </p:nvPicPr>
        <p:blipFill>
          <a:blip r:embed="rId2"/>
          <a:stretch>
            <a:fillRect/>
          </a:stretch>
        </p:blipFill>
        <p:spPr>
          <a:xfrm>
            <a:off x="1037373" y="1627632"/>
            <a:ext cx="3960293" cy="4206240"/>
          </a:xfrm>
          <a:prstGeom prst="rect">
            <a:avLst/>
          </a:prstGeom>
        </p:spPr>
      </p:pic>
      <p:sp>
        <p:nvSpPr>
          <p:cNvPr id="10" name="TextBox 9"/>
          <p:cNvSpPr txBox="1"/>
          <p:nvPr/>
        </p:nvSpPr>
        <p:spPr>
          <a:xfrm>
            <a:off x="365760" y="5888736"/>
            <a:ext cx="5303520" cy="274320"/>
          </a:xfrm>
          <a:prstGeom prst="rect">
            <a:avLst/>
          </a:prstGeom>
          <a:noFill/>
        </p:spPr>
        <p:txBody>
          <a:bodyPr wrap="square" lIns="25400" tIns="12700" rIns="25400" bIns="12700" anchor="t">
            <a:spAutoFit/>
          </a:bodyPr>
          <a:lstStyle/>
          <a:p>
            <a:pPr algn="ctr"/>
            <a:r>
              <a:rPr sz="1000" b="0" i="1">
                <a:solidFill>
                  <a:srgbClr val="6A7480"/>
                </a:solidFill>
                <a:latin typeface="Calibri"/>
              </a:rPr>
              <a:t>Şekil 7: TreeSHAP global etki diyagramı</a:t>
            </a:r>
          </a:p>
        </p:txBody>
      </p:sp>
      <p:sp>
        <p:nvSpPr>
          <p:cNvPr id="11" name="TextBox 10"/>
          <p:cNvSpPr txBox="1"/>
          <p:nvPr/>
        </p:nvSpPr>
        <p:spPr>
          <a:xfrm>
            <a:off x="5943600" y="1554480"/>
            <a:ext cx="5852160" cy="329184"/>
          </a:xfrm>
          <a:prstGeom prst="rect">
            <a:avLst/>
          </a:prstGeom>
          <a:noFill/>
        </p:spPr>
        <p:txBody>
          <a:bodyPr wrap="square" lIns="25400" tIns="12700" rIns="25400" bIns="12700" anchor="t">
            <a:spAutoFit/>
          </a:bodyPr>
          <a:lstStyle/>
          <a:p>
            <a:pPr algn="l"/>
            <a:r>
              <a:rPr sz="1300" b="1" i="0">
                <a:solidFill>
                  <a:srgbClr val="102A4C"/>
                </a:solidFill>
                <a:latin typeface="Calibri"/>
              </a:rPr>
              <a:t>İlk 10 Öznitelik — Tablo 6</a:t>
            </a:r>
          </a:p>
        </p:txBody>
      </p:sp>
      <p:sp>
        <p:nvSpPr>
          <p:cNvPr id="12" name="Rectangle 11"/>
          <p:cNvSpPr/>
          <p:nvPr/>
        </p:nvSpPr>
        <p:spPr>
          <a:xfrm>
            <a:off x="5943600" y="1938528"/>
            <a:ext cx="50292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0" y="1938528"/>
            <a:ext cx="502920" cy="384048"/>
          </a:xfrm>
          <a:prstGeom prst="rect">
            <a:avLst/>
          </a:prstGeom>
          <a:noFill/>
        </p:spPr>
        <p:txBody>
          <a:bodyPr wrap="square" lIns="25400" tIns="12700" rIns="25400" bIns="12700" anchor="ctr">
            <a:spAutoFit/>
          </a:bodyPr>
          <a:lstStyle/>
          <a:p>
            <a:pPr algn="ctr"/>
            <a:r>
              <a:rPr sz="1050" b="1" i="0">
                <a:solidFill>
                  <a:srgbClr val="FFFFFF"/>
                </a:solidFill>
                <a:latin typeface="Calibri"/>
              </a:rPr>
              <a:t>#</a:t>
            </a:r>
          </a:p>
        </p:txBody>
      </p:sp>
      <p:sp>
        <p:nvSpPr>
          <p:cNvPr id="14" name="Rectangle 13"/>
          <p:cNvSpPr/>
          <p:nvPr/>
        </p:nvSpPr>
        <p:spPr>
          <a:xfrm>
            <a:off x="6446520" y="1938528"/>
            <a:ext cx="306324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537959" y="1938528"/>
            <a:ext cx="2880360" cy="384048"/>
          </a:xfrm>
          <a:prstGeom prst="rect">
            <a:avLst/>
          </a:prstGeom>
          <a:noFill/>
        </p:spPr>
        <p:txBody>
          <a:bodyPr wrap="square" lIns="25400" tIns="12700" rIns="25400" bIns="12700" anchor="ctr">
            <a:spAutoFit/>
          </a:bodyPr>
          <a:lstStyle/>
          <a:p>
            <a:pPr algn="l"/>
            <a:r>
              <a:rPr sz="1050" b="1" i="0">
                <a:solidFill>
                  <a:srgbClr val="FFFFFF"/>
                </a:solidFill>
                <a:latin typeface="Calibri"/>
              </a:rPr>
              <a:t>Öznitelik</a:t>
            </a:r>
          </a:p>
        </p:txBody>
      </p:sp>
      <p:sp>
        <p:nvSpPr>
          <p:cNvPr id="16" name="Rectangle 15"/>
          <p:cNvSpPr/>
          <p:nvPr/>
        </p:nvSpPr>
        <p:spPr>
          <a:xfrm>
            <a:off x="9509760" y="1938528"/>
            <a:ext cx="114300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509760" y="1938528"/>
            <a:ext cx="1143000" cy="384048"/>
          </a:xfrm>
          <a:prstGeom prst="rect">
            <a:avLst/>
          </a:prstGeom>
          <a:noFill/>
        </p:spPr>
        <p:txBody>
          <a:bodyPr wrap="square" lIns="25400" tIns="12700" rIns="25400" bIns="12700" anchor="ctr">
            <a:spAutoFit/>
          </a:bodyPr>
          <a:lstStyle/>
          <a:p>
            <a:pPr algn="ctr"/>
            <a:r>
              <a:rPr sz="1050" b="1" i="0">
                <a:solidFill>
                  <a:srgbClr val="FFFFFF"/>
                </a:solidFill>
                <a:latin typeface="Calibri"/>
              </a:rPr>
              <a:t>Önem</a:t>
            </a:r>
          </a:p>
        </p:txBody>
      </p:sp>
      <p:sp>
        <p:nvSpPr>
          <p:cNvPr id="18" name="Rectangle 17"/>
          <p:cNvSpPr/>
          <p:nvPr/>
        </p:nvSpPr>
        <p:spPr>
          <a:xfrm>
            <a:off x="10652760" y="1938528"/>
            <a:ext cx="1170432"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652760" y="1938528"/>
            <a:ext cx="1170432" cy="384048"/>
          </a:xfrm>
          <a:prstGeom prst="rect">
            <a:avLst/>
          </a:prstGeom>
          <a:noFill/>
        </p:spPr>
        <p:txBody>
          <a:bodyPr wrap="square" lIns="25400" tIns="12700" rIns="25400" bIns="12700" anchor="ctr">
            <a:spAutoFit/>
          </a:bodyPr>
          <a:lstStyle/>
          <a:p>
            <a:pPr algn="ctr"/>
            <a:r>
              <a:rPr sz="1050" b="1" i="0">
                <a:solidFill>
                  <a:srgbClr val="FFFFFF"/>
                </a:solidFill>
                <a:latin typeface="Calibri"/>
              </a:rPr>
              <a:t>Aile</a:t>
            </a:r>
          </a:p>
        </p:txBody>
      </p:sp>
      <p:sp>
        <p:nvSpPr>
          <p:cNvPr id="20" name="Rectangle 19"/>
          <p:cNvSpPr/>
          <p:nvPr/>
        </p:nvSpPr>
        <p:spPr>
          <a:xfrm>
            <a:off x="5943600" y="2322576"/>
            <a:ext cx="502920" cy="365760"/>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71032" y="2322576"/>
            <a:ext cx="448056" cy="365760"/>
          </a:xfrm>
          <a:prstGeom prst="rect">
            <a:avLst/>
          </a:prstGeom>
          <a:noFill/>
        </p:spPr>
        <p:txBody>
          <a:bodyPr wrap="square" lIns="25400" tIns="12700" rIns="25400" bIns="12700" anchor="ctr">
            <a:spAutoFit/>
          </a:bodyPr>
          <a:lstStyle/>
          <a:p>
            <a:pPr algn="ctr"/>
            <a:r>
              <a:rPr sz="1000" b="1" i="0">
                <a:solidFill>
                  <a:srgbClr val="1B6E3C"/>
                </a:solidFill>
                <a:latin typeface="Calibri"/>
              </a:rPr>
              <a:t>1</a:t>
            </a:r>
          </a:p>
        </p:txBody>
      </p:sp>
      <p:sp>
        <p:nvSpPr>
          <p:cNvPr id="22" name="Rectangle 21"/>
          <p:cNvSpPr/>
          <p:nvPr/>
        </p:nvSpPr>
        <p:spPr>
          <a:xfrm>
            <a:off x="6446520" y="2322576"/>
            <a:ext cx="3063240" cy="365760"/>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537959" y="2322576"/>
            <a:ext cx="2880360" cy="365760"/>
          </a:xfrm>
          <a:prstGeom prst="rect">
            <a:avLst/>
          </a:prstGeom>
          <a:noFill/>
        </p:spPr>
        <p:txBody>
          <a:bodyPr wrap="square" lIns="25400" tIns="12700" rIns="25400" bIns="12700" anchor="ctr">
            <a:spAutoFit/>
          </a:bodyPr>
          <a:lstStyle/>
          <a:p>
            <a:pPr algn="l"/>
            <a:r>
              <a:rPr sz="1000" b="1" i="0">
                <a:solidFill>
                  <a:srgbClr val="1B6E3C"/>
                </a:solidFill>
                <a:latin typeface="Calibri"/>
              </a:rPr>
              <a:t>spectral_flatness_std</a:t>
            </a:r>
          </a:p>
        </p:txBody>
      </p:sp>
      <p:sp>
        <p:nvSpPr>
          <p:cNvPr id="24" name="Rectangle 23"/>
          <p:cNvSpPr/>
          <p:nvPr/>
        </p:nvSpPr>
        <p:spPr>
          <a:xfrm>
            <a:off x="9509760" y="2322576"/>
            <a:ext cx="1143000" cy="365760"/>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537192" y="2322576"/>
            <a:ext cx="1088136" cy="365760"/>
          </a:xfrm>
          <a:prstGeom prst="rect">
            <a:avLst/>
          </a:prstGeom>
          <a:noFill/>
        </p:spPr>
        <p:txBody>
          <a:bodyPr wrap="square" lIns="25400" tIns="12700" rIns="25400" bIns="12700" anchor="ctr">
            <a:spAutoFit/>
          </a:bodyPr>
          <a:lstStyle/>
          <a:p>
            <a:pPr algn="ctr"/>
            <a:r>
              <a:rPr sz="1000" b="1" i="0">
                <a:solidFill>
                  <a:srgbClr val="1B6E3C"/>
                </a:solidFill>
                <a:latin typeface="Calibri"/>
              </a:rPr>
              <a:t>0,0619</a:t>
            </a:r>
          </a:p>
        </p:txBody>
      </p:sp>
      <p:sp>
        <p:nvSpPr>
          <p:cNvPr id="26" name="Rectangle 25"/>
          <p:cNvSpPr/>
          <p:nvPr/>
        </p:nvSpPr>
        <p:spPr>
          <a:xfrm>
            <a:off x="10652760" y="2322576"/>
            <a:ext cx="1170432" cy="365760"/>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0680192" y="2322576"/>
            <a:ext cx="1115568" cy="365760"/>
          </a:xfrm>
          <a:prstGeom prst="rect">
            <a:avLst/>
          </a:prstGeom>
          <a:noFill/>
        </p:spPr>
        <p:txBody>
          <a:bodyPr wrap="square" lIns="25400" tIns="12700" rIns="25400" bIns="12700" anchor="ctr">
            <a:spAutoFit/>
          </a:bodyPr>
          <a:lstStyle/>
          <a:p>
            <a:pPr algn="ctr"/>
            <a:r>
              <a:rPr sz="1000" b="1" i="0">
                <a:solidFill>
                  <a:srgbClr val="1B6E3C"/>
                </a:solidFill>
                <a:latin typeface="Calibri"/>
              </a:rPr>
              <a:t>Spektral</a:t>
            </a:r>
          </a:p>
        </p:txBody>
      </p:sp>
      <p:sp>
        <p:nvSpPr>
          <p:cNvPr id="28" name="Rectangle 27"/>
          <p:cNvSpPr/>
          <p:nvPr/>
        </p:nvSpPr>
        <p:spPr>
          <a:xfrm>
            <a:off x="5943600" y="2688336"/>
            <a:ext cx="50292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971032" y="2688336"/>
            <a:ext cx="448056" cy="365760"/>
          </a:xfrm>
          <a:prstGeom prst="rect">
            <a:avLst/>
          </a:prstGeom>
          <a:noFill/>
        </p:spPr>
        <p:txBody>
          <a:bodyPr wrap="square" lIns="25400" tIns="12700" rIns="25400" bIns="12700" anchor="ctr">
            <a:spAutoFit/>
          </a:bodyPr>
          <a:lstStyle/>
          <a:p>
            <a:pPr algn="ctr"/>
            <a:r>
              <a:rPr sz="1000" b="0" i="0">
                <a:solidFill>
                  <a:srgbClr val="242A30"/>
                </a:solidFill>
                <a:latin typeface="Calibri"/>
              </a:rPr>
              <a:t>2</a:t>
            </a:r>
          </a:p>
        </p:txBody>
      </p:sp>
      <p:sp>
        <p:nvSpPr>
          <p:cNvPr id="30" name="Rectangle 29"/>
          <p:cNvSpPr/>
          <p:nvPr/>
        </p:nvSpPr>
        <p:spPr>
          <a:xfrm>
            <a:off x="6446520" y="2688336"/>
            <a:ext cx="306324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537959" y="2688336"/>
            <a:ext cx="2880360" cy="365760"/>
          </a:xfrm>
          <a:prstGeom prst="rect">
            <a:avLst/>
          </a:prstGeom>
          <a:noFill/>
        </p:spPr>
        <p:txBody>
          <a:bodyPr wrap="square" lIns="25400" tIns="12700" rIns="25400" bIns="12700" anchor="ctr">
            <a:spAutoFit/>
          </a:bodyPr>
          <a:lstStyle/>
          <a:p>
            <a:pPr algn="l"/>
            <a:r>
              <a:rPr sz="1000" b="0" i="0">
                <a:solidFill>
                  <a:srgbClr val="242A30"/>
                </a:solidFill>
                <a:latin typeface="Calibri"/>
              </a:rPr>
              <a:t>spectral_contrast_mean</a:t>
            </a:r>
          </a:p>
        </p:txBody>
      </p:sp>
      <p:sp>
        <p:nvSpPr>
          <p:cNvPr id="32" name="Rectangle 31"/>
          <p:cNvSpPr/>
          <p:nvPr/>
        </p:nvSpPr>
        <p:spPr>
          <a:xfrm>
            <a:off x="9509760" y="2688336"/>
            <a:ext cx="114300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9537192" y="2688336"/>
            <a:ext cx="1088136" cy="365760"/>
          </a:xfrm>
          <a:prstGeom prst="rect">
            <a:avLst/>
          </a:prstGeom>
          <a:noFill/>
        </p:spPr>
        <p:txBody>
          <a:bodyPr wrap="square" lIns="25400" tIns="12700" rIns="25400" bIns="12700" anchor="ctr">
            <a:spAutoFit/>
          </a:bodyPr>
          <a:lstStyle/>
          <a:p>
            <a:pPr algn="ctr"/>
            <a:r>
              <a:rPr sz="1000" b="0" i="0">
                <a:solidFill>
                  <a:srgbClr val="242A30"/>
                </a:solidFill>
                <a:latin typeface="Calibri"/>
              </a:rPr>
              <a:t>0,0467</a:t>
            </a:r>
          </a:p>
        </p:txBody>
      </p:sp>
      <p:sp>
        <p:nvSpPr>
          <p:cNvPr id="34" name="Rectangle 33"/>
          <p:cNvSpPr/>
          <p:nvPr/>
        </p:nvSpPr>
        <p:spPr>
          <a:xfrm>
            <a:off x="10652760" y="2688336"/>
            <a:ext cx="1170432"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10680192" y="2688336"/>
            <a:ext cx="1115568" cy="365760"/>
          </a:xfrm>
          <a:prstGeom prst="rect">
            <a:avLst/>
          </a:prstGeom>
          <a:noFill/>
        </p:spPr>
        <p:txBody>
          <a:bodyPr wrap="square" lIns="25400" tIns="12700" rIns="25400" bIns="12700" anchor="ctr">
            <a:spAutoFit/>
          </a:bodyPr>
          <a:lstStyle/>
          <a:p>
            <a:pPr algn="ctr"/>
            <a:r>
              <a:rPr sz="1000" b="0" i="0">
                <a:solidFill>
                  <a:srgbClr val="242A30"/>
                </a:solidFill>
                <a:latin typeface="Calibri"/>
              </a:rPr>
              <a:t>Spektral</a:t>
            </a:r>
          </a:p>
        </p:txBody>
      </p:sp>
      <p:sp>
        <p:nvSpPr>
          <p:cNvPr id="36" name="Rectangle 35"/>
          <p:cNvSpPr/>
          <p:nvPr/>
        </p:nvSpPr>
        <p:spPr>
          <a:xfrm>
            <a:off x="5943600" y="3054096"/>
            <a:ext cx="50292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5971032" y="3054096"/>
            <a:ext cx="448056" cy="365760"/>
          </a:xfrm>
          <a:prstGeom prst="rect">
            <a:avLst/>
          </a:prstGeom>
          <a:noFill/>
        </p:spPr>
        <p:txBody>
          <a:bodyPr wrap="square" lIns="25400" tIns="12700" rIns="25400" bIns="12700" anchor="ctr">
            <a:spAutoFit/>
          </a:bodyPr>
          <a:lstStyle/>
          <a:p>
            <a:pPr algn="ctr"/>
            <a:r>
              <a:rPr sz="1000" b="0" i="0">
                <a:solidFill>
                  <a:srgbClr val="242A30"/>
                </a:solidFill>
                <a:latin typeface="Calibri"/>
              </a:rPr>
              <a:t>3</a:t>
            </a:r>
          </a:p>
        </p:txBody>
      </p:sp>
      <p:sp>
        <p:nvSpPr>
          <p:cNvPr id="38" name="Rectangle 37"/>
          <p:cNvSpPr/>
          <p:nvPr/>
        </p:nvSpPr>
        <p:spPr>
          <a:xfrm>
            <a:off x="6446520" y="3054096"/>
            <a:ext cx="306324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537959" y="3054096"/>
            <a:ext cx="2880360" cy="365760"/>
          </a:xfrm>
          <a:prstGeom prst="rect">
            <a:avLst/>
          </a:prstGeom>
          <a:noFill/>
        </p:spPr>
        <p:txBody>
          <a:bodyPr wrap="square" lIns="25400" tIns="12700" rIns="25400" bIns="12700" anchor="ctr">
            <a:spAutoFit/>
          </a:bodyPr>
          <a:lstStyle/>
          <a:p>
            <a:pPr algn="l"/>
            <a:r>
              <a:rPr sz="1000" b="0" i="0">
                <a:solidFill>
                  <a:srgbClr val="242A30"/>
                </a:solidFill>
                <a:latin typeface="Calibri"/>
              </a:rPr>
              <a:t>rms_energy</a:t>
            </a:r>
          </a:p>
        </p:txBody>
      </p:sp>
      <p:sp>
        <p:nvSpPr>
          <p:cNvPr id="40" name="Rectangle 39"/>
          <p:cNvSpPr/>
          <p:nvPr/>
        </p:nvSpPr>
        <p:spPr>
          <a:xfrm>
            <a:off x="9509760" y="3054096"/>
            <a:ext cx="114300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9537192" y="3054096"/>
            <a:ext cx="1088136" cy="365760"/>
          </a:xfrm>
          <a:prstGeom prst="rect">
            <a:avLst/>
          </a:prstGeom>
          <a:noFill/>
        </p:spPr>
        <p:txBody>
          <a:bodyPr wrap="square" lIns="25400" tIns="12700" rIns="25400" bIns="12700" anchor="ctr">
            <a:spAutoFit/>
          </a:bodyPr>
          <a:lstStyle/>
          <a:p>
            <a:pPr algn="ctr"/>
            <a:r>
              <a:rPr sz="1000" b="0" i="0">
                <a:solidFill>
                  <a:srgbClr val="242A30"/>
                </a:solidFill>
                <a:latin typeface="Calibri"/>
              </a:rPr>
              <a:t>0,0456</a:t>
            </a:r>
          </a:p>
        </p:txBody>
      </p:sp>
      <p:sp>
        <p:nvSpPr>
          <p:cNvPr id="42" name="Rectangle 41"/>
          <p:cNvSpPr/>
          <p:nvPr/>
        </p:nvSpPr>
        <p:spPr>
          <a:xfrm>
            <a:off x="10652760" y="3054096"/>
            <a:ext cx="1170432"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0192" y="3054096"/>
            <a:ext cx="1115568" cy="365760"/>
          </a:xfrm>
          <a:prstGeom prst="rect">
            <a:avLst/>
          </a:prstGeom>
          <a:noFill/>
        </p:spPr>
        <p:txBody>
          <a:bodyPr wrap="square" lIns="25400" tIns="12700" rIns="25400" bIns="12700" anchor="ctr">
            <a:spAutoFit/>
          </a:bodyPr>
          <a:lstStyle/>
          <a:p>
            <a:pPr algn="ctr"/>
            <a:r>
              <a:rPr sz="1000" b="0" i="0">
                <a:solidFill>
                  <a:srgbClr val="242A30"/>
                </a:solidFill>
                <a:latin typeface="Calibri"/>
              </a:rPr>
              <a:t>Zamansal</a:t>
            </a:r>
          </a:p>
        </p:txBody>
      </p:sp>
      <p:sp>
        <p:nvSpPr>
          <p:cNvPr id="44" name="Rectangle 43"/>
          <p:cNvSpPr/>
          <p:nvPr/>
        </p:nvSpPr>
        <p:spPr>
          <a:xfrm>
            <a:off x="5943600" y="3419856"/>
            <a:ext cx="50292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5971032" y="3419856"/>
            <a:ext cx="448056" cy="365760"/>
          </a:xfrm>
          <a:prstGeom prst="rect">
            <a:avLst/>
          </a:prstGeom>
          <a:noFill/>
        </p:spPr>
        <p:txBody>
          <a:bodyPr wrap="square" lIns="25400" tIns="12700" rIns="25400" bIns="12700" anchor="ctr">
            <a:spAutoFit/>
          </a:bodyPr>
          <a:lstStyle/>
          <a:p>
            <a:pPr algn="ctr"/>
            <a:r>
              <a:rPr sz="1000" b="0" i="0">
                <a:solidFill>
                  <a:srgbClr val="242A30"/>
                </a:solidFill>
                <a:latin typeface="Calibri"/>
              </a:rPr>
              <a:t>4</a:t>
            </a:r>
          </a:p>
        </p:txBody>
      </p:sp>
      <p:sp>
        <p:nvSpPr>
          <p:cNvPr id="46" name="Rectangle 45"/>
          <p:cNvSpPr/>
          <p:nvPr/>
        </p:nvSpPr>
        <p:spPr>
          <a:xfrm>
            <a:off x="6446520" y="3419856"/>
            <a:ext cx="306324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6537959" y="3419856"/>
            <a:ext cx="2880360" cy="365760"/>
          </a:xfrm>
          <a:prstGeom prst="rect">
            <a:avLst/>
          </a:prstGeom>
          <a:noFill/>
        </p:spPr>
        <p:txBody>
          <a:bodyPr wrap="square" lIns="25400" tIns="12700" rIns="25400" bIns="12700" anchor="ctr">
            <a:spAutoFit/>
          </a:bodyPr>
          <a:lstStyle/>
          <a:p>
            <a:pPr algn="l"/>
            <a:r>
              <a:rPr sz="1000" b="0" i="0">
                <a:solidFill>
                  <a:srgbClr val="242A30"/>
                </a:solidFill>
                <a:latin typeface="Calibri"/>
              </a:rPr>
              <a:t>onset_strength_std</a:t>
            </a:r>
          </a:p>
        </p:txBody>
      </p:sp>
      <p:sp>
        <p:nvSpPr>
          <p:cNvPr id="48" name="Rectangle 47"/>
          <p:cNvSpPr/>
          <p:nvPr/>
        </p:nvSpPr>
        <p:spPr>
          <a:xfrm>
            <a:off x="9509760" y="3419856"/>
            <a:ext cx="114300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9537192" y="3419856"/>
            <a:ext cx="1088136" cy="365760"/>
          </a:xfrm>
          <a:prstGeom prst="rect">
            <a:avLst/>
          </a:prstGeom>
          <a:noFill/>
        </p:spPr>
        <p:txBody>
          <a:bodyPr wrap="square" lIns="25400" tIns="12700" rIns="25400" bIns="12700" anchor="ctr">
            <a:spAutoFit/>
          </a:bodyPr>
          <a:lstStyle/>
          <a:p>
            <a:pPr algn="ctr"/>
            <a:r>
              <a:rPr sz="1000" b="0" i="0">
                <a:solidFill>
                  <a:srgbClr val="242A30"/>
                </a:solidFill>
                <a:latin typeface="Calibri"/>
              </a:rPr>
              <a:t>0,0388</a:t>
            </a:r>
          </a:p>
        </p:txBody>
      </p:sp>
      <p:sp>
        <p:nvSpPr>
          <p:cNvPr id="50" name="Rectangle 49"/>
          <p:cNvSpPr/>
          <p:nvPr/>
        </p:nvSpPr>
        <p:spPr>
          <a:xfrm>
            <a:off x="10652760" y="3419856"/>
            <a:ext cx="1170432"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10680192" y="3419856"/>
            <a:ext cx="1115568" cy="365760"/>
          </a:xfrm>
          <a:prstGeom prst="rect">
            <a:avLst/>
          </a:prstGeom>
          <a:noFill/>
        </p:spPr>
        <p:txBody>
          <a:bodyPr wrap="square" lIns="25400" tIns="12700" rIns="25400" bIns="12700" anchor="ctr">
            <a:spAutoFit/>
          </a:bodyPr>
          <a:lstStyle/>
          <a:p>
            <a:pPr algn="ctr"/>
            <a:r>
              <a:rPr sz="1000" b="0" i="0">
                <a:solidFill>
                  <a:srgbClr val="242A30"/>
                </a:solidFill>
                <a:latin typeface="Calibri"/>
              </a:rPr>
              <a:t>Ritmik</a:t>
            </a:r>
          </a:p>
        </p:txBody>
      </p:sp>
      <p:sp>
        <p:nvSpPr>
          <p:cNvPr id="52" name="Rectangle 51"/>
          <p:cNvSpPr/>
          <p:nvPr/>
        </p:nvSpPr>
        <p:spPr>
          <a:xfrm>
            <a:off x="5943600" y="3785615"/>
            <a:ext cx="50292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5971032" y="3785615"/>
            <a:ext cx="448056" cy="365760"/>
          </a:xfrm>
          <a:prstGeom prst="rect">
            <a:avLst/>
          </a:prstGeom>
          <a:noFill/>
        </p:spPr>
        <p:txBody>
          <a:bodyPr wrap="square" lIns="25400" tIns="12700" rIns="25400" bIns="12700" anchor="ctr">
            <a:spAutoFit/>
          </a:bodyPr>
          <a:lstStyle/>
          <a:p>
            <a:pPr algn="ctr"/>
            <a:r>
              <a:rPr sz="1000" b="0" i="0">
                <a:solidFill>
                  <a:srgbClr val="242A30"/>
                </a:solidFill>
                <a:latin typeface="Calibri"/>
              </a:rPr>
              <a:t>5</a:t>
            </a:r>
          </a:p>
        </p:txBody>
      </p:sp>
      <p:sp>
        <p:nvSpPr>
          <p:cNvPr id="54" name="Rectangle 53"/>
          <p:cNvSpPr/>
          <p:nvPr/>
        </p:nvSpPr>
        <p:spPr>
          <a:xfrm>
            <a:off x="6446520" y="3785615"/>
            <a:ext cx="306324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6537959" y="3785615"/>
            <a:ext cx="2880360" cy="365760"/>
          </a:xfrm>
          <a:prstGeom prst="rect">
            <a:avLst/>
          </a:prstGeom>
          <a:noFill/>
        </p:spPr>
        <p:txBody>
          <a:bodyPr wrap="square" lIns="25400" tIns="12700" rIns="25400" bIns="12700" anchor="ctr">
            <a:spAutoFit/>
          </a:bodyPr>
          <a:lstStyle/>
          <a:p>
            <a:pPr algn="l"/>
            <a:r>
              <a:rPr sz="1000" b="0" i="0">
                <a:solidFill>
                  <a:srgbClr val="242A30"/>
                </a:solidFill>
                <a:latin typeface="Calibri"/>
              </a:rPr>
              <a:t>spectral_flatness_mean</a:t>
            </a:r>
          </a:p>
        </p:txBody>
      </p:sp>
      <p:sp>
        <p:nvSpPr>
          <p:cNvPr id="56" name="Rectangle 55"/>
          <p:cNvSpPr/>
          <p:nvPr/>
        </p:nvSpPr>
        <p:spPr>
          <a:xfrm>
            <a:off x="9509760" y="3785615"/>
            <a:ext cx="114300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9537192" y="3785615"/>
            <a:ext cx="1088136" cy="365760"/>
          </a:xfrm>
          <a:prstGeom prst="rect">
            <a:avLst/>
          </a:prstGeom>
          <a:noFill/>
        </p:spPr>
        <p:txBody>
          <a:bodyPr wrap="square" lIns="25400" tIns="12700" rIns="25400" bIns="12700" anchor="ctr">
            <a:spAutoFit/>
          </a:bodyPr>
          <a:lstStyle/>
          <a:p>
            <a:pPr algn="ctr"/>
            <a:r>
              <a:rPr sz="1000" b="0" i="0">
                <a:solidFill>
                  <a:srgbClr val="242A30"/>
                </a:solidFill>
                <a:latin typeface="Calibri"/>
              </a:rPr>
              <a:t>0,0370</a:t>
            </a:r>
          </a:p>
        </p:txBody>
      </p:sp>
      <p:sp>
        <p:nvSpPr>
          <p:cNvPr id="58" name="Rectangle 57"/>
          <p:cNvSpPr/>
          <p:nvPr/>
        </p:nvSpPr>
        <p:spPr>
          <a:xfrm>
            <a:off x="10652760" y="3785615"/>
            <a:ext cx="1170432"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10680192" y="3785615"/>
            <a:ext cx="1115568" cy="365760"/>
          </a:xfrm>
          <a:prstGeom prst="rect">
            <a:avLst/>
          </a:prstGeom>
          <a:noFill/>
        </p:spPr>
        <p:txBody>
          <a:bodyPr wrap="square" lIns="25400" tIns="12700" rIns="25400" bIns="12700" anchor="ctr">
            <a:spAutoFit/>
          </a:bodyPr>
          <a:lstStyle/>
          <a:p>
            <a:pPr algn="ctr"/>
            <a:r>
              <a:rPr sz="1000" b="0" i="0">
                <a:solidFill>
                  <a:srgbClr val="242A30"/>
                </a:solidFill>
                <a:latin typeface="Calibri"/>
              </a:rPr>
              <a:t>Spektral</a:t>
            </a:r>
          </a:p>
        </p:txBody>
      </p:sp>
      <p:sp>
        <p:nvSpPr>
          <p:cNvPr id="60" name="Rectangle 59"/>
          <p:cNvSpPr/>
          <p:nvPr/>
        </p:nvSpPr>
        <p:spPr>
          <a:xfrm>
            <a:off x="5943600" y="4151376"/>
            <a:ext cx="50292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5971032" y="4151376"/>
            <a:ext cx="448056" cy="365760"/>
          </a:xfrm>
          <a:prstGeom prst="rect">
            <a:avLst/>
          </a:prstGeom>
          <a:noFill/>
        </p:spPr>
        <p:txBody>
          <a:bodyPr wrap="square" lIns="25400" tIns="12700" rIns="25400" bIns="12700" anchor="ctr">
            <a:spAutoFit/>
          </a:bodyPr>
          <a:lstStyle/>
          <a:p>
            <a:pPr algn="ctr"/>
            <a:r>
              <a:rPr sz="1000" b="0" i="0">
                <a:solidFill>
                  <a:srgbClr val="242A30"/>
                </a:solidFill>
                <a:latin typeface="Calibri"/>
              </a:rPr>
              <a:t>6</a:t>
            </a:r>
          </a:p>
        </p:txBody>
      </p:sp>
      <p:sp>
        <p:nvSpPr>
          <p:cNvPr id="62" name="Rectangle 61"/>
          <p:cNvSpPr/>
          <p:nvPr/>
        </p:nvSpPr>
        <p:spPr>
          <a:xfrm>
            <a:off x="6446520" y="4151376"/>
            <a:ext cx="306324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6537959" y="4151376"/>
            <a:ext cx="2880360" cy="365760"/>
          </a:xfrm>
          <a:prstGeom prst="rect">
            <a:avLst/>
          </a:prstGeom>
          <a:noFill/>
        </p:spPr>
        <p:txBody>
          <a:bodyPr wrap="square" lIns="25400" tIns="12700" rIns="25400" bIns="12700" anchor="ctr">
            <a:spAutoFit/>
          </a:bodyPr>
          <a:lstStyle/>
          <a:p>
            <a:pPr algn="l"/>
            <a:r>
              <a:rPr sz="1000" b="0" i="0">
                <a:solidFill>
                  <a:srgbClr val="242A30"/>
                </a:solidFill>
                <a:latin typeface="Calibri"/>
              </a:rPr>
              <a:t>rms_dynamic_range</a:t>
            </a:r>
          </a:p>
        </p:txBody>
      </p:sp>
      <p:sp>
        <p:nvSpPr>
          <p:cNvPr id="64" name="Rectangle 63"/>
          <p:cNvSpPr/>
          <p:nvPr/>
        </p:nvSpPr>
        <p:spPr>
          <a:xfrm>
            <a:off x="9509760" y="4151376"/>
            <a:ext cx="114300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9537192" y="4151376"/>
            <a:ext cx="1088136" cy="365760"/>
          </a:xfrm>
          <a:prstGeom prst="rect">
            <a:avLst/>
          </a:prstGeom>
          <a:noFill/>
        </p:spPr>
        <p:txBody>
          <a:bodyPr wrap="square" lIns="25400" tIns="12700" rIns="25400" bIns="12700" anchor="ctr">
            <a:spAutoFit/>
          </a:bodyPr>
          <a:lstStyle/>
          <a:p>
            <a:pPr algn="ctr"/>
            <a:r>
              <a:rPr sz="1000" b="0" i="0">
                <a:solidFill>
                  <a:srgbClr val="242A30"/>
                </a:solidFill>
                <a:latin typeface="Calibri"/>
              </a:rPr>
              <a:t>0,0346</a:t>
            </a:r>
          </a:p>
        </p:txBody>
      </p:sp>
      <p:sp>
        <p:nvSpPr>
          <p:cNvPr id="66" name="Rectangle 65"/>
          <p:cNvSpPr/>
          <p:nvPr/>
        </p:nvSpPr>
        <p:spPr>
          <a:xfrm>
            <a:off x="10652760" y="4151376"/>
            <a:ext cx="1170432"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10680192" y="4151376"/>
            <a:ext cx="1115568" cy="365760"/>
          </a:xfrm>
          <a:prstGeom prst="rect">
            <a:avLst/>
          </a:prstGeom>
          <a:noFill/>
        </p:spPr>
        <p:txBody>
          <a:bodyPr wrap="square" lIns="25400" tIns="12700" rIns="25400" bIns="12700" anchor="ctr">
            <a:spAutoFit/>
          </a:bodyPr>
          <a:lstStyle/>
          <a:p>
            <a:pPr algn="ctr"/>
            <a:r>
              <a:rPr sz="1000" b="0" i="0">
                <a:solidFill>
                  <a:srgbClr val="242A30"/>
                </a:solidFill>
                <a:latin typeface="Calibri"/>
              </a:rPr>
              <a:t>Zamansal</a:t>
            </a:r>
          </a:p>
        </p:txBody>
      </p:sp>
      <p:sp>
        <p:nvSpPr>
          <p:cNvPr id="68" name="Rectangle 67"/>
          <p:cNvSpPr/>
          <p:nvPr/>
        </p:nvSpPr>
        <p:spPr>
          <a:xfrm>
            <a:off x="5943600" y="4517136"/>
            <a:ext cx="50292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5971032" y="4517136"/>
            <a:ext cx="448056" cy="365760"/>
          </a:xfrm>
          <a:prstGeom prst="rect">
            <a:avLst/>
          </a:prstGeom>
          <a:noFill/>
        </p:spPr>
        <p:txBody>
          <a:bodyPr wrap="square" lIns="25400" tIns="12700" rIns="25400" bIns="12700" anchor="ctr">
            <a:spAutoFit/>
          </a:bodyPr>
          <a:lstStyle/>
          <a:p>
            <a:pPr algn="ctr"/>
            <a:r>
              <a:rPr sz="1000" b="0" i="0">
                <a:solidFill>
                  <a:srgbClr val="242A30"/>
                </a:solidFill>
                <a:latin typeface="Calibri"/>
              </a:rPr>
              <a:t>7</a:t>
            </a:r>
          </a:p>
        </p:txBody>
      </p:sp>
      <p:sp>
        <p:nvSpPr>
          <p:cNvPr id="70" name="Rectangle 69"/>
          <p:cNvSpPr/>
          <p:nvPr/>
        </p:nvSpPr>
        <p:spPr>
          <a:xfrm>
            <a:off x="6446520" y="4517136"/>
            <a:ext cx="306324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p:cNvSpPr txBox="1"/>
          <p:nvPr/>
        </p:nvSpPr>
        <p:spPr>
          <a:xfrm>
            <a:off x="6537959" y="4517136"/>
            <a:ext cx="2880360" cy="365760"/>
          </a:xfrm>
          <a:prstGeom prst="rect">
            <a:avLst/>
          </a:prstGeom>
          <a:noFill/>
        </p:spPr>
        <p:txBody>
          <a:bodyPr wrap="square" lIns="25400" tIns="12700" rIns="25400" bIns="12700" anchor="ctr">
            <a:spAutoFit/>
          </a:bodyPr>
          <a:lstStyle/>
          <a:p>
            <a:pPr algn="l"/>
            <a:r>
              <a:rPr sz="1000" b="0" i="0">
                <a:solidFill>
                  <a:srgbClr val="242A30"/>
                </a:solidFill>
                <a:latin typeface="Calibri"/>
              </a:rPr>
              <a:t>onset_strength_mean</a:t>
            </a:r>
          </a:p>
        </p:txBody>
      </p:sp>
      <p:sp>
        <p:nvSpPr>
          <p:cNvPr id="72" name="Rectangle 71"/>
          <p:cNvSpPr/>
          <p:nvPr/>
        </p:nvSpPr>
        <p:spPr>
          <a:xfrm>
            <a:off x="9509760" y="4517136"/>
            <a:ext cx="114300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p:cNvSpPr txBox="1"/>
          <p:nvPr/>
        </p:nvSpPr>
        <p:spPr>
          <a:xfrm>
            <a:off x="9537192" y="4517136"/>
            <a:ext cx="1088136" cy="365760"/>
          </a:xfrm>
          <a:prstGeom prst="rect">
            <a:avLst/>
          </a:prstGeom>
          <a:noFill/>
        </p:spPr>
        <p:txBody>
          <a:bodyPr wrap="square" lIns="25400" tIns="12700" rIns="25400" bIns="12700" anchor="ctr">
            <a:spAutoFit/>
          </a:bodyPr>
          <a:lstStyle/>
          <a:p>
            <a:pPr algn="ctr"/>
            <a:r>
              <a:rPr sz="1000" b="0" i="0">
                <a:solidFill>
                  <a:srgbClr val="242A30"/>
                </a:solidFill>
                <a:latin typeface="Calibri"/>
              </a:rPr>
              <a:t>0,0332</a:t>
            </a:r>
          </a:p>
        </p:txBody>
      </p:sp>
      <p:sp>
        <p:nvSpPr>
          <p:cNvPr id="74" name="Rectangle 73"/>
          <p:cNvSpPr/>
          <p:nvPr/>
        </p:nvSpPr>
        <p:spPr>
          <a:xfrm>
            <a:off x="10652760" y="4517136"/>
            <a:ext cx="1170432"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10680192" y="4517136"/>
            <a:ext cx="1115568" cy="365760"/>
          </a:xfrm>
          <a:prstGeom prst="rect">
            <a:avLst/>
          </a:prstGeom>
          <a:noFill/>
        </p:spPr>
        <p:txBody>
          <a:bodyPr wrap="square" lIns="25400" tIns="12700" rIns="25400" bIns="12700" anchor="ctr">
            <a:spAutoFit/>
          </a:bodyPr>
          <a:lstStyle/>
          <a:p>
            <a:pPr algn="ctr"/>
            <a:r>
              <a:rPr sz="1000" b="0" i="0">
                <a:solidFill>
                  <a:srgbClr val="242A30"/>
                </a:solidFill>
                <a:latin typeface="Calibri"/>
              </a:rPr>
              <a:t>Ritmik</a:t>
            </a:r>
          </a:p>
        </p:txBody>
      </p:sp>
      <p:sp>
        <p:nvSpPr>
          <p:cNvPr id="76" name="Rectangle 75"/>
          <p:cNvSpPr/>
          <p:nvPr/>
        </p:nvSpPr>
        <p:spPr>
          <a:xfrm>
            <a:off x="5943600" y="4882896"/>
            <a:ext cx="50292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5971032" y="4882896"/>
            <a:ext cx="448056" cy="365760"/>
          </a:xfrm>
          <a:prstGeom prst="rect">
            <a:avLst/>
          </a:prstGeom>
          <a:noFill/>
        </p:spPr>
        <p:txBody>
          <a:bodyPr wrap="square" lIns="25400" tIns="12700" rIns="25400" bIns="12700" anchor="ctr">
            <a:spAutoFit/>
          </a:bodyPr>
          <a:lstStyle/>
          <a:p>
            <a:pPr algn="ctr"/>
            <a:r>
              <a:rPr sz="1000" b="0" i="0">
                <a:solidFill>
                  <a:srgbClr val="242A30"/>
                </a:solidFill>
                <a:latin typeface="Calibri"/>
              </a:rPr>
              <a:t>8</a:t>
            </a:r>
          </a:p>
        </p:txBody>
      </p:sp>
      <p:sp>
        <p:nvSpPr>
          <p:cNvPr id="78" name="Rectangle 77"/>
          <p:cNvSpPr/>
          <p:nvPr/>
        </p:nvSpPr>
        <p:spPr>
          <a:xfrm>
            <a:off x="6446520" y="4882896"/>
            <a:ext cx="306324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6537959" y="4882896"/>
            <a:ext cx="2880360" cy="365760"/>
          </a:xfrm>
          <a:prstGeom prst="rect">
            <a:avLst/>
          </a:prstGeom>
          <a:noFill/>
        </p:spPr>
        <p:txBody>
          <a:bodyPr wrap="square" lIns="25400" tIns="12700" rIns="25400" bIns="12700" anchor="ctr">
            <a:spAutoFit/>
          </a:bodyPr>
          <a:lstStyle/>
          <a:p>
            <a:pPr algn="l"/>
            <a:r>
              <a:rPr sz="1000" b="0" i="0">
                <a:solidFill>
                  <a:srgbClr val="242A30"/>
                </a:solidFill>
                <a:latin typeface="Calibri"/>
              </a:rPr>
              <a:t>rms_std</a:t>
            </a:r>
          </a:p>
        </p:txBody>
      </p:sp>
      <p:sp>
        <p:nvSpPr>
          <p:cNvPr id="80" name="Rectangle 79"/>
          <p:cNvSpPr/>
          <p:nvPr/>
        </p:nvSpPr>
        <p:spPr>
          <a:xfrm>
            <a:off x="9509760" y="4882896"/>
            <a:ext cx="114300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TextBox 80"/>
          <p:cNvSpPr txBox="1"/>
          <p:nvPr/>
        </p:nvSpPr>
        <p:spPr>
          <a:xfrm>
            <a:off x="9537192" y="4882896"/>
            <a:ext cx="1088136" cy="365760"/>
          </a:xfrm>
          <a:prstGeom prst="rect">
            <a:avLst/>
          </a:prstGeom>
          <a:noFill/>
        </p:spPr>
        <p:txBody>
          <a:bodyPr wrap="square" lIns="25400" tIns="12700" rIns="25400" bIns="12700" anchor="ctr">
            <a:spAutoFit/>
          </a:bodyPr>
          <a:lstStyle/>
          <a:p>
            <a:pPr algn="ctr"/>
            <a:r>
              <a:rPr sz="1000" b="0" i="0">
                <a:solidFill>
                  <a:srgbClr val="242A30"/>
                </a:solidFill>
                <a:latin typeface="Calibri"/>
              </a:rPr>
              <a:t>0,0298</a:t>
            </a:r>
          </a:p>
        </p:txBody>
      </p:sp>
      <p:sp>
        <p:nvSpPr>
          <p:cNvPr id="82" name="Rectangle 81"/>
          <p:cNvSpPr/>
          <p:nvPr/>
        </p:nvSpPr>
        <p:spPr>
          <a:xfrm>
            <a:off x="10652760" y="4882896"/>
            <a:ext cx="1170432"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TextBox 82"/>
          <p:cNvSpPr txBox="1"/>
          <p:nvPr/>
        </p:nvSpPr>
        <p:spPr>
          <a:xfrm>
            <a:off x="10680192" y="4882896"/>
            <a:ext cx="1115568" cy="365760"/>
          </a:xfrm>
          <a:prstGeom prst="rect">
            <a:avLst/>
          </a:prstGeom>
          <a:noFill/>
        </p:spPr>
        <p:txBody>
          <a:bodyPr wrap="square" lIns="25400" tIns="12700" rIns="25400" bIns="12700" anchor="ctr">
            <a:spAutoFit/>
          </a:bodyPr>
          <a:lstStyle/>
          <a:p>
            <a:pPr algn="ctr"/>
            <a:r>
              <a:rPr sz="1000" b="0" i="0">
                <a:solidFill>
                  <a:srgbClr val="242A30"/>
                </a:solidFill>
                <a:latin typeface="Calibri"/>
              </a:rPr>
              <a:t>Zamansal</a:t>
            </a:r>
          </a:p>
        </p:txBody>
      </p:sp>
      <p:sp>
        <p:nvSpPr>
          <p:cNvPr id="84" name="Rectangle 83"/>
          <p:cNvSpPr/>
          <p:nvPr/>
        </p:nvSpPr>
        <p:spPr>
          <a:xfrm>
            <a:off x="5943600" y="5248656"/>
            <a:ext cx="50292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TextBox 84"/>
          <p:cNvSpPr txBox="1"/>
          <p:nvPr/>
        </p:nvSpPr>
        <p:spPr>
          <a:xfrm>
            <a:off x="5971032" y="5248656"/>
            <a:ext cx="448056" cy="365760"/>
          </a:xfrm>
          <a:prstGeom prst="rect">
            <a:avLst/>
          </a:prstGeom>
          <a:noFill/>
        </p:spPr>
        <p:txBody>
          <a:bodyPr wrap="square" lIns="25400" tIns="12700" rIns="25400" bIns="12700" anchor="ctr">
            <a:spAutoFit/>
          </a:bodyPr>
          <a:lstStyle/>
          <a:p>
            <a:pPr algn="ctr"/>
            <a:r>
              <a:rPr sz="1000" b="0" i="0">
                <a:solidFill>
                  <a:srgbClr val="242A30"/>
                </a:solidFill>
                <a:latin typeface="Calibri"/>
              </a:rPr>
              <a:t>9</a:t>
            </a:r>
          </a:p>
        </p:txBody>
      </p:sp>
      <p:sp>
        <p:nvSpPr>
          <p:cNvPr id="86" name="Rectangle 85"/>
          <p:cNvSpPr/>
          <p:nvPr/>
        </p:nvSpPr>
        <p:spPr>
          <a:xfrm>
            <a:off x="6446520" y="5248656"/>
            <a:ext cx="306324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TextBox 86"/>
          <p:cNvSpPr txBox="1"/>
          <p:nvPr/>
        </p:nvSpPr>
        <p:spPr>
          <a:xfrm>
            <a:off x="6537959" y="5248656"/>
            <a:ext cx="2880360" cy="365760"/>
          </a:xfrm>
          <a:prstGeom prst="rect">
            <a:avLst/>
          </a:prstGeom>
          <a:noFill/>
        </p:spPr>
        <p:txBody>
          <a:bodyPr wrap="square" lIns="25400" tIns="12700" rIns="25400" bIns="12700" anchor="ctr">
            <a:spAutoFit/>
          </a:bodyPr>
          <a:lstStyle/>
          <a:p>
            <a:pPr algn="l"/>
            <a:r>
              <a:rPr sz="1000" b="0" i="0">
                <a:solidFill>
                  <a:srgbClr val="242A30"/>
                </a:solidFill>
                <a:latin typeface="Calibri"/>
              </a:rPr>
              <a:t>beat_count</a:t>
            </a:r>
          </a:p>
        </p:txBody>
      </p:sp>
      <p:sp>
        <p:nvSpPr>
          <p:cNvPr id="88" name="Rectangle 87"/>
          <p:cNvSpPr/>
          <p:nvPr/>
        </p:nvSpPr>
        <p:spPr>
          <a:xfrm>
            <a:off x="9509760" y="5248656"/>
            <a:ext cx="114300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TextBox 88"/>
          <p:cNvSpPr txBox="1"/>
          <p:nvPr/>
        </p:nvSpPr>
        <p:spPr>
          <a:xfrm>
            <a:off x="9537192" y="5248656"/>
            <a:ext cx="1088136" cy="365760"/>
          </a:xfrm>
          <a:prstGeom prst="rect">
            <a:avLst/>
          </a:prstGeom>
          <a:noFill/>
        </p:spPr>
        <p:txBody>
          <a:bodyPr wrap="square" lIns="25400" tIns="12700" rIns="25400" bIns="12700" anchor="ctr">
            <a:spAutoFit/>
          </a:bodyPr>
          <a:lstStyle/>
          <a:p>
            <a:pPr algn="ctr"/>
            <a:r>
              <a:rPr sz="1000" b="0" i="0">
                <a:solidFill>
                  <a:srgbClr val="242A30"/>
                </a:solidFill>
                <a:latin typeface="Calibri"/>
              </a:rPr>
              <a:t>0,0298</a:t>
            </a:r>
          </a:p>
        </p:txBody>
      </p:sp>
      <p:sp>
        <p:nvSpPr>
          <p:cNvPr id="90" name="Rectangle 89"/>
          <p:cNvSpPr/>
          <p:nvPr/>
        </p:nvSpPr>
        <p:spPr>
          <a:xfrm>
            <a:off x="10652760" y="5248656"/>
            <a:ext cx="1170432"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TextBox 90"/>
          <p:cNvSpPr txBox="1"/>
          <p:nvPr/>
        </p:nvSpPr>
        <p:spPr>
          <a:xfrm>
            <a:off x="10680192" y="5248656"/>
            <a:ext cx="1115568" cy="365760"/>
          </a:xfrm>
          <a:prstGeom prst="rect">
            <a:avLst/>
          </a:prstGeom>
          <a:noFill/>
        </p:spPr>
        <p:txBody>
          <a:bodyPr wrap="square" lIns="25400" tIns="12700" rIns="25400" bIns="12700" anchor="ctr">
            <a:spAutoFit/>
          </a:bodyPr>
          <a:lstStyle/>
          <a:p>
            <a:pPr algn="ctr"/>
            <a:r>
              <a:rPr sz="1000" b="0" i="0">
                <a:solidFill>
                  <a:srgbClr val="242A30"/>
                </a:solidFill>
                <a:latin typeface="Calibri"/>
              </a:rPr>
              <a:t>Ritmik</a:t>
            </a:r>
          </a:p>
        </p:txBody>
      </p:sp>
      <p:sp>
        <p:nvSpPr>
          <p:cNvPr id="92" name="Rectangle 91"/>
          <p:cNvSpPr/>
          <p:nvPr/>
        </p:nvSpPr>
        <p:spPr>
          <a:xfrm>
            <a:off x="5943600" y="5614416"/>
            <a:ext cx="50292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TextBox 92"/>
          <p:cNvSpPr txBox="1"/>
          <p:nvPr/>
        </p:nvSpPr>
        <p:spPr>
          <a:xfrm>
            <a:off x="5971032" y="5614416"/>
            <a:ext cx="448056" cy="365760"/>
          </a:xfrm>
          <a:prstGeom prst="rect">
            <a:avLst/>
          </a:prstGeom>
          <a:noFill/>
        </p:spPr>
        <p:txBody>
          <a:bodyPr wrap="square" lIns="25400" tIns="12700" rIns="25400" bIns="12700" anchor="ctr">
            <a:spAutoFit/>
          </a:bodyPr>
          <a:lstStyle/>
          <a:p>
            <a:pPr algn="ctr"/>
            <a:r>
              <a:rPr sz="1000" b="0" i="0">
                <a:solidFill>
                  <a:srgbClr val="242A30"/>
                </a:solidFill>
                <a:latin typeface="Calibri"/>
              </a:rPr>
              <a:t>10</a:t>
            </a:r>
          </a:p>
        </p:txBody>
      </p:sp>
      <p:sp>
        <p:nvSpPr>
          <p:cNvPr id="94" name="Rectangle 93"/>
          <p:cNvSpPr/>
          <p:nvPr/>
        </p:nvSpPr>
        <p:spPr>
          <a:xfrm>
            <a:off x="6446520" y="5614416"/>
            <a:ext cx="306324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TextBox 94"/>
          <p:cNvSpPr txBox="1"/>
          <p:nvPr/>
        </p:nvSpPr>
        <p:spPr>
          <a:xfrm>
            <a:off x="6537959" y="5614416"/>
            <a:ext cx="2880360" cy="365760"/>
          </a:xfrm>
          <a:prstGeom prst="rect">
            <a:avLst/>
          </a:prstGeom>
          <a:noFill/>
        </p:spPr>
        <p:txBody>
          <a:bodyPr wrap="square" lIns="25400" tIns="12700" rIns="25400" bIns="12700" anchor="ctr">
            <a:spAutoFit/>
          </a:bodyPr>
          <a:lstStyle/>
          <a:p>
            <a:pPr algn="l"/>
            <a:r>
              <a:rPr sz="1000" b="0" i="0">
                <a:solidFill>
                  <a:srgbClr val="242A30"/>
                </a:solidFill>
                <a:latin typeface="Calibri"/>
              </a:rPr>
              <a:t>mfcc_delta_var</a:t>
            </a:r>
          </a:p>
        </p:txBody>
      </p:sp>
      <p:sp>
        <p:nvSpPr>
          <p:cNvPr id="96" name="Rectangle 95"/>
          <p:cNvSpPr/>
          <p:nvPr/>
        </p:nvSpPr>
        <p:spPr>
          <a:xfrm>
            <a:off x="9509760" y="5614416"/>
            <a:ext cx="114300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 name="TextBox 96"/>
          <p:cNvSpPr txBox="1"/>
          <p:nvPr/>
        </p:nvSpPr>
        <p:spPr>
          <a:xfrm>
            <a:off x="9537192" y="5614416"/>
            <a:ext cx="1088136" cy="365760"/>
          </a:xfrm>
          <a:prstGeom prst="rect">
            <a:avLst/>
          </a:prstGeom>
          <a:noFill/>
        </p:spPr>
        <p:txBody>
          <a:bodyPr wrap="square" lIns="25400" tIns="12700" rIns="25400" bIns="12700" anchor="ctr">
            <a:spAutoFit/>
          </a:bodyPr>
          <a:lstStyle/>
          <a:p>
            <a:pPr algn="ctr"/>
            <a:r>
              <a:rPr sz="1000" b="0" i="0">
                <a:solidFill>
                  <a:srgbClr val="242A30"/>
                </a:solidFill>
                <a:latin typeface="Calibri"/>
              </a:rPr>
              <a:t>0,0289</a:t>
            </a:r>
          </a:p>
        </p:txBody>
      </p:sp>
      <p:sp>
        <p:nvSpPr>
          <p:cNvPr id="98" name="Rectangle 97"/>
          <p:cNvSpPr/>
          <p:nvPr/>
        </p:nvSpPr>
        <p:spPr>
          <a:xfrm>
            <a:off x="10652760" y="5614416"/>
            <a:ext cx="1170432"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9" name="TextBox 98"/>
          <p:cNvSpPr txBox="1"/>
          <p:nvPr/>
        </p:nvSpPr>
        <p:spPr>
          <a:xfrm>
            <a:off x="10680192" y="5614416"/>
            <a:ext cx="1115568" cy="365760"/>
          </a:xfrm>
          <a:prstGeom prst="rect">
            <a:avLst/>
          </a:prstGeom>
          <a:noFill/>
        </p:spPr>
        <p:txBody>
          <a:bodyPr wrap="square" lIns="25400" tIns="12700" rIns="25400" bIns="12700" anchor="ctr">
            <a:spAutoFit/>
          </a:bodyPr>
          <a:lstStyle/>
          <a:p>
            <a:pPr algn="ctr"/>
            <a:r>
              <a:rPr sz="1000" b="0" i="0">
                <a:solidFill>
                  <a:srgbClr val="242A30"/>
                </a:solidFill>
                <a:latin typeface="Calibri"/>
              </a:rPr>
              <a:t>Spektral</a:t>
            </a:r>
          </a:p>
        </p:txBody>
      </p:sp>
      <p:sp>
        <p:nvSpPr>
          <p:cNvPr id="100" name="TextBox 99"/>
          <p:cNvSpPr txBox="1"/>
          <p:nvPr/>
        </p:nvSpPr>
        <p:spPr>
          <a:xfrm>
            <a:off x="5943600" y="5943600"/>
            <a:ext cx="5852160" cy="457200"/>
          </a:xfrm>
          <a:prstGeom prst="rect">
            <a:avLst/>
          </a:prstGeom>
          <a:noFill/>
        </p:spPr>
        <p:txBody>
          <a:bodyPr wrap="square" lIns="25400" tIns="12700" rIns="25400" bIns="12700" anchor="t">
            <a:spAutoFit/>
          </a:bodyPr>
          <a:lstStyle/>
          <a:p>
            <a:pPr algn="l"/>
            <a:r>
              <a:rPr sz="1050" b="0" i="1">
                <a:solidFill>
                  <a:srgbClr val="6A7480"/>
                </a:solidFill>
                <a:latin typeface="Calibri"/>
              </a:rPr>
              <a:t>Yüksek spectral_flatness_std değerleri modeli YZ sınıfına yönlendiriyor — bağımsız ses deepfake literatürüyle [16] örtüşüyor.</a:t>
            </a:r>
          </a:p>
        </p:txBody>
      </p:sp>
      <p:sp>
        <p:nvSpPr>
          <p:cNvPr id="101" name="Rectangle 100"/>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TextBox 101"/>
          <p:cNvSpPr txBox="1"/>
          <p:nvPr/>
        </p:nvSpPr>
        <p:spPr>
          <a:xfrm>
            <a:off x="365760" y="6473952"/>
            <a:ext cx="4206240" cy="292608"/>
          </a:xfrm>
          <a:prstGeom prst="rect">
            <a:avLst/>
          </a:prstGeom>
          <a:noFill/>
        </p:spPr>
        <p:txBody>
          <a:bodyPr wrap="square" lIns="25400" tIns="12700" rIns="25400" bIns="12700" anchor="t">
            <a:spAutoFit/>
          </a:bodyPr>
          <a:lstStyle/>
          <a:p>
            <a:pPr algn="l"/>
            <a:r>
              <a:rPr sz="900" b="0" i="0">
                <a:solidFill>
                  <a:srgbClr val="6A7480"/>
                </a:solidFill>
                <a:latin typeface="Calibri"/>
              </a:rPr>
              <a:t>AURIS · YZ Üretimli Müzik Tespiti</a:t>
            </a:r>
          </a:p>
        </p:txBody>
      </p:sp>
      <p:sp>
        <p:nvSpPr>
          <p:cNvPr id="103" name="TextBox 102"/>
          <p:cNvSpPr txBox="1"/>
          <p:nvPr/>
        </p:nvSpPr>
        <p:spPr>
          <a:xfrm>
            <a:off x="4663440" y="6473952"/>
            <a:ext cx="7159752" cy="292608"/>
          </a:xfrm>
          <a:prstGeom prst="rect">
            <a:avLst/>
          </a:prstGeom>
          <a:noFill/>
        </p:spPr>
        <p:txBody>
          <a:bodyPr wrap="square" lIns="25400" tIns="12700" rIns="25400" bIns="12700" anchor="t">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46304"/>
            <a:ext cx="10058400" cy="292608"/>
          </a:xfrm>
          <a:prstGeom prst="rect">
            <a:avLst/>
          </a:prstGeom>
          <a:noFill/>
        </p:spPr>
        <p:txBody>
          <a:bodyPr wrap="square" lIns="25400" tIns="12700" rIns="25400" bIns="12700" anchor="t">
            <a:spAutoFit/>
          </a:bodyPr>
          <a:lstStyle/>
          <a:p>
            <a:pPr algn="l"/>
            <a:r>
              <a:rPr sz="1150" b="1" i="0">
                <a:solidFill>
                  <a:srgbClr val="D99A07"/>
                </a:solidFill>
                <a:latin typeface="Calibri"/>
              </a:rPr>
              <a:t>BÖLÜM 10</a:t>
            </a:r>
          </a:p>
        </p:txBody>
      </p:sp>
      <p:sp>
        <p:nvSpPr>
          <p:cNvPr id="6" name="TextBox 5"/>
          <p:cNvSpPr txBox="1"/>
          <p:nvPr/>
        </p:nvSpPr>
        <p:spPr>
          <a:xfrm>
            <a:off x="411480" y="420624"/>
            <a:ext cx="11338560" cy="603504"/>
          </a:xfrm>
          <a:prstGeom prst="rect">
            <a:avLst/>
          </a:prstGeom>
          <a:noFill/>
        </p:spPr>
        <p:txBody>
          <a:bodyPr wrap="square" lIns="25400" tIns="12700" rIns="25400" bIns="12700" anchor="t">
            <a:spAutoFit/>
          </a:bodyPr>
          <a:lstStyle/>
          <a:p>
            <a:pPr algn="l"/>
            <a:r>
              <a:rPr sz="2300" b="1" i="0">
                <a:solidFill>
                  <a:srgbClr val="FFFFFF"/>
                </a:solidFill>
                <a:latin typeface="Calibri"/>
              </a:rPr>
              <a:t>Tanılayıcı Analizler</a:t>
            </a:r>
          </a:p>
        </p:txBody>
      </p:sp>
      <p:sp>
        <p:nvSpPr>
          <p:cNvPr id="7" name="Rectangle 6"/>
          <p:cNvSpPr/>
          <p:nvPr/>
        </p:nvSpPr>
        <p:spPr>
          <a:xfrm>
            <a:off x="365760" y="1600200"/>
            <a:ext cx="5623560" cy="2148840"/>
          </a:xfrm>
          <a:prstGeom prst="rect">
            <a:avLst/>
          </a:prstGeom>
          <a:solidFill>
            <a:srgbClr val="FFF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65760" y="1600200"/>
            <a:ext cx="91440" cy="214884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85216" y="1719072"/>
            <a:ext cx="5257800" cy="365760"/>
          </a:xfrm>
          <a:prstGeom prst="rect">
            <a:avLst/>
          </a:prstGeom>
          <a:noFill/>
        </p:spPr>
        <p:txBody>
          <a:bodyPr wrap="square" lIns="25400" tIns="12700" rIns="25400" bIns="12700" anchor="t">
            <a:spAutoFit/>
          </a:bodyPr>
          <a:lstStyle/>
          <a:p>
            <a:pPr algn="l"/>
            <a:r>
              <a:rPr sz="1300" b="1" i="0">
                <a:solidFill>
                  <a:srgbClr val="102A4C"/>
                </a:solidFill>
                <a:latin typeface="Calibri"/>
              </a:rPr>
              <a:t>Kaynak Bazlı Performans (Şekil 13)</a:t>
            </a:r>
          </a:p>
        </p:txBody>
      </p:sp>
      <p:sp>
        <p:nvSpPr>
          <p:cNvPr id="10" name="TextBox 9"/>
          <p:cNvSpPr txBox="1"/>
          <p:nvPr/>
        </p:nvSpPr>
        <p:spPr>
          <a:xfrm>
            <a:off x="585216" y="2148840"/>
            <a:ext cx="5239512" cy="1490472"/>
          </a:xfrm>
          <a:prstGeom prst="rect">
            <a:avLst/>
          </a:prstGeom>
          <a:noFill/>
        </p:spPr>
        <p:txBody>
          <a:bodyPr wrap="square" lIns="25400" rIns="25400" anchor="t">
            <a:spAutoFit/>
          </a:bodyPr>
          <a:lstStyle/>
          <a:p>
            <a:pPr algn="l">
              <a:spcBef>
                <a:spcPts val="0"/>
              </a:spcBef>
              <a:spcAft>
                <a:spcPts val="400"/>
              </a:spcAft>
            </a:pPr>
            <a:r>
              <a:rPr sz="1100" b="0" i="0" dirty="0">
                <a:solidFill>
                  <a:srgbClr val="242A30"/>
                </a:solidFill>
                <a:latin typeface="Calibri"/>
              </a:rPr>
              <a:t>Suno </a:t>
            </a:r>
            <a:r>
              <a:rPr sz="1100" b="0" i="0" dirty="0" err="1">
                <a:solidFill>
                  <a:srgbClr val="242A30"/>
                </a:solidFill>
                <a:latin typeface="Calibri"/>
              </a:rPr>
              <a:t>parçaları</a:t>
            </a:r>
            <a:r>
              <a:rPr sz="1100" b="0" i="0" dirty="0">
                <a:solidFill>
                  <a:srgbClr val="242A30"/>
                </a:solidFill>
                <a:latin typeface="Calibri"/>
              </a:rPr>
              <a:t>:  %93,0 </a:t>
            </a:r>
            <a:r>
              <a:rPr sz="1100" b="0" i="0" dirty="0" err="1">
                <a:solidFill>
                  <a:srgbClr val="242A30"/>
                </a:solidFill>
                <a:latin typeface="Calibri"/>
              </a:rPr>
              <a:t>duyarlılık</a:t>
            </a:r>
            <a:endParaRPr sz="1100" b="0" i="0" dirty="0">
              <a:solidFill>
                <a:srgbClr val="242A30"/>
              </a:solidFill>
              <a:latin typeface="Calibri"/>
            </a:endParaRPr>
          </a:p>
          <a:p>
            <a:pPr algn="l">
              <a:spcBef>
                <a:spcPts val="0"/>
              </a:spcBef>
              <a:spcAft>
                <a:spcPts val="400"/>
              </a:spcAft>
            </a:pPr>
            <a:r>
              <a:rPr sz="1100" b="0" i="0" dirty="0">
                <a:solidFill>
                  <a:srgbClr val="242A30"/>
                </a:solidFill>
                <a:latin typeface="Calibri"/>
              </a:rPr>
              <a:t>Echoes alt </a:t>
            </a:r>
            <a:r>
              <a:rPr sz="1100" b="0" i="0" dirty="0" err="1">
                <a:solidFill>
                  <a:srgbClr val="242A30"/>
                </a:solidFill>
                <a:latin typeface="Calibri"/>
              </a:rPr>
              <a:t>kümesi</a:t>
            </a:r>
            <a:r>
              <a:rPr sz="1100" b="0" i="0" dirty="0">
                <a:solidFill>
                  <a:srgbClr val="242A30"/>
                </a:solidFill>
                <a:latin typeface="Calibri"/>
              </a:rPr>
              <a:t>:  %88,6 </a:t>
            </a:r>
            <a:r>
              <a:rPr sz="1100" b="0" i="0" dirty="0" err="1">
                <a:solidFill>
                  <a:srgbClr val="242A30"/>
                </a:solidFill>
                <a:latin typeface="Calibri"/>
              </a:rPr>
              <a:t>duyarlılık</a:t>
            </a:r>
            <a:endParaRPr sz="1100" b="0" i="0" dirty="0">
              <a:solidFill>
                <a:srgbClr val="242A30"/>
              </a:solidFill>
              <a:latin typeface="Calibri"/>
            </a:endParaRPr>
          </a:p>
          <a:p>
            <a:pPr algn="l">
              <a:spcBef>
                <a:spcPts val="0"/>
              </a:spcBef>
              <a:spcAft>
                <a:spcPts val="400"/>
              </a:spcAft>
            </a:pPr>
            <a:r>
              <a:rPr sz="1100" b="0" i="0" dirty="0">
                <a:solidFill>
                  <a:srgbClr val="242A30"/>
                </a:solidFill>
                <a:latin typeface="Calibri"/>
              </a:rPr>
              <a:t>Deepfake alt </a:t>
            </a:r>
            <a:r>
              <a:rPr sz="1100" b="0" i="0" dirty="0" err="1">
                <a:solidFill>
                  <a:srgbClr val="242A30"/>
                </a:solidFill>
                <a:latin typeface="Calibri"/>
              </a:rPr>
              <a:t>kümesi</a:t>
            </a:r>
            <a:r>
              <a:rPr sz="1100" b="0" i="0" dirty="0">
                <a:solidFill>
                  <a:srgbClr val="242A30"/>
                </a:solidFill>
                <a:latin typeface="Calibri"/>
              </a:rPr>
              <a:t>:  %50,0 </a:t>
            </a:r>
            <a:r>
              <a:rPr sz="1100" b="0" i="0" dirty="0" err="1">
                <a:solidFill>
                  <a:srgbClr val="242A30"/>
                </a:solidFill>
                <a:latin typeface="Calibri"/>
              </a:rPr>
              <a:t>duyarlılık</a:t>
            </a:r>
            <a:endParaRPr sz="1100" b="0" i="0" dirty="0">
              <a:solidFill>
                <a:srgbClr val="242A30"/>
              </a:solidFill>
              <a:latin typeface="Calibri"/>
            </a:endParaRPr>
          </a:p>
          <a:p>
            <a:pPr algn="l">
              <a:spcBef>
                <a:spcPts val="0"/>
              </a:spcBef>
              <a:spcAft>
                <a:spcPts val="400"/>
              </a:spcAft>
            </a:pPr>
            <a:endParaRPr sz="1100" b="0" i="0" dirty="0">
              <a:solidFill>
                <a:srgbClr val="242A30"/>
              </a:solidFill>
              <a:latin typeface="Calibri"/>
            </a:endParaRPr>
          </a:p>
          <a:p>
            <a:pPr algn="l">
              <a:spcBef>
                <a:spcPts val="0"/>
              </a:spcBef>
              <a:spcAft>
                <a:spcPts val="400"/>
              </a:spcAft>
            </a:pPr>
            <a:r>
              <a:rPr sz="1100" b="0" i="0" dirty="0">
                <a:solidFill>
                  <a:srgbClr val="242A30"/>
                </a:solidFill>
                <a:latin typeface="Calibri"/>
              </a:rPr>
              <a:t>Deepfake </a:t>
            </a:r>
            <a:r>
              <a:rPr sz="1100" b="0" i="0" dirty="0" err="1">
                <a:solidFill>
                  <a:srgbClr val="242A30"/>
                </a:solidFill>
                <a:latin typeface="Calibri"/>
              </a:rPr>
              <a:t>düşüşü</a:t>
            </a:r>
            <a:r>
              <a:rPr sz="1100" b="0" i="0" dirty="0">
                <a:solidFill>
                  <a:srgbClr val="242A30"/>
                </a:solidFill>
                <a:latin typeface="Calibri"/>
              </a:rPr>
              <a:t> </a:t>
            </a:r>
            <a:r>
              <a:rPr sz="1100" b="0" i="0" dirty="0" err="1">
                <a:solidFill>
                  <a:srgbClr val="242A30"/>
                </a:solidFill>
                <a:latin typeface="Calibri"/>
              </a:rPr>
              <a:t>genel</a:t>
            </a:r>
            <a:r>
              <a:rPr sz="1100" b="0" i="0" dirty="0">
                <a:solidFill>
                  <a:srgbClr val="242A30"/>
                </a:solidFill>
                <a:latin typeface="Calibri"/>
              </a:rPr>
              <a:t> </a:t>
            </a:r>
            <a:r>
              <a:rPr sz="1100" b="0" i="0" dirty="0" err="1">
                <a:solidFill>
                  <a:srgbClr val="242A30"/>
                </a:solidFill>
                <a:latin typeface="Calibri"/>
              </a:rPr>
              <a:t>başarısızlık</a:t>
            </a:r>
            <a:r>
              <a:rPr sz="1100" b="0" i="0" dirty="0">
                <a:solidFill>
                  <a:srgbClr val="242A30"/>
                </a:solidFill>
                <a:latin typeface="Calibri"/>
              </a:rPr>
              <a:t> </a:t>
            </a:r>
            <a:r>
              <a:rPr sz="1100" b="0" i="0" dirty="0" err="1">
                <a:solidFill>
                  <a:srgbClr val="242A30"/>
                </a:solidFill>
                <a:latin typeface="Calibri"/>
              </a:rPr>
              <a:t>değil</a:t>
            </a:r>
            <a:r>
              <a:rPr sz="1100" b="0" i="0" dirty="0">
                <a:solidFill>
                  <a:srgbClr val="242A30"/>
                </a:solidFill>
                <a:latin typeface="Calibri"/>
              </a:rPr>
              <a:t>; </a:t>
            </a:r>
            <a:r>
              <a:rPr sz="1100" b="0" i="0" dirty="0" err="1">
                <a:solidFill>
                  <a:srgbClr val="242A30"/>
                </a:solidFill>
                <a:latin typeface="Calibri"/>
              </a:rPr>
              <a:t>bu</a:t>
            </a:r>
            <a:r>
              <a:rPr sz="1100" b="0" i="0" dirty="0">
                <a:solidFill>
                  <a:srgbClr val="242A30"/>
                </a:solidFill>
                <a:latin typeface="Calibri"/>
              </a:rPr>
              <a:t> </a:t>
            </a:r>
            <a:r>
              <a:rPr sz="1100" b="0" i="0" dirty="0" err="1">
                <a:solidFill>
                  <a:srgbClr val="242A30"/>
                </a:solidFill>
                <a:latin typeface="Calibri"/>
              </a:rPr>
              <a:t>küme</a:t>
            </a:r>
            <a:r>
              <a:rPr sz="1100" b="0" i="0" dirty="0">
                <a:solidFill>
                  <a:srgbClr val="242A30"/>
                </a:solidFill>
                <a:latin typeface="Calibri"/>
              </a:rPr>
              <a:t> </a:t>
            </a:r>
            <a:r>
              <a:rPr sz="1100" b="0" i="0" dirty="0" err="1">
                <a:solidFill>
                  <a:srgbClr val="242A30"/>
                </a:solidFill>
                <a:latin typeface="Calibri"/>
              </a:rPr>
              <a:t>konuşma</a:t>
            </a:r>
            <a:r>
              <a:rPr sz="1100" b="0" i="0" dirty="0">
                <a:solidFill>
                  <a:srgbClr val="242A30"/>
                </a:solidFill>
                <a:latin typeface="Calibri"/>
              </a:rPr>
              <a:t> </a:t>
            </a:r>
            <a:r>
              <a:rPr sz="1100" b="0" i="0" dirty="0" err="1">
                <a:solidFill>
                  <a:srgbClr val="242A30"/>
                </a:solidFill>
                <a:latin typeface="Calibri"/>
              </a:rPr>
              <a:t>deepfake'inden</a:t>
            </a:r>
            <a:r>
              <a:rPr sz="1100" b="0" i="0" dirty="0">
                <a:solidFill>
                  <a:srgbClr val="242A30"/>
                </a:solidFill>
                <a:latin typeface="Calibri"/>
              </a:rPr>
              <a:t> </a:t>
            </a:r>
            <a:r>
              <a:rPr sz="1100" b="0" i="0" dirty="0" err="1">
                <a:solidFill>
                  <a:srgbClr val="242A30"/>
                </a:solidFill>
                <a:latin typeface="Calibri"/>
              </a:rPr>
              <a:t>türetilmiş</a:t>
            </a:r>
            <a:r>
              <a:rPr sz="1100" b="0" i="0" dirty="0">
                <a:solidFill>
                  <a:srgbClr val="242A30"/>
                </a:solidFill>
                <a:latin typeface="Calibri"/>
              </a:rPr>
              <a:t>, </a:t>
            </a:r>
            <a:r>
              <a:rPr sz="1100" b="0" i="0" dirty="0" err="1">
                <a:solidFill>
                  <a:srgbClr val="242A30"/>
                </a:solidFill>
                <a:latin typeface="Calibri"/>
              </a:rPr>
              <a:t>müzik</a:t>
            </a:r>
            <a:r>
              <a:rPr sz="1100" b="0" i="0" dirty="0">
                <a:solidFill>
                  <a:srgbClr val="242A30"/>
                </a:solidFill>
                <a:latin typeface="Calibri"/>
              </a:rPr>
              <a:t> </a:t>
            </a:r>
            <a:r>
              <a:rPr sz="1100" b="0" i="0" dirty="0" err="1">
                <a:solidFill>
                  <a:srgbClr val="242A30"/>
                </a:solidFill>
                <a:latin typeface="Calibri"/>
              </a:rPr>
              <a:t>üretim</a:t>
            </a:r>
            <a:r>
              <a:rPr sz="1100" b="0" i="0" dirty="0">
                <a:solidFill>
                  <a:srgbClr val="242A30"/>
                </a:solidFill>
                <a:latin typeface="Calibri"/>
              </a:rPr>
              <a:t> </a:t>
            </a:r>
            <a:r>
              <a:rPr sz="1100" b="0" i="0" dirty="0" err="1">
                <a:solidFill>
                  <a:srgbClr val="242A30"/>
                </a:solidFill>
                <a:latin typeface="Calibri"/>
              </a:rPr>
              <a:t>imzalarını</a:t>
            </a:r>
            <a:r>
              <a:rPr sz="1100" b="0" i="0" dirty="0">
                <a:solidFill>
                  <a:srgbClr val="242A30"/>
                </a:solidFill>
                <a:latin typeface="Calibri"/>
              </a:rPr>
              <a:t> </a:t>
            </a:r>
            <a:r>
              <a:rPr sz="1100" b="0" i="0" dirty="0" err="1">
                <a:solidFill>
                  <a:srgbClr val="242A30"/>
                </a:solidFill>
                <a:latin typeface="Calibri"/>
              </a:rPr>
              <a:t>taşımıyor</a:t>
            </a:r>
            <a:r>
              <a:rPr sz="1100" b="0" i="0" dirty="0">
                <a:solidFill>
                  <a:srgbClr val="242A30"/>
                </a:solidFill>
                <a:latin typeface="Calibri"/>
              </a:rPr>
              <a:t> (</a:t>
            </a:r>
            <a:r>
              <a:rPr sz="1100" b="0" i="0" dirty="0" err="1">
                <a:solidFill>
                  <a:srgbClr val="242A30"/>
                </a:solidFill>
                <a:latin typeface="Calibri"/>
              </a:rPr>
              <a:t>dağılım</a:t>
            </a:r>
            <a:r>
              <a:rPr sz="1100" b="0" i="0" dirty="0">
                <a:solidFill>
                  <a:srgbClr val="242A30"/>
                </a:solidFill>
                <a:latin typeface="Calibri"/>
              </a:rPr>
              <a:t> </a:t>
            </a:r>
            <a:r>
              <a:rPr sz="1100" b="0" i="0" dirty="0" err="1">
                <a:solidFill>
                  <a:srgbClr val="242A30"/>
                </a:solidFill>
                <a:latin typeface="Calibri"/>
              </a:rPr>
              <a:t>kayması</a:t>
            </a:r>
            <a:r>
              <a:rPr sz="1100" b="0" i="0" dirty="0">
                <a:solidFill>
                  <a:srgbClr val="242A30"/>
                </a:solidFill>
                <a:latin typeface="Calibri"/>
              </a:rPr>
              <a:t>).</a:t>
            </a:r>
          </a:p>
        </p:txBody>
      </p:sp>
      <p:sp>
        <p:nvSpPr>
          <p:cNvPr id="11" name="Rectangle 10"/>
          <p:cNvSpPr/>
          <p:nvPr/>
        </p:nvSpPr>
        <p:spPr>
          <a:xfrm>
            <a:off x="365760" y="3886200"/>
            <a:ext cx="5623560" cy="2148840"/>
          </a:xfrm>
          <a:prstGeom prst="rect">
            <a:avLst/>
          </a:prstGeom>
          <a:solidFill>
            <a:srgbClr val="F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365760" y="3886200"/>
            <a:ext cx="91440" cy="2148840"/>
          </a:xfrm>
          <a:prstGeom prst="rect">
            <a:avLst/>
          </a:prstGeom>
          <a:solidFill>
            <a:srgbClr val="B32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85216" y="4005072"/>
            <a:ext cx="5257800" cy="365760"/>
          </a:xfrm>
          <a:prstGeom prst="rect">
            <a:avLst/>
          </a:prstGeom>
          <a:noFill/>
        </p:spPr>
        <p:txBody>
          <a:bodyPr wrap="square" lIns="25400" tIns="12700" rIns="25400" bIns="12700" anchor="t">
            <a:spAutoFit/>
          </a:bodyPr>
          <a:lstStyle/>
          <a:p>
            <a:pPr algn="l"/>
            <a:r>
              <a:rPr sz="1300" b="1" i="0">
                <a:solidFill>
                  <a:srgbClr val="102A4C"/>
                </a:solidFill>
                <a:latin typeface="Calibri"/>
              </a:rPr>
              <a:t>Aşırı Uyum Tanısı (Şekil 14)</a:t>
            </a:r>
          </a:p>
        </p:txBody>
      </p:sp>
      <p:sp>
        <p:nvSpPr>
          <p:cNvPr id="14" name="TextBox 13"/>
          <p:cNvSpPr txBox="1"/>
          <p:nvPr/>
        </p:nvSpPr>
        <p:spPr>
          <a:xfrm>
            <a:off x="585216" y="4434840"/>
            <a:ext cx="5239512" cy="1490472"/>
          </a:xfrm>
          <a:prstGeom prst="rect">
            <a:avLst/>
          </a:prstGeom>
          <a:noFill/>
        </p:spPr>
        <p:txBody>
          <a:bodyPr wrap="square" lIns="25400" rIns="25400" anchor="t">
            <a:spAutoFit/>
          </a:bodyPr>
          <a:lstStyle/>
          <a:p>
            <a:pPr algn="l">
              <a:spcBef>
                <a:spcPts val="0"/>
              </a:spcBef>
              <a:spcAft>
                <a:spcPts val="400"/>
              </a:spcAft>
            </a:pPr>
            <a:r>
              <a:rPr sz="1100" b="0" i="0">
                <a:solidFill>
                  <a:srgbClr val="242A30"/>
                </a:solidFill>
                <a:latin typeface="Calibri"/>
              </a:rPr>
              <a:t>Ağaç modellerinde eğitim ile CV doğruluğu arasında 8–14 puanlık açık var.</a:t>
            </a:r>
          </a:p>
          <a:p>
            <a:pPr algn="l">
              <a:spcBef>
                <a:spcPts val="0"/>
              </a:spcBef>
              <a:spcAft>
                <a:spcPts val="400"/>
              </a:spcAft>
            </a:pPr>
            <a:endParaRPr sz="1100" b="0" i="0">
              <a:solidFill>
                <a:srgbClr val="242A30"/>
              </a:solidFill>
              <a:latin typeface="Calibri"/>
            </a:endParaRPr>
          </a:p>
          <a:p>
            <a:pPr algn="l">
              <a:spcBef>
                <a:spcPts val="0"/>
              </a:spcBef>
              <a:spcAft>
                <a:spcPts val="400"/>
              </a:spcAft>
            </a:pPr>
            <a:r>
              <a:rPr sz="1100" b="0" i="0">
                <a:solidFill>
                  <a:srgbClr val="242A30"/>
                </a:solidFill>
                <a:latin typeface="Calibri"/>
              </a:rPr>
              <a:t>Rastgele Orman uç örnek: eğitim %100 → CV %86,1.</a:t>
            </a:r>
          </a:p>
          <a:p>
            <a:pPr algn="l">
              <a:spcBef>
                <a:spcPts val="0"/>
              </a:spcBef>
              <a:spcAft>
                <a:spcPts val="400"/>
              </a:spcAft>
            </a:pPr>
            <a:r>
              <a:rPr sz="1100" b="0" i="0">
                <a:solidFill>
                  <a:srgbClr val="242A30"/>
                </a:solidFill>
                <a:latin typeface="Calibri"/>
              </a:rPr>
              <a:t>Lojistik Regresyon en dengeli (0,6 puan) ama düşük kapasiteli.</a:t>
            </a:r>
          </a:p>
        </p:txBody>
      </p:sp>
      <p:sp>
        <p:nvSpPr>
          <p:cNvPr id="15" name="Rectangle 14"/>
          <p:cNvSpPr/>
          <p:nvPr/>
        </p:nvSpPr>
        <p:spPr>
          <a:xfrm>
            <a:off x="7033019" y="1581912"/>
            <a:ext cx="3901920" cy="2743200"/>
          </a:xfrm>
          <a:prstGeom prst="rect">
            <a:avLst/>
          </a:prstGeom>
          <a:solidFill>
            <a:srgbClr val="FFFFFF"/>
          </a:solidFill>
          <a:ln w="9525">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Picture 15" descr="threshold_sweep.png"/>
          <p:cNvPicPr>
            <a:picLocks noChangeAspect="1"/>
          </p:cNvPicPr>
          <p:nvPr/>
        </p:nvPicPr>
        <p:blipFill>
          <a:blip r:embed="rId2"/>
          <a:stretch>
            <a:fillRect/>
          </a:stretch>
        </p:blipFill>
        <p:spPr>
          <a:xfrm>
            <a:off x="7078739" y="1627632"/>
            <a:ext cx="3810480" cy="2651760"/>
          </a:xfrm>
          <a:prstGeom prst="rect">
            <a:avLst/>
          </a:prstGeom>
        </p:spPr>
      </p:pic>
      <p:sp>
        <p:nvSpPr>
          <p:cNvPr id="17" name="TextBox 16"/>
          <p:cNvSpPr txBox="1"/>
          <p:nvPr/>
        </p:nvSpPr>
        <p:spPr>
          <a:xfrm>
            <a:off x="6172200" y="4334255"/>
            <a:ext cx="5623560" cy="274320"/>
          </a:xfrm>
          <a:prstGeom prst="rect">
            <a:avLst/>
          </a:prstGeom>
          <a:noFill/>
        </p:spPr>
        <p:txBody>
          <a:bodyPr wrap="square" lIns="25400" tIns="12700" rIns="25400" bIns="12700" anchor="t">
            <a:spAutoFit/>
          </a:bodyPr>
          <a:lstStyle/>
          <a:p>
            <a:pPr algn="ctr"/>
            <a:r>
              <a:rPr sz="1000" b="0" i="1">
                <a:solidFill>
                  <a:srgbClr val="6A7480"/>
                </a:solidFill>
                <a:latin typeface="Calibri"/>
              </a:rPr>
              <a:t>Şekil 12: Karar eşiği taraması (0,40–0,50 platosu)</a:t>
            </a:r>
          </a:p>
        </p:txBody>
      </p:sp>
      <p:sp>
        <p:nvSpPr>
          <p:cNvPr id="18" name="Rectangle 17"/>
          <p:cNvSpPr/>
          <p:nvPr/>
        </p:nvSpPr>
        <p:spPr>
          <a:xfrm>
            <a:off x="6172200" y="4617720"/>
            <a:ext cx="5623560" cy="1417320"/>
          </a:xfrm>
          <a:prstGeom prst="rect">
            <a:avLst/>
          </a:prstGeom>
          <a:solidFill>
            <a:srgbClr val="EA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172200" y="4617720"/>
            <a:ext cx="91440" cy="141732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391656" y="4736592"/>
            <a:ext cx="5257800" cy="365760"/>
          </a:xfrm>
          <a:prstGeom prst="rect">
            <a:avLst/>
          </a:prstGeom>
          <a:noFill/>
        </p:spPr>
        <p:txBody>
          <a:bodyPr wrap="square" lIns="25400" tIns="12700" rIns="25400" bIns="12700" anchor="t">
            <a:spAutoFit/>
          </a:bodyPr>
          <a:lstStyle/>
          <a:p>
            <a:pPr algn="l"/>
            <a:r>
              <a:rPr sz="1300" b="1" i="0">
                <a:solidFill>
                  <a:srgbClr val="102A4C"/>
                </a:solidFill>
                <a:latin typeface="Calibri"/>
              </a:rPr>
              <a:t>Öznitelik Sayısı Analizi (Şekil 16)</a:t>
            </a:r>
          </a:p>
        </p:txBody>
      </p:sp>
      <p:sp>
        <p:nvSpPr>
          <p:cNvPr id="21" name="TextBox 20"/>
          <p:cNvSpPr txBox="1"/>
          <p:nvPr/>
        </p:nvSpPr>
        <p:spPr>
          <a:xfrm>
            <a:off x="6391656" y="5166359"/>
            <a:ext cx="5239512" cy="758952"/>
          </a:xfrm>
          <a:prstGeom prst="rect">
            <a:avLst/>
          </a:prstGeom>
          <a:noFill/>
        </p:spPr>
        <p:txBody>
          <a:bodyPr wrap="square" lIns="25400" rIns="25400" anchor="t">
            <a:spAutoFit/>
          </a:bodyPr>
          <a:lstStyle/>
          <a:p>
            <a:pPr algn="l">
              <a:spcBef>
                <a:spcPts val="0"/>
              </a:spcBef>
              <a:spcAft>
                <a:spcPts val="400"/>
              </a:spcAft>
            </a:pPr>
            <a:r>
              <a:rPr sz="1100" b="0" i="0">
                <a:solidFill>
                  <a:srgbClr val="242A30"/>
                </a:solidFill>
                <a:latin typeface="Calibri"/>
              </a:rPr>
              <a:t>Doğruluk N=30'da platoya ulaşıyor; son 17 özniteliğin ölçülebilir katkısı yok. Gelecek yinelemede ~30 öznitelikle benzer doğruluk elde edilebilir.</a:t>
            </a:r>
          </a:p>
        </p:txBody>
      </p:sp>
      <p:sp>
        <p:nvSpPr>
          <p:cNvPr id="22" name="Rectangle 21"/>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65760" y="6473952"/>
            <a:ext cx="4206240" cy="292608"/>
          </a:xfrm>
          <a:prstGeom prst="rect">
            <a:avLst/>
          </a:prstGeom>
          <a:noFill/>
        </p:spPr>
        <p:txBody>
          <a:bodyPr wrap="square" lIns="25400" tIns="12700" rIns="25400" bIns="12700" anchor="t">
            <a:spAutoFit/>
          </a:bodyPr>
          <a:lstStyle/>
          <a:p>
            <a:pPr algn="l"/>
            <a:r>
              <a:rPr sz="900" b="0" i="0">
                <a:solidFill>
                  <a:srgbClr val="6A7480"/>
                </a:solidFill>
                <a:latin typeface="Calibri"/>
              </a:rPr>
              <a:t>AURIS · YZ Üretimli Müzik Tespiti</a:t>
            </a:r>
          </a:p>
        </p:txBody>
      </p:sp>
      <p:sp>
        <p:nvSpPr>
          <p:cNvPr id="24" name="TextBox 23"/>
          <p:cNvSpPr txBox="1"/>
          <p:nvPr/>
        </p:nvSpPr>
        <p:spPr>
          <a:xfrm>
            <a:off x="4663440" y="6473952"/>
            <a:ext cx="7159752" cy="292608"/>
          </a:xfrm>
          <a:prstGeom prst="rect">
            <a:avLst/>
          </a:prstGeom>
          <a:noFill/>
        </p:spPr>
        <p:txBody>
          <a:bodyPr wrap="square" lIns="25400" tIns="12700" rIns="25400" bIns="12700" anchor="t">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46304"/>
            <a:ext cx="10058400" cy="292608"/>
          </a:xfrm>
          <a:prstGeom prst="rect">
            <a:avLst/>
          </a:prstGeom>
          <a:noFill/>
        </p:spPr>
        <p:txBody>
          <a:bodyPr wrap="square" lIns="25400" tIns="12700" rIns="25400" bIns="12700" anchor="t">
            <a:spAutoFit/>
          </a:bodyPr>
          <a:lstStyle/>
          <a:p>
            <a:pPr algn="l"/>
            <a:r>
              <a:rPr sz="1150" b="1" i="0">
                <a:solidFill>
                  <a:srgbClr val="D99A07"/>
                </a:solidFill>
                <a:latin typeface="Calibri"/>
              </a:rPr>
              <a:t>BÖLÜM 11</a:t>
            </a:r>
          </a:p>
        </p:txBody>
      </p:sp>
      <p:sp>
        <p:nvSpPr>
          <p:cNvPr id="6" name="TextBox 5"/>
          <p:cNvSpPr txBox="1"/>
          <p:nvPr/>
        </p:nvSpPr>
        <p:spPr>
          <a:xfrm>
            <a:off x="411480" y="420624"/>
            <a:ext cx="11338560" cy="603504"/>
          </a:xfrm>
          <a:prstGeom prst="rect">
            <a:avLst/>
          </a:prstGeom>
          <a:noFill/>
        </p:spPr>
        <p:txBody>
          <a:bodyPr wrap="square" lIns="25400" tIns="12700" rIns="25400" bIns="12700" anchor="t">
            <a:spAutoFit/>
          </a:bodyPr>
          <a:lstStyle/>
          <a:p>
            <a:pPr algn="l"/>
            <a:r>
              <a:rPr sz="2300" b="1" i="0">
                <a:solidFill>
                  <a:srgbClr val="FFFFFF"/>
                </a:solidFill>
                <a:latin typeface="Calibri"/>
              </a:rPr>
              <a:t>İlgili Çalışmalarla Karşılaştırma — Tablo 7</a:t>
            </a:r>
          </a:p>
        </p:txBody>
      </p:sp>
      <p:sp>
        <p:nvSpPr>
          <p:cNvPr id="7" name="Rectangle 6"/>
          <p:cNvSpPr/>
          <p:nvPr/>
        </p:nvSpPr>
        <p:spPr>
          <a:xfrm>
            <a:off x="365760" y="1627632"/>
            <a:ext cx="265176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627632"/>
            <a:ext cx="2468879" cy="384048"/>
          </a:xfrm>
          <a:prstGeom prst="rect">
            <a:avLst/>
          </a:prstGeom>
          <a:noFill/>
        </p:spPr>
        <p:txBody>
          <a:bodyPr wrap="square" lIns="25400" tIns="12700" rIns="25400" bIns="12700" anchor="ctr">
            <a:spAutoFit/>
          </a:bodyPr>
          <a:lstStyle/>
          <a:p>
            <a:pPr algn="l"/>
            <a:r>
              <a:rPr sz="1150" b="1" i="0">
                <a:solidFill>
                  <a:srgbClr val="FFFFFF"/>
                </a:solidFill>
                <a:latin typeface="Calibri"/>
              </a:rPr>
              <a:t>Çalışma</a:t>
            </a:r>
          </a:p>
        </p:txBody>
      </p:sp>
      <p:sp>
        <p:nvSpPr>
          <p:cNvPr id="9" name="Rectangle 8"/>
          <p:cNvSpPr/>
          <p:nvPr/>
        </p:nvSpPr>
        <p:spPr>
          <a:xfrm>
            <a:off x="3017520" y="1627632"/>
            <a:ext cx="338328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108960" y="1627632"/>
            <a:ext cx="3200400" cy="384048"/>
          </a:xfrm>
          <a:prstGeom prst="rect">
            <a:avLst/>
          </a:prstGeom>
          <a:noFill/>
        </p:spPr>
        <p:txBody>
          <a:bodyPr wrap="square" lIns="25400" tIns="12700" rIns="25400" bIns="12700" anchor="ctr">
            <a:spAutoFit/>
          </a:bodyPr>
          <a:lstStyle/>
          <a:p>
            <a:pPr algn="l"/>
            <a:r>
              <a:rPr sz="1150" b="1" i="0">
                <a:solidFill>
                  <a:srgbClr val="FFFFFF"/>
                </a:solidFill>
                <a:latin typeface="Calibri"/>
              </a:rPr>
              <a:t>Yaklaşım</a:t>
            </a:r>
          </a:p>
        </p:txBody>
      </p:sp>
      <p:sp>
        <p:nvSpPr>
          <p:cNvPr id="11" name="Rectangle 10"/>
          <p:cNvSpPr/>
          <p:nvPr/>
        </p:nvSpPr>
        <p:spPr>
          <a:xfrm>
            <a:off x="6400800" y="1627632"/>
            <a:ext cx="182880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00800" y="1627632"/>
            <a:ext cx="1828800" cy="384048"/>
          </a:xfrm>
          <a:prstGeom prst="rect">
            <a:avLst/>
          </a:prstGeom>
          <a:noFill/>
        </p:spPr>
        <p:txBody>
          <a:bodyPr wrap="square" lIns="25400" tIns="12700" rIns="25400" bIns="12700" anchor="ctr">
            <a:spAutoFit/>
          </a:bodyPr>
          <a:lstStyle/>
          <a:p>
            <a:pPr algn="ctr"/>
            <a:r>
              <a:rPr sz="1150" b="1" i="0">
                <a:solidFill>
                  <a:srgbClr val="FFFFFF"/>
                </a:solidFill>
                <a:latin typeface="Calibri"/>
              </a:rPr>
              <a:t>Veri Kümesi</a:t>
            </a:r>
          </a:p>
        </p:txBody>
      </p:sp>
      <p:sp>
        <p:nvSpPr>
          <p:cNvPr id="13" name="Rectangle 12"/>
          <p:cNvSpPr/>
          <p:nvPr/>
        </p:nvSpPr>
        <p:spPr>
          <a:xfrm>
            <a:off x="8229600" y="1627632"/>
            <a:ext cx="178308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229600" y="1627632"/>
            <a:ext cx="1783080" cy="384048"/>
          </a:xfrm>
          <a:prstGeom prst="rect">
            <a:avLst/>
          </a:prstGeom>
          <a:noFill/>
        </p:spPr>
        <p:txBody>
          <a:bodyPr wrap="square" lIns="25400" tIns="12700" rIns="25400" bIns="12700" anchor="ctr">
            <a:spAutoFit/>
          </a:bodyPr>
          <a:lstStyle/>
          <a:p>
            <a:pPr algn="ctr"/>
            <a:r>
              <a:rPr sz="1150" b="1" i="0">
                <a:solidFill>
                  <a:srgbClr val="FFFFFF"/>
                </a:solidFill>
                <a:latin typeface="Calibri"/>
              </a:rPr>
              <a:t>ROC-AUC</a:t>
            </a:r>
          </a:p>
        </p:txBody>
      </p:sp>
      <p:sp>
        <p:nvSpPr>
          <p:cNvPr id="15" name="Rectangle 14"/>
          <p:cNvSpPr/>
          <p:nvPr/>
        </p:nvSpPr>
        <p:spPr>
          <a:xfrm>
            <a:off x="10012680" y="1627632"/>
            <a:ext cx="1810512"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012680" y="1627632"/>
            <a:ext cx="1810512" cy="384048"/>
          </a:xfrm>
          <a:prstGeom prst="rect">
            <a:avLst/>
          </a:prstGeom>
          <a:noFill/>
        </p:spPr>
        <p:txBody>
          <a:bodyPr wrap="square" lIns="25400" tIns="12700" rIns="25400" bIns="12700" anchor="ctr">
            <a:spAutoFit/>
          </a:bodyPr>
          <a:lstStyle/>
          <a:p>
            <a:pPr algn="ctr"/>
            <a:r>
              <a:rPr sz="1150" b="1" i="0">
                <a:solidFill>
                  <a:srgbClr val="FFFFFF"/>
                </a:solidFill>
                <a:latin typeface="Calibri"/>
              </a:rPr>
              <a:t>F1</a:t>
            </a:r>
          </a:p>
        </p:txBody>
      </p:sp>
      <p:sp>
        <p:nvSpPr>
          <p:cNvPr id="17" name="Rectangle 16"/>
          <p:cNvSpPr/>
          <p:nvPr/>
        </p:nvSpPr>
        <p:spPr>
          <a:xfrm>
            <a:off x="365760" y="2011680"/>
            <a:ext cx="265176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57200" y="2011680"/>
            <a:ext cx="2468879" cy="566928"/>
          </a:xfrm>
          <a:prstGeom prst="rect">
            <a:avLst/>
          </a:prstGeom>
          <a:noFill/>
        </p:spPr>
        <p:txBody>
          <a:bodyPr wrap="square" lIns="25400" tIns="12700" rIns="25400" bIns="12700" anchor="ctr">
            <a:spAutoFit/>
          </a:bodyPr>
          <a:lstStyle/>
          <a:p>
            <a:pPr algn="l"/>
            <a:r>
              <a:rPr sz="1100" b="0" i="0">
                <a:solidFill>
                  <a:srgbClr val="242A30"/>
                </a:solidFill>
                <a:latin typeface="Calibri"/>
              </a:rPr>
              <a:t>Afchar vd. [5]</a:t>
            </a:r>
          </a:p>
        </p:txBody>
      </p:sp>
      <p:sp>
        <p:nvSpPr>
          <p:cNvPr id="19" name="Rectangle 18"/>
          <p:cNvSpPr/>
          <p:nvPr/>
        </p:nvSpPr>
        <p:spPr>
          <a:xfrm>
            <a:off x="3017520" y="2011680"/>
            <a:ext cx="338328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108960" y="2011680"/>
            <a:ext cx="3200400" cy="566928"/>
          </a:xfrm>
          <a:prstGeom prst="rect">
            <a:avLst/>
          </a:prstGeom>
          <a:noFill/>
        </p:spPr>
        <p:txBody>
          <a:bodyPr wrap="square" lIns="25400" tIns="12700" rIns="25400" bIns="12700" anchor="ctr">
            <a:spAutoFit/>
          </a:bodyPr>
          <a:lstStyle/>
          <a:p>
            <a:pPr algn="l"/>
            <a:r>
              <a:rPr sz="1100" b="0" i="0">
                <a:solidFill>
                  <a:srgbClr val="242A30"/>
                </a:solidFill>
                <a:latin typeface="Calibri"/>
              </a:rPr>
              <a:t>Oto-kodlayıcı artefakt</a:t>
            </a:r>
          </a:p>
        </p:txBody>
      </p:sp>
      <p:sp>
        <p:nvSpPr>
          <p:cNvPr id="21" name="Rectangle 20"/>
          <p:cNvSpPr/>
          <p:nvPr/>
        </p:nvSpPr>
        <p:spPr>
          <a:xfrm>
            <a:off x="6400800" y="2011680"/>
            <a:ext cx="182880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428232" y="2011680"/>
            <a:ext cx="1773936" cy="566928"/>
          </a:xfrm>
          <a:prstGeom prst="rect">
            <a:avLst/>
          </a:prstGeom>
          <a:noFill/>
        </p:spPr>
        <p:txBody>
          <a:bodyPr wrap="square" lIns="25400" tIns="12700" rIns="25400" bIns="12700" anchor="ctr">
            <a:spAutoFit/>
          </a:bodyPr>
          <a:lstStyle/>
          <a:p>
            <a:pPr algn="ctr"/>
            <a:r>
              <a:rPr sz="1100" b="0" i="0">
                <a:solidFill>
                  <a:srgbClr val="242A30"/>
                </a:solidFill>
                <a:latin typeface="Calibri"/>
              </a:rPr>
              <a:t>Özel</a:t>
            </a:r>
          </a:p>
        </p:txBody>
      </p:sp>
      <p:sp>
        <p:nvSpPr>
          <p:cNvPr id="23" name="Rectangle 22"/>
          <p:cNvSpPr/>
          <p:nvPr/>
        </p:nvSpPr>
        <p:spPr>
          <a:xfrm>
            <a:off x="8229600" y="2011680"/>
            <a:ext cx="178308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257031" y="2011680"/>
            <a:ext cx="1728216" cy="566928"/>
          </a:xfrm>
          <a:prstGeom prst="rect">
            <a:avLst/>
          </a:prstGeom>
          <a:noFill/>
        </p:spPr>
        <p:txBody>
          <a:bodyPr wrap="square" lIns="25400" tIns="12700" rIns="25400" bIns="12700" anchor="ctr">
            <a:spAutoFit/>
          </a:bodyPr>
          <a:lstStyle/>
          <a:p>
            <a:pPr algn="ctr"/>
            <a:r>
              <a:rPr sz="1100" b="0" i="0">
                <a:solidFill>
                  <a:srgbClr val="242A30"/>
                </a:solidFill>
                <a:latin typeface="Calibri"/>
              </a:rPr>
              <a:t>—</a:t>
            </a:r>
          </a:p>
        </p:txBody>
      </p:sp>
      <p:sp>
        <p:nvSpPr>
          <p:cNvPr id="25" name="Rectangle 24"/>
          <p:cNvSpPr/>
          <p:nvPr/>
        </p:nvSpPr>
        <p:spPr>
          <a:xfrm>
            <a:off x="10012680" y="2011680"/>
            <a:ext cx="1810512"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040111" y="2011680"/>
            <a:ext cx="1755648" cy="566928"/>
          </a:xfrm>
          <a:prstGeom prst="rect">
            <a:avLst/>
          </a:prstGeom>
          <a:noFill/>
        </p:spPr>
        <p:txBody>
          <a:bodyPr wrap="square" lIns="25400" tIns="12700" rIns="25400" bIns="12700" anchor="ctr">
            <a:spAutoFit/>
          </a:bodyPr>
          <a:lstStyle/>
          <a:p>
            <a:pPr algn="ctr"/>
            <a:r>
              <a:rPr sz="1100" b="0" i="0">
                <a:solidFill>
                  <a:srgbClr val="242A30"/>
                </a:solidFill>
                <a:latin typeface="Calibri"/>
              </a:rPr>
              <a:t>0,872</a:t>
            </a:r>
          </a:p>
        </p:txBody>
      </p:sp>
      <p:sp>
        <p:nvSpPr>
          <p:cNvPr id="27" name="Rectangle 26"/>
          <p:cNvSpPr/>
          <p:nvPr/>
        </p:nvSpPr>
        <p:spPr>
          <a:xfrm>
            <a:off x="365760" y="2578608"/>
            <a:ext cx="2651760"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57200" y="2578608"/>
            <a:ext cx="2468879" cy="566928"/>
          </a:xfrm>
          <a:prstGeom prst="rect">
            <a:avLst/>
          </a:prstGeom>
          <a:noFill/>
        </p:spPr>
        <p:txBody>
          <a:bodyPr wrap="square" lIns="25400" tIns="12700" rIns="25400" bIns="12700" anchor="ctr">
            <a:spAutoFit/>
          </a:bodyPr>
          <a:lstStyle/>
          <a:p>
            <a:pPr algn="l"/>
            <a:r>
              <a:rPr sz="1100" b="0" i="0">
                <a:solidFill>
                  <a:srgbClr val="242A30"/>
                </a:solidFill>
                <a:latin typeface="Calibri"/>
              </a:rPr>
              <a:t>Li vd. [22]</a:t>
            </a:r>
          </a:p>
        </p:txBody>
      </p:sp>
      <p:sp>
        <p:nvSpPr>
          <p:cNvPr id="29" name="Rectangle 28"/>
          <p:cNvSpPr/>
          <p:nvPr/>
        </p:nvSpPr>
        <p:spPr>
          <a:xfrm>
            <a:off x="3017520" y="2578608"/>
            <a:ext cx="3383280"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3108960" y="2578608"/>
            <a:ext cx="3200400" cy="566928"/>
          </a:xfrm>
          <a:prstGeom prst="rect">
            <a:avLst/>
          </a:prstGeom>
          <a:noFill/>
        </p:spPr>
        <p:txBody>
          <a:bodyPr wrap="square" lIns="25400" tIns="12700" rIns="25400" bIns="12700" anchor="ctr">
            <a:spAutoFit/>
          </a:bodyPr>
          <a:lstStyle/>
          <a:p>
            <a:pPr algn="l"/>
            <a:r>
              <a:rPr sz="1100" b="0" i="0">
                <a:solidFill>
                  <a:srgbClr val="242A30"/>
                </a:solidFill>
                <a:latin typeface="Calibri"/>
              </a:rPr>
              <a:t>Açıklanabilir öznitelik + ML</a:t>
            </a:r>
          </a:p>
        </p:txBody>
      </p:sp>
      <p:sp>
        <p:nvSpPr>
          <p:cNvPr id="31" name="Rectangle 30"/>
          <p:cNvSpPr/>
          <p:nvPr/>
        </p:nvSpPr>
        <p:spPr>
          <a:xfrm>
            <a:off x="6400800" y="2578608"/>
            <a:ext cx="1828800"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28232" y="2578608"/>
            <a:ext cx="1773936" cy="566928"/>
          </a:xfrm>
          <a:prstGeom prst="rect">
            <a:avLst/>
          </a:prstGeom>
          <a:noFill/>
        </p:spPr>
        <p:txBody>
          <a:bodyPr wrap="square" lIns="25400" tIns="12700" rIns="25400" bIns="12700" anchor="ctr">
            <a:spAutoFit/>
          </a:bodyPr>
          <a:lstStyle/>
          <a:p>
            <a:pPr algn="ctr"/>
            <a:r>
              <a:rPr sz="1100" b="0" i="0">
                <a:solidFill>
                  <a:srgbClr val="242A30"/>
                </a:solidFill>
                <a:latin typeface="Calibri"/>
              </a:rPr>
              <a:t>Özel</a:t>
            </a:r>
          </a:p>
        </p:txBody>
      </p:sp>
      <p:sp>
        <p:nvSpPr>
          <p:cNvPr id="33" name="Rectangle 32"/>
          <p:cNvSpPr/>
          <p:nvPr/>
        </p:nvSpPr>
        <p:spPr>
          <a:xfrm>
            <a:off x="8229600" y="2578608"/>
            <a:ext cx="1783080"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257031" y="2578608"/>
            <a:ext cx="1728216" cy="566928"/>
          </a:xfrm>
          <a:prstGeom prst="rect">
            <a:avLst/>
          </a:prstGeom>
          <a:noFill/>
        </p:spPr>
        <p:txBody>
          <a:bodyPr wrap="square" lIns="25400" tIns="12700" rIns="25400" bIns="12700" anchor="ctr">
            <a:spAutoFit/>
          </a:bodyPr>
          <a:lstStyle/>
          <a:p>
            <a:pPr algn="ctr"/>
            <a:r>
              <a:rPr sz="1100" b="0" i="0">
                <a:solidFill>
                  <a:srgbClr val="242A30"/>
                </a:solidFill>
                <a:latin typeface="Calibri"/>
              </a:rPr>
              <a:t>0,931</a:t>
            </a:r>
          </a:p>
        </p:txBody>
      </p:sp>
      <p:sp>
        <p:nvSpPr>
          <p:cNvPr id="35" name="Rectangle 34"/>
          <p:cNvSpPr/>
          <p:nvPr/>
        </p:nvSpPr>
        <p:spPr>
          <a:xfrm>
            <a:off x="10012680" y="2578608"/>
            <a:ext cx="1810512"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040111" y="2578608"/>
            <a:ext cx="1755648" cy="566928"/>
          </a:xfrm>
          <a:prstGeom prst="rect">
            <a:avLst/>
          </a:prstGeom>
          <a:noFill/>
        </p:spPr>
        <p:txBody>
          <a:bodyPr wrap="square" lIns="25400" tIns="12700" rIns="25400" bIns="12700" anchor="ctr">
            <a:spAutoFit/>
          </a:bodyPr>
          <a:lstStyle/>
          <a:p>
            <a:pPr algn="ctr"/>
            <a:r>
              <a:rPr sz="1100" b="0" i="0">
                <a:solidFill>
                  <a:srgbClr val="242A30"/>
                </a:solidFill>
                <a:latin typeface="Calibri"/>
              </a:rPr>
              <a:t>0,884</a:t>
            </a:r>
          </a:p>
        </p:txBody>
      </p:sp>
      <p:sp>
        <p:nvSpPr>
          <p:cNvPr id="37" name="Rectangle 36"/>
          <p:cNvSpPr/>
          <p:nvPr/>
        </p:nvSpPr>
        <p:spPr>
          <a:xfrm>
            <a:off x="365760" y="3145536"/>
            <a:ext cx="265176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457200" y="3145536"/>
            <a:ext cx="2468879" cy="566928"/>
          </a:xfrm>
          <a:prstGeom prst="rect">
            <a:avLst/>
          </a:prstGeom>
          <a:noFill/>
        </p:spPr>
        <p:txBody>
          <a:bodyPr wrap="square" lIns="25400" tIns="12700" rIns="25400" bIns="12700" anchor="ctr">
            <a:spAutoFit/>
          </a:bodyPr>
          <a:lstStyle/>
          <a:p>
            <a:pPr algn="l"/>
            <a:r>
              <a:rPr sz="1100" b="0" i="0">
                <a:solidFill>
                  <a:srgbClr val="242A30"/>
                </a:solidFill>
                <a:latin typeface="Calibri"/>
              </a:rPr>
              <a:t>Cros Vila vd. [33]</a:t>
            </a:r>
          </a:p>
        </p:txBody>
      </p:sp>
      <p:sp>
        <p:nvSpPr>
          <p:cNvPr id="39" name="Rectangle 38"/>
          <p:cNvSpPr/>
          <p:nvPr/>
        </p:nvSpPr>
        <p:spPr>
          <a:xfrm>
            <a:off x="3017520" y="3145536"/>
            <a:ext cx="338328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3108960" y="3145536"/>
            <a:ext cx="3200400" cy="566928"/>
          </a:xfrm>
          <a:prstGeom prst="rect">
            <a:avLst/>
          </a:prstGeom>
          <a:noFill/>
        </p:spPr>
        <p:txBody>
          <a:bodyPr wrap="square" lIns="25400" tIns="12700" rIns="25400" bIns="12700" anchor="ctr">
            <a:spAutoFit/>
          </a:bodyPr>
          <a:lstStyle/>
          <a:p>
            <a:pPr algn="l"/>
            <a:r>
              <a:rPr sz="1100" b="0" i="0">
                <a:solidFill>
                  <a:srgbClr val="242A30"/>
                </a:solidFill>
                <a:latin typeface="Calibri"/>
              </a:rPr>
              <a:t>Spektral + ritmik + SVM</a:t>
            </a:r>
          </a:p>
        </p:txBody>
      </p:sp>
      <p:sp>
        <p:nvSpPr>
          <p:cNvPr id="41" name="Rectangle 40"/>
          <p:cNvSpPr/>
          <p:nvPr/>
        </p:nvSpPr>
        <p:spPr>
          <a:xfrm>
            <a:off x="6400800" y="3145536"/>
            <a:ext cx="182880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6428232" y="3145536"/>
            <a:ext cx="1773936" cy="566928"/>
          </a:xfrm>
          <a:prstGeom prst="rect">
            <a:avLst/>
          </a:prstGeom>
          <a:noFill/>
        </p:spPr>
        <p:txBody>
          <a:bodyPr wrap="square" lIns="25400" tIns="12700" rIns="25400" bIns="12700" anchor="ctr">
            <a:spAutoFit/>
          </a:bodyPr>
          <a:lstStyle/>
          <a:p>
            <a:pPr algn="ctr"/>
            <a:r>
              <a:rPr sz="1100" b="0" i="0">
                <a:solidFill>
                  <a:srgbClr val="242A30"/>
                </a:solidFill>
                <a:latin typeface="Calibri"/>
              </a:rPr>
              <a:t>Özel</a:t>
            </a:r>
          </a:p>
        </p:txBody>
      </p:sp>
      <p:sp>
        <p:nvSpPr>
          <p:cNvPr id="43" name="Rectangle 42"/>
          <p:cNvSpPr/>
          <p:nvPr/>
        </p:nvSpPr>
        <p:spPr>
          <a:xfrm>
            <a:off x="8229600" y="3145536"/>
            <a:ext cx="178308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8257031" y="3145536"/>
            <a:ext cx="1728216" cy="566928"/>
          </a:xfrm>
          <a:prstGeom prst="rect">
            <a:avLst/>
          </a:prstGeom>
          <a:noFill/>
        </p:spPr>
        <p:txBody>
          <a:bodyPr wrap="square" lIns="25400" tIns="12700" rIns="25400" bIns="12700" anchor="ctr">
            <a:spAutoFit/>
          </a:bodyPr>
          <a:lstStyle/>
          <a:p>
            <a:pPr algn="ctr"/>
            <a:r>
              <a:rPr sz="1100" b="0" i="0">
                <a:solidFill>
                  <a:srgbClr val="242A30"/>
                </a:solidFill>
                <a:latin typeface="Calibri"/>
              </a:rPr>
              <a:t>0,941</a:t>
            </a:r>
          </a:p>
        </p:txBody>
      </p:sp>
      <p:sp>
        <p:nvSpPr>
          <p:cNvPr id="45" name="Rectangle 44"/>
          <p:cNvSpPr/>
          <p:nvPr/>
        </p:nvSpPr>
        <p:spPr>
          <a:xfrm>
            <a:off x="10012680" y="3145536"/>
            <a:ext cx="1810512"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10040111" y="3145536"/>
            <a:ext cx="1755648" cy="566928"/>
          </a:xfrm>
          <a:prstGeom prst="rect">
            <a:avLst/>
          </a:prstGeom>
          <a:noFill/>
        </p:spPr>
        <p:txBody>
          <a:bodyPr wrap="square" lIns="25400" tIns="12700" rIns="25400" bIns="12700" anchor="ctr">
            <a:spAutoFit/>
          </a:bodyPr>
          <a:lstStyle/>
          <a:p>
            <a:pPr algn="ctr"/>
            <a:r>
              <a:rPr sz="1100" b="0" i="0">
                <a:solidFill>
                  <a:srgbClr val="242A30"/>
                </a:solidFill>
                <a:latin typeface="Calibri"/>
              </a:rPr>
              <a:t>—</a:t>
            </a:r>
          </a:p>
        </p:txBody>
      </p:sp>
      <p:sp>
        <p:nvSpPr>
          <p:cNvPr id="47" name="Rectangle 46"/>
          <p:cNvSpPr/>
          <p:nvPr/>
        </p:nvSpPr>
        <p:spPr>
          <a:xfrm>
            <a:off x="365760" y="3712464"/>
            <a:ext cx="2651760"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457200" y="3712464"/>
            <a:ext cx="2468879" cy="566928"/>
          </a:xfrm>
          <a:prstGeom prst="rect">
            <a:avLst/>
          </a:prstGeom>
          <a:noFill/>
        </p:spPr>
        <p:txBody>
          <a:bodyPr wrap="square" lIns="25400" tIns="12700" rIns="25400" bIns="12700" anchor="ctr">
            <a:spAutoFit/>
          </a:bodyPr>
          <a:lstStyle/>
          <a:p>
            <a:pPr algn="l"/>
            <a:r>
              <a:rPr sz="1100" b="0" i="0">
                <a:solidFill>
                  <a:srgbClr val="242A30"/>
                </a:solidFill>
                <a:latin typeface="Calibri"/>
              </a:rPr>
              <a:t>SONICS [34]</a:t>
            </a:r>
          </a:p>
        </p:txBody>
      </p:sp>
      <p:sp>
        <p:nvSpPr>
          <p:cNvPr id="49" name="Rectangle 48"/>
          <p:cNvSpPr/>
          <p:nvPr/>
        </p:nvSpPr>
        <p:spPr>
          <a:xfrm>
            <a:off x="3017520" y="3712464"/>
            <a:ext cx="3383280"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3108960" y="3712464"/>
            <a:ext cx="3200400" cy="566928"/>
          </a:xfrm>
          <a:prstGeom prst="rect">
            <a:avLst/>
          </a:prstGeom>
          <a:noFill/>
        </p:spPr>
        <p:txBody>
          <a:bodyPr wrap="square" lIns="25400" tIns="12700" rIns="25400" bIns="12700" anchor="ctr">
            <a:spAutoFit/>
          </a:bodyPr>
          <a:lstStyle/>
          <a:p>
            <a:pPr algn="l"/>
            <a:r>
              <a:rPr sz="1100" b="0" i="0">
                <a:solidFill>
                  <a:srgbClr val="242A30"/>
                </a:solidFill>
                <a:latin typeface="Calibri"/>
              </a:rPr>
              <a:t>Transformer tabanlı DL</a:t>
            </a:r>
          </a:p>
        </p:txBody>
      </p:sp>
      <p:sp>
        <p:nvSpPr>
          <p:cNvPr id="51" name="Rectangle 50"/>
          <p:cNvSpPr/>
          <p:nvPr/>
        </p:nvSpPr>
        <p:spPr>
          <a:xfrm>
            <a:off x="6400800" y="3712464"/>
            <a:ext cx="1828800"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6428232" y="3712464"/>
            <a:ext cx="1773936" cy="566928"/>
          </a:xfrm>
          <a:prstGeom prst="rect">
            <a:avLst/>
          </a:prstGeom>
          <a:noFill/>
        </p:spPr>
        <p:txBody>
          <a:bodyPr wrap="square" lIns="25400" tIns="12700" rIns="25400" bIns="12700" anchor="ctr">
            <a:spAutoFit/>
          </a:bodyPr>
          <a:lstStyle/>
          <a:p>
            <a:pPr algn="ctr"/>
            <a:r>
              <a:rPr sz="1100" b="0" i="0" dirty="0">
                <a:solidFill>
                  <a:srgbClr val="242A30"/>
                </a:solidFill>
                <a:latin typeface="Calibri"/>
              </a:rPr>
              <a:t>SONICS</a:t>
            </a:r>
          </a:p>
        </p:txBody>
      </p:sp>
      <p:sp>
        <p:nvSpPr>
          <p:cNvPr id="53" name="Rectangle 52"/>
          <p:cNvSpPr/>
          <p:nvPr/>
        </p:nvSpPr>
        <p:spPr>
          <a:xfrm>
            <a:off x="8229600" y="3712464"/>
            <a:ext cx="1783080"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8257031" y="3712464"/>
            <a:ext cx="1728216" cy="566928"/>
          </a:xfrm>
          <a:prstGeom prst="rect">
            <a:avLst/>
          </a:prstGeom>
          <a:noFill/>
        </p:spPr>
        <p:txBody>
          <a:bodyPr wrap="square" lIns="25400" tIns="12700" rIns="25400" bIns="12700" anchor="ctr">
            <a:spAutoFit/>
          </a:bodyPr>
          <a:lstStyle/>
          <a:p>
            <a:pPr algn="ctr"/>
            <a:r>
              <a:rPr sz="1100" b="0" i="0">
                <a:solidFill>
                  <a:srgbClr val="242A30"/>
                </a:solidFill>
                <a:latin typeface="Calibri"/>
              </a:rPr>
              <a:t>0,960</a:t>
            </a:r>
          </a:p>
        </p:txBody>
      </p:sp>
      <p:sp>
        <p:nvSpPr>
          <p:cNvPr id="55" name="Rectangle 54"/>
          <p:cNvSpPr/>
          <p:nvPr/>
        </p:nvSpPr>
        <p:spPr>
          <a:xfrm>
            <a:off x="10012680" y="3712464"/>
            <a:ext cx="1810512"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10040111" y="3712464"/>
            <a:ext cx="1755648" cy="566928"/>
          </a:xfrm>
          <a:prstGeom prst="rect">
            <a:avLst/>
          </a:prstGeom>
          <a:noFill/>
        </p:spPr>
        <p:txBody>
          <a:bodyPr wrap="square" lIns="25400" tIns="12700" rIns="25400" bIns="12700" anchor="ctr">
            <a:spAutoFit/>
          </a:bodyPr>
          <a:lstStyle/>
          <a:p>
            <a:pPr algn="ctr"/>
            <a:r>
              <a:rPr sz="1100" b="0" i="0">
                <a:solidFill>
                  <a:srgbClr val="242A30"/>
                </a:solidFill>
                <a:latin typeface="Calibri"/>
              </a:rPr>
              <a:t>0,921</a:t>
            </a:r>
          </a:p>
        </p:txBody>
      </p:sp>
      <p:sp>
        <p:nvSpPr>
          <p:cNvPr id="57" name="Rectangle 56"/>
          <p:cNvSpPr/>
          <p:nvPr/>
        </p:nvSpPr>
        <p:spPr>
          <a:xfrm>
            <a:off x="365760" y="4279392"/>
            <a:ext cx="265176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457200" y="4279392"/>
            <a:ext cx="2468879" cy="566928"/>
          </a:xfrm>
          <a:prstGeom prst="rect">
            <a:avLst/>
          </a:prstGeom>
          <a:noFill/>
        </p:spPr>
        <p:txBody>
          <a:bodyPr wrap="square" lIns="25400" tIns="12700" rIns="25400" bIns="12700" anchor="ctr">
            <a:spAutoFit/>
          </a:bodyPr>
          <a:lstStyle/>
          <a:p>
            <a:pPr algn="l"/>
            <a:r>
              <a:rPr sz="1100" b="0" i="0">
                <a:solidFill>
                  <a:srgbClr val="242A30"/>
                </a:solidFill>
                <a:latin typeface="Calibri"/>
              </a:rPr>
              <a:t>FakeMusicCaps [35]</a:t>
            </a:r>
          </a:p>
        </p:txBody>
      </p:sp>
      <p:sp>
        <p:nvSpPr>
          <p:cNvPr id="59" name="Rectangle 58"/>
          <p:cNvSpPr/>
          <p:nvPr/>
        </p:nvSpPr>
        <p:spPr>
          <a:xfrm>
            <a:off x="3017520" y="4279392"/>
            <a:ext cx="338328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3108960" y="4279392"/>
            <a:ext cx="3200400" cy="566928"/>
          </a:xfrm>
          <a:prstGeom prst="rect">
            <a:avLst/>
          </a:prstGeom>
          <a:noFill/>
        </p:spPr>
        <p:txBody>
          <a:bodyPr wrap="square" lIns="25400" tIns="12700" rIns="25400" bIns="12700" anchor="ctr">
            <a:spAutoFit/>
          </a:bodyPr>
          <a:lstStyle/>
          <a:p>
            <a:pPr algn="l"/>
            <a:r>
              <a:rPr sz="1100" b="0" i="0">
                <a:solidFill>
                  <a:srgbClr val="242A30"/>
                </a:solidFill>
                <a:latin typeface="Calibri"/>
              </a:rPr>
              <a:t>Çok modlu MusicCaps</a:t>
            </a:r>
          </a:p>
        </p:txBody>
      </p:sp>
      <p:sp>
        <p:nvSpPr>
          <p:cNvPr id="61" name="Rectangle 60"/>
          <p:cNvSpPr/>
          <p:nvPr/>
        </p:nvSpPr>
        <p:spPr>
          <a:xfrm>
            <a:off x="6400800" y="4279392"/>
            <a:ext cx="182880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6428232" y="4279392"/>
            <a:ext cx="1773936" cy="566928"/>
          </a:xfrm>
          <a:prstGeom prst="rect">
            <a:avLst/>
          </a:prstGeom>
          <a:noFill/>
        </p:spPr>
        <p:txBody>
          <a:bodyPr wrap="square" lIns="25400" tIns="12700" rIns="25400" bIns="12700" anchor="ctr">
            <a:spAutoFit/>
          </a:bodyPr>
          <a:lstStyle/>
          <a:p>
            <a:pPr algn="ctr"/>
            <a:r>
              <a:rPr sz="1100" b="0" i="0">
                <a:solidFill>
                  <a:srgbClr val="242A30"/>
                </a:solidFill>
                <a:latin typeface="Calibri"/>
              </a:rPr>
              <a:t>FMC</a:t>
            </a:r>
          </a:p>
        </p:txBody>
      </p:sp>
      <p:sp>
        <p:nvSpPr>
          <p:cNvPr id="63" name="Rectangle 62"/>
          <p:cNvSpPr/>
          <p:nvPr/>
        </p:nvSpPr>
        <p:spPr>
          <a:xfrm>
            <a:off x="8229600" y="4279392"/>
            <a:ext cx="178308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8257031" y="4279392"/>
            <a:ext cx="1728216" cy="566928"/>
          </a:xfrm>
          <a:prstGeom prst="rect">
            <a:avLst/>
          </a:prstGeom>
          <a:noFill/>
        </p:spPr>
        <p:txBody>
          <a:bodyPr wrap="square" lIns="25400" tIns="12700" rIns="25400" bIns="12700" anchor="ctr">
            <a:spAutoFit/>
          </a:bodyPr>
          <a:lstStyle/>
          <a:p>
            <a:pPr algn="ctr"/>
            <a:r>
              <a:rPr sz="1100" b="0" i="0">
                <a:solidFill>
                  <a:srgbClr val="242A30"/>
                </a:solidFill>
                <a:latin typeface="Calibri"/>
              </a:rPr>
              <a:t>0,943</a:t>
            </a:r>
          </a:p>
        </p:txBody>
      </p:sp>
      <p:sp>
        <p:nvSpPr>
          <p:cNvPr id="65" name="Rectangle 64"/>
          <p:cNvSpPr/>
          <p:nvPr/>
        </p:nvSpPr>
        <p:spPr>
          <a:xfrm>
            <a:off x="10012680" y="4279392"/>
            <a:ext cx="1810512"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10040111" y="4279392"/>
            <a:ext cx="1755648" cy="566928"/>
          </a:xfrm>
          <a:prstGeom prst="rect">
            <a:avLst/>
          </a:prstGeom>
          <a:noFill/>
        </p:spPr>
        <p:txBody>
          <a:bodyPr wrap="square" lIns="25400" tIns="12700" rIns="25400" bIns="12700" anchor="ctr">
            <a:spAutoFit/>
          </a:bodyPr>
          <a:lstStyle/>
          <a:p>
            <a:pPr algn="ctr"/>
            <a:r>
              <a:rPr sz="1100" b="0" i="0">
                <a:solidFill>
                  <a:srgbClr val="242A30"/>
                </a:solidFill>
                <a:latin typeface="Calibri"/>
              </a:rPr>
              <a:t>0,906</a:t>
            </a:r>
          </a:p>
        </p:txBody>
      </p:sp>
      <p:sp>
        <p:nvSpPr>
          <p:cNvPr id="67" name="Rectangle 66"/>
          <p:cNvSpPr/>
          <p:nvPr/>
        </p:nvSpPr>
        <p:spPr>
          <a:xfrm>
            <a:off x="365760" y="4846320"/>
            <a:ext cx="2651760" cy="566928"/>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457200" y="4846320"/>
            <a:ext cx="2468879" cy="566928"/>
          </a:xfrm>
          <a:prstGeom prst="rect">
            <a:avLst/>
          </a:prstGeom>
          <a:noFill/>
        </p:spPr>
        <p:txBody>
          <a:bodyPr wrap="square" lIns="25400" tIns="12700" rIns="25400" bIns="12700" anchor="ctr">
            <a:spAutoFit/>
          </a:bodyPr>
          <a:lstStyle/>
          <a:p>
            <a:pPr algn="l"/>
            <a:r>
              <a:rPr sz="1100" b="1" i="0">
                <a:solidFill>
                  <a:srgbClr val="1B6E3C"/>
                </a:solidFill>
                <a:latin typeface="Calibri"/>
              </a:rPr>
              <a:t>AURIS (bu çalışma)</a:t>
            </a:r>
          </a:p>
        </p:txBody>
      </p:sp>
      <p:sp>
        <p:nvSpPr>
          <p:cNvPr id="69" name="Rectangle 68"/>
          <p:cNvSpPr/>
          <p:nvPr/>
        </p:nvSpPr>
        <p:spPr>
          <a:xfrm>
            <a:off x="3017520" y="4846320"/>
            <a:ext cx="3383280" cy="566928"/>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3108960" y="4846320"/>
            <a:ext cx="3200400" cy="566928"/>
          </a:xfrm>
          <a:prstGeom prst="rect">
            <a:avLst/>
          </a:prstGeom>
          <a:noFill/>
        </p:spPr>
        <p:txBody>
          <a:bodyPr wrap="square" lIns="25400" tIns="12700" rIns="25400" bIns="12700" anchor="ctr">
            <a:spAutoFit/>
          </a:bodyPr>
          <a:lstStyle/>
          <a:p>
            <a:pPr algn="l"/>
            <a:r>
              <a:rPr sz="1100" b="1" i="0">
                <a:solidFill>
                  <a:srgbClr val="1B6E3C"/>
                </a:solidFill>
                <a:latin typeface="Calibri"/>
              </a:rPr>
              <a:t>47 öznitelik + 11 model topluluk</a:t>
            </a:r>
          </a:p>
        </p:txBody>
      </p:sp>
      <p:sp>
        <p:nvSpPr>
          <p:cNvPr id="71" name="Rectangle 70"/>
          <p:cNvSpPr/>
          <p:nvPr/>
        </p:nvSpPr>
        <p:spPr>
          <a:xfrm>
            <a:off x="6400800" y="4846320"/>
            <a:ext cx="1828800" cy="566928"/>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6428232" y="4846320"/>
            <a:ext cx="1773936" cy="566928"/>
          </a:xfrm>
          <a:prstGeom prst="rect">
            <a:avLst/>
          </a:prstGeom>
          <a:noFill/>
        </p:spPr>
        <p:txBody>
          <a:bodyPr wrap="square" lIns="25400" tIns="12700" rIns="25400" bIns="12700" anchor="ctr">
            <a:spAutoFit/>
          </a:bodyPr>
          <a:lstStyle/>
          <a:p>
            <a:pPr algn="ctr"/>
            <a:r>
              <a:rPr sz="1100" b="1" i="0">
                <a:solidFill>
                  <a:srgbClr val="1B6E3C"/>
                </a:solidFill>
                <a:latin typeface="Calibri"/>
              </a:rPr>
              <a:t>5.195</a:t>
            </a:r>
          </a:p>
        </p:txBody>
      </p:sp>
      <p:sp>
        <p:nvSpPr>
          <p:cNvPr id="73" name="Rectangle 72"/>
          <p:cNvSpPr/>
          <p:nvPr/>
        </p:nvSpPr>
        <p:spPr>
          <a:xfrm>
            <a:off x="8229600" y="4846320"/>
            <a:ext cx="1783080" cy="566928"/>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8257031" y="4846320"/>
            <a:ext cx="1728216" cy="566928"/>
          </a:xfrm>
          <a:prstGeom prst="rect">
            <a:avLst/>
          </a:prstGeom>
          <a:noFill/>
        </p:spPr>
        <p:txBody>
          <a:bodyPr wrap="square" lIns="25400" tIns="12700" rIns="25400" bIns="12700" anchor="ctr">
            <a:spAutoFit/>
          </a:bodyPr>
          <a:lstStyle/>
          <a:p>
            <a:pPr algn="ctr"/>
            <a:r>
              <a:rPr sz="1100" b="1" i="0">
                <a:solidFill>
                  <a:srgbClr val="1B6E3C"/>
                </a:solidFill>
                <a:latin typeface="Calibri"/>
              </a:rPr>
              <a:t>0,9548</a:t>
            </a:r>
          </a:p>
        </p:txBody>
      </p:sp>
      <p:sp>
        <p:nvSpPr>
          <p:cNvPr id="75" name="Rectangle 74"/>
          <p:cNvSpPr/>
          <p:nvPr/>
        </p:nvSpPr>
        <p:spPr>
          <a:xfrm>
            <a:off x="10012680" y="4846320"/>
            <a:ext cx="1810512" cy="566928"/>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10040111" y="4846320"/>
            <a:ext cx="1755648" cy="566928"/>
          </a:xfrm>
          <a:prstGeom prst="rect">
            <a:avLst/>
          </a:prstGeom>
          <a:noFill/>
        </p:spPr>
        <p:txBody>
          <a:bodyPr wrap="square" lIns="25400" tIns="12700" rIns="25400" bIns="12700" anchor="ctr">
            <a:spAutoFit/>
          </a:bodyPr>
          <a:lstStyle/>
          <a:p>
            <a:pPr algn="ctr"/>
            <a:r>
              <a:rPr sz="1100" b="1" i="0">
                <a:solidFill>
                  <a:srgbClr val="1B6E3C"/>
                </a:solidFill>
                <a:latin typeface="Calibri"/>
              </a:rPr>
              <a:t>0,8731</a:t>
            </a:r>
          </a:p>
        </p:txBody>
      </p:sp>
      <p:sp>
        <p:nvSpPr>
          <p:cNvPr id="77" name="Rectangle 76"/>
          <p:cNvSpPr/>
          <p:nvPr/>
        </p:nvSpPr>
        <p:spPr>
          <a:xfrm>
            <a:off x="365760" y="5486400"/>
            <a:ext cx="11457432" cy="868680"/>
          </a:xfrm>
          <a:prstGeom prst="rect">
            <a:avLst/>
          </a:prstGeom>
          <a:solidFill>
            <a:srgbClr val="E2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Rectangle 77"/>
          <p:cNvSpPr/>
          <p:nvPr/>
        </p:nvSpPr>
        <p:spPr>
          <a:xfrm>
            <a:off x="365760" y="5486400"/>
            <a:ext cx="91440" cy="86868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585216" y="5605272"/>
            <a:ext cx="11091672" cy="365760"/>
          </a:xfrm>
          <a:prstGeom prst="rect">
            <a:avLst/>
          </a:prstGeom>
          <a:noFill/>
        </p:spPr>
        <p:txBody>
          <a:bodyPr wrap="square" lIns="25400" tIns="12700" rIns="25400" bIns="12700" anchor="t">
            <a:spAutoFit/>
          </a:bodyPr>
          <a:lstStyle/>
          <a:p>
            <a:pPr algn="l"/>
            <a:r>
              <a:rPr sz="1300" b="1" i="0">
                <a:solidFill>
                  <a:srgbClr val="102A4C"/>
                </a:solidFill>
                <a:latin typeface="Calibri"/>
              </a:rPr>
              <a:t>Konumlandırma</a:t>
            </a:r>
          </a:p>
        </p:txBody>
      </p:sp>
      <p:sp>
        <p:nvSpPr>
          <p:cNvPr id="80" name="TextBox 79"/>
          <p:cNvSpPr txBox="1"/>
          <p:nvPr/>
        </p:nvSpPr>
        <p:spPr>
          <a:xfrm>
            <a:off x="585216" y="6035040"/>
            <a:ext cx="11073384" cy="210311"/>
          </a:xfrm>
          <a:prstGeom prst="rect">
            <a:avLst/>
          </a:prstGeom>
          <a:noFill/>
        </p:spPr>
        <p:txBody>
          <a:bodyPr wrap="square" lIns="25400" rIns="25400" anchor="t">
            <a:spAutoFit/>
          </a:bodyPr>
          <a:lstStyle/>
          <a:p>
            <a:pPr algn="l">
              <a:spcBef>
                <a:spcPts val="0"/>
              </a:spcBef>
              <a:spcAft>
                <a:spcPts val="300"/>
              </a:spcAft>
            </a:pPr>
            <a:r>
              <a:rPr sz="1150" b="0" i="0">
                <a:solidFill>
                  <a:srgbClr val="242A30"/>
                </a:solidFill>
                <a:latin typeface="Calibri"/>
              </a:rPr>
              <a:t>AURIS (0,9548), Transformer tabanlı SONICS (0,960) ile Li vd. (0,931) arasında — üstelik derin öğrenme altyapısı gerektirmeden ve katlar arası en düşük varyansla (±0,0023).</a:t>
            </a:r>
          </a:p>
        </p:txBody>
      </p:sp>
      <p:sp>
        <p:nvSpPr>
          <p:cNvPr id="81" name="Rectangle 80"/>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365760" y="6473952"/>
            <a:ext cx="4206240" cy="292608"/>
          </a:xfrm>
          <a:prstGeom prst="rect">
            <a:avLst/>
          </a:prstGeom>
          <a:noFill/>
        </p:spPr>
        <p:txBody>
          <a:bodyPr wrap="square" lIns="25400" tIns="12700" rIns="25400" bIns="12700" anchor="t">
            <a:spAutoFit/>
          </a:bodyPr>
          <a:lstStyle/>
          <a:p>
            <a:pPr algn="l"/>
            <a:r>
              <a:rPr sz="900" b="0" i="0">
                <a:solidFill>
                  <a:srgbClr val="6A7480"/>
                </a:solidFill>
                <a:latin typeface="Calibri"/>
              </a:rPr>
              <a:t>AURIS · YZ Üretimli Müzik Tespiti</a:t>
            </a:r>
          </a:p>
        </p:txBody>
      </p:sp>
      <p:sp>
        <p:nvSpPr>
          <p:cNvPr id="83" name="TextBox 82"/>
          <p:cNvSpPr txBox="1"/>
          <p:nvPr/>
        </p:nvSpPr>
        <p:spPr>
          <a:xfrm>
            <a:off x="4663440" y="6473952"/>
            <a:ext cx="7159752" cy="292608"/>
          </a:xfrm>
          <a:prstGeom prst="rect">
            <a:avLst/>
          </a:prstGeom>
          <a:noFill/>
        </p:spPr>
        <p:txBody>
          <a:bodyPr wrap="square" lIns="25400" tIns="12700" rIns="25400" bIns="12700" anchor="t">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46304"/>
            <a:ext cx="10058400" cy="292608"/>
          </a:xfrm>
          <a:prstGeom prst="rect">
            <a:avLst/>
          </a:prstGeom>
          <a:noFill/>
        </p:spPr>
        <p:txBody>
          <a:bodyPr wrap="square" lIns="25400" tIns="12700" rIns="25400" bIns="12700" anchor="t">
            <a:spAutoFit/>
          </a:bodyPr>
          <a:lstStyle/>
          <a:p>
            <a:pPr algn="l"/>
            <a:r>
              <a:rPr sz="1150" b="1" i="0">
                <a:solidFill>
                  <a:srgbClr val="D99A07"/>
                </a:solidFill>
                <a:latin typeface="Calibri"/>
              </a:rPr>
              <a:t>BÖLÜM 11</a:t>
            </a:r>
          </a:p>
        </p:txBody>
      </p:sp>
      <p:sp>
        <p:nvSpPr>
          <p:cNvPr id="6" name="TextBox 5"/>
          <p:cNvSpPr txBox="1"/>
          <p:nvPr/>
        </p:nvSpPr>
        <p:spPr>
          <a:xfrm>
            <a:off x="411480" y="420624"/>
            <a:ext cx="11338560" cy="603504"/>
          </a:xfrm>
          <a:prstGeom prst="rect">
            <a:avLst/>
          </a:prstGeom>
          <a:noFill/>
        </p:spPr>
        <p:txBody>
          <a:bodyPr wrap="square" lIns="25400" tIns="12700" rIns="25400" bIns="12700" anchor="t">
            <a:spAutoFit/>
          </a:bodyPr>
          <a:lstStyle/>
          <a:p>
            <a:pPr algn="l"/>
            <a:r>
              <a:rPr sz="2300" b="1" i="0">
                <a:solidFill>
                  <a:srgbClr val="FFFFFF"/>
                </a:solidFill>
                <a:latin typeface="Calibri"/>
              </a:rPr>
              <a:t>Kısıtlamalar ve Güçlü Yönler</a:t>
            </a:r>
          </a:p>
        </p:txBody>
      </p:sp>
      <p:sp>
        <p:nvSpPr>
          <p:cNvPr id="7" name="TextBox 6"/>
          <p:cNvSpPr txBox="1"/>
          <p:nvPr/>
        </p:nvSpPr>
        <p:spPr>
          <a:xfrm>
            <a:off x="365760" y="1554480"/>
            <a:ext cx="5623560" cy="347472"/>
          </a:xfrm>
          <a:prstGeom prst="rect">
            <a:avLst/>
          </a:prstGeom>
          <a:noFill/>
        </p:spPr>
        <p:txBody>
          <a:bodyPr wrap="square" lIns="25400" tIns="12700" rIns="25400" bIns="12700" anchor="t">
            <a:spAutoFit/>
          </a:bodyPr>
          <a:lstStyle/>
          <a:p>
            <a:pPr algn="l"/>
            <a:r>
              <a:rPr sz="1400" b="1" i="0">
                <a:solidFill>
                  <a:srgbClr val="B32929"/>
                </a:solidFill>
                <a:latin typeface="Calibri"/>
              </a:rPr>
              <a:t>Kısıtlamalar</a:t>
            </a:r>
          </a:p>
        </p:txBody>
      </p:sp>
      <p:sp>
        <p:nvSpPr>
          <p:cNvPr id="8" name="Rectangle 7"/>
          <p:cNvSpPr/>
          <p:nvPr/>
        </p:nvSpPr>
        <p:spPr>
          <a:xfrm>
            <a:off x="365760" y="1993392"/>
            <a:ext cx="5623560" cy="950976"/>
          </a:xfrm>
          <a:prstGeom prst="rect">
            <a:avLst/>
          </a:prstGeom>
          <a:solidFill>
            <a:srgbClr val="FCECEC"/>
          </a:solidFill>
          <a:ln w="12700">
            <a:solidFill>
              <a:srgbClr val="B32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2920" y="2084832"/>
            <a:ext cx="5394960" cy="320040"/>
          </a:xfrm>
          <a:prstGeom prst="rect">
            <a:avLst/>
          </a:prstGeom>
          <a:noFill/>
        </p:spPr>
        <p:txBody>
          <a:bodyPr wrap="square" lIns="25400" tIns="12700" rIns="25400" bIns="12700" anchor="t">
            <a:spAutoFit/>
          </a:bodyPr>
          <a:lstStyle/>
          <a:p>
            <a:pPr algn="l"/>
            <a:r>
              <a:rPr sz="1200" b="1" i="0">
                <a:solidFill>
                  <a:srgbClr val="B32929"/>
                </a:solidFill>
                <a:latin typeface="Calibri"/>
              </a:rPr>
              <a:t>⚠  Dağılım kayması</a:t>
            </a:r>
          </a:p>
        </p:txBody>
      </p:sp>
      <p:sp>
        <p:nvSpPr>
          <p:cNvPr id="10" name="TextBox 9"/>
          <p:cNvSpPr txBox="1"/>
          <p:nvPr/>
        </p:nvSpPr>
        <p:spPr>
          <a:xfrm>
            <a:off x="502920" y="2414016"/>
            <a:ext cx="5394960" cy="457200"/>
          </a:xfrm>
          <a:prstGeom prst="rect">
            <a:avLst/>
          </a:prstGeom>
          <a:noFill/>
        </p:spPr>
        <p:txBody>
          <a:bodyPr wrap="square" lIns="25400" tIns="12700" rIns="25400" bIns="12700" anchor="t">
            <a:spAutoFit/>
          </a:bodyPr>
          <a:lstStyle/>
          <a:p>
            <a:pPr algn="l"/>
            <a:r>
              <a:rPr sz="1050" b="0" i="0">
                <a:solidFill>
                  <a:srgbClr val="242A30"/>
                </a:solidFill>
                <a:latin typeface="Calibri"/>
              </a:rPr>
              <a:t>Eğitim dışı YZ sistemlerine ve deepfake setine (%50) sınırlı genelleme.</a:t>
            </a:r>
          </a:p>
        </p:txBody>
      </p:sp>
      <p:sp>
        <p:nvSpPr>
          <p:cNvPr id="11" name="Rectangle 10"/>
          <p:cNvSpPr/>
          <p:nvPr/>
        </p:nvSpPr>
        <p:spPr>
          <a:xfrm>
            <a:off x="365760" y="3054096"/>
            <a:ext cx="5623560" cy="950976"/>
          </a:xfrm>
          <a:prstGeom prst="rect">
            <a:avLst/>
          </a:prstGeom>
          <a:solidFill>
            <a:srgbClr val="FCECEC"/>
          </a:solidFill>
          <a:ln w="12700">
            <a:solidFill>
              <a:srgbClr val="B32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02920" y="3145536"/>
            <a:ext cx="5394960" cy="320040"/>
          </a:xfrm>
          <a:prstGeom prst="rect">
            <a:avLst/>
          </a:prstGeom>
          <a:noFill/>
        </p:spPr>
        <p:txBody>
          <a:bodyPr wrap="square" lIns="25400" tIns="12700" rIns="25400" bIns="12700" anchor="t">
            <a:spAutoFit/>
          </a:bodyPr>
          <a:lstStyle/>
          <a:p>
            <a:pPr algn="l"/>
            <a:r>
              <a:rPr sz="1200" b="1" i="0">
                <a:solidFill>
                  <a:srgbClr val="B32929"/>
                </a:solidFill>
                <a:latin typeface="Calibri"/>
              </a:rPr>
              <a:t>⚠  Aşırı uyum eğilimi</a:t>
            </a:r>
          </a:p>
        </p:txBody>
      </p:sp>
      <p:sp>
        <p:nvSpPr>
          <p:cNvPr id="13" name="TextBox 12"/>
          <p:cNvSpPr txBox="1"/>
          <p:nvPr/>
        </p:nvSpPr>
        <p:spPr>
          <a:xfrm>
            <a:off x="502920" y="3474720"/>
            <a:ext cx="5394960" cy="457200"/>
          </a:xfrm>
          <a:prstGeom prst="rect">
            <a:avLst/>
          </a:prstGeom>
          <a:noFill/>
        </p:spPr>
        <p:txBody>
          <a:bodyPr wrap="square" lIns="25400" tIns="12700" rIns="25400" bIns="12700" anchor="t">
            <a:spAutoFit/>
          </a:bodyPr>
          <a:lstStyle/>
          <a:p>
            <a:pPr algn="l"/>
            <a:r>
              <a:rPr sz="1050" b="0" i="0">
                <a:solidFill>
                  <a:srgbClr val="242A30"/>
                </a:solidFill>
                <a:latin typeface="Calibri"/>
              </a:rPr>
              <a:t>Ağaç modellerinde 8–14 puanlık eğitim-CV açığı.</a:t>
            </a:r>
          </a:p>
        </p:txBody>
      </p:sp>
      <p:sp>
        <p:nvSpPr>
          <p:cNvPr id="14" name="Rectangle 13"/>
          <p:cNvSpPr/>
          <p:nvPr/>
        </p:nvSpPr>
        <p:spPr>
          <a:xfrm>
            <a:off x="365760" y="4114800"/>
            <a:ext cx="5623560" cy="950976"/>
          </a:xfrm>
          <a:prstGeom prst="rect">
            <a:avLst/>
          </a:prstGeom>
          <a:solidFill>
            <a:srgbClr val="FCECEC"/>
          </a:solidFill>
          <a:ln w="12700">
            <a:solidFill>
              <a:srgbClr val="B32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02920" y="4206240"/>
            <a:ext cx="5394960" cy="320040"/>
          </a:xfrm>
          <a:prstGeom prst="rect">
            <a:avLst/>
          </a:prstGeom>
          <a:noFill/>
        </p:spPr>
        <p:txBody>
          <a:bodyPr wrap="square" lIns="25400" tIns="12700" rIns="25400" bIns="12700" anchor="t">
            <a:spAutoFit/>
          </a:bodyPr>
          <a:lstStyle/>
          <a:p>
            <a:pPr algn="l"/>
            <a:r>
              <a:rPr sz="1200" b="1" i="0">
                <a:solidFill>
                  <a:srgbClr val="B32929"/>
                </a:solidFill>
                <a:latin typeface="Calibri"/>
              </a:rPr>
              <a:t>⚠  Öznitelik fazlalığı</a:t>
            </a:r>
          </a:p>
        </p:txBody>
      </p:sp>
      <p:sp>
        <p:nvSpPr>
          <p:cNvPr id="16" name="TextBox 15"/>
          <p:cNvSpPr txBox="1"/>
          <p:nvPr/>
        </p:nvSpPr>
        <p:spPr>
          <a:xfrm>
            <a:off x="502920" y="4535424"/>
            <a:ext cx="5394960" cy="457200"/>
          </a:xfrm>
          <a:prstGeom prst="rect">
            <a:avLst/>
          </a:prstGeom>
          <a:noFill/>
        </p:spPr>
        <p:txBody>
          <a:bodyPr wrap="square" lIns="25400" tIns="12700" rIns="25400" bIns="12700" anchor="t">
            <a:spAutoFit/>
          </a:bodyPr>
          <a:lstStyle/>
          <a:p>
            <a:pPr algn="l"/>
            <a:r>
              <a:rPr sz="1050" b="0" i="0">
                <a:solidFill>
                  <a:srgbClr val="242A30"/>
                </a:solidFill>
                <a:latin typeface="Calibri"/>
              </a:rPr>
              <a:t>Son 17 özniteliğin doğruluğa ölçülebilir katkısı yok.</a:t>
            </a:r>
          </a:p>
        </p:txBody>
      </p:sp>
      <p:sp>
        <p:nvSpPr>
          <p:cNvPr id="17" name="Rectangle 16"/>
          <p:cNvSpPr/>
          <p:nvPr/>
        </p:nvSpPr>
        <p:spPr>
          <a:xfrm>
            <a:off x="365760" y="5175504"/>
            <a:ext cx="5623560" cy="950976"/>
          </a:xfrm>
          <a:prstGeom prst="rect">
            <a:avLst/>
          </a:prstGeom>
          <a:solidFill>
            <a:srgbClr val="FCECEC"/>
          </a:solidFill>
          <a:ln w="12700">
            <a:solidFill>
              <a:srgbClr val="B32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02920" y="5266944"/>
            <a:ext cx="5394960" cy="320040"/>
          </a:xfrm>
          <a:prstGeom prst="rect">
            <a:avLst/>
          </a:prstGeom>
          <a:noFill/>
        </p:spPr>
        <p:txBody>
          <a:bodyPr wrap="square" lIns="25400" tIns="12700" rIns="25400" bIns="12700" anchor="t">
            <a:spAutoFit/>
          </a:bodyPr>
          <a:lstStyle/>
          <a:p>
            <a:pPr algn="l"/>
            <a:r>
              <a:rPr sz="1200" b="1" i="0">
                <a:solidFill>
                  <a:srgbClr val="B32929"/>
                </a:solidFill>
                <a:latin typeface="Calibri"/>
              </a:rPr>
              <a:t>⚠  Gerçek zaman</a:t>
            </a:r>
          </a:p>
        </p:txBody>
      </p:sp>
      <p:sp>
        <p:nvSpPr>
          <p:cNvPr id="19" name="TextBox 18"/>
          <p:cNvSpPr txBox="1"/>
          <p:nvPr/>
        </p:nvSpPr>
        <p:spPr>
          <a:xfrm>
            <a:off x="502920" y="5596128"/>
            <a:ext cx="5394960" cy="457200"/>
          </a:xfrm>
          <a:prstGeom prst="rect">
            <a:avLst/>
          </a:prstGeom>
          <a:noFill/>
        </p:spPr>
        <p:txBody>
          <a:bodyPr wrap="square" lIns="25400" tIns="12700" rIns="25400" bIns="12700" anchor="t">
            <a:spAutoFit/>
          </a:bodyPr>
          <a:lstStyle/>
          <a:p>
            <a:pPr algn="l"/>
            <a:r>
              <a:rPr sz="1050" b="0" i="0">
                <a:solidFill>
                  <a:srgbClr val="242A30"/>
                </a:solidFill>
                <a:latin typeface="Calibri"/>
              </a:rPr>
              <a:t>Düşük gecikmeli çıkarım henüz test edilmedi.</a:t>
            </a:r>
          </a:p>
        </p:txBody>
      </p:sp>
      <p:sp>
        <p:nvSpPr>
          <p:cNvPr id="20" name="TextBox 19"/>
          <p:cNvSpPr txBox="1"/>
          <p:nvPr/>
        </p:nvSpPr>
        <p:spPr>
          <a:xfrm>
            <a:off x="6199632" y="1554480"/>
            <a:ext cx="5623560" cy="347472"/>
          </a:xfrm>
          <a:prstGeom prst="rect">
            <a:avLst/>
          </a:prstGeom>
          <a:noFill/>
        </p:spPr>
        <p:txBody>
          <a:bodyPr wrap="square" lIns="25400" tIns="12700" rIns="25400" bIns="12700" anchor="t">
            <a:spAutoFit/>
          </a:bodyPr>
          <a:lstStyle/>
          <a:p>
            <a:pPr algn="l"/>
            <a:r>
              <a:rPr sz="1400" b="1" i="0">
                <a:solidFill>
                  <a:srgbClr val="1B6E3C"/>
                </a:solidFill>
                <a:latin typeface="Calibri"/>
              </a:rPr>
              <a:t>Güçlü Yönler</a:t>
            </a:r>
          </a:p>
        </p:txBody>
      </p:sp>
      <p:sp>
        <p:nvSpPr>
          <p:cNvPr id="21" name="Rectangle 20"/>
          <p:cNvSpPr/>
          <p:nvPr/>
        </p:nvSpPr>
        <p:spPr>
          <a:xfrm>
            <a:off x="6199632" y="1993392"/>
            <a:ext cx="5623560" cy="950976"/>
          </a:xfrm>
          <a:prstGeom prst="rect">
            <a:avLst/>
          </a:prstGeom>
          <a:solidFill>
            <a:srgbClr val="E8F5EB"/>
          </a:solidFill>
          <a:ln w="127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336792" y="2084832"/>
            <a:ext cx="5394960" cy="320040"/>
          </a:xfrm>
          <a:prstGeom prst="rect">
            <a:avLst/>
          </a:prstGeom>
          <a:noFill/>
        </p:spPr>
        <p:txBody>
          <a:bodyPr wrap="square" lIns="25400" tIns="12700" rIns="25400" bIns="12700" anchor="t">
            <a:spAutoFit/>
          </a:bodyPr>
          <a:lstStyle/>
          <a:p>
            <a:pPr algn="l"/>
            <a:r>
              <a:rPr sz="1200" b="1" i="0">
                <a:solidFill>
                  <a:srgbClr val="1B6E3C"/>
                </a:solidFill>
                <a:latin typeface="Calibri"/>
              </a:rPr>
              <a:t>✓  Heterojen öznitelik</a:t>
            </a:r>
          </a:p>
        </p:txBody>
      </p:sp>
      <p:sp>
        <p:nvSpPr>
          <p:cNvPr id="23" name="TextBox 22"/>
          <p:cNvSpPr txBox="1"/>
          <p:nvPr/>
        </p:nvSpPr>
        <p:spPr>
          <a:xfrm>
            <a:off x="6336792" y="2414016"/>
            <a:ext cx="5394960" cy="457200"/>
          </a:xfrm>
          <a:prstGeom prst="rect">
            <a:avLst/>
          </a:prstGeom>
          <a:noFill/>
        </p:spPr>
        <p:txBody>
          <a:bodyPr wrap="square" lIns="25400" tIns="12700" rIns="25400" bIns="12700" anchor="t">
            <a:spAutoFit/>
          </a:bodyPr>
          <a:lstStyle/>
          <a:p>
            <a:pPr algn="l"/>
            <a:r>
              <a:rPr sz="1050" b="0" i="0">
                <a:solidFill>
                  <a:srgbClr val="242A30"/>
                </a:solidFill>
                <a:latin typeface="Calibri"/>
              </a:rPr>
              <a:t>5 aile / 47 boyut — tek temsile aşırı uyumu sınırlar.</a:t>
            </a:r>
          </a:p>
        </p:txBody>
      </p:sp>
      <p:sp>
        <p:nvSpPr>
          <p:cNvPr id="24" name="Rectangle 23"/>
          <p:cNvSpPr/>
          <p:nvPr/>
        </p:nvSpPr>
        <p:spPr>
          <a:xfrm>
            <a:off x="6199632" y="3054096"/>
            <a:ext cx="5623560" cy="950976"/>
          </a:xfrm>
          <a:prstGeom prst="rect">
            <a:avLst/>
          </a:prstGeom>
          <a:solidFill>
            <a:srgbClr val="E8F5EB"/>
          </a:solidFill>
          <a:ln w="127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336792" y="3145536"/>
            <a:ext cx="5394960" cy="320040"/>
          </a:xfrm>
          <a:prstGeom prst="rect">
            <a:avLst/>
          </a:prstGeom>
          <a:noFill/>
        </p:spPr>
        <p:txBody>
          <a:bodyPr wrap="square" lIns="25400" tIns="12700" rIns="25400" bIns="12700" anchor="t">
            <a:spAutoFit/>
          </a:bodyPr>
          <a:lstStyle/>
          <a:p>
            <a:pPr algn="l"/>
            <a:r>
              <a:rPr sz="1200" b="1" i="0">
                <a:solidFill>
                  <a:srgbClr val="1B6E3C"/>
                </a:solidFill>
                <a:latin typeface="Calibri"/>
              </a:rPr>
              <a:t>✓  Açıklanabilirlik</a:t>
            </a:r>
          </a:p>
        </p:txBody>
      </p:sp>
      <p:sp>
        <p:nvSpPr>
          <p:cNvPr id="26" name="TextBox 25"/>
          <p:cNvSpPr txBox="1"/>
          <p:nvPr/>
        </p:nvSpPr>
        <p:spPr>
          <a:xfrm>
            <a:off x="6336792" y="3474720"/>
            <a:ext cx="5394960" cy="457200"/>
          </a:xfrm>
          <a:prstGeom prst="rect">
            <a:avLst/>
          </a:prstGeom>
          <a:noFill/>
        </p:spPr>
        <p:txBody>
          <a:bodyPr wrap="square" lIns="25400" tIns="12700" rIns="25400" bIns="12700" anchor="t">
            <a:spAutoFit/>
          </a:bodyPr>
          <a:lstStyle/>
          <a:p>
            <a:pPr algn="l"/>
            <a:r>
              <a:rPr sz="1050" b="0" i="0">
                <a:solidFill>
                  <a:srgbClr val="242A30"/>
                </a:solidFill>
                <a:latin typeface="Calibri"/>
              </a:rPr>
              <a:t>TreeSHAP ile global ve yerel karar gerekçesi.</a:t>
            </a:r>
          </a:p>
        </p:txBody>
      </p:sp>
      <p:sp>
        <p:nvSpPr>
          <p:cNvPr id="27" name="Rectangle 26"/>
          <p:cNvSpPr/>
          <p:nvPr/>
        </p:nvSpPr>
        <p:spPr>
          <a:xfrm>
            <a:off x="6199632" y="4114800"/>
            <a:ext cx="5623560" cy="950976"/>
          </a:xfrm>
          <a:prstGeom prst="rect">
            <a:avLst/>
          </a:prstGeom>
          <a:solidFill>
            <a:srgbClr val="E8F5EB"/>
          </a:solidFill>
          <a:ln w="127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336792" y="4206240"/>
            <a:ext cx="5394960" cy="320040"/>
          </a:xfrm>
          <a:prstGeom prst="rect">
            <a:avLst/>
          </a:prstGeom>
          <a:noFill/>
        </p:spPr>
        <p:txBody>
          <a:bodyPr wrap="square" lIns="25400" tIns="12700" rIns="25400" bIns="12700" anchor="t">
            <a:spAutoFit/>
          </a:bodyPr>
          <a:lstStyle/>
          <a:p>
            <a:pPr algn="l"/>
            <a:r>
              <a:rPr sz="1200" b="1" i="0">
                <a:solidFill>
                  <a:srgbClr val="1B6E3C"/>
                </a:solidFill>
                <a:latin typeface="Calibri"/>
              </a:rPr>
              <a:t>✓  Eşik optimizasyonu</a:t>
            </a:r>
          </a:p>
        </p:txBody>
      </p:sp>
      <p:sp>
        <p:nvSpPr>
          <p:cNvPr id="29" name="TextBox 28"/>
          <p:cNvSpPr txBox="1"/>
          <p:nvPr/>
        </p:nvSpPr>
        <p:spPr>
          <a:xfrm>
            <a:off x="6336792" y="4535424"/>
            <a:ext cx="5394960" cy="457200"/>
          </a:xfrm>
          <a:prstGeom prst="rect">
            <a:avLst/>
          </a:prstGeom>
          <a:noFill/>
        </p:spPr>
        <p:txBody>
          <a:bodyPr wrap="square" lIns="25400" tIns="12700" rIns="25400" bIns="12700" anchor="t">
            <a:spAutoFit/>
          </a:bodyPr>
          <a:lstStyle/>
          <a:p>
            <a:pPr algn="l"/>
            <a:r>
              <a:rPr sz="1050" b="0" i="0">
                <a:solidFill>
                  <a:srgbClr val="242A30"/>
                </a:solidFill>
                <a:latin typeface="Calibri"/>
              </a:rPr>
              <a:t>Youden J ile dengeli karar (θ*=0,4316).</a:t>
            </a:r>
          </a:p>
        </p:txBody>
      </p:sp>
      <p:sp>
        <p:nvSpPr>
          <p:cNvPr id="30" name="Rectangle 29"/>
          <p:cNvSpPr/>
          <p:nvPr/>
        </p:nvSpPr>
        <p:spPr>
          <a:xfrm>
            <a:off x="6199632" y="5175504"/>
            <a:ext cx="5623560" cy="950976"/>
          </a:xfrm>
          <a:prstGeom prst="rect">
            <a:avLst/>
          </a:prstGeom>
          <a:solidFill>
            <a:srgbClr val="E8F5EB"/>
          </a:solidFill>
          <a:ln w="127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336792" y="5266944"/>
            <a:ext cx="5394960" cy="320040"/>
          </a:xfrm>
          <a:prstGeom prst="rect">
            <a:avLst/>
          </a:prstGeom>
          <a:noFill/>
        </p:spPr>
        <p:txBody>
          <a:bodyPr wrap="square" lIns="25400" tIns="12700" rIns="25400" bIns="12700" anchor="t">
            <a:spAutoFit/>
          </a:bodyPr>
          <a:lstStyle/>
          <a:p>
            <a:pPr algn="l"/>
            <a:r>
              <a:rPr sz="1200" b="1" i="0">
                <a:solidFill>
                  <a:srgbClr val="1B6E3C"/>
                </a:solidFill>
                <a:latin typeface="Calibri"/>
              </a:rPr>
              <a:t>✓  Düşük varyans</a:t>
            </a:r>
          </a:p>
        </p:txBody>
      </p:sp>
      <p:sp>
        <p:nvSpPr>
          <p:cNvPr id="32" name="TextBox 31"/>
          <p:cNvSpPr txBox="1"/>
          <p:nvPr/>
        </p:nvSpPr>
        <p:spPr>
          <a:xfrm>
            <a:off x="6336792" y="5596128"/>
            <a:ext cx="5394960" cy="457200"/>
          </a:xfrm>
          <a:prstGeom prst="rect">
            <a:avLst/>
          </a:prstGeom>
          <a:noFill/>
        </p:spPr>
        <p:txBody>
          <a:bodyPr wrap="square" lIns="25400" tIns="12700" rIns="25400" bIns="12700" anchor="t">
            <a:spAutoFit/>
          </a:bodyPr>
          <a:lstStyle/>
          <a:p>
            <a:pPr algn="l"/>
            <a:r>
              <a:rPr sz="1050" b="0" i="0">
                <a:solidFill>
                  <a:srgbClr val="242A30"/>
                </a:solidFill>
                <a:latin typeface="Calibri"/>
              </a:rPr>
              <a:t>±0,0023 katlar arası std — en kararlı model.</a:t>
            </a:r>
          </a:p>
        </p:txBody>
      </p:sp>
      <p:sp>
        <p:nvSpPr>
          <p:cNvPr id="33" name="Rectangle 32"/>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365760" y="6473952"/>
            <a:ext cx="4206240" cy="292608"/>
          </a:xfrm>
          <a:prstGeom prst="rect">
            <a:avLst/>
          </a:prstGeom>
          <a:noFill/>
        </p:spPr>
        <p:txBody>
          <a:bodyPr wrap="square" lIns="25400" tIns="12700" rIns="25400" bIns="12700" anchor="t">
            <a:spAutoFit/>
          </a:bodyPr>
          <a:lstStyle/>
          <a:p>
            <a:pPr algn="l"/>
            <a:r>
              <a:rPr sz="900" b="0" i="0">
                <a:solidFill>
                  <a:srgbClr val="6A7480"/>
                </a:solidFill>
                <a:latin typeface="Calibri"/>
              </a:rPr>
              <a:t>AURIS · YZ Üretimli Müzik Tespiti</a:t>
            </a:r>
          </a:p>
        </p:txBody>
      </p:sp>
      <p:sp>
        <p:nvSpPr>
          <p:cNvPr id="35" name="TextBox 34"/>
          <p:cNvSpPr txBox="1"/>
          <p:nvPr/>
        </p:nvSpPr>
        <p:spPr>
          <a:xfrm>
            <a:off x="4663440" y="6473952"/>
            <a:ext cx="7159752" cy="292608"/>
          </a:xfrm>
          <a:prstGeom prst="rect">
            <a:avLst/>
          </a:prstGeom>
          <a:noFill/>
        </p:spPr>
        <p:txBody>
          <a:bodyPr wrap="square" lIns="25400" tIns="12700" rIns="25400" bIns="12700" anchor="t">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46304"/>
            <a:ext cx="10058400" cy="292608"/>
          </a:xfrm>
          <a:prstGeom prst="rect">
            <a:avLst/>
          </a:prstGeom>
          <a:noFill/>
        </p:spPr>
        <p:txBody>
          <a:bodyPr wrap="square" lIns="25400" tIns="12700" rIns="25400" bIns="12700" anchor="t">
            <a:spAutoFit/>
          </a:bodyPr>
          <a:lstStyle/>
          <a:p>
            <a:pPr algn="l"/>
            <a:r>
              <a:rPr sz="1150" b="1" i="0">
                <a:solidFill>
                  <a:srgbClr val="D99A07"/>
                </a:solidFill>
                <a:latin typeface="Calibri"/>
              </a:rPr>
              <a:t>BÖLÜM 11</a:t>
            </a:r>
          </a:p>
        </p:txBody>
      </p:sp>
      <p:sp>
        <p:nvSpPr>
          <p:cNvPr id="6" name="TextBox 5"/>
          <p:cNvSpPr txBox="1"/>
          <p:nvPr/>
        </p:nvSpPr>
        <p:spPr>
          <a:xfrm>
            <a:off x="411480" y="420624"/>
            <a:ext cx="11338560" cy="603504"/>
          </a:xfrm>
          <a:prstGeom prst="rect">
            <a:avLst/>
          </a:prstGeom>
          <a:noFill/>
        </p:spPr>
        <p:txBody>
          <a:bodyPr wrap="square" lIns="25400" tIns="12700" rIns="25400" bIns="12700" anchor="t">
            <a:spAutoFit/>
          </a:bodyPr>
          <a:lstStyle/>
          <a:p>
            <a:pPr algn="l"/>
            <a:r>
              <a:rPr sz="2300" b="1" i="0">
                <a:solidFill>
                  <a:srgbClr val="FFFFFF"/>
                </a:solidFill>
                <a:latin typeface="Calibri"/>
              </a:rPr>
              <a:t>Sonuçlar</a:t>
            </a:r>
          </a:p>
        </p:txBody>
      </p:sp>
      <p:sp>
        <p:nvSpPr>
          <p:cNvPr id="7" name="Rectangle 6"/>
          <p:cNvSpPr/>
          <p:nvPr/>
        </p:nvSpPr>
        <p:spPr>
          <a:xfrm>
            <a:off x="365760" y="1627632"/>
            <a:ext cx="11457432" cy="82296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65760" y="1627632"/>
            <a:ext cx="640080" cy="82296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65760" y="1627632"/>
            <a:ext cx="640080" cy="822960"/>
          </a:xfrm>
          <a:prstGeom prst="rect">
            <a:avLst/>
          </a:prstGeom>
          <a:noFill/>
        </p:spPr>
        <p:txBody>
          <a:bodyPr wrap="square" lIns="25400" tIns="12700" rIns="25400" bIns="12700" anchor="ctr">
            <a:spAutoFit/>
          </a:bodyPr>
          <a:lstStyle/>
          <a:p>
            <a:pPr algn="ctr"/>
            <a:r>
              <a:rPr sz="2200" b="1" i="0">
                <a:solidFill>
                  <a:srgbClr val="D99A07"/>
                </a:solidFill>
                <a:latin typeface="Calibri"/>
              </a:rPr>
              <a:t>1</a:t>
            </a:r>
          </a:p>
        </p:txBody>
      </p:sp>
      <p:sp>
        <p:nvSpPr>
          <p:cNvPr id="10" name="TextBox 9"/>
          <p:cNvSpPr txBox="1"/>
          <p:nvPr/>
        </p:nvSpPr>
        <p:spPr>
          <a:xfrm>
            <a:off x="1188720" y="1627632"/>
            <a:ext cx="4206240" cy="822960"/>
          </a:xfrm>
          <a:prstGeom prst="rect">
            <a:avLst/>
          </a:prstGeom>
          <a:noFill/>
        </p:spPr>
        <p:txBody>
          <a:bodyPr wrap="square" lIns="25400" tIns="12700" rIns="25400" bIns="12700" anchor="ctr">
            <a:spAutoFit/>
          </a:bodyPr>
          <a:lstStyle/>
          <a:p>
            <a:pPr algn="l"/>
            <a:r>
              <a:rPr sz="1300" b="1" i="0">
                <a:solidFill>
                  <a:srgbClr val="102A4C"/>
                </a:solidFill>
                <a:latin typeface="Calibri"/>
              </a:rPr>
              <a:t>Uçtan uca tespit sistemi</a:t>
            </a:r>
          </a:p>
        </p:txBody>
      </p:sp>
      <p:sp>
        <p:nvSpPr>
          <p:cNvPr id="11" name="TextBox 10"/>
          <p:cNvSpPr txBox="1"/>
          <p:nvPr/>
        </p:nvSpPr>
        <p:spPr>
          <a:xfrm>
            <a:off x="5486400" y="1627632"/>
            <a:ext cx="6217920" cy="822960"/>
          </a:xfrm>
          <a:prstGeom prst="rect">
            <a:avLst/>
          </a:prstGeom>
          <a:noFill/>
        </p:spPr>
        <p:txBody>
          <a:bodyPr wrap="square" lIns="25400" tIns="12700" rIns="25400" bIns="12700" anchor="ctr">
            <a:spAutoFit/>
          </a:bodyPr>
          <a:lstStyle/>
          <a:p>
            <a:pPr algn="l"/>
            <a:r>
              <a:rPr sz="1150" b="0" i="0">
                <a:solidFill>
                  <a:srgbClr val="242A30"/>
                </a:solidFill>
                <a:latin typeface="Calibri"/>
              </a:rPr>
              <a:t>47 boyutlu vektör + 11 modelli topluluk, 5.195 örnekte eğitildi.</a:t>
            </a:r>
          </a:p>
        </p:txBody>
      </p:sp>
      <p:sp>
        <p:nvSpPr>
          <p:cNvPr id="12" name="Rectangle 11"/>
          <p:cNvSpPr/>
          <p:nvPr/>
        </p:nvSpPr>
        <p:spPr>
          <a:xfrm>
            <a:off x="365760" y="2560320"/>
            <a:ext cx="11457432" cy="822960"/>
          </a:xfrm>
          <a:prstGeom prst="rect">
            <a:avLst/>
          </a:prstGeom>
          <a:solidFill>
            <a:srgbClr val="EAEEF2"/>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65760" y="2560320"/>
            <a:ext cx="640080" cy="82296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65760" y="2560320"/>
            <a:ext cx="640080" cy="822960"/>
          </a:xfrm>
          <a:prstGeom prst="rect">
            <a:avLst/>
          </a:prstGeom>
          <a:noFill/>
        </p:spPr>
        <p:txBody>
          <a:bodyPr wrap="square" lIns="25400" tIns="12700" rIns="25400" bIns="12700" anchor="ctr">
            <a:spAutoFit/>
          </a:bodyPr>
          <a:lstStyle/>
          <a:p>
            <a:pPr algn="ctr"/>
            <a:r>
              <a:rPr sz="2200" b="1" i="0">
                <a:solidFill>
                  <a:srgbClr val="D99A07"/>
                </a:solidFill>
                <a:latin typeface="Calibri"/>
              </a:rPr>
              <a:t>2</a:t>
            </a:r>
          </a:p>
        </p:txBody>
      </p:sp>
      <p:sp>
        <p:nvSpPr>
          <p:cNvPr id="15" name="TextBox 14"/>
          <p:cNvSpPr txBox="1"/>
          <p:nvPr/>
        </p:nvSpPr>
        <p:spPr>
          <a:xfrm>
            <a:off x="1188720" y="2560320"/>
            <a:ext cx="4206240" cy="822960"/>
          </a:xfrm>
          <a:prstGeom prst="rect">
            <a:avLst/>
          </a:prstGeom>
          <a:noFill/>
        </p:spPr>
        <p:txBody>
          <a:bodyPr wrap="square" lIns="25400" tIns="12700" rIns="25400" bIns="12700" anchor="ctr">
            <a:spAutoFit/>
          </a:bodyPr>
          <a:lstStyle/>
          <a:p>
            <a:pPr algn="l"/>
            <a:r>
              <a:rPr sz="1300" b="1" i="0">
                <a:solidFill>
                  <a:srgbClr val="102A4C"/>
                </a:solidFill>
                <a:latin typeface="Calibri"/>
              </a:rPr>
              <a:t>LightGBM lider</a:t>
            </a:r>
          </a:p>
        </p:txBody>
      </p:sp>
      <p:sp>
        <p:nvSpPr>
          <p:cNvPr id="16" name="TextBox 15"/>
          <p:cNvSpPr txBox="1"/>
          <p:nvPr/>
        </p:nvSpPr>
        <p:spPr>
          <a:xfrm>
            <a:off x="5486400" y="2560320"/>
            <a:ext cx="6217920" cy="822960"/>
          </a:xfrm>
          <a:prstGeom prst="rect">
            <a:avLst/>
          </a:prstGeom>
          <a:noFill/>
        </p:spPr>
        <p:txBody>
          <a:bodyPr wrap="square" lIns="25400" tIns="12700" rIns="25400" bIns="12700" anchor="ctr">
            <a:spAutoFit/>
          </a:bodyPr>
          <a:lstStyle/>
          <a:p>
            <a:pPr algn="l"/>
            <a:r>
              <a:rPr sz="1150" b="0" i="0">
                <a:solidFill>
                  <a:srgbClr val="242A30"/>
                </a:solidFill>
                <a:latin typeface="Calibri"/>
              </a:rPr>
              <a:t>ROC-AUC 0,9548, en düşük varyans (±0,0023); Derin ÇKA 0,9542 ile ikinci.</a:t>
            </a:r>
          </a:p>
        </p:txBody>
      </p:sp>
      <p:sp>
        <p:nvSpPr>
          <p:cNvPr id="17" name="Rectangle 16"/>
          <p:cNvSpPr/>
          <p:nvPr/>
        </p:nvSpPr>
        <p:spPr>
          <a:xfrm>
            <a:off x="365760" y="3493008"/>
            <a:ext cx="11457432" cy="82296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365760" y="3493008"/>
            <a:ext cx="640080" cy="82296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65760" y="3493008"/>
            <a:ext cx="640080" cy="822960"/>
          </a:xfrm>
          <a:prstGeom prst="rect">
            <a:avLst/>
          </a:prstGeom>
          <a:noFill/>
        </p:spPr>
        <p:txBody>
          <a:bodyPr wrap="square" lIns="25400" tIns="12700" rIns="25400" bIns="12700" anchor="ctr">
            <a:spAutoFit/>
          </a:bodyPr>
          <a:lstStyle/>
          <a:p>
            <a:pPr algn="ctr"/>
            <a:r>
              <a:rPr sz="2200" b="1" i="0">
                <a:solidFill>
                  <a:srgbClr val="D99A07"/>
                </a:solidFill>
                <a:latin typeface="Calibri"/>
              </a:rPr>
              <a:t>3</a:t>
            </a:r>
          </a:p>
        </p:txBody>
      </p:sp>
      <p:sp>
        <p:nvSpPr>
          <p:cNvPr id="20" name="TextBox 19"/>
          <p:cNvSpPr txBox="1"/>
          <p:nvPr/>
        </p:nvSpPr>
        <p:spPr>
          <a:xfrm>
            <a:off x="1188720" y="3493008"/>
            <a:ext cx="4206240" cy="822960"/>
          </a:xfrm>
          <a:prstGeom prst="rect">
            <a:avLst/>
          </a:prstGeom>
          <a:noFill/>
        </p:spPr>
        <p:txBody>
          <a:bodyPr wrap="square" lIns="25400" tIns="12700" rIns="25400" bIns="12700" anchor="ctr">
            <a:spAutoFit/>
          </a:bodyPr>
          <a:lstStyle/>
          <a:p>
            <a:pPr algn="l"/>
            <a:r>
              <a:rPr sz="1300" b="1" i="0">
                <a:solidFill>
                  <a:srgbClr val="102A4C"/>
                </a:solidFill>
                <a:latin typeface="Calibri"/>
              </a:rPr>
              <a:t>spectral_flatness_std belirleyici</a:t>
            </a:r>
          </a:p>
        </p:txBody>
      </p:sp>
      <p:sp>
        <p:nvSpPr>
          <p:cNvPr id="21" name="TextBox 20"/>
          <p:cNvSpPr txBox="1"/>
          <p:nvPr/>
        </p:nvSpPr>
        <p:spPr>
          <a:xfrm>
            <a:off x="5486400" y="3493008"/>
            <a:ext cx="6217920" cy="822960"/>
          </a:xfrm>
          <a:prstGeom prst="rect">
            <a:avLst/>
          </a:prstGeom>
          <a:noFill/>
        </p:spPr>
        <p:txBody>
          <a:bodyPr wrap="square" lIns="25400" tIns="12700" rIns="25400" bIns="12700" anchor="ctr">
            <a:spAutoFit/>
          </a:bodyPr>
          <a:lstStyle/>
          <a:p>
            <a:pPr algn="l"/>
            <a:r>
              <a:rPr sz="1150" b="0" i="0">
                <a:solidFill>
                  <a:srgbClr val="242A30"/>
                </a:solidFill>
                <a:latin typeface="Calibri"/>
              </a:rPr>
              <a:t>YZ-insan ayrımındaki en güçlü öznitelik; literatürle [16] tutarlı.</a:t>
            </a:r>
          </a:p>
        </p:txBody>
      </p:sp>
      <p:sp>
        <p:nvSpPr>
          <p:cNvPr id="22" name="Rectangle 21"/>
          <p:cNvSpPr/>
          <p:nvPr/>
        </p:nvSpPr>
        <p:spPr>
          <a:xfrm>
            <a:off x="365760" y="4425696"/>
            <a:ext cx="11457432" cy="822960"/>
          </a:xfrm>
          <a:prstGeom prst="rect">
            <a:avLst/>
          </a:prstGeom>
          <a:solidFill>
            <a:srgbClr val="EAEEF2"/>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365760" y="4425696"/>
            <a:ext cx="640080" cy="82296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365760" y="4425696"/>
            <a:ext cx="640080" cy="822960"/>
          </a:xfrm>
          <a:prstGeom prst="rect">
            <a:avLst/>
          </a:prstGeom>
          <a:noFill/>
        </p:spPr>
        <p:txBody>
          <a:bodyPr wrap="square" lIns="25400" tIns="12700" rIns="25400" bIns="12700" anchor="ctr">
            <a:spAutoFit/>
          </a:bodyPr>
          <a:lstStyle/>
          <a:p>
            <a:pPr algn="ctr"/>
            <a:r>
              <a:rPr sz="2200" b="1" i="0">
                <a:solidFill>
                  <a:srgbClr val="D99A07"/>
                </a:solidFill>
                <a:latin typeface="Calibri"/>
              </a:rPr>
              <a:t>4</a:t>
            </a:r>
          </a:p>
        </p:txBody>
      </p:sp>
      <p:sp>
        <p:nvSpPr>
          <p:cNvPr id="25" name="TextBox 24"/>
          <p:cNvSpPr txBox="1"/>
          <p:nvPr/>
        </p:nvSpPr>
        <p:spPr>
          <a:xfrm>
            <a:off x="1188720" y="4425696"/>
            <a:ext cx="4206240" cy="822960"/>
          </a:xfrm>
          <a:prstGeom prst="rect">
            <a:avLst/>
          </a:prstGeom>
          <a:noFill/>
        </p:spPr>
        <p:txBody>
          <a:bodyPr wrap="square" lIns="25400" tIns="12700" rIns="25400" bIns="12700" anchor="ctr">
            <a:spAutoFit/>
          </a:bodyPr>
          <a:lstStyle/>
          <a:p>
            <a:pPr algn="l"/>
            <a:r>
              <a:rPr sz="1300" b="1" i="0">
                <a:solidFill>
                  <a:srgbClr val="102A4C"/>
                </a:solidFill>
                <a:latin typeface="Calibri"/>
              </a:rPr>
              <a:t>Hafif ama rekabetçi</a:t>
            </a:r>
          </a:p>
        </p:txBody>
      </p:sp>
      <p:sp>
        <p:nvSpPr>
          <p:cNvPr id="26" name="TextBox 25"/>
          <p:cNvSpPr txBox="1"/>
          <p:nvPr/>
        </p:nvSpPr>
        <p:spPr>
          <a:xfrm>
            <a:off x="5486400" y="4425696"/>
            <a:ext cx="6217920" cy="822960"/>
          </a:xfrm>
          <a:prstGeom prst="rect">
            <a:avLst/>
          </a:prstGeom>
          <a:noFill/>
        </p:spPr>
        <p:txBody>
          <a:bodyPr wrap="square" lIns="25400" tIns="12700" rIns="25400" bIns="12700" anchor="ctr">
            <a:spAutoFit/>
          </a:bodyPr>
          <a:lstStyle/>
          <a:p>
            <a:pPr algn="l"/>
            <a:r>
              <a:rPr sz="1150" b="0" i="0">
                <a:solidFill>
                  <a:srgbClr val="242A30"/>
                </a:solidFill>
                <a:latin typeface="Calibri"/>
              </a:rPr>
              <a:t>Derin öğrenme altyapısı olmadan SONICS'e yakın AUC.</a:t>
            </a:r>
          </a:p>
        </p:txBody>
      </p:sp>
      <p:sp>
        <p:nvSpPr>
          <p:cNvPr id="27" name="Rectangle 26"/>
          <p:cNvSpPr/>
          <p:nvPr/>
        </p:nvSpPr>
        <p:spPr>
          <a:xfrm>
            <a:off x="365760" y="5358384"/>
            <a:ext cx="11457432" cy="82296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365760" y="5358384"/>
            <a:ext cx="640080" cy="82296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365760" y="5358384"/>
            <a:ext cx="640080" cy="822960"/>
          </a:xfrm>
          <a:prstGeom prst="rect">
            <a:avLst/>
          </a:prstGeom>
          <a:noFill/>
        </p:spPr>
        <p:txBody>
          <a:bodyPr wrap="square" lIns="25400" tIns="12700" rIns="25400" bIns="12700" anchor="ctr">
            <a:spAutoFit/>
          </a:bodyPr>
          <a:lstStyle/>
          <a:p>
            <a:pPr algn="ctr"/>
            <a:r>
              <a:rPr sz="2200" b="1" i="0">
                <a:solidFill>
                  <a:srgbClr val="D99A07"/>
                </a:solidFill>
                <a:latin typeface="Calibri"/>
              </a:rPr>
              <a:t>5</a:t>
            </a:r>
          </a:p>
        </p:txBody>
      </p:sp>
      <p:sp>
        <p:nvSpPr>
          <p:cNvPr id="30" name="TextBox 29"/>
          <p:cNvSpPr txBox="1"/>
          <p:nvPr/>
        </p:nvSpPr>
        <p:spPr>
          <a:xfrm>
            <a:off x="1188720" y="5358384"/>
            <a:ext cx="4206240" cy="822960"/>
          </a:xfrm>
          <a:prstGeom prst="rect">
            <a:avLst/>
          </a:prstGeom>
          <a:noFill/>
        </p:spPr>
        <p:txBody>
          <a:bodyPr wrap="square" lIns="25400" tIns="12700" rIns="25400" bIns="12700" anchor="ctr">
            <a:spAutoFit/>
          </a:bodyPr>
          <a:lstStyle/>
          <a:p>
            <a:pPr algn="l"/>
            <a:r>
              <a:rPr sz="1300" b="1" i="0">
                <a:solidFill>
                  <a:srgbClr val="102A4C"/>
                </a:solidFill>
                <a:latin typeface="Calibri"/>
              </a:rPr>
              <a:t>Tanılanan sınırlar</a:t>
            </a:r>
          </a:p>
        </p:txBody>
      </p:sp>
      <p:sp>
        <p:nvSpPr>
          <p:cNvPr id="31" name="TextBox 30"/>
          <p:cNvSpPr txBox="1"/>
          <p:nvPr/>
        </p:nvSpPr>
        <p:spPr>
          <a:xfrm>
            <a:off x="5486400" y="5358384"/>
            <a:ext cx="6217920" cy="822960"/>
          </a:xfrm>
          <a:prstGeom prst="rect">
            <a:avLst/>
          </a:prstGeom>
          <a:noFill/>
        </p:spPr>
        <p:txBody>
          <a:bodyPr wrap="square" lIns="25400" tIns="12700" rIns="25400" bIns="12700" anchor="ctr">
            <a:spAutoFit/>
          </a:bodyPr>
          <a:lstStyle/>
          <a:p>
            <a:pPr algn="l"/>
            <a:r>
              <a:rPr sz="1150" b="0" i="0">
                <a:solidFill>
                  <a:srgbClr val="242A30"/>
                </a:solidFill>
                <a:latin typeface="Calibri"/>
              </a:rPr>
              <a:t>Aşırı uyum açığı, öznitelik fazlalığı, deepfake setinde dağılım kayması.</a:t>
            </a:r>
          </a:p>
        </p:txBody>
      </p:sp>
      <p:sp>
        <p:nvSpPr>
          <p:cNvPr id="32" name="Rectangle 31"/>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65760" y="6473952"/>
            <a:ext cx="4206240" cy="292608"/>
          </a:xfrm>
          <a:prstGeom prst="rect">
            <a:avLst/>
          </a:prstGeom>
          <a:noFill/>
        </p:spPr>
        <p:txBody>
          <a:bodyPr wrap="square" lIns="25400" tIns="12700" rIns="25400" bIns="12700" anchor="t">
            <a:spAutoFit/>
          </a:bodyPr>
          <a:lstStyle/>
          <a:p>
            <a:pPr algn="l"/>
            <a:r>
              <a:rPr sz="900" b="0" i="0">
                <a:solidFill>
                  <a:srgbClr val="6A7480"/>
                </a:solidFill>
                <a:latin typeface="Calibri"/>
              </a:rPr>
              <a:t>AURIS · YZ Üretimli Müzik Tespiti</a:t>
            </a:r>
          </a:p>
        </p:txBody>
      </p:sp>
      <p:sp>
        <p:nvSpPr>
          <p:cNvPr id="34" name="TextBox 33"/>
          <p:cNvSpPr txBox="1"/>
          <p:nvPr/>
        </p:nvSpPr>
        <p:spPr>
          <a:xfrm>
            <a:off x="4663440" y="6473952"/>
            <a:ext cx="7159752" cy="292608"/>
          </a:xfrm>
          <a:prstGeom prst="rect">
            <a:avLst/>
          </a:prstGeom>
          <a:noFill/>
        </p:spPr>
        <p:txBody>
          <a:bodyPr wrap="square" lIns="25400" tIns="12700" rIns="25400" bIns="12700" anchor="t">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46304"/>
            <a:ext cx="10058400" cy="292608"/>
          </a:xfrm>
          <a:prstGeom prst="rect">
            <a:avLst/>
          </a:prstGeom>
          <a:noFill/>
        </p:spPr>
        <p:txBody>
          <a:bodyPr wrap="square" lIns="25400" tIns="12700" rIns="25400" bIns="12700" anchor="t">
            <a:spAutoFit/>
          </a:bodyPr>
          <a:lstStyle/>
          <a:p>
            <a:pPr algn="l"/>
            <a:r>
              <a:rPr sz="1150" b="1" i="0">
                <a:solidFill>
                  <a:srgbClr val="D99A07"/>
                </a:solidFill>
                <a:latin typeface="Calibri"/>
              </a:rPr>
              <a:t>BÖLÜM 11</a:t>
            </a:r>
          </a:p>
        </p:txBody>
      </p:sp>
      <p:sp>
        <p:nvSpPr>
          <p:cNvPr id="6" name="TextBox 5"/>
          <p:cNvSpPr txBox="1"/>
          <p:nvPr/>
        </p:nvSpPr>
        <p:spPr>
          <a:xfrm>
            <a:off x="411480" y="420624"/>
            <a:ext cx="11338560" cy="603504"/>
          </a:xfrm>
          <a:prstGeom prst="rect">
            <a:avLst/>
          </a:prstGeom>
          <a:noFill/>
        </p:spPr>
        <p:txBody>
          <a:bodyPr wrap="square" lIns="25400" tIns="12700" rIns="25400" bIns="12700" anchor="t">
            <a:spAutoFit/>
          </a:bodyPr>
          <a:lstStyle/>
          <a:p>
            <a:pPr algn="l"/>
            <a:r>
              <a:rPr sz="2300" b="1" i="0">
                <a:solidFill>
                  <a:srgbClr val="FFFFFF"/>
                </a:solidFill>
                <a:latin typeface="Calibri"/>
              </a:rPr>
              <a:t>Gelecek Çalışmalar</a:t>
            </a:r>
          </a:p>
        </p:txBody>
      </p:sp>
      <p:sp>
        <p:nvSpPr>
          <p:cNvPr id="7" name="Rectangle 6"/>
          <p:cNvSpPr/>
          <p:nvPr/>
        </p:nvSpPr>
        <p:spPr>
          <a:xfrm>
            <a:off x="365760" y="1627632"/>
            <a:ext cx="3657600" cy="4434840"/>
          </a:xfrm>
          <a:prstGeom prst="rect">
            <a:avLst/>
          </a:prstGeom>
          <a:solidFill>
            <a:srgbClr val="E8F5EB"/>
          </a:solidFill>
          <a:ln w="1524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65760" y="1627632"/>
            <a:ext cx="3657600" cy="548640"/>
          </a:xfrm>
          <a:prstGeom prst="rect">
            <a:avLst/>
          </a:prstGeom>
          <a:solidFill>
            <a:srgbClr val="1B6E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2920" y="1627632"/>
            <a:ext cx="3383280" cy="548640"/>
          </a:xfrm>
          <a:prstGeom prst="rect">
            <a:avLst/>
          </a:prstGeom>
          <a:noFill/>
        </p:spPr>
        <p:txBody>
          <a:bodyPr wrap="square" lIns="25400" tIns="12700" rIns="25400" bIns="12700" anchor="ctr">
            <a:spAutoFit/>
          </a:bodyPr>
          <a:lstStyle/>
          <a:p>
            <a:pPr algn="l"/>
            <a:r>
              <a:rPr sz="1500" b="1" i="0">
                <a:solidFill>
                  <a:srgbClr val="FFFFFF"/>
                </a:solidFill>
                <a:latin typeface="Calibri"/>
              </a:rPr>
              <a:t>Kısa Vade</a:t>
            </a:r>
          </a:p>
        </p:txBody>
      </p:sp>
      <p:sp>
        <p:nvSpPr>
          <p:cNvPr id="10" name="TextBox 9"/>
          <p:cNvSpPr txBox="1"/>
          <p:nvPr/>
        </p:nvSpPr>
        <p:spPr>
          <a:xfrm>
            <a:off x="548640" y="2377440"/>
            <a:ext cx="3337560" cy="3566160"/>
          </a:xfrm>
          <a:prstGeom prst="rect">
            <a:avLst/>
          </a:prstGeom>
          <a:noFill/>
        </p:spPr>
        <p:txBody>
          <a:bodyPr wrap="square" lIns="25400" rIns="25400" anchor="t">
            <a:spAutoFit/>
          </a:bodyPr>
          <a:lstStyle/>
          <a:p>
            <a:pPr algn="l">
              <a:spcBef>
                <a:spcPts val="0"/>
              </a:spcBef>
              <a:spcAft>
                <a:spcPts val="1400"/>
              </a:spcAft>
            </a:pPr>
            <a:r>
              <a:rPr sz="1200" b="0" i="0">
                <a:solidFill>
                  <a:srgbClr val="242A30"/>
                </a:solidFill>
                <a:latin typeface="Calibri"/>
              </a:rPr>
              <a:t>•  SONICS / FakeMusicCaps ile üretici-bağımsız değerlendirme</a:t>
            </a:r>
          </a:p>
          <a:p>
            <a:pPr algn="l">
              <a:spcBef>
                <a:spcPts val="0"/>
              </a:spcBef>
              <a:spcAft>
                <a:spcPts val="1400"/>
              </a:spcAft>
            </a:pPr>
            <a:r>
              <a:rPr sz="1200" b="0" i="0">
                <a:solidFill>
                  <a:srgbClr val="242A30"/>
                </a:solidFill>
                <a:latin typeface="Calibri"/>
              </a:rPr>
              <a:t>•  wav2vec2 ince ayarı ile doğrudan karşılaştırma</a:t>
            </a:r>
          </a:p>
          <a:p>
            <a:pPr algn="l">
              <a:spcBef>
                <a:spcPts val="0"/>
              </a:spcBef>
              <a:spcAft>
                <a:spcPts val="1400"/>
              </a:spcAft>
            </a:pPr>
            <a:r>
              <a:rPr sz="1200" b="0" i="0">
                <a:solidFill>
                  <a:srgbClr val="242A30"/>
                </a:solidFill>
                <a:latin typeface="Calibri"/>
              </a:rPr>
              <a:t>•  MP3, perde kaydırma, zaman gerdirme sağlamlık testleri</a:t>
            </a:r>
          </a:p>
        </p:txBody>
      </p:sp>
      <p:sp>
        <p:nvSpPr>
          <p:cNvPr id="11" name="Rectangle 10"/>
          <p:cNvSpPr/>
          <p:nvPr/>
        </p:nvSpPr>
        <p:spPr>
          <a:xfrm>
            <a:off x="4251960" y="1627632"/>
            <a:ext cx="3657600" cy="4434840"/>
          </a:xfrm>
          <a:prstGeom prst="rect">
            <a:avLst/>
          </a:prstGeom>
          <a:solidFill>
            <a:srgbClr val="E8F0FA"/>
          </a:solidFill>
          <a:ln w="15240">
            <a:solidFill>
              <a:srgbClr val="2E5A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251960" y="1627632"/>
            <a:ext cx="3657600" cy="548640"/>
          </a:xfrm>
          <a:prstGeom prst="rect">
            <a:avLst/>
          </a:prstGeom>
          <a:solidFill>
            <a:srgbClr val="2E5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389120" y="1627632"/>
            <a:ext cx="3383280" cy="548640"/>
          </a:xfrm>
          <a:prstGeom prst="rect">
            <a:avLst/>
          </a:prstGeom>
          <a:noFill/>
        </p:spPr>
        <p:txBody>
          <a:bodyPr wrap="square" lIns="25400" tIns="12700" rIns="25400" bIns="12700" anchor="ctr">
            <a:spAutoFit/>
          </a:bodyPr>
          <a:lstStyle/>
          <a:p>
            <a:pPr algn="l"/>
            <a:r>
              <a:rPr sz="1500" b="1" i="0">
                <a:solidFill>
                  <a:srgbClr val="FFFFFF"/>
                </a:solidFill>
                <a:latin typeface="Calibri"/>
              </a:rPr>
              <a:t>Orta Vade</a:t>
            </a:r>
          </a:p>
        </p:txBody>
      </p:sp>
      <p:sp>
        <p:nvSpPr>
          <p:cNvPr id="14" name="TextBox 13"/>
          <p:cNvSpPr txBox="1"/>
          <p:nvPr/>
        </p:nvSpPr>
        <p:spPr>
          <a:xfrm>
            <a:off x="4434840" y="2377440"/>
            <a:ext cx="3337560" cy="3566160"/>
          </a:xfrm>
          <a:prstGeom prst="rect">
            <a:avLst/>
          </a:prstGeom>
          <a:noFill/>
        </p:spPr>
        <p:txBody>
          <a:bodyPr wrap="square" lIns="25400" rIns="25400" anchor="t">
            <a:spAutoFit/>
          </a:bodyPr>
          <a:lstStyle/>
          <a:p>
            <a:pPr algn="l">
              <a:spcBef>
                <a:spcPts val="0"/>
              </a:spcBef>
              <a:spcAft>
                <a:spcPts val="1400"/>
              </a:spcAft>
            </a:pPr>
            <a:r>
              <a:rPr sz="1200" b="0" i="0">
                <a:solidFill>
                  <a:srgbClr val="242A30"/>
                </a:solidFill>
                <a:latin typeface="Calibri"/>
              </a:rPr>
              <a:t>•  Alan uyarlama (domain adaptation) ile genelleme</a:t>
            </a:r>
          </a:p>
          <a:p>
            <a:pPr algn="l">
              <a:spcBef>
                <a:spcPts val="0"/>
              </a:spcBef>
              <a:spcAft>
                <a:spcPts val="1400"/>
              </a:spcAft>
            </a:pPr>
            <a:r>
              <a:rPr sz="1200" b="0" i="0">
                <a:solidFill>
                  <a:srgbClr val="242A30"/>
                </a:solidFill>
                <a:latin typeface="Calibri"/>
              </a:rPr>
              <a:t>•  Gerçek zamanlı düşük gecikmeli çıkarım</a:t>
            </a:r>
          </a:p>
          <a:p>
            <a:pPr algn="l">
              <a:spcBef>
                <a:spcPts val="0"/>
              </a:spcBef>
              <a:spcAft>
                <a:spcPts val="1400"/>
              </a:spcAft>
            </a:pPr>
            <a:r>
              <a:rPr sz="1200" b="0" i="0">
                <a:solidFill>
                  <a:srgbClr val="242A30"/>
                </a:solidFill>
                <a:latin typeface="Calibri"/>
              </a:rPr>
              <a:t>•  Veri kümesini 10.000 örneğe genişletme</a:t>
            </a:r>
          </a:p>
        </p:txBody>
      </p:sp>
      <p:sp>
        <p:nvSpPr>
          <p:cNvPr id="15" name="Rectangle 14"/>
          <p:cNvSpPr/>
          <p:nvPr/>
        </p:nvSpPr>
        <p:spPr>
          <a:xfrm>
            <a:off x="8138160" y="1627632"/>
            <a:ext cx="3657600" cy="4434840"/>
          </a:xfrm>
          <a:prstGeom prst="rect">
            <a:avLst/>
          </a:prstGeom>
          <a:solidFill>
            <a:srgbClr val="FFF3DD"/>
          </a:solidFill>
          <a:ln w="15240">
            <a:solidFill>
              <a:srgbClr val="8A66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138160" y="1627632"/>
            <a:ext cx="3657600" cy="548640"/>
          </a:xfrm>
          <a:prstGeom prst="rect">
            <a:avLst/>
          </a:prstGeom>
          <a:solidFill>
            <a:srgbClr val="8A6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275320" y="1627632"/>
            <a:ext cx="3383280" cy="548640"/>
          </a:xfrm>
          <a:prstGeom prst="rect">
            <a:avLst/>
          </a:prstGeom>
          <a:noFill/>
        </p:spPr>
        <p:txBody>
          <a:bodyPr wrap="square" lIns="25400" tIns="12700" rIns="25400" bIns="12700" anchor="ctr">
            <a:spAutoFit/>
          </a:bodyPr>
          <a:lstStyle/>
          <a:p>
            <a:pPr algn="l"/>
            <a:r>
              <a:rPr sz="1500" b="1" i="0">
                <a:solidFill>
                  <a:srgbClr val="FFFFFF"/>
                </a:solidFill>
                <a:latin typeface="Calibri"/>
              </a:rPr>
              <a:t>Uzun Vade</a:t>
            </a:r>
          </a:p>
        </p:txBody>
      </p:sp>
      <p:sp>
        <p:nvSpPr>
          <p:cNvPr id="18" name="TextBox 17"/>
          <p:cNvSpPr txBox="1"/>
          <p:nvPr/>
        </p:nvSpPr>
        <p:spPr>
          <a:xfrm>
            <a:off x="8321040" y="2377440"/>
            <a:ext cx="3337560" cy="3566160"/>
          </a:xfrm>
          <a:prstGeom prst="rect">
            <a:avLst/>
          </a:prstGeom>
          <a:noFill/>
        </p:spPr>
        <p:txBody>
          <a:bodyPr wrap="square" lIns="25400" rIns="25400" anchor="t">
            <a:spAutoFit/>
          </a:bodyPr>
          <a:lstStyle/>
          <a:p>
            <a:pPr algn="l">
              <a:spcBef>
                <a:spcPts val="0"/>
              </a:spcBef>
              <a:spcAft>
                <a:spcPts val="1400"/>
              </a:spcAft>
            </a:pPr>
            <a:r>
              <a:rPr sz="1200" b="0" i="0" dirty="0">
                <a:solidFill>
                  <a:srgbClr val="242A30"/>
                </a:solidFill>
                <a:latin typeface="Calibri"/>
              </a:rPr>
              <a:t>•  Yeni </a:t>
            </a:r>
            <a:r>
              <a:rPr sz="1200" b="0" i="0" dirty="0" err="1">
                <a:solidFill>
                  <a:srgbClr val="242A30"/>
                </a:solidFill>
                <a:latin typeface="Calibri"/>
              </a:rPr>
              <a:t>nesil</a:t>
            </a:r>
            <a:r>
              <a:rPr sz="1200" b="0" i="0" dirty="0">
                <a:solidFill>
                  <a:srgbClr val="242A30"/>
                </a:solidFill>
                <a:latin typeface="Calibri"/>
              </a:rPr>
              <a:t> </a:t>
            </a:r>
            <a:r>
              <a:rPr sz="1200" b="0" i="0" dirty="0" err="1">
                <a:solidFill>
                  <a:srgbClr val="242A30"/>
                </a:solidFill>
                <a:latin typeface="Calibri"/>
              </a:rPr>
              <a:t>üretici</a:t>
            </a:r>
            <a:r>
              <a:rPr sz="1200" b="0" i="0" dirty="0">
                <a:solidFill>
                  <a:srgbClr val="242A30"/>
                </a:solidFill>
                <a:latin typeface="Calibri"/>
              </a:rPr>
              <a:t> </a:t>
            </a:r>
            <a:r>
              <a:rPr sz="1200" b="0" i="0" dirty="0" err="1">
                <a:solidFill>
                  <a:srgbClr val="242A30"/>
                </a:solidFill>
                <a:latin typeface="Calibri"/>
              </a:rPr>
              <a:t>sistemlerin</a:t>
            </a:r>
            <a:r>
              <a:rPr sz="1200" b="0" i="0" dirty="0">
                <a:solidFill>
                  <a:srgbClr val="242A30"/>
                </a:solidFill>
                <a:latin typeface="Calibri"/>
              </a:rPr>
              <a:t> </a:t>
            </a:r>
            <a:r>
              <a:rPr sz="1200" b="0" i="0" dirty="0" err="1">
                <a:solidFill>
                  <a:srgbClr val="242A30"/>
                </a:solidFill>
                <a:latin typeface="Calibri"/>
              </a:rPr>
              <a:t>kapsanması</a:t>
            </a:r>
            <a:endParaRPr sz="1200" b="0" i="0" dirty="0">
              <a:solidFill>
                <a:srgbClr val="242A30"/>
              </a:solidFill>
              <a:latin typeface="Calibri"/>
            </a:endParaRPr>
          </a:p>
          <a:p>
            <a:pPr algn="l">
              <a:spcBef>
                <a:spcPts val="0"/>
              </a:spcBef>
              <a:spcAft>
                <a:spcPts val="1400"/>
              </a:spcAft>
            </a:pPr>
            <a:r>
              <a:rPr sz="1200" b="0" i="0" dirty="0">
                <a:solidFill>
                  <a:srgbClr val="242A30"/>
                </a:solidFill>
                <a:latin typeface="Calibri"/>
              </a:rPr>
              <a:t>•  Watermarking </a:t>
            </a:r>
            <a:r>
              <a:rPr sz="1200" b="0" i="0" dirty="0" err="1">
                <a:solidFill>
                  <a:srgbClr val="242A30"/>
                </a:solidFill>
                <a:latin typeface="Calibri"/>
              </a:rPr>
              <a:t>ve</a:t>
            </a:r>
            <a:r>
              <a:rPr sz="1200" b="0" i="0" dirty="0">
                <a:solidFill>
                  <a:srgbClr val="242A30"/>
                </a:solidFill>
                <a:latin typeface="Calibri"/>
              </a:rPr>
              <a:t> </a:t>
            </a:r>
            <a:r>
              <a:rPr sz="1200" b="0" i="0" dirty="0" err="1">
                <a:solidFill>
                  <a:srgbClr val="242A30"/>
                </a:solidFill>
                <a:latin typeface="Calibri"/>
              </a:rPr>
              <a:t>ses</a:t>
            </a:r>
            <a:r>
              <a:rPr sz="1200" b="0" i="0" dirty="0">
                <a:solidFill>
                  <a:srgbClr val="242A30"/>
                </a:solidFill>
                <a:latin typeface="Calibri"/>
              </a:rPr>
              <a:t> </a:t>
            </a:r>
            <a:r>
              <a:rPr sz="1200" b="0" i="0" dirty="0" err="1">
                <a:solidFill>
                  <a:srgbClr val="242A30"/>
                </a:solidFill>
                <a:latin typeface="Calibri"/>
              </a:rPr>
              <a:t>parmak</a:t>
            </a:r>
            <a:r>
              <a:rPr sz="1200" b="0" i="0" dirty="0">
                <a:solidFill>
                  <a:srgbClr val="242A30"/>
                </a:solidFill>
                <a:latin typeface="Calibri"/>
              </a:rPr>
              <a:t> </a:t>
            </a:r>
            <a:r>
              <a:rPr sz="1200" b="0" i="0" dirty="0" err="1">
                <a:solidFill>
                  <a:srgbClr val="242A30"/>
                </a:solidFill>
                <a:latin typeface="Calibri"/>
              </a:rPr>
              <a:t>izi</a:t>
            </a:r>
            <a:r>
              <a:rPr sz="1200" b="0" i="0" dirty="0">
                <a:solidFill>
                  <a:srgbClr val="242A30"/>
                </a:solidFill>
                <a:latin typeface="Calibri"/>
              </a:rPr>
              <a:t> </a:t>
            </a:r>
            <a:r>
              <a:rPr sz="1200" b="0" i="0" dirty="0" err="1">
                <a:solidFill>
                  <a:srgbClr val="242A30"/>
                </a:solidFill>
                <a:latin typeface="Calibri"/>
              </a:rPr>
              <a:t>entegrasyonu</a:t>
            </a:r>
            <a:endParaRPr sz="1200" b="0" i="0" dirty="0">
              <a:solidFill>
                <a:srgbClr val="242A30"/>
              </a:solidFill>
              <a:latin typeface="Calibri"/>
            </a:endParaRPr>
          </a:p>
          <a:p>
            <a:pPr algn="l">
              <a:spcBef>
                <a:spcPts val="0"/>
              </a:spcBef>
              <a:spcAft>
                <a:spcPts val="1400"/>
              </a:spcAft>
            </a:pPr>
            <a:r>
              <a:rPr sz="1200" b="0" i="0" dirty="0">
                <a:solidFill>
                  <a:srgbClr val="242A30"/>
                </a:solidFill>
                <a:latin typeface="Calibri"/>
              </a:rPr>
              <a:t>•  </a:t>
            </a:r>
            <a:r>
              <a:rPr sz="1200" b="0" i="0" dirty="0" err="1">
                <a:solidFill>
                  <a:srgbClr val="242A30"/>
                </a:solidFill>
                <a:latin typeface="Calibri"/>
              </a:rPr>
              <a:t>Sosyal</a:t>
            </a:r>
            <a:r>
              <a:rPr sz="1200" b="0" i="0" dirty="0">
                <a:solidFill>
                  <a:srgbClr val="242A30"/>
                </a:solidFill>
                <a:latin typeface="Calibri"/>
              </a:rPr>
              <a:t> </a:t>
            </a:r>
            <a:r>
              <a:rPr sz="1200" b="0" i="0" dirty="0" err="1">
                <a:solidFill>
                  <a:srgbClr val="242A30"/>
                </a:solidFill>
                <a:latin typeface="Calibri"/>
              </a:rPr>
              <a:t>medya</a:t>
            </a:r>
            <a:r>
              <a:rPr sz="1200" b="0" i="0" dirty="0">
                <a:solidFill>
                  <a:srgbClr val="242A30"/>
                </a:solidFill>
                <a:latin typeface="Calibri"/>
              </a:rPr>
              <a:t> </a:t>
            </a:r>
            <a:r>
              <a:rPr sz="1200" b="0" i="0" dirty="0" err="1">
                <a:solidFill>
                  <a:srgbClr val="242A30"/>
                </a:solidFill>
                <a:latin typeface="Calibri"/>
              </a:rPr>
              <a:t>ve</a:t>
            </a:r>
            <a:r>
              <a:rPr sz="1200" b="0" i="0" dirty="0">
                <a:solidFill>
                  <a:srgbClr val="242A30"/>
                </a:solidFill>
                <a:latin typeface="Calibri"/>
              </a:rPr>
              <a:t> </a:t>
            </a:r>
            <a:r>
              <a:rPr sz="1200" b="0" i="0" dirty="0" err="1">
                <a:solidFill>
                  <a:srgbClr val="242A30"/>
                </a:solidFill>
                <a:latin typeface="Calibri"/>
              </a:rPr>
              <a:t>canlı</a:t>
            </a:r>
            <a:r>
              <a:rPr sz="1200" b="0" i="0" dirty="0">
                <a:solidFill>
                  <a:srgbClr val="242A30"/>
                </a:solidFill>
                <a:latin typeface="Calibri"/>
              </a:rPr>
              <a:t> </a:t>
            </a:r>
            <a:r>
              <a:rPr sz="1200" b="0" i="0" dirty="0" err="1">
                <a:solidFill>
                  <a:srgbClr val="242A30"/>
                </a:solidFill>
                <a:latin typeface="Calibri"/>
              </a:rPr>
              <a:t>akış</a:t>
            </a:r>
            <a:r>
              <a:rPr sz="1200" b="0" i="0" dirty="0">
                <a:solidFill>
                  <a:srgbClr val="242A30"/>
                </a:solidFill>
                <a:latin typeface="Calibri"/>
              </a:rPr>
              <a:t> </a:t>
            </a:r>
            <a:r>
              <a:rPr sz="1200" b="0" i="0" dirty="0" err="1">
                <a:solidFill>
                  <a:srgbClr val="242A30"/>
                </a:solidFill>
                <a:latin typeface="Calibri"/>
              </a:rPr>
              <a:t>entegrasyonu</a:t>
            </a:r>
            <a:endParaRPr sz="1200" b="0" i="0" dirty="0">
              <a:solidFill>
                <a:srgbClr val="242A30"/>
              </a:solidFill>
              <a:latin typeface="Calibri"/>
            </a:endParaRPr>
          </a:p>
        </p:txBody>
      </p:sp>
      <p:sp>
        <p:nvSpPr>
          <p:cNvPr id="19" name="Rectangle 18"/>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65760" y="6473952"/>
            <a:ext cx="4206240" cy="292608"/>
          </a:xfrm>
          <a:prstGeom prst="rect">
            <a:avLst/>
          </a:prstGeom>
          <a:noFill/>
        </p:spPr>
        <p:txBody>
          <a:bodyPr wrap="square" lIns="25400" tIns="12700" rIns="25400" bIns="12700" anchor="t">
            <a:spAutoFit/>
          </a:bodyPr>
          <a:lstStyle/>
          <a:p>
            <a:pPr algn="l"/>
            <a:r>
              <a:rPr sz="900" b="0" i="0">
                <a:solidFill>
                  <a:srgbClr val="6A7480"/>
                </a:solidFill>
                <a:latin typeface="Calibri"/>
              </a:rPr>
              <a:t>AURIS · YZ Üretimli Müzik Tespiti</a:t>
            </a:r>
          </a:p>
        </p:txBody>
      </p:sp>
      <p:sp>
        <p:nvSpPr>
          <p:cNvPr id="21" name="TextBox 20"/>
          <p:cNvSpPr txBox="1"/>
          <p:nvPr/>
        </p:nvSpPr>
        <p:spPr>
          <a:xfrm>
            <a:off x="4663440" y="6473952"/>
            <a:ext cx="7159752" cy="292608"/>
          </a:xfrm>
          <a:prstGeom prst="rect">
            <a:avLst/>
          </a:prstGeom>
          <a:noFill/>
        </p:spPr>
        <p:txBody>
          <a:bodyPr wrap="square" lIns="25400" tIns="12700" rIns="25400" bIns="12700" anchor="t">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102A4C"/>
        </a:solidFill>
        <a:effectLst/>
      </p:bgPr>
    </p:bg>
    <p:spTree>
      <p:nvGrpSpPr>
        <p:cNvPr id="1" name=""/>
        <p:cNvGrpSpPr/>
        <p:nvPr/>
      </p:nvGrpSpPr>
      <p:grpSpPr>
        <a:xfrm>
          <a:off x="0" y="0"/>
          <a:ext cx="0" cy="0"/>
          <a:chOff x="0" y="0"/>
          <a:chExt cx="0" cy="0"/>
        </a:xfrm>
      </p:grpSpPr>
      <p:sp>
        <p:nvSpPr>
          <p:cNvPr id="2" name="Rectangle 1"/>
          <p:cNvSpPr/>
          <p:nvPr/>
        </p:nvSpPr>
        <p:spPr>
          <a:xfrm>
            <a:off x="0" y="2651760"/>
            <a:ext cx="12188952" cy="54864"/>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051560"/>
            <a:ext cx="11247120" cy="1005840"/>
          </a:xfrm>
          <a:prstGeom prst="rect">
            <a:avLst/>
          </a:prstGeom>
          <a:noFill/>
        </p:spPr>
        <p:txBody>
          <a:bodyPr wrap="square" lIns="25400" tIns="12700" rIns="25400" bIns="12700" anchor="t">
            <a:spAutoFit/>
          </a:bodyPr>
          <a:lstStyle/>
          <a:p>
            <a:pPr algn="ctr"/>
            <a:r>
              <a:rPr sz="3600" b="1" i="0">
                <a:solidFill>
                  <a:srgbClr val="FFFFFF"/>
                </a:solidFill>
                <a:latin typeface="Calibri"/>
              </a:rPr>
              <a:t>Dinlediğiniz için teşekkürler.</a:t>
            </a:r>
          </a:p>
        </p:txBody>
      </p:sp>
      <p:sp>
        <p:nvSpPr>
          <p:cNvPr id="4" name="TextBox 3"/>
          <p:cNvSpPr txBox="1"/>
          <p:nvPr/>
        </p:nvSpPr>
        <p:spPr>
          <a:xfrm>
            <a:off x="457200" y="2103120"/>
            <a:ext cx="11247120" cy="548640"/>
          </a:xfrm>
          <a:prstGeom prst="rect">
            <a:avLst/>
          </a:prstGeom>
          <a:noFill/>
        </p:spPr>
        <p:txBody>
          <a:bodyPr wrap="square" lIns="25400" tIns="12700" rIns="25400" bIns="12700" anchor="t">
            <a:spAutoFit/>
          </a:bodyPr>
          <a:lstStyle/>
          <a:p>
            <a:pPr algn="ctr"/>
            <a:r>
              <a:rPr sz="2200" b="0" i="0">
                <a:solidFill>
                  <a:srgbClr val="D99A07"/>
                </a:solidFill>
                <a:latin typeface="Calibri"/>
              </a:rPr>
              <a:t>Sorularınızı bekliyorum.</a:t>
            </a:r>
          </a:p>
        </p:txBody>
      </p:sp>
      <p:sp>
        <p:nvSpPr>
          <p:cNvPr id="5" name="Rectangle 4"/>
          <p:cNvSpPr/>
          <p:nvPr/>
        </p:nvSpPr>
        <p:spPr>
          <a:xfrm>
            <a:off x="1051560" y="3154680"/>
            <a:ext cx="2240280" cy="1280160"/>
          </a:xfrm>
          <a:prstGeom prst="rect">
            <a:avLst/>
          </a:prstGeom>
          <a:solidFill>
            <a:srgbClr val="081B33"/>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51560" y="3246120"/>
            <a:ext cx="2240280" cy="594360"/>
          </a:xfrm>
          <a:prstGeom prst="rect">
            <a:avLst/>
          </a:prstGeom>
          <a:noFill/>
        </p:spPr>
        <p:txBody>
          <a:bodyPr wrap="square" lIns="25400" tIns="12700" rIns="25400" bIns="12700" anchor="ctr">
            <a:spAutoFit/>
          </a:bodyPr>
          <a:lstStyle/>
          <a:p>
            <a:pPr algn="ctr"/>
            <a:r>
              <a:rPr sz="2600" b="1" i="0">
                <a:solidFill>
                  <a:srgbClr val="D99A07"/>
                </a:solidFill>
                <a:latin typeface="Calibri"/>
              </a:rPr>
              <a:t>0,9548</a:t>
            </a:r>
          </a:p>
        </p:txBody>
      </p:sp>
      <p:sp>
        <p:nvSpPr>
          <p:cNvPr id="7" name="TextBox 6"/>
          <p:cNvSpPr txBox="1"/>
          <p:nvPr/>
        </p:nvSpPr>
        <p:spPr>
          <a:xfrm>
            <a:off x="1051560" y="3822191"/>
            <a:ext cx="2240280" cy="457200"/>
          </a:xfrm>
          <a:prstGeom prst="rect">
            <a:avLst/>
          </a:prstGeom>
          <a:noFill/>
        </p:spPr>
        <p:txBody>
          <a:bodyPr wrap="square" lIns="25400" tIns="12700" rIns="25400" bIns="12700" anchor="ctr">
            <a:spAutoFit/>
          </a:bodyPr>
          <a:lstStyle/>
          <a:p>
            <a:pPr algn="ctr"/>
            <a:r>
              <a:rPr sz="1200" b="0" i="0">
                <a:solidFill>
                  <a:srgbClr val="FFFFFF"/>
                </a:solidFill>
                <a:latin typeface="Calibri"/>
              </a:rPr>
              <a:t>ROC-AUC</a:t>
            </a:r>
          </a:p>
        </p:txBody>
      </p:sp>
      <p:sp>
        <p:nvSpPr>
          <p:cNvPr id="8" name="Rectangle 7"/>
          <p:cNvSpPr/>
          <p:nvPr/>
        </p:nvSpPr>
        <p:spPr>
          <a:xfrm>
            <a:off x="3593591" y="3154680"/>
            <a:ext cx="2240280" cy="1280160"/>
          </a:xfrm>
          <a:prstGeom prst="rect">
            <a:avLst/>
          </a:prstGeom>
          <a:solidFill>
            <a:srgbClr val="081B33"/>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593591" y="3246120"/>
            <a:ext cx="2240280" cy="594360"/>
          </a:xfrm>
          <a:prstGeom prst="rect">
            <a:avLst/>
          </a:prstGeom>
          <a:noFill/>
        </p:spPr>
        <p:txBody>
          <a:bodyPr wrap="square" lIns="25400" tIns="12700" rIns="25400" bIns="12700" anchor="ctr">
            <a:spAutoFit/>
          </a:bodyPr>
          <a:lstStyle/>
          <a:p>
            <a:pPr algn="ctr"/>
            <a:r>
              <a:rPr sz="2600" b="1" i="0">
                <a:solidFill>
                  <a:srgbClr val="D99A07"/>
                </a:solidFill>
                <a:latin typeface="Calibri"/>
              </a:rPr>
              <a:t>47</a:t>
            </a:r>
          </a:p>
        </p:txBody>
      </p:sp>
      <p:sp>
        <p:nvSpPr>
          <p:cNvPr id="10" name="TextBox 9"/>
          <p:cNvSpPr txBox="1"/>
          <p:nvPr/>
        </p:nvSpPr>
        <p:spPr>
          <a:xfrm>
            <a:off x="3593591" y="3822191"/>
            <a:ext cx="2240280" cy="457200"/>
          </a:xfrm>
          <a:prstGeom prst="rect">
            <a:avLst/>
          </a:prstGeom>
          <a:noFill/>
        </p:spPr>
        <p:txBody>
          <a:bodyPr wrap="square" lIns="25400" tIns="12700" rIns="25400" bIns="12700" anchor="ctr">
            <a:spAutoFit/>
          </a:bodyPr>
          <a:lstStyle/>
          <a:p>
            <a:pPr algn="ctr"/>
            <a:r>
              <a:rPr sz="1200" b="0" i="0">
                <a:solidFill>
                  <a:srgbClr val="FFFFFF"/>
                </a:solidFill>
                <a:latin typeface="Calibri"/>
              </a:rPr>
              <a:t>Öznitelik</a:t>
            </a:r>
          </a:p>
        </p:txBody>
      </p:sp>
      <p:sp>
        <p:nvSpPr>
          <p:cNvPr id="11" name="Rectangle 10"/>
          <p:cNvSpPr/>
          <p:nvPr/>
        </p:nvSpPr>
        <p:spPr>
          <a:xfrm>
            <a:off x="6135623" y="3154680"/>
            <a:ext cx="2240280" cy="1280160"/>
          </a:xfrm>
          <a:prstGeom prst="rect">
            <a:avLst/>
          </a:prstGeom>
          <a:solidFill>
            <a:srgbClr val="081B33"/>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135623" y="3246120"/>
            <a:ext cx="2240280" cy="594360"/>
          </a:xfrm>
          <a:prstGeom prst="rect">
            <a:avLst/>
          </a:prstGeom>
          <a:noFill/>
        </p:spPr>
        <p:txBody>
          <a:bodyPr wrap="square" lIns="25400" tIns="12700" rIns="25400" bIns="12700" anchor="ctr">
            <a:spAutoFit/>
          </a:bodyPr>
          <a:lstStyle/>
          <a:p>
            <a:pPr algn="ctr"/>
            <a:r>
              <a:rPr sz="2600" b="1" i="0">
                <a:solidFill>
                  <a:srgbClr val="D99A07"/>
                </a:solidFill>
                <a:latin typeface="Calibri"/>
              </a:rPr>
              <a:t>11</a:t>
            </a:r>
          </a:p>
        </p:txBody>
      </p:sp>
      <p:sp>
        <p:nvSpPr>
          <p:cNvPr id="13" name="TextBox 12"/>
          <p:cNvSpPr txBox="1"/>
          <p:nvPr/>
        </p:nvSpPr>
        <p:spPr>
          <a:xfrm>
            <a:off x="6135623" y="3822191"/>
            <a:ext cx="2240280" cy="457200"/>
          </a:xfrm>
          <a:prstGeom prst="rect">
            <a:avLst/>
          </a:prstGeom>
          <a:noFill/>
        </p:spPr>
        <p:txBody>
          <a:bodyPr wrap="square" lIns="25400" tIns="12700" rIns="25400" bIns="12700" anchor="ctr">
            <a:spAutoFit/>
          </a:bodyPr>
          <a:lstStyle/>
          <a:p>
            <a:pPr algn="ctr"/>
            <a:r>
              <a:rPr sz="1200" b="0" i="0">
                <a:solidFill>
                  <a:srgbClr val="FFFFFF"/>
                </a:solidFill>
                <a:latin typeface="Calibri"/>
              </a:rPr>
              <a:t>Model</a:t>
            </a:r>
          </a:p>
        </p:txBody>
      </p:sp>
      <p:sp>
        <p:nvSpPr>
          <p:cNvPr id="14" name="Rectangle 13"/>
          <p:cNvSpPr/>
          <p:nvPr/>
        </p:nvSpPr>
        <p:spPr>
          <a:xfrm>
            <a:off x="8677656" y="3154680"/>
            <a:ext cx="2240280" cy="1280160"/>
          </a:xfrm>
          <a:prstGeom prst="rect">
            <a:avLst/>
          </a:prstGeom>
          <a:solidFill>
            <a:srgbClr val="081B33"/>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677656" y="3246120"/>
            <a:ext cx="2240280" cy="594360"/>
          </a:xfrm>
          <a:prstGeom prst="rect">
            <a:avLst/>
          </a:prstGeom>
          <a:noFill/>
        </p:spPr>
        <p:txBody>
          <a:bodyPr wrap="square" lIns="25400" tIns="12700" rIns="25400" bIns="12700" anchor="ctr">
            <a:spAutoFit/>
          </a:bodyPr>
          <a:lstStyle/>
          <a:p>
            <a:pPr algn="ctr"/>
            <a:r>
              <a:rPr sz="2600" b="1" i="0">
                <a:solidFill>
                  <a:srgbClr val="D99A07"/>
                </a:solidFill>
                <a:latin typeface="Calibri"/>
              </a:rPr>
              <a:t>5.195</a:t>
            </a:r>
          </a:p>
        </p:txBody>
      </p:sp>
      <p:sp>
        <p:nvSpPr>
          <p:cNvPr id="16" name="TextBox 15"/>
          <p:cNvSpPr txBox="1"/>
          <p:nvPr/>
        </p:nvSpPr>
        <p:spPr>
          <a:xfrm>
            <a:off x="8677656" y="3822191"/>
            <a:ext cx="2240280" cy="457200"/>
          </a:xfrm>
          <a:prstGeom prst="rect">
            <a:avLst/>
          </a:prstGeom>
          <a:noFill/>
        </p:spPr>
        <p:txBody>
          <a:bodyPr wrap="square" lIns="25400" tIns="12700" rIns="25400" bIns="12700" anchor="ctr">
            <a:spAutoFit/>
          </a:bodyPr>
          <a:lstStyle/>
          <a:p>
            <a:pPr algn="ctr"/>
            <a:r>
              <a:rPr sz="1200" b="0" i="0">
                <a:solidFill>
                  <a:srgbClr val="FFFFFF"/>
                </a:solidFill>
                <a:latin typeface="Calibri"/>
              </a:rPr>
              <a:t>Örnek</a:t>
            </a:r>
          </a:p>
        </p:txBody>
      </p:sp>
      <p:sp>
        <p:nvSpPr>
          <p:cNvPr id="17" name="TextBox 16"/>
          <p:cNvSpPr txBox="1"/>
          <p:nvPr/>
        </p:nvSpPr>
        <p:spPr>
          <a:xfrm>
            <a:off x="457200" y="4800600"/>
            <a:ext cx="11247120" cy="384048"/>
          </a:xfrm>
          <a:prstGeom prst="rect">
            <a:avLst/>
          </a:prstGeom>
          <a:noFill/>
        </p:spPr>
        <p:txBody>
          <a:bodyPr wrap="square" lIns="25400" tIns="12700" rIns="25400" bIns="12700" anchor="t">
            <a:spAutoFit/>
          </a:bodyPr>
          <a:lstStyle/>
          <a:p>
            <a:pPr algn="ctr"/>
            <a:r>
              <a:rPr sz="1400" b="0" i="0">
                <a:solidFill>
                  <a:srgbClr val="ADC4D6"/>
                </a:solidFill>
                <a:latin typeface="Calibri"/>
              </a:rPr>
              <a:t>Hasan Arthur Altuntaş  ·  hasannarthurrr@gmail.com</a:t>
            </a:r>
          </a:p>
        </p:txBody>
      </p:sp>
      <p:sp>
        <p:nvSpPr>
          <p:cNvPr id="18" name="TextBox 17"/>
          <p:cNvSpPr txBox="1"/>
          <p:nvPr/>
        </p:nvSpPr>
        <p:spPr>
          <a:xfrm>
            <a:off x="457200" y="5212080"/>
            <a:ext cx="11247120" cy="347472"/>
          </a:xfrm>
          <a:prstGeom prst="rect">
            <a:avLst/>
          </a:prstGeom>
          <a:noFill/>
        </p:spPr>
        <p:txBody>
          <a:bodyPr wrap="square" lIns="25400" tIns="12700" rIns="25400" bIns="12700" anchor="t">
            <a:spAutoFit/>
          </a:bodyPr>
          <a:lstStyle/>
          <a:p>
            <a:pPr algn="ctr"/>
            <a:r>
              <a:rPr sz="1200" b="0" i="0">
                <a:solidFill>
                  <a:srgbClr val="5E7A94"/>
                </a:solidFill>
                <a:latin typeface="Calibri"/>
              </a:rPr>
              <a:t>Düzce Üniversitesi · Bilgisayar Mühendisliği · BM498 · 2025-2026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47</TotalTime>
  <Words>1823</Words>
  <Application>Microsoft Office PowerPoint</Application>
  <PresentationFormat>Özel</PresentationFormat>
  <Paragraphs>485</Paragraphs>
  <Slides>17</Slides>
  <Notes>0</Notes>
  <HiddenSlides>0</HiddenSlides>
  <MMClips>0</MMClips>
  <ScaleCrop>false</ScaleCrop>
  <HeadingPairs>
    <vt:vector size="6" baseType="variant">
      <vt:variant>
        <vt:lpstr>Kullanılan Yazı Tipleri</vt:lpstr>
      </vt:variant>
      <vt:variant>
        <vt:i4>2</vt:i4>
      </vt:variant>
      <vt:variant>
        <vt:lpstr>Tema</vt:lpstr>
      </vt:variant>
      <vt:variant>
        <vt:i4>1</vt:i4>
      </vt:variant>
      <vt:variant>
        <vt:lpstr>Slayt Başlıkları</vt:lpstr>
      </vt:variant>
      <vt:variant>
        <vt:i4>17</vt:i4>
      </vt:variant>
    </vt:vector>
  </HeadingPairs>
  <TitlesOfParts>
    <vt:vector size="20" baseType="lpstr">
      <vt:lpstr>Arial</vt:lpstr>
      <vt:lpstr>Calibri</vt:lpstr>
      <vt:lpstr>Office Theme</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914 94</cp:lastModifiedBy>
  <cp:revision>3</cp:revision>
  <dcterms:created xsi:type="dcterms:W3CDTF">2013-01-27T09:14:16Z</dcterms:created>
  <dcterms:modified xsi:type="dcterms:W3CDTF">2026-06-04T21:00:24Z</dcterms:modified>
  <cp:category/>
</cp:coreProperties>
</file>