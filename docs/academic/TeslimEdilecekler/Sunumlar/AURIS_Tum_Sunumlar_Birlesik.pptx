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88952" cy="640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E0A800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Dönem Başlangıç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Slayt 1-6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7799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01 — Dönem Başlangıç Sunumu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BM498 | 2025-2026 Güz Dönemi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Proje Adı :   AURIS — Yapay Zekâ Üretimli Müzik Tespitinde Topluluk Öğrenmesi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Öğrenci   :   Hasan Arthur Altuntaş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Danışman  :   ___________________________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Problem   :   Suno, Udio, MusicGen gibi sistemlerin ürettiği müziği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             insan kayıtlarından otomatik olarak ayırt etmek.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Hedef     :   %90+ ROC-AUC, 47 boyutlu öznitelik, açıklanabilir model.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Kapsam    :   5.195 ses örneği, çoklu kaynak, 11 sınıflandırma modeli.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Problem Tanımı ve Motivasyon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Suno, Udio, MusicGen saniyeler içinde insan kaydından ayırt edilemez müzik üretiyor.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Telif hakkı ihlalleri, sahte hit manipülasyonu, dezenformasyon riski artıyor.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Mevcut dedektörler konuşma odaklı — müzik için yetersiz kalıyor.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Tespit açığı: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• Müzik-spesifik heterojen öznitelik setleri yetersiz.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• Topluluk (ensemble) yaklaşımı müzik tespitine yeterince uygulanmamış.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• Açıklanabilir (SHAP tabanlı) sistem literatürde eksik.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AURIS bu üç boşluğu doldurmayı hedeflemektedir.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Planlanan Yöntem ve Zaman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Veri: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5.195 örnek — çoklu insan + YZ kaynağı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Öznitelik: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47 boyutlu akustik vektör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(spektral, zamansal, ritmik, harmonik, vokal)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Model: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11 model topluluğu (7 ML + 4 DL)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LightGBM lider model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Değerlendirme: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5-katlı çapraz doğrulama, SHAP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1-2 :  Veri toplama ve ön işleme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3-4 :  Öznitelik mühendisliği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5-6 :  Model eğitimi ve CV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7-8 :  Değerlendirme ve SHAP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9-10:  Yazım ve sunum hazırlığı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Risk analizi: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Sınıf dengesizliği → class_weight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DL eğitim süresi → erken durdurma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Genelleme → ileri çalışma kapsamı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Beklenen Çıktılar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099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1.  Tespit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70992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Uçtan uca LightGBM tabanlı, 47 öznitelikli sınıflandırıcı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88920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986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2.  Açıklanabilirlik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9864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SHAP/TreeSHAP ile her kararın yorumlanabilmesi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77639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3.  Akademik Yayın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08736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GUJSA'ya gönderilmek üzere hazırlanan makale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66360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760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4.  Açık Kaynak Kod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27608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Backend + model — teslim paketiyle birlikte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01: Dönem Başlangıç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Dönem Başlangıç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88952" cy="640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E0A800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Literatür Taraması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Slayt 7-11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7799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02 — Literatür Taraması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Kapsam ve yöntem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Taranan kaynak sayısı :  39 makale (2020-2026)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Güncel oran           :  %74 son 5 yıl içinde (GUJSA eşiği: %30)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3 ana araştırma alanı: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1.  Ses Derin Sahte Tespiti (Audio Deepfake Detection)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2.  GenAI Müzik Üretici Sistemleri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3.  GenAI Müzik Tespitinde Güncel Gelişmeler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Temel tespit: Müzik için ensemble + SHAP yaklaşımı literatürde henüz eksik.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Alan 1: Ses Derin Sahte Tespiti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2560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59" y="1627632"/>
            <a:ext cx="24688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 / Çalışma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00200"/>
            <a:ext cx="22860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2763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Yazarlar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600200"/>
            <a:ext cx="1097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27632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Yıl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59436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27632"/>
            <a:ext cx="5852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Katkı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29968"/>
            <a:ext cx="25603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9" y="2139696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AASIST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029968"/>
            <a:ext cx="22860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1396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Jung vd.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029968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2139696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029968"/>
            <a:ext cx="59436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13969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Spektro-temporal GAT — ASVspoof 2019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688336"/>
            <a:ext cx="256032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59" y="2798064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RawNet2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2688336"/>
            <a:ext cx="22860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7980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Tak vd.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688336"/>
            <a:ext cx="109728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2798064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88336"/>
            <a:ext cx="59436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98064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Ham dalga formu, uçtan uca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346704"/>
            <a:ext cx="25603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59" y="3456432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wav2vec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3346704"/>
            <a:ext cx="22860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34564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Baevski vd.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346704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0" y="3456432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346704"/>
            <a:ext cx="59436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45643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Öz-denetimli temsil öğrenmesi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05072"/>
            <a:ext cx="256032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59" y="4114800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WavLM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4005072"/>
            <a:ext cx="22860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800" y="411480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Chen vd.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4005072"/>
            <a:ext cx="109728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0" y="4114800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005072"/>
            <a:ext cx="59436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411480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Maskelenmiş öngörüyle ön eğitim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663440"/>
            <a:ext cx="25603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59" y="4773168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ADD 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4663440"/>
            <a:ext cx="22860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71800" y="47731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Yi vd.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6634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0" y="4773168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4663440"/>
            <a:ext cx="59436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477316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İlk YZ ses sentezi tespit yarışması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321808"/>
            <a:ext cx="256032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59" y="5431536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ASVspoof 2019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26080" y="5321808"/>
            <a:ext cx="22860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71800" y="54315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Wang vd.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321808"/>
            <a:ext cx="109728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03520" y="5431536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5321808"/>
            <a:ext cx="59436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543153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Büyük ölçekli benchmark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Alan 2-3: YZ Müzik ve Tespit + Boşluk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YZ Müzik Üretici Sistemler: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MusicGen (Copet vd., 2023) — Meta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AudioLDM (Liu vd., 2023) — latent diffusion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Suno / Udio — ticari sistemler, 2024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Tespit Çalışmaları: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Afchar vd. (ICASSP 2025) — oto-kodlayıcı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Cros Vila vd. (TISMIR 2025) — müzik öznitelik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Li vd. (Sci. Rep. 2026) — açıklanabilir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Veri Setleri: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SONICS (ICLR 2025), FakeMusicCaps (2025)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Literatür Boşlukları: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Müzik için topluluk (ensemble) yetersiz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47 boyutlu heterojen öznitelik yok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Kaynak bazlı performans analizi yok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SHAP açıklanabilirlik uygulanmamış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Youden J eşik optimizasyonu yok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AURIS bu 5 boşluğu dolduruyor.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Referans: 39  |  Güncel oran: %74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02: Literatür Taraması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Literatür Taraması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88952" cy="640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E0A800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Tasarım ve Geliştirme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Slayt 12-18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7799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03 — Tasarım ve Geliştirme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Sistem mimarisi</a:t>
            </a:r>
          </a:p>
        </p:txBody>
      </p:sp>
      <p:pic>
        <p:nvPicPr>
          <p:cNvPr id="5" name="Picture 4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Çıkarma — 47 Boyutlu Vektör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 işlevsel aile (librosa tabanlı)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Spektral (16)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MFCC, mel-spektrogram, centroid,
bandwidth, rolloff, flatness + delta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39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Zamansal (10)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RMS enerjisi, sıfır geçiş hızı,
dinamik aralık türevleri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Ritmik (9)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Tempo, beat sayısı,
onset gücü istatistikleri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Harmonik (8)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Chroma vektörü, harmonik-
algısal ayrıştırma bileşenleri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Vokal (4)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Temel frekans istatistikleri,
vibrato, formant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977639"/>
            <a:ext cx="38862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404164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4622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16 + 10 + 9 + 8 + 4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Dağılımları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YZ vs İnsan — ilk 8 öznitelik</a:t>
            </a:r>
          </a:p>
        </p:txBody>
      </p:sp>
      <p:pic>
        <p:nvPicPr>
          <p:cNvPr id="5" name="Picture 4" descr="feature_distribution_ai_vs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362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2: YZ ve insan müziğinin öznitelik dağılımları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Sınıflandırma Modelleri — 11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55448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Makine Öğrenmesi (7):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LightGBM — is_unbalance=True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XGBoost — n_estimators=400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Gradyan Artırma — max_depth=4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Rastgele Orman — n_estimators=500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SVM-RBF — C=10, gamma=0,05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ÇKA Sinir Ağı — 128-64, relu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Lojistik Regresyon — balanced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5544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Derin Öğrenme (4):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Derin ÇKA — 512-256-128-64, BatchNorm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Artık ÇKA — 3 blok, 256-256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Dikkat ÇKA — öz-dikkat, 4 baş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1B-ESA — Conv1D + max-pool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Sınıf dengesi: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%59,9 insan — %40,1 YZ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class_weight='balanced'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is_unbalance=True (ağaç modelleri)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03: Tasarım ve Geliştirme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Tasarım ve Geliştirme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88952" cy="640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E0A800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Sonuç ve Demo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Slayt 19-24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7799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04 — Sonuç 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Elde edilen metrikler (LightGBM)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0,9548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5-katlı CV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θ*=0,4316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F1-Skoru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0,8575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dengeli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Youden θ*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0,4316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optimum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4048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LightGBM 11 model içinde en yüksek ROC-AUC (0,9548) değerini sağladı.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spectral_flatness_std en ayırt edici öznitelik olarak öne çıktı (SHAP).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Youden J eşik optimizasyonu (θ*=0,4316) dengeli sınıf kararı sağladı.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Tüm modellerin ROC-AUC değerleri</a:t>
            </a:r>
          </a:p>
        </p:txBody>
      </p:sp>
      <p:pic>
        <p:nvPicPr>
          <p:cNvPr id="5" name="Picture 4" descr="paper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362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3: Tüm modellerin performans karşılaştırması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Demo — Sistem Çalışma Akışı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Müzik dosyası yüklenir (WAV / MP3).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Ön işleme: 22 050 Hz, mono.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47 öznitelik çıkarılır (librosa).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LightGBM olasılık üretir.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θ* = 0,4316 eşiği uygulanır.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6.  Çıktı: 'YZ' / 'İnsan' + olasılık skoru.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7.  SHAP ile karar yorumlanır.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Demo videosu teslim paketindedir: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Uygulama/demo_video.mp4</a:t>
            </a:r>
          </a:p>
        </p:txBody>
      </p:sp>
      <p:pic>
        <p:nvPicPr>
          <p:cNvPr id="5" name="Picture 4" descr="paper_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54864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9: P(YZ) tahmin olasılık dağılımı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Akademik Katkı ve Özgün Değer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öznitelik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akustik aileden derlenen müzik-spesifik kapsamlı 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11430000" cy="841248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24327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3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Topluluk öğrenmesi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8094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11 model — tek model yaklaşımlarının üstünde sonuç.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8444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SHAP açıklanabilirlik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410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Müzik deepfake tespitinde TreeSHAP entegrasyonu.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841248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54456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optimizasyonu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0118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Dengesiz sınıf için θ*=0,4316 — varsayılan 0,5'ten üstün.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44068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50468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GUJSA yayını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6130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Ulusal hakemli dergiye gönderilmek üzere hazırlandı.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04: Sonuç ve Demo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Sonuç ve Demo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88952" cy="640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E0A800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Final Savunma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Slayt 25-45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7799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1">
                <a:solidFill>
                  <a:srgbClr val="E0A800"/>
                </a:solidFill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</a:rPr>
              <a:t>Yapay Zekâ Üretimli Müzik Tespitinde Topluluk Öğrenmesi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214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0C8D8"/>
                </a:solidFill>
              </a:rPr>
              <a:t>Heterojen Akustik Öznitelikler ve LightGBM Tabanlı Bir Yaklaşım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00600"/>
            <a:ext cx="12188952" cy="2057400"/>
          </a:xfrm>
          <a:prstGeom prst="rect">
            <a:avLst/>
          </a:prstGeom>
          <a:solidFill>
            <a:srgbClr val="06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03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Hasan Arthur Altuntaş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21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Danışman: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8756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Mühendislik Fakültesi  |  BM498  |  2025-2026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Sunum Planı — 05 Final Savunma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1.   Motivasyon ve Problem Tanımı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2.   Literatür Özeti ve Boşluk Analizi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3.   Sistem Mimarisi (AURIS Pipeline)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4.   Veri Kümesi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5.   Öznitelik Çıkarma (47 Boyutlu Vektör)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6.   Sınıflandırma Modelleri ve Eğitim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7.   Sonuçlar — Model Karşılaştırması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8.   Açıklanabilirlik (SHAP / TreeSHAP)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9.   İlgili Çalışmalarla Karşılaştırma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10.  Kısıtlamalar ve Güçlü Yönler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11.  Sonuçlar ve Gelecek Çalışmalar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Motivasyon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Neden AURIS? Neden şimdi?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Suno, Udio, MusicGen saniyeler içinde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insan kaydından ayırt edilemez müzik üretiyor.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Telif hakkı ihlalleri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Sahte hit (streaming fraud)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Dezenformasyon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Yaratıcı ekonomide zarar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Mevcut dedektörler konuşma odaklı —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müzik için yetersiz.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0020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0,9548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671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834639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35584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977639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23359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445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16636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2120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332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AURIS uçtan uca pipeline</a:t>
            </a:r>
          </a:p>
        </p:txBody>
      </p:sp>
      <p:pic>
        <p:nvPicPr>
          <p:cNvPr id="5" name="Picture 4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Veri Kümesi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5.195 örnek — çoklu insan ve YZ kaynağı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38404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581912"/>
            <a:ext cx="3749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554480"/>
            <a:ext cx="2743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58191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Tür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1554480"/>
            <a:ext cx="23774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15819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Örnek Sayısı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81160" y="1554480"/>
            <a:ext cx="20116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58191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Etiket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751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5" y="20299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9751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97096" y="20299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9751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0296" y="20299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9751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0299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4323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5" y="24871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FMA Small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4323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97096" y="24871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24323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0296" y="24871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81160" y="24323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7736" y="24871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8895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5" y="29443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SleepyJesse (kapak)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8895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7096" y="29443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8895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0296" y="29443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28895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17736" y="29443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3467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5" y="34015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Diğer insan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33467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97096" y="34015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33467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0296" y="34015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360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33467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17736" y="34015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8039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38587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Echoes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38039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97096" y="38587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3720" y="38039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0296" y="38587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1.128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81160" y="38039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7736" y="38587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2611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5" y="43159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Suno (v3-v5)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42611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97096" y="43159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03720" y="42611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0296" y="43159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500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81160" y="42611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17736" y="43159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7183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6615" y="47731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Deepfake seti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60520" y="47183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97096" y="47731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03720" y="47183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0296" y="47731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492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81160" y="47183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17736" y="47731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1755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5" y="52303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AImE/Mustango/JEN-1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60520" y="51755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97096" y="52303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03720" y="51755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0296" y="52303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81160" y="51755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7736" y="52303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5632704"/>
            <a:ext cx="384048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6615" y="56875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TOPLAM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60520" y="5632704"/>
            <a:ext cx="274320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97096" y="56875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6903720" y="5632704"/>
            <a:ext cx="237744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40296" y="56875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81160" y="5632704"/>
            <a:ext cx="201168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317736" y="56875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/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585216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A87"/>
                </a:solidFill>
              </a:rPr>
              <a:t>Sınıf dağılımı: 3.113 insan (%59,9) — 2.082 YZ (%40,1)  |  class_weight='balanced'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Çıkarma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47 boyutlu heterojen vektör — 5 işlevsel aile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Spektral (16)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MFCC, mel-spektrogram, centroid,
bandwidth, rolloff, flatness + delta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39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Zamansal (10)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RMS enerjisi, sıfır geçiş hızı,
dinamik aralık türevleri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Ritmik (9)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Tempo, beat sayısı,
onset gücü istatistikleri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Harmonik (8)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Chroma vektörü, harmonik-
algısal ayrıştırma bileşenleri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Vokal (4)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Temel frekans istatistikleri,
vibrato, formant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977639"/>
            <a:ext cx="38862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404164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4622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16 + 10 + 9 + 8 + 4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5-katlı CV — 11 model, ROC-AUC sırasına göre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329184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572768"/>
            <a:ext cx="32369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1554480"/>
            <a:ext cx="146304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57276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1554480"/>
            <a:ext cx="21031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02352" y="1572768"/>
            <a:ext cx="20482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554480"/>
            <a:ext cx="21031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1572768"/>
            <a:ext cx="20482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81160" y="1554480"/>
            <a:ext cx="21031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8592" y="1572768"/>
            <a:ext cx="20482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47672"/>
            <a:ext cx="329184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1975103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LightGBM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1947672"/>
            <a:ext cx="146304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1975103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947672"/>
            <a:ext cx="210312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2352" y="1975103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0,8839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1947672"/>
            <a:ext cx="210312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1975103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0,8575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1947672"/>
            <a:ext cx="210312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2" y="1975103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0,9548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350008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377439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Derin ÇKA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350008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9312" y="2377439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2350008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352" y="2377439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0,8849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2350008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5472" y="2377439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2350008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8592" y="2377439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0,9542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752344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2779775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Artık ÇKA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11880" y="2752344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39312" y="2779775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4920" y="2752344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02352" y="2779775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0,8756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78040" y="2752344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05472" y="2779775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0,8476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2752344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8592" y="2779775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0,9485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154680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318211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XGBoost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3154680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39312" y="3182112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3154680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02352" y="318211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0,8751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78040" y="3154680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05472" y="318211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0,8408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3154680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8592" y="318211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0,9465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3557015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3584447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Gradyan Artırma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11880" y="3557015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39312" y="3584447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74920" y="3557015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02352" y="3584447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78040" y="3557015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05472" y="3584447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0,8337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81160" y="3557015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08592" y="3584447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0,9397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59352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" y="398678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Rastgele Orman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11880" y="3959352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39312" y="3986784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4920" y="3959352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02352" y="398678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0,8606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8040" y="3959352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05472" y="398678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0,8183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81160" y="3959352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308592" y="398678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0,9394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361688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472" y="4389120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Dikkat ÇKA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11880" y="4361688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39312" y="4389120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492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2" y="4389120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0,8628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17804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05472" y="4389120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0,8293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8116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308592" y="4389120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0,9359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4764024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7472" y="4791456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SVM-RBF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611880" y="4764024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639312" y="4791456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74920" y="4764024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02352" y="4791456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0,8612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178040" y="4764024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205472" y="4791456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0,8252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281160" y="4764024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08592" y="4791456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0,9346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5166360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7472" y="519379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ÇKA Sinir Ağı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11880" y="5166360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39312" y="5193792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74920" y="5166360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02352" y="519379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0,8566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78040" y="5166360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05472" y="519379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0,8189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81160" y="5166360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308592" y="519379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0,9276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0040" y="5568696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7472" y="5596128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1B-ESA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611880" y="5568696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39312" y="5596128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74920" y="5568696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102352" y="5596128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0,7665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178040" y="5568696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05472" y="5596128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0,7159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281160" y="5568696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08592" y="5596128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0,8543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5971032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" y="599846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Lojistik Reg.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11880" y="5971032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39312" y="5998464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74920" y="5971032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02352" y="599846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0,7779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178040" y="5971032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205472" y="599846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0,7390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281160" y="5971032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308592" y="599846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0,8515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4465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7A87"/>
                </a:solidFill>
              </a:rPr>
              <a:t>★ LightGBM — en yüksek ROC-AUC (0,9548) ve Youden eşik optimizasyonu uygulanan tek model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ROC Eğrileri ve Karmaşıklık Matrisi</a:t>
            </a:r>
          </a:p>
        </p:txBody>
      </p:sp>
      <p:pic>
        <p:nvPicPr>
          <p:cNvPr id="4" name="Picture 3" descr="paper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7607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23620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4: Makine öğrenmesi ROC eğrileri</a:t>
            </a:r>
          </a:p>
        </p:txBody>
      </p:sp>
      <p:pic>
        <p:nvPicPr>
          <p:cNvPr id="6" name="Picture 5" descr="paper_confusion_matrix_lightgb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23620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8: LightGBM karmaşıklık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SHAP Açıklanabilirlik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Hangi öznitelik kararı yönlendiriyor?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TreeSHAP global öznitelik sıralaması: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spectral_flatness_std  ← EN ÖNEMLİ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spectral_contrast_mean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rms_energy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onset_strength_std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spectral_flatness_mean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YZ müziği spektral açıdan daha 'düz' ve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düzenli — en güçlü ayırt edici özellik.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Tablo 6: İlk 10 öznitelik tam listesi.</a:t>
            </a:r>
          </a:p>
        </p:txBody>
      </p:sp>
      <p:pic>
        <p:nvPicPr>
          <p:cNvPr id="6" name="Picture 5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614476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7: TreeSHAP global etki diyagramı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Önemi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LightGBM öznitelik önem skorları</a:t>
            </a:r>
          </a:p>
        </p:txBody>
      </p:sp>
      <p:pic>
        <p:nvPicPr>
          <p:cNvPr id="5" name="Picture 4" descr="pape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1152144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6: LightGBM öznitelik önem skorları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İlgili Çalışmalarla Karşılaştırma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Tablo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2560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5" y="1618488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Çalışma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600200"/>
            <a:ext cx="31089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16936" y="1618488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Yaklaşım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600200"/>
            <a:ext cx="17373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25896" y="161848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600200"/>
            <a:ext cx="16916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63255" y="16184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19" y="1600200"/>
            <a:ext cx="16916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54895" y="16184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29968"/>
            <a:ext cx="2560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5" y="2121408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Afchar vd. (2025)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29968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2121408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Oto-kodlayıcı artefakt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029968"/>
            <a:ext cx="17373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25896" y="2121408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029968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63255" y="212140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19" y="2029968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4895" y="212140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0,872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651760"/>
            <a:ext cx="256032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5" y="2743200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Li vd. (2026)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651760"/>
            <a:ext cx="31089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16936" y="2743200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Açıklanabilir öznitelik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2651760"/>
            <a:ext cx="17373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5896" y="2743200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79" y="2651760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63255" y="2743200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19" y="2651760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54895" y="2743200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0,884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273552"/>
            <a:ext cx="2560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5" y="3364992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Cros Vila vd. (2025)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80360" y="3273552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6936" y="3364992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Spektral+ritmik+SVM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3273552"/>
            <a:ext cx="17373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25896" y="3364992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26679" y="3273552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3255" y="3364992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19" y="3273552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54895" y="3364992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895344"/>
            <a:ext cx="256032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3986783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SONICS (2025)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80360" y="3895344"/>
            <a:ext cx="31089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16936" y="3986783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Transformer DL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3895344"/>
            <a:ext cx="17373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25896" y="3986783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SONICS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26679" y="3895344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63255" y="3986783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8319" y="3895344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54895" y="3986783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0,921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4517136"/>
            <a:ext cx="2560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5" y="4608576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FakeMusicCaps (2025)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80360" y="4517136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16936" y="4608576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Çok modlu MusicCaps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4517136"/>
            <a:ext cx="17373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25896" y="4608576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FMC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6679" y="4517136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63255" y="4608576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19" y="4517136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54895" y="4608576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0,906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138928"/>
            <a:ext cx="256032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6615" y="5230368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AURIS 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5138928"/>
            <a:ext cx="310896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16936" y="5230368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47 öznitelik+11 model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5138928"/>
            <a:ext cx="173736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25896" y="5230368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26679" y="5138928"/>
            <a:ext cx="169164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63255" y="523036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0,9548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418319" y="5138928"/>
            <a:ext cx="169164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54895" y="523036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0,8731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594360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A87"/>
                </a:solidFill>
              </a:rPr>
              <a:t>AURIS — yüksek ROC-AUC (0,9548) + tek açıklanabilir (SHAP) topluluk yaklaşımı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Kalibrasyon ve Eşik Analizi</a:t>
            </a:r>
          </a:p>
        </p:txBody>
      </p:sp>
      <p:pic>
        <p:nvPicPr>
          <p:cNvPr id="4" name="Picture 3" descr="paper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7607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1447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10: Kalibrasyon eğrisi</a:t>
            </a:r>
          </a:p>
        </p:txBody>
      </p:sp>
      <p:pic>
        <p:nvPicPr>
          <p:cNvPr id="6" name="Picture 5" descr="threshol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1447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12: Karar eşiği taraması (θ*=0,4316)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Kısıtlamalar ve Güçlü Yönler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Kısıtlamalar: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Dağılım kayması (distribution shift)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Eğitim dışı YZ sistemlerine sınırlı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genelleme.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Sınıf dengesizliği (%59,9/%40,1)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class_weight ile giderildi.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Gerçek zamanlı uygulama henüz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test edilmedi.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6002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Güçlü Yönler: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47 boyutlu heterojen öznitelik vektörü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SHAP/TreeSHAP ile açıklanabilirlik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Youden J eşik optimizasyonu (θ*=0,4316)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5-katlı CV — güvenilir istatistik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GUJSA formatında akademik yayın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Sonuçlar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öznitelik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akustik aileden derlenen müzik-spesifik kapsamlı vektör.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87752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LightGBM lider — ROC-AUC 0,9548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08376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11 model içinde en yüksek ayırt etme gücü.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75304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639312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2102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spectral_flatness_std kritik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YZ müziğini insan müziğinden en güçlü ayıran öznitelik.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62856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26864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0857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optimizasyonu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83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θ*=0,4316 ile dengeli sınıf kararı sağlandı.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50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614416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961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Açıklanabilir 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7103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TreeSHAP — her karar yorumlanabilir.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Gelecek Çalışmalar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749039" cy="4892040"/>
          </a:xfrm>
          <a:prstGeom prst="rect">
            <a:avLst/>
          </a:prstGeom>
          <a:solidFill>
            <a:srgbClr val="E8F4E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Kısa Vade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SONICS/FakeMusicCaps ile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  üretici-bağımsız değerlendirme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Gerçek zamanlı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600200"/>
            <a:ext cx="3749039" cy="4892040"/>
          </a:xfrm>
          <a:prstGeom prst="rect">
            <a:avLst/>
          </a:prstGeom>
          <a:solidFill>
            <a:srgbClr val="E8F0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39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Orta Vade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39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Sosyal medya entegrasyonu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Canlı ses akışı tespiti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Çok dilli veri seti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600200"/>
            <a:ext cx="3749039" cy="4892040"/>
          </a:xfrm>
          <a:prstGeom prst="rect">
            <a:avLst/>
          </a:prstGeom>
          <a:solidFill>
            <a:srgbClr val="FFF3CC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Uzun Vade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Az örnekli öğrenme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Watermarking entegrasyonu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Telif kuruluşu işbirliği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Dinlediğiniz için teşekkürler.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0A800"/>
                </a:solidFill>
              </a:rPr>
              <a:t>Sorularınızı bekliyorum.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0,9548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Hasan Arthur Altuntaş  |  hasannarthurrr@gmail.com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023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Bilgisayar Mühendisliği  |  BM498  |  2025-2026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05: Final Savunma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Final Savunma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