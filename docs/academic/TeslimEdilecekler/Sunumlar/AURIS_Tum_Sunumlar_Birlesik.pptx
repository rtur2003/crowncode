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0A80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Dönem Başlangıç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Slayt 1-6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7799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01 — Dönem Başlangıç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BM498 | 2025-2026 Güz Dönemi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Proje Adı :   AURIS — Yapay Zekâ Üretimli Müzik Tespitinde Topluluk Öğrenmesi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Öğrenci   :   Hasan Arthur Altuntaş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Danışman  :   ___________________________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Problem   :   Suno, Udio, MusicGen gibi sistemlerin ürettiği müziği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             insan yapımı müzikten otomatik olarak ayırt etmek.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Hedef     :   %90+ ROC-AUC, 47 boyutlu öznitelik, açıklanabilir model.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Kapsam    :   5.195 ses örneği, 8 YZ kaynağı, 11 sınıflandırma modeli.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Problem Tanımı ve 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Suno, Udio, MusicGen saniyeler içinde insan sesinden ayırt edilemez müzik üretiyor.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Telif hakkı ihlalleri, sahte hit manipülasyonu, dezenformasyon riski artıyor.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Mevcut dedektörler konuşma odaklı — müzik için yetersiz.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Tespit açığı: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• Müzik-spesifik öznitelik setleri yok.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• Topluluk (ensemble) yaklaşımı müziğe uygulanmamış.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• Açıklanabilir (SHAP) sistem yok.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AURIS bu üç boşluğu doldurmayı hedeflemektedir.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Planlanan Yöntem ve Zaman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Veri: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5.195 örnek — 8 YZ kaynağı + insan kaydı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Öznitelik: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47 boyutlu akustik vektör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(spektral, ritmik, tonal, enerji, yapısal)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Model: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11 model topluluğu (ML + DL)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LightGBM lider model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Değerlendirme: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5-katlı CV, SHAP açıklanabilirlik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1-2 :  Veri toplama ve ön işleme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3-4 :  Öznitelik mühendisliği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5-6 :  Model eğitimi ve CV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7-8 :  Değerlendirme ve SHAP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Hafta 9-10:  Yazım ve sunum hazırlığı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Risk analizi: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Sınıf dengesizliği → class_weight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DL eğitim süresi → erken durdurma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Gerçek zamanlı kapsam → ileri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Beklenen Çıktılar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1.  Tespit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70992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Uçtan uca LightGBM tabanlı, 47 öznitelikli sınıflandırıcı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98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2.  Açıklanabilirlik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89864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SHAP ile her kararın yorumlanabilmesi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39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87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3.  Akademik Yayın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8736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GUJSA'ya gönderilmek üzere hazırlanan makale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11430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76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4.  Açık Kaynak Kod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276088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GitHub üzerinden paylaşım — teslim paketiyle birlikte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01: Dönem Başlangıç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Dönem Başlangıç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0A80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Literatür Taraması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Slayt 7-11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7799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02 — Literatür Taraması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Kapsam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Taranan kaynak sayısı :  39 makale (2020-2026)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Güncel oran           :  %74 son 5 yıl içinde yayımlanmış (GUJSA eşiği: %30)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3 ana araştırma alanı: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1.  Ses Derin Sahte Tespiti (Audio Deepfake Detection)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2.  GenAI Müzik Üretici Sistemleri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  3.  GenAI Müzik Tespitinde Güncel Gelişmeler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Temel tespit: Müzik için ensemble + SHAP yaklaşımı literatürde henüz yok.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Alan 1: Ses Derin Sahte Tespiti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00200"/>
            <a:ext cx="25603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627632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 / Çalışma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00200"/>
            <a:ext cx="22860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276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Yazarlar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600200"/>
            <a:ext cx="10972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27632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Yıl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943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Katkı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9968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213969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AASIST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029968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13969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Jung vd.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2029968"/>
            <a:ext cx="1097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13969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29968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3969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Spektro-temporal GAT — ASVspoof 2019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88336"/>
            <a:ext cx="256032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798064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RawNet2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688336"/>
            <a:ext cx="22860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798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Tak vd.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688336"/>
            <a:ext cx="109728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79806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88336"/>
            <a:ext cx="59436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79806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Ham dalga formu, uçtan uca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46704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345643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wav2vec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346704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4564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Baevski vd.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3346704"/>
            <a:ext cx="1097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345643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46704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5643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Öz-denetimli temsil öğrenmesi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05072"/>
            <a:ext cx="256032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411480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WavLM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005072"/>
            <a:ext cx="22860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4114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Chen vd.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4005072"/>
            <a:ext cx="109728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411480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005072"/>
            <a:ext cx="59436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11480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Maskelenmiş öngörüyle ön eğitim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663440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4773168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ADD 2022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66344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47731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Yi vd.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4663440"/>
            <a:ext cx="1097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477316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663440"/>
            <a:ext cx="59436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7731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İlk YZ ses sentezi tespit yarışması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321808"/>
            <a:ext cx="256032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543153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ASVspoof 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5321808"/>
            <a:ext cx="22860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5431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Wang vd.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5321808"/>
            <a:ext cx="109728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543153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2020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5321808"/>
            <a:ext cx="5943600" cy="59436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43153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64k örnekli büyük ölçekli benchmark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Alan 2-3: YZ Müzik ve Tespit + Boşluk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YZ Müzik Üretici Sistemler: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MusicGen (Copet vd., 2023) — Meta, transformer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AudioLDM (Liu vd., 2023) — latent diffusion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Suno / Udio — ticari sistemler, 2024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Tespit Çalışmaları: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Afchar vd. (ICASSP 2025) — MFCC+CNN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Cros Vila vd. (TISMIR 2025) — müzik öznitelik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Li vd. (Sci. Rep. 2026) — açıklanabilir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Veri Setleri: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SONICS (ICLR 2025) — 97k şarkı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FakeMusicCaps (J. Imaging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Literatür Boşlukları: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Müzik için topluluk (ensemble)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47 boyutlu heterojen öznitelik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Kaynak bazlı performans analizi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SHAP açıklanabilirlik uygulanmamış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✗  Youden J eşik optimizasyonu yok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AURIS bu 5 boşluğu dolduruyor.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Referans sayısı: 39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Güncel oran   : %74 (2021-2026)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02: Literatür Taraması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Literatür Taraması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0A80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Tasarım ve Geliştirme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Slayt 12-18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7799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03 — Tasarım ve Geliştirme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Sistem mimarisi</a:t>
            </a:r>
          </a:p>
        </p:txBody>
      </p:sp>
      <p:pic>
        <p:nvPicPr>
          <p:cNvPr id="5" name="Picture 4" descr="paper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11430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1: AURIS uçtan uca işleyiş şeması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Öznitelik Çıkarma — 47 Boyutlu Vektör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0020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Spektral (16)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MFCC×13, centroid, bandwidth,
rolloff, flatness std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60020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Ritmik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21945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Tempo, beat strength,
onset density, regularity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60020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Tonal (9)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1945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Chroma×9, key confidence,
HNR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3192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233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Enerji (8)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2628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RMS, ZCR,
dynamic range, crest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93192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40233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Yapısal (4)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452628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Segment sınırı yoğunluğu,
tekrar oranı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3977639"/>
            <a:ext cx="388620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04164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A800"/>
                </a:solidFill>
              </a:rPr>
              <a:t>Toplam: 47 boyut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46227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16+10+9+8+4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Öznitelik Dağılımları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YZ vs İnsan — ilk 8 öznitelik</a:t>
            </a:r>
          </a:p>
        </p:txBody>
      </p:sp>
      <p:pic>
        <p:nvPicPr>
          <p:cNvPr id="5" name="Picture 4" descr="feature_distribution_ai_vs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114300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362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2: YZ ve insan müziğinin öznitelik dağılımları karşılaştırması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Sınıflandırma Modelleri — 11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Makine Öğrenmesi (7):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LightGBM — is_unbalance=True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XGBoost — scale_pos_weight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Random Forest — class_weight=balanced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Extra Trees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AdaBoost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Logistic Regression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SVM (RBF kernel)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Topluluk: soft voting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LightGBM ağırlığı 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5544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Derin Öğrenme (4):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MLP (3 katman, ReLU, dropout=0,3)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1D-CNN (temporal convolution)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LSTM (128 birim, dropout=0,3)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• Transformer (2 head, dim=64)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Sınıf dengesi: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%59,9 YZ — %40,1 insan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class_weight='balanced'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Yöntem: ağırlık tabanlı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03: Tasarım ve Geliştirme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Tasarım ve Geliştirme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0A800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Sonuç ve Demo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Slayt 19-24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7799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04 — Sonuç 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Elde edilen metrikler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74320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A800"/>
                </a:solidFill>
              </a:rPr>
              <a:t>%95,48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±0,0023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00200"/>
            <a:ext cx="274320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F1-Skoru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488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A800"/>
                </a:solidFill>
              </a:rPr>
              <a:t>%92,7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5-fold 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274320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Brier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A800"/>
                </a:solidFill>
              </a:rPr>
              <a:t>0,083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iyi kalibre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600200"/>
            <a:ext cx="274320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Youden θ*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A800"/>
                </a:solidFill>
              </a:rPr>
              <a:t>0,4316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optimum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</a:rPr>
              <a:t>LightGBM 11 model içinde tüm metriklerde lider.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</a:rPr>
              <a:t>Spectral Flatness Std Dev en ayırt edici öznitelik (SHAP).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</a:rPr>
              <a:t>Youden J eşik optimizasyonu F1'i %89,4'ten %92,7'ye taşıdı (+3,3 puan).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Model Karşılaştırması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Tüm modellerin ROC-AUC değerleri</a:t>
            </a:r>
          </a:p>
        </p:txBody>
      </p:sp>
      <p:pic>
        <p:nvPicPr>
          <p:cNvPr id="5" name="Picture 4" descr="paper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114300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362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3: Tüm modellerin performans karşılaştırması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Demo — Sistem Çalışma Akışı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1.  Müzik dosyası yüklenir (WAV / MP3).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2.  Ön işleme: 22 050 Hz, mono, 30 sn.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3.  47 öznitelik çıkarılır (librosa).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4.  LightGBM olasılık üretir.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5.  θ* = 0,4316 eşiği uygulanır.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6.  Çıktı: 'YZ' / 'İnsan' + olasılık skoru.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7.  SHAP ile karar yorumlanır.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Demo videosu teslim paketi içindedir: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Uygulama/demo_video.mp4</a:t>
            </a:r>
          </a:p>
        </p:txBody>
      </p:sp>
      <p:pic>
        <p:nvPicPr>
          <p:cNvPr id="5" name="Picture 4" descr="paper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864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9: P(YZ) tahmin olasılık dağılımı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Akademik Katkı ve Özgün Değer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1430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87"/>
                </a:solidFill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47 boyutlu heterojen öznitelik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208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 akustik aileden derlenen müzik-spesifik kapsamlı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11430000" cy="841248"/>
          </a:xfrm>
          <a:prstGeom prst="rect">
            <a:avLst/>
          </a:prstGeom>
          <a:solidFill>
            <a:srgbClr val="F4F6F8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24327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87"/>
                </a:solidFill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3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Topluluk öğrenmesi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8094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11 model soft-voting — tek model yaklaşımlarının üstünde.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11430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87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SHAP açıklanabilirlik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4106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Müzik deepfake tespitinde SHAP ilk kez uygulandı.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1430000" cy="841248"/>
          </a:xfrm>
          <a:prstGeom prst="rect">
            <a:avLst/>
          </a:prstGeom>
          <a:solidFill>
            <a:srgbClr val="F4F6F8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87"/>
                </a:solidFill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Youden J optimizasyonu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0118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Dengesiz sınıf için θ*=0,4316 — varsayılan 0,5'ten üstün.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40680"/>
            <a:ext cx="11430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04688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87"/>
                </a:solidFill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86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GUJSA yayını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613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Ulusal hakemli dergiye gönderilmek üzere hazırlandı.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04: Sonuç ve Demo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Sonuç ve Demo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0A80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Final Savunma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D8"/>
                </a:solidFill>
              </a:rPr>
              <a:t>Slayt 25-45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7799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>
                <a:solidFill>
                  <a:srgbClr val="E0A800"/>
                </a:solidFill>
              </a:rPr>
              <a:t>AURIS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Yapay Zekâ Üretimli Müzik Tespitinde Topluluk Öğrenmesi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214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8D8"/>
                </a:solidFill>
              </a:rPr>
              <a:t>Heterojen Akustik Öznitelikler ve LightGBM Tabanlı Bir Yaklaşım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06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9103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Hasan Arthur Altuntaş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21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8D8"/>
                </a:solidFill>
              </a:rPr>
              <a:t>Danışman: 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87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</a:rPr>
              <a:t>Düzce Üniversitesi  |  Mühendislik Fakültesi  |  BM498  |  2025-2026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Sunum Planı — 05 Final Savunma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1.   Motivasyon ve Problem Tanımı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2.   Literatür Özeti ve Boşluk Analizi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3.   Sistem Mimarisi (AURIS Pipeline)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4.   Veri Kümesi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5.   Öznitelik Çıkarma (47 Boyutlu Vektör)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6.   Sınıflandırma Modelleri ve Eğitim Protokolü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7.   Sonuçlar — Model Karşılaştırması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8.   Açıklanabilirlik (SHAP / TreeSHAP)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9.   İlgili Çalışmalarla Karşılaştırma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10.  Kısıtlamalar ve Güçlü Yönler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333333"/>
                </a:solidFill>
              </a:rPr>
              <a:t>11.  Sonuçlar ve Gelecek Çalışmalar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Neden AURIS? Neden şimdi?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Suno, Udio, MusicGen saniyeler içinde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insan sesinden ayırt edilemez müzik üretiyor.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Telif hakkı ihlalleri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Sahte hit (streaming fraud)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Dezenformasyon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▸  Yaratıcı ekonomide zarar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Mevcut dedektörler konuşma odaklı —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</a:rPr>
              <a:t>müzik için yetersiz.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00200"/>
            <a:ext cx="539496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A800"/>
                </a:solidFill>
              </a:rPr>
              <a:t>%95,48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67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88920"/>
            <a:ext cx="539496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83463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A800"/>
                </a:solidFill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558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Öznitelik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77639"/>
            <a:ext cx="539496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5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A800"/>
                </a:solidFill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44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166360"/>
            <a:ext cx="539496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212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A800"/>
                </a:solidFill>
              </a:rPr>
              <a:t>5.195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733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Örnek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AURIS uçtan uca pipeline</a:t>
            </a:r>
          </a:p>
        </p:txBody>
      </p:sp>
      <p:pic>
        <p:nvPicPr>
          <p:cNvPr id="5" name="Picture 4" descr="paper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1143000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996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1: AURIS uçtan uca işleyiş şeması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Veri Kümesi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5.195 örnek — 8 farklı kaynak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657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6276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Kaynak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1600200"/>
            <a:ext cx="27432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Tür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600200"/>
            <a:ext cx="23774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6276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Örnek Sayısı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1600200"/>
            <a:ext cx="21945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276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Oran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29968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" y="2093976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MusicGen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2029968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5" y="2093976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YZ üretimi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029968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20939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712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029968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5" y="2093976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%13,7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42032"/>
            <a:ext cx="365760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5" y="2606040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AudioLDM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2542032"/>
            <a:ext cx="274320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14215" y="2606040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YZ üretimi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542032"/>
            <a:ext cx="237744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2606040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498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542032"/>
            <a:ext cx="219456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5" y="2606040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%9,6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54096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5" y="3118104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Suno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3054096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14215" y="3118104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YZ üretimi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3054096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7416" y="3118104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644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054096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5" y="3118104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%12,4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566160"/>
            <a:ext cx="365760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5" y="3630168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Udio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39" y="3566160"/>
            <a:ext cx="274320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14215" y="3630168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YZ üretimi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3566160"/>
            <a:ext cx="237744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57416" y="3630168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610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3566160"/>
            <a:ext cx="2194560" cy="457200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34855" y="3630168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%11,7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078224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5" y="4142232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Diğer YZ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77639" y="4078224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14215" y="4142232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YZ üretimi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4078224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57416" y="4142232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649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078224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34855" y="4142232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%12,5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590288"/>
            <a:ext cx="3657600" cy="457200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5" y="4654296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İnsan Kaydı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4590288"/>
            <a:ext cx="2743200" cy="457200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14215" y="4654296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Gerçek müzik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4590288"/>
            <a:ext cx="2377440" cy="457200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57416" y="465429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2.082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4590288"/>
            <a:ext cx="2194560" cy="457200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34855" y="4654296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%40,1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102352"/>
            <a:ext cx="3657600" cy="457200"/>
          </a:xfrm>
          <a:prstGeom prst="rect">
            <a:avLst/>
          </a:prstGeom>
          <a:solidFill>
            <a:srgbClr val="E8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6615" y="5166360"/>
            <a:ext cx="35844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TOPLAM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77639" y="5102352"/>
            <a:ext cx="2743200" cy="457200"/>
          </a:xfrm>
          <a:prstGeom prst="rect">
            <a:avLst/>
          </a:prstGeom>
          <a:solidFill>
            <a:srgbClr val="E8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14215" y="5166360"/>
            <a:ext cx="2670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5102352"/>
            <a:ext cx="2377440" cy="457200"/>
          </a:xfrm>
          <a:prstGeom prst="rect">
            <a:avLst/>
          </a:prstGeom>
          <a:solidFill>
            <a:srgbClr val="E8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57416" y="5166360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5.195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280" y="5102352"/>
            <a:ext cx="2194560" cy="457200"/>
          </a:xfrm>
          <a:prstGeom prst="rect">
            <a:avLst/>
          </a:prstGeom>
          <a:solidFill>
            <a:srgbClr val="E8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34855" y="5166360"/>
            <a:ext cx="21214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%100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760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A87"/>
                </a:solidFill>
              </a:rPr>
              <a:t>Sınıf dağılımı: %59,9 YZ — %40,1 insan  |  class_weight='balanced'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Öznitelik Çıkarma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47 boyutlu heterojen akustik vektör — 5 aile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Spektral (16)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945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MFCC×13, centroid, bandwidth,
rolloff, flatness std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60020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Ritmik (10)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21945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Tempo, beat strength,
onset density, regularity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60020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Tonal (9)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Chroma×9, key confidence, HNR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3192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0233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Enerji (8)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52628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RMS, ZCR,
dynamic range, crest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931920"/>
            <a:ext cx="36576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40233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Yapısal (4)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452628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Segment sınırı yoğunluğu,
tekrar oranı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3977639"/>
            <a:ext cx="388620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04164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A800"/>
                </a:solidFill>
              </a:rPr>
              <a:t>Toplam: 47 boyut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46227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16 + 10 + 9 + 8 + 4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Model Karşılaştırması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5-katlı CV sonuçları — 11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27432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61848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600200"/>
            <a:ext cx="173736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618488"/>
            <a:ext cx="16824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600200"/>
            <a:ext cx="14630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61848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16459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18488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Doğruluk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00200"/>
            <a:ext cx="17830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1618488"/>
            <a:ext cx="1728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Hassasiyet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600200"/>
            <a:ext cx="16916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72" y="1618488"/>
            <a:ext cx="1636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Duyarlılık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11680"/>
            <a:ext cx="2743200" cy="438912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057400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6B3A"/>
                </a:solidFill>
              </a:rPr>
              <a:t>LightGBM 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011680"/>
            <a:ext cx="1737360" cy="438912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2057400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6B3A"/>
                </a:solidFill>
              </a:rPr>
              <a:t>95,48%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011680"/>
            <a:ext cx="1463040" cy="438912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2057400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6B3A"/>
                </a:solidFill>
              </a:rPr>
              <a:t>92,7%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011680"/>
            <a:ext cx="1645920" cy="438912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057400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6B3A"/>
                </a:solidFill>
              </a:rPr>
              <a:t>93,1%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011680"/>
            <a:ext cx="1783080" cy="438912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205740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6B3A"/>
                </a:solidFill>
              </a:rPr>
              <a:t>91,8%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011680"/>
            <a:ext cx="1691640" cy="438912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0072" y="2057400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6B3A"/>
                </a:solidFill>
              </a:rPr>
              <a:t>93,6%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505456"/>
            <a:ext cx="274320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55117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XGBoost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505456"/>
            <a:ext cx="17373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2551176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94,21%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505456"/>
            <a:ext cx="14630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2551176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91,2%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505456"/>
            <a:ext cx="16459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2551176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91,8%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2505456"/>
            <a:ext cx="178308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6992" y="2551176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90,5%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2505456"/>
            <a:ext cx="1691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2551176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92,0%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999232"/>
            <a:ext cx="2743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044952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Random Forest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999232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3044952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93,87%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2999232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28032" y="304495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90,8%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999232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3044952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91,3%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999232"/>
            <a:ext cx="1783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36992" y="3044952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89,9%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2999232"/>
            <a:ext cx="1691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20072" y="3044952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91,7%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493008"/>
            <a:ext cx="274320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353872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Extra Trees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493008"/>
            <a:ext cx="17373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90672" y="3538728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92,14%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3493008"/>
            <a:ext cx="14630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28032" y="35387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89,3%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3493008"/>
            <a:ext cx="16459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3538728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89,9%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09560" y="3493008"/>
            <a:ext cx="178308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3538728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92640" y="3493008"/>
            <a:ext cx="1691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20072" y="3538728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90,4%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986784"/>
            <a:ext cx="2743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4032504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SVM (RBF)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986784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90672" y="4032504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91,05%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00600" y="3986784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28032" y="403250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88,1%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3986784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91072" y="403250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88,7%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09560" y="3986784"/>
            <a:ext cx="1783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36992" y="4032504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87,4%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2640" y="3986784"/>
            <a:ext cx="1691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20072" y="4032504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88,8%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480560"/>
            <a:ext cx="274320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7472" y="4526280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MLP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480560"/>
            <a:ext cx="17373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90672" y="4526280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90,43%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00600" y="4480560"/>
            <a:ext cx="14630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28032" y="4526280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87,6%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4480560"/>
            <a:ext cx="16459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91072" y="4526280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88,2%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09560" y="4480560"/>
            <a:ext cx="178308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36992" y="452628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86,9%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92640" y="4480560"/>
            <a:ext cx="1691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20072" y="4526280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88,3%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974336"/>
            <a:ext cx="2743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7472" y="502005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1D-CNN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974336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90672" y="5020056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89,76%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00600" y="4974336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28032" y="5020056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86,8%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4974336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91072" y="5020056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87,4%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09560" y="4974336"/>
            <a:ext cx="1783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36992" y="5020056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85,7%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92640" y="4974336"/>
            <a:ext cx="1691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20072" y="5020056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87,9%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5468112"/>
            <a:ext cx="274320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7472" y="5513832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LSTM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63240" y="5468112"/>
            <a:ext cx="17373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090672" y="5513832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88,32%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800600" y="5468112"/>
            <a:ext cx="14630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28032" y="551383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85,1%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63640" y="5468112"/>
            <a:ext cx="164592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91072" y="5513832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85,8%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09560" y="5468112"/>
            <a:ext cx="178308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36992" y="5513832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84,3%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92640" y="5468112"/>
            <a:ext cx="1691640" cy="438912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20072" y="5513832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85,9%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5961888"/>
            <a:ext cx="2743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7472" y="600760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Transformer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63240" y="5961888"/>
            <a:ext cx="1737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090672" y="6007608"/>
            <a:ext cx="1682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87,91%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800600" y="5961888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28032" y="600760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84,7%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63640" y="5961888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91072" y="6007608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85,3%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09560" y="5961888"/>
            <a:ext cx="1783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936992" y="6007608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83,8%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92640" y="5961888"/>
            <a:ext cx="1691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20072" y="6007608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85,4%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A87"/>
                </a:solidFill>
              </a:rPr>
              <a:t>★ LightGBM — en yüksek performans, tüm metriklerde lider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ROC Eğrileri ve Karmaşıklık Matrisi</a:t>
            </a:r>
          </a:p>
        </p:txBody>
      </p:sp>
      <p:pic>
        <p:nvPicPr>
          <p:cNvPr id="4" name="Picture 3" descr="paper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7607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2362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4: Makine öğrenmesi ROC eğrileri</a:t>
            </a:r>
          </a:p>
        </p:txBody>
      </p:sp>
      <p:pic>
        <p:nvPicPr>
          <p:cNvPr id="6" name="Picture 5" descr="paper_confusion_matrix_lightg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5778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2362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8: LightGBM karmaşıklık matrisi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SHAP Açıklanabilirlik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Hangi öznitelik kararı yönlendiriyor?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TreeSHAP ile global öznitelik sıralaması: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1.  spectral_flatness_std  ← EN ÖNEMLİ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2.  mfcc_4_mean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3.  tempo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4.  spectral_centroid_mean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5.  zcr_mean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YZ müziği spektral açıdan daha 'düz' ve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düzenli — bu fark en güçlü ayırt edici.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Tablo 5: İlk 10 öznitelik tam listesi.</a:t>
            </a:r>
          </a:p>
        </p:txBody>
      </p:sp>
      <p:pic>
        <p:nvPicPr>
          <p:cNvPr id="6" name="Picture 5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447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7: TreeSHAP global etki diyagramı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Öznitelik Önemi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LightGBM öznitelik önem skorları</a:t>
            </a:r>
          </a:p>
        </p:txBody>
      </p:sp>
      <p:pic>
        <p:nvPicPr>
          <p:cNvPr id="5" name="Picture 4" descr="paper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115214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23620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6: LightGBM öznitelik önem skorları — ilk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İlgili Çalışmalarla Karşılaştırma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D8"/>
                </a:solidFill>
              </a:rPr>
              <a:t>Tablo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25603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5" y="16184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Çalışma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600200"/>
            <a:ext cx="27432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6936" y="161848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Yöntem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1600200"/>
            <a:ext cx="20116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0136" y="161848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Veri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600200"/>
            <a:ext cx="17373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618488"/>
            <a:ext cx="16642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600200"/>
            <a:ext cx="17373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9176" y="1618488"/>
            <a:ext cx="16642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Açıkl.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9968"/>
            <a:ext cx="25603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5" y="2139696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Afchar (2025)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029968"/>
            <a:ext cx="2743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6936" y="213969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MFCC+CNN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029968"/>
            <a:ext cx="20116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0136" y="2139696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Özel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029968"/>
            <a:ext cx="173736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6" y="2139696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91,3%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2029968"/>
            <a:ext cx="173736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2139696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79776"/>
            <a:ext cx="256032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5" y="2889504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Cros Vila (2025)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2779776"/>
            <a:ext cx="274320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6936" y="2889504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Müzik öznitelik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2779776"/>
            <a:ext cx="201168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0136" y="2889504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Özel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2779776"/>
            <a:ext cx="173736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1816" y="2889504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93,7%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2779776"/>
            <a:ext cx="173736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889504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529584"/>
            <a:ext cx="25603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5" y="3639312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SONICS (2025)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" y="3529584"/>
            <a:ext cx="2743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6936" y="3639312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End-to-end DL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3529584"/>
            <a:ext cx="20116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0136" y="36393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97k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3529584"/>
            <a:ext cx="173736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3639312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3529584"/>
            <a:ext cx="1737360" cy="67665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9176" y="3639312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279392"/>
            <a:ext cx="256032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5" y="438912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FakeMusicCaps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4279392"/>
            <a:ext cx="274320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16936" y="4389120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Metin→müzik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60" y="4279392"/>
            <a:ext cx="201168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0136" y="4389120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FMC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4279392"/>
            <a:ext cx="173736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71816" y="4389120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4279392"/>
            <a:ext cx="1737360" cy="676656"/>
          </a:xfrm>
          <a:prstGeom prst="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09176" y="4389120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029200"/>
            <a:ext cx="2560320" cy="676656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5" y="5138928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AURIS 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80360" y="5029200"/>
            <a:ext cx="2743200" cy="676656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16936" y="513892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LightGBM topluluk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5029200"/>
            <a:ext cx="2011680" cy="676656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0136" y="5138928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5.195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35240" y="5029200"/>
            <a:ext cx="1737360" cy="676656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71816" y="5138928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95,48%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5029200"/>
            <a:ext cx="1737360" cy="676656"/>
          </a:xfrm>
          <a:prstGeom prst="rect">
            <a:avLst/>
          </a:prstGeom>
          <a:solidFill>
            <a:srgbClr val="FFF8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09176" y="5138928"/>
            <a:ext cx="1664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B3A"/>
                </a:solidFill>
              </a:rPr>
              <a:t>SHAP 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59893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A87"/>
                </a:solidFill>
              </a:rPr>
              <a:t>AURIS — literatürdeki en yüksek ROC-AUC + tek açıklanabilir yaklaşım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Kalibrasyon ve Eşik Analizi</a:t>
            </a:r>
          </a:p>
        </p:txBody>
      </p:sp>
      <p:pic>
        <p:nvPicPr>
          <p:cNvPr id="4" name="Picture 3" descr="paper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7607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1447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10: Kalibrasyon eğrisi (Brier=0,083)</a:t>
            </a:r>
          </a:p>
        </p:txBody>
      </p:sp>
      <p:pic>
        <p:nvPicPr>
          <p:cNvPr id="6" name="Picture 5" descr="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57784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144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77"/>
                </a:solidFill>
              </a:rPr>
              <a:t>Şekil 12: Karar eşiği taraması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Kısıtlamalar ve Güçlü Yönler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Kısıtlamalar: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1.  Dağılım kayması (distribution shift)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  Eğitim dışı YZ sistemlerine sınırlı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  genelleme.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2.  Sınıf dengesizliği (%59,9/%40,1)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  class_weight ile kısmen giderildi.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3.  Gerçek zamanlı uygulama henüz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  test edilmedi.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002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Güçlü Yönler: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✓  47 boyutlu heterojen öznitelik vektörü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✓  SHAP ile açıklanabilirlik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✓  Youden J eşik optimizasyonu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✓  5-katlı CV — güvenilir istatistik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   (±0,0023 std)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✓  GUJSA formatında akademik yayın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Sonuçlar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A87"/>
                </a:solidFill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47 boyutlu heterojen öznitelik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208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 akustik aileden derlenen, müzik-spesifik kapsamlı vektör.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87752"/>
            <a:ext cx="11430000" cy="868680"/>
          </a:xfrm>
          <a:prstGeom prst="rect">
            <a:avLst/>
          </a:prstGeom>
          <a:solidFill>
            <a:srgbClr val="F4F6F8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A87"/>
                </a:solidFill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LightGBM lider — %95,48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083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±0,0023 std ile 11 model içinde en kararlı.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75304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39312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A87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210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Spectral Flatness Std Dev kritik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95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YZ müziğini insan müziğinden en güçlü ayıran öznitelik.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62856"/>
            <a:ext cx="11430000" cy="868680"/>
          </a:xfrm>
          <a:prstGeom prst="rect">
            <a:avLst/>
          </a:prstGeom>
          <a:solidFill>
            <a:srgbClr val="F4F6F8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26864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A87"/>
                </a:solidFill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085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Youden J optimizasyonu +3,3 puan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θ*=0,4316 ile F1 %89,4→%92,7.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50408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614416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A87"/>
                </a:solidFill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961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Açıklanabilir 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710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TreeSHAP — her karar yorumlanabilir.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Gelecek Çalışmalar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00200"/>
            <a:ext cx="3749039" cy="4892040"/>
          </a:xfrm>
          <a:prstGeom prst="rect">
            <a:avLst/>
          </a:prstGeom>
          <a:solidFill>
            <a:srgbClr val="E8F4E8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Kısa Vade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2402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Domain adaptation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Gerçek zamanlı çıkarım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&lt;5 sn klipler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600200"/>
            <a:ext cx="3749039" cy="4892040"/>
          </a:xfrm>
          <a:prstGeom prst="rect">
            <a:avLst/>
          </a:prstGeom>
          <a:solidFill>
            <a:srgbClr val="E8F0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6916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Orta Vade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22402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Sosyal medya entegrasyonu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Canlı ses akışı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Çok dilli veri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600200"/>
            <a:ext cx="3749039" cy="4892040"/>
          </a:xfrm>
          <a:prstGeom prst="rect">
            <a:avLst/>
          </a:prstGeom>
          <a:solidFill>
            <a:srgbClr val="FFF3CC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6916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Uzun Vade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2402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Az örnekli öğrenme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Watermarking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Telif kuruluşu işbirliği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10528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</a:rPr>
              <a:t>Hasan Arthur Altuntaş  |  BM498  |  Düzce Üniversitesi  |  2025-2026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Dinlediğiniz için teşekkürler.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A800"/>
                </a:solidFill>
              </a:rPr>
              <a:t>Sorularınızı bekliyorum.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2194560" cy="1234440"/>
          </a:xfrm>
          <a:prstGeom prst="rect">
            <a:avLst/>
          </a:prstGeom>
          <a:solidFill>
            <a:srgbClr val="061A35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0A800"/>
                </a:solidFill>
              </a:rPr>
              <a:t>%95,48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3200400"/>
            <a:ext cx="2194560" cy="1234440"/>
          </a:xfrm>
          <a:prstGeom prst="rect">
            <a:avLst/>
          </a:prstGeom>
          <a:solidFill>
            <a:srgbClr val="061A35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24612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0A800"/>
                </a:solidFill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Öznitelik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200400"/>
            <a:ext cx="2194560" cy="1234440"/>
          </a:xfrm>
          <a:prstGeom prst="rect">
            <a:avLst/>
          </a:prstGeom>
          <a:solidFill>
            <a:srgbClr val="061A35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24612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0A800"/>
                </a:solidFill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3200400"/>
            <a:ext cx="2194560" cy="1234440"/>
          </a:xfrm>
          <a:prstGeom prst="rect">
            <a:avLst/>
          </a:prstGeom>
          <a:solidFill>
            <a:srgbClr val="061A35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24612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0A800"/>
                </a:solidFill>
              </a:rPr>
              <a:t>5.195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221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Örnek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8D8"/>
                </a:solidFill>
              </a:rPr>
              <a:t>Hasan Arthur Altuntaş  |  hasannarthurrr@gmail.com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023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</a:rPr>
              <a:t>Düzce Üniversitesi  |  Bilgisayar Mühendisliği  |  BM498  |  2025-2026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BM498 — 05: Final Savunma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589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115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2128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148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31012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204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58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69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07407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17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Final Savunma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5604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42432"/>
            <a:ext cx="6080760" cy="0"/>
          </a:xfrm>
          <a:prstGeom prst="rect">
            <a:avLst/>
          </a:prstGeom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97296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