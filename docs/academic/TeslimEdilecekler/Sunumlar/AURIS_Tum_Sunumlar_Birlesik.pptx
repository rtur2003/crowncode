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01</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Dönem Başlangıç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01 — DÖNEM BAŞLANGIÇ SUNUMU</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AURIS — Proje Önerisi</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Yapay Zekâ Üretimli Müzik Tespitinde Topluluk Öğrenmesi</a:t>
            </a:r>
          </a:p>
        </p:txBody>
      </p:sp>
      <p:sp>
        <p:nvSpPr>
          <p:cNvPr id="8" name="Rectangle 7"/>
          <p:cNvSpPr/>
          <p:nvPr/>
        </p:nvSpPr>
        <p:spPr>
          <a:xfrm>
            <a:off x="548640" y="2880360"/>
            <a:ext cx="7040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880360"/>
            <a:ext cx="91440" cy="32004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999232"/>
            <a:ext cx="6675120" cy="365760"/>
          </a:xfrm>
          <a:prstGeom prst="rect">
            <a:avLst/>
          </a:prstGeom>
          <a:noFill/>
        </p:spPr>
        <p:txBody>
          <a:bodyPr wrap="square" anchor="t" lIns="25400" rIns="25400" tIns="12700" bIns="12700">
            <a:spAutoFit/>
          </a:bodyPr>
          <a:lstStyle/>
          <a:p>
            <a:pPr algn="l"/>
            <a:r>
              <a:rPr sz="1300" b="1" i="0">
                <a:solidFill>
                  <a:srgbClr val="102A4C"/>
                </a:solidFill>
                <a:latin typeface="Calibri"/>
              </a:rPr>
              <a:t>Projenin Özü</a:t>
            </a:r>
          </a:p>
        </p:txBody>
      </p:sp>
      <p:sp>
        <p:nvSpPr>
          <p:cNvPr id="11" name="TextBox 10"/>
          <p:cNvSpPr txBox="1"/>
          <p:nvPr/>
        </p:nvSpPr>
        <p:spPr>
          <a:xfrm>
            <a:off x="768096" y="3429000"/>
            <a:ext cx="6656832" cy="2542032"/>
          </a:xfrm>
          <a:prstGeom prst="rect">
            <a:avLst/>
          </a:prstGeom>
          <a:noFill/>
        </p:spPr>
        <p:txBody>
          <a:bodyPr wrap="square" anchor="t" lIns="25400" rIns="25400">
            <a:spAutoFit/>
          </a:bodyPr>
          <a:lstStyle/>
          <a:p>
            <a:pPr algn="l">
              <a:spcBef>
                <a:spcPts val="0"/>
              </a:spcBef>
              <a:spcAft>
                <a:spcPts val="900"/>
              </a:spcAft>
            </a:pPr>
            <a:r>
              <a:rPr sz="1250" b="0" i="0">
                <a:solidFill>
                  <a:srgbClr val="242A30"/>
                </a:solidFill>
                <a:latin typeface="Calibri"/>
              </a:rPr>
              <a:t>Problem: Üretken YZ sistemleri (Suno, Udio, MusicGen) insan kaydından ayırt edilemeyen müzik üretiyor.</a:t>
            </a:r>
          </a:p>
          <a:p>
            <a:pPr algn="l">
              <a:spcBef>
                <a:spcPts val="0"/>
              </a:spcBef>
              <a:spcAft>
                <a:spcPts val="900"/>
              </a:spcAft>
            </a:pPr>
            <a:r>
              <a:rPr sz="1250" b="0" i="0">
                <a:solidFill>
                  <a:srgbClr val="242A30"/>
                </a:solidFill>
                <a:latin typeface="Calibri"/>
              </a:rPr>
              <a:t>Amaç: %90+ ROC-AUC sağlayan, açıklanabilir ve hafif bir tespit sistemi geliştirmek.</a:t>
            </a:r>
          </a:p>
          <a:p>
            <a:pPr algn="l">
              <a:spcBef>
                <a:spcPts val="0"/>
              </a:spcBef>
              <a:spcAft>
                <a:spcPts val="900"/>
              </a:spcAft>
            </a:pPr>
            <a:r>
              <a:rPr sz="1250" b="0" i="0">
                <a:solidFill>
                  <a:srgbClr val="242A30"/>
                </a:solidFill>
                <a:latin typeface="Calibri"/>
              </a:rPr>
              <a:t>Yaklaşım: 47 boyutlu elle tasarlanmış akustik öznitelik + 11 modelli topluluk öğrenmesi.</a:t>
            </a:r>
          </a:p>
          <a:p>
            <a:pPr algn="l">
              <a:spcBef>
                <a:spcPts val="0"/>
              </a:spcBef>
              <a:spcAft>
                <a:spcPts val="900"/>
              </a:spcAft>
            </a:pPr>
            <a:r>
              <a:rPr sz="1250" b="0" i="0">
                <a:solidFill>
                  <a:srgbClr val="242A30"/>
                </a:solidFill>
                <a:latin typeface="Calibri"/>
              </a:rPr>
              <a:t>Çıktı: Çalışan sistem, GUJSA makalesi, açık kaynak kod.</a:t>
            </a:r>
          </a:p>
        </p:txBody>
      </p:sp>
      <p:sp>
        <p:nvSpPr>
          <p:cNvPr id="12" name="Rectangle 11"/>
          <p:cNvSpPr/>
          <p:nvPr/>
        </p:nvSpPr>
        <p:spPr>
          <a:xfrm>
            <a:off x="7818120" y="2880360"/>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3014776"/>
            <a:ext cx="3886200" cy="480060"/>
          </a:xfrm>
          <a:prstGeom prst="rect">
            <a:avLst/>
          </a:prstGeom>
          <a:noFill/>
        </p:spPr>
        <p:txBody>
          <a:bodyPr wrap="square" anchor="ctr" lIns="25400" rIns="25400" tIns="12700" bIns="12700">
            <a:spAutoFit/>
          </a:bodyPr>
          <a:lstStyle/>
          <a:p>
            <a:pPr algn="ctr"/>
            <a:r>
              <a:rPr sz="2600" b="1" i="0">
                <a:solidFill>
                  <a:srgbClr val="D99A07"/>
                </a:solidFill>
                <a:latin typeface="Calibri"/>
              </a:rPr>
              <a:t>5.195</a:t>
            </a:r>
          </a:p>
        </p:txBody>
      </p:sp>
      <p:sp>
        <p:nvSpPr>
          <p:cNvPr id="14" name="TextBox 13"/>
          <p:cNvSpPr txBox="1"/>
          <p:nvPr/>
        </p:nvSpPr>
        <p:spPr>
          <a:xfrm>
            <a:off x="7818120" y="3485235"/>
            <a:ext cx="3886200" cy="326440"/>
          </a:xfrm>
          <a:prstGeom prst="rect">
            <a:avLst/>
          </a:prstGeom>
          <a:noFill/>
        </p:spPr>
        <p:txBody>
          <a:bodyPr wrap="square" anchor="ctr" lIns="25400" rIns="25400" tIns="12700" bIns="12700">
            <a:spAutoFit/>
          </a:bodyPr>
          <a:lstStyle/>
          <a:p>
            <a:pPr algn="ctr"/>
            <a:r>
              <a:rPr sz="1100" b="0" i="0">
                <a:solidFill>
                  <a:srgbClr val="FFFFFF"/>
                </a:solidFill>
                <a:latin typeface="Calibri"/>
              </a:rPr>
              <a:t>Ses örneği</a:t>
            </a:r>
          </a:p>
        </p:txBody>
      </p:sp>
      <p:sp>
        <p:nvSpPr>
          <p:cNvPr id="15" name="Rectangle 14"/>
          <p:cNvSpPr/>
          <p:nvPr/>
        </p:nvSpPr>
        <p:spPr>
          <a:xfrm>
            <a:off x="7818120" y="4005072"/>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4139488"/>
            <a:ext cx="3886200" cy="480060"/>
          </a:xfrm>
          <a:prstGeom prst="rect">
            <a:avLst/>
          </a:prstGeom>
          <a:noFill/>
        </p:spPr>
        <p:txBody>
          <a:bodyPr wrap="square" anchor="ctr" lIns="25400" rIns="25400" tIns="12700" bIns="12700">
            <a:spAutoFit/>
          </a:bodyPr>
          <a:lstStyle/>
          <a:p>
            <a:pPr algn="ctr"/>
            <a:r>
              <a:rPr sz="2600" b="1" i="0">
                <a:solidFill>
                  <a:srgbClr val="D99A07"/>
                </a:solidFill>
                <a:latin typeface="Calibri"/>
              </a:rPr>
              <a:t>47</a:t>
            </a:r>
          </a:p>
        </p:txBody>
      </p:sp>
      <p:sp>
        <p:nvSpPr>
          <p:cNvPr id="17" name="TextBox 16"/>
          <p:cNvSpPr txBox="1"/>
          <p:nvPr/>
        </p:nvSpPr>
        <p:spPr>
          <a:xfrm>
            <a:off x="7818120" y="4609947"/>
            <a:ext cx="3886200" cy="326440"/>
          </a:xfrm>
          <a:prstGeom prst="rect">
            <a:avLst/>
          </a:prstGeom>
          <a:noFill/>
        </p:spPr>
        <p:txBody>
          <a:bodyPr wrap="square" anchor="ctr" lIns="25400" rIns="25400" tIns="12700" bIns="12700">
            <a:spAutoFit/>
          </a:bodyPr>
          <a:lstStyle/>
          <a:p>
            <a:pPr algn="ctr"/>
            <a:r>
              <a:rPr sz="1100" b="0" i="0">
                <a:solidFill>
                  <a:srgbClr val="FFFFFF"/>
                </a:solidFill>
                <a:latin typeface="Calibri"/>
              </a:rPr>
              <a:t>Akustik öznitelik</a:t>
            </a:r>
          </a:p>
        </p:txBody>
      </p:sp>
      <p:sp>
        <p:nvSpPr>
          <p:cNvPr id="18" name="Rectangle 17"/>
          <p:cNvSpPr/>
          <p:nvPr/>
        </p:nvSpPr>
        <p:spPr>
          <a:xfrm>
            <a:off x="7818120" y="5129784"/>
            <a:ext cx="3886200" cy="9601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5264200"/>
            <a:ext cx="3886200" cy="480060"/>
          </a:xfrm>
          <a:prstGeom prst="rect">
            <a:avLst/>
          </a:prstGeom>
          <a:noFill/>
        </p:spPr>
        <p:txBody>
          <a:bodyPr wrap="square" anchor="ctr" lIns="25400" rIns="25400" tIns="12700" bIns="12700">
            <a:spAutoFit/>
          </a:bodyPr>
          <a:lstStyle/>
          <a:p>
            <a:pPr algn="ctr"/>
            <a:r>
              <a:rPr sz="2600" b="1" i="0">
                <a:solidFill>
                  <a:srgbClr val="D99A07"/>
                </a:solidFill>
                <a:latin typeface="Calibri"/>
              </a:rPr>
              <a:t>11</a:t>
            </a:r>
          </a:p>
        </p:txBody>
      </p:sp>
      <p:sp>
        <p:nvSpPr>
          <p:cNvPr id="20" name="TextBox 19"/>
          <p:cNvSpPr txBox="1"/>
          <p:nvPr/>
        </p:nvSpPr>
        <p:spPr>
          <a:xfrm>
            <a:off x="7818120" y="5734659"/>
            <a:ext cx="3886200" cy="326440"/>
          </a:xfrm>
          <a:prstGeom prst="rect">
            <a:avLst/>
          </a:prstGeom>
          <a:noFill/>
        </p:spPr>
        <p:txBody>
          <a:bodyPr wrap="square" anchor="ctr" lIns="25400" rIns="25400" tIns="12700" bIns="12700">
            <a:spAutoFit/>
          </a:bodyPr>
          <a:lstStyle/>
          <a:p>
            <a:pPr algn="ctr"/>
            <a:r>
              <a:rPr sz="1100" b="0" i="0">
                <a:solidFill>
                  <a:srgbClr val="FFFFFF"/>
                </a:solidFill>
                <a:latin typeface="Calibri"/>
              </a:rPr>
              <a:t>Sınıflandırma modeli</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 · GIRIŞ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Problem Tanımı ve Motivasyon</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Üretken yapay zekânın müzik alanında doğurduğu tespit ihtiyacı</a:t>
            </a:r>
          </a:p>
        </p:txBody>
      </p:sp>
      <p:sp>
        <p:nvSpPr>
          <p:cNvPr id="8" name="Rectangle 7"/>
          <p:cNvSpPr/>
          <p:nvPr/>
        </p:nvSpPr>
        <p:spPr>
          <a:xfrm>
            <a:off x="365760" y="1600200"/>
            <a:ext cx="5623560" cy="205740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00200"/>
            <a:ext cx="91440" cy="20574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 y="1719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Neden bir sorun?</a:t>
            </a:r>
          </a:p>
        </p:txBody>
      </p:sp>
      <p:sp>
        <p:nvSpPr>
          <p:cNvPr id="11" name="TextBox 10"/>
          <p:cNvSpPr txBox="1"/>
          <p:nvPr/>
        </p:nvSpPr>
        <p:spPr>
          <a:xfrm>
            <a:off x="585216" y="2148840"/>
            <a:ext cx="5239512" cy="139903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Metinden müziğe üretim sistemleri son üç yılda tüketici uygulamalarına taştı. Kullanıcı tek bir metin istemiyle dakikalar içinde, deneyimsiz dinleyicinin insan bestesinden ayıramayacağı tam uzunlukta parçalar üretebiliyor.</a:t>
            </a:r>
          </a:p>
        </p:txBody>
      </p:sp>
      <p:sp>
        <p:nvSpPr>
          <p:cNvPr id="12" name="Rectangle 11"/>
          <p:cNvSpPr/>
          <p:nvPr/>
        </p:nvSpPr>
        <p:spPr>
          <a:xfrm>
            <a:off x="365760" y="3794760"/>
            <a:ext cx="5623560" cy="22402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794760"/>
            <a:ext cx="91440" cy="22402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391363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Doğan riskler</a:t>
            </a:r>
          </a:p>
        </p:txBody>
      </p:sp>
      <p:sp>
        <p:nvSpPr>
          <p:cNvPr id="15" name="TextBox 14"/>
          <p:cNvSpPr txBox="1"/>
          <p:nvPr/>
        </p:nvSpPr>
        <p:spPr>
          <a:xfrm>
            <a:off x="585216" y="4343400"/>
            <a:ext cx="5239512" cy="1581912"/>
          </a:xfrm>
          <a:prstGeom prst="rect">
            <a:avLst/>
          </a:prstGeom>
          <a:noFill/>
        </p:spPr>
        <p:txBody>
          <a:bodyPr wrap="square" anchor="t" lIns="25400" rIns="25400">
            <a:spAutoFit/>
          </a:bodyPr>
          <a:lstStyle/>
          <a:p>
            <a:pPr algn="l">
              <a:spcBef>
                <a:spcPts val="0"/>
              </a:spcBef>
              <a:spcAft>
                <a:spcPts val="700"/>
              </a:spcAft>
            </a:pPr>
            <a:r>
              <a:rPr sz="1200" b="0" i="0">
                <a:solidFill>
                  <a:srgbClr val="242A30"/>
                </a:solidFill>
                <a:latin typeface="Calibri"/>
              </a:rPr>
              <a:t>Telif hakkı ihlalleri ve içerik sahipliği belirsizliği</a:t>
            </a:r>
          </a:p>
          <a:p>
            <a:pPr algn="l">
              <a:spcBef>
                <a:spcPts val="0"/>
              </a:spcBef>
              <a:spcAft>
                <a:spcPts val="700"/>
              </a:spcAft>
            </a:pPr>
            <a:r>
              <a:rPr sz="1200" b="0" i="0">
                <a:solidFill>
                  <a:srgbClr val="242A30"/>
                </a:solidFill>
                <a:latin typeface="Calibri"/>
              </a:rPr>
              <a:t>Akış platformlarında sahte dinlenme / gelir manipülasyonu</a:t>
            </a:r>
          </a:p>
          <a:p>
            <a:pPr algn="l">
              <a:spcBef>
                <a:spcPts val="0"/>
              </a:spcBef>
              <a:spcAft>
                <a:spcPts val="700"/>
              </a:spcAft>
            </a:pPr>
            <a:r>
              <a:rPr sz="1200" b="0" i="0">
                <a:solidFill>
                  <a:srgbClr val="242A30"/>
                </a:solidFill>
                <a:latin typeface="Calibri"/>
              </a:rPr>
              <a:t>Dezenformasyon ve üslup / kimlik taklidi</a:t>
            </a:r>
          </a:p>
          <a:p>
            <a:pPr algn="l">
              <a:spcBef>
                <a:spcPts val="0"/>
              </a:spcBef>
              <a:spcAft>
                <a:spcPts val="700"/>
              </a:spcAft>
            </a:pPr>
            <a:r>
              <a:rPr sz="1200" b="0" i="0">
                <a:solidFill>
                  <a:srgbClr val="242A30"/>
                </a:solidFill>
                <a:latin typeface="Calibri"/>
              </a:rPr>
              <a:t>Yaratıcı endüstride ekonomik değer kaybı</a:t>
            </a:r>
          </a:p>
        </p:txBody>
      </p:sp>
      <p:sp>
        <p:nvSpPr>
          <p:cNvPr id="16" name="Rectangle 15"/>
          <p:cNvSpPr/>
          <p:nvPr/>
        </p:nvSpPr>
        <p:spPr>
          <a:xfrm>
            <a:off x="6172200" y="1600200"/>
            <a:ext cx="5650992" cy="443484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1600200"/>
            <a:ext cx="91440" cy="443484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6" y="1719072"/>
            <a:ext cx="5285231" cy="365760"/>
          </a:xfrm>
          <a:prstGeom prst="rect">
            <a:avLst/>
          </a:prstGeom>
          <a:noFill/>
        </p:spPr>
        <p:txBody>
          <a:bodyPr wrap="square" anchor="t" lIns="25400" rIns="25400" tIns="12700" bIns="12700">
            <a:spAutoFit/>
          </a:bodyPr>
          <a:lstStyle/>
          <a:p>
            <a:pPr algn="l"/>
            <a:r>
              <a:rPr sz="1300" b="1" i="0">
                <a:solidFill>
                  <a:srgbClr val="102A4C"/>
                </a:solidFill>
                <a:latin typeface="Calibri"/>
              </a:rPr>
              <a:t>Mevcut yöntemler neden yetersiz?</a:t>
            </a:r>
          </a:p>
        </p:txBody>
      </p:sp>
      <p:sp>
        <p:nvSpPr>
          <p:cNvPr id="19" name="TextBox 18"/>
          <p:cNvSpPr txBox="1"/>
          <p:nvPr/>
        </p:nvSpPr>
        <p:spPr>
          <a:xfrm>
            <a:off x="6391656" y="2148840"/>
            <a:ext cx="5266944" cy="3776472"/>
          </a:xfrm>
          <a:prstGeom prst="rect">
            <a:avLst/>
          </a:prstGeom>
          <a:noFill/>
        </p:spPr>
        <p:txBody>
          <a:bodyPr wrap="square" anchor="t" lIns="25400" rIns="25400">
            <a:spAutoFit/>
          </a:bodyPr>
          <a:lstStyle/>
          <a:p>
            <a:pPr algn="l">
              <a:spcBef>
                <a:spcPts val="0"/>
              </a:spcBef>
              <a:spcAft>
                <a:spcPts val="400"/>
              </a:spcAft>
            </a:pPr>
            <a:r>
              <a:rPr sz="1200" b="0" i="0">
                <a:solidFill>
                  <a:srgbClr val="242A30"/>
                </a:solidFill>
                <a:latin typeface="Calibri"/>
              </a:rPr>
              <a:t>Konuşma deepfake tespiti (ADD 2022, WaveFake) olgun bir alan; ancak müzik tespiti emekleme aşamasında.</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  Tek temsile (yalnız MFCC ya da yalnız spektrogram) bağlı yöntemler genelleme yapamıyor.</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  Topluluk öğrenmesi müzik tespitine yeterince uygulanmamış.</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  Kararın hangi akustik özellikten geldiğini açıklayan (SHAP) sistem yok.</a:t>
            </a:r>
          </a:p>
          <a:p>
            <a:pPr algn="l">
              <a:spcBef>
                <a:spcPts val="0"/>
              </a:spcBef>
              <a:spcAft>
                <a:spcPts val="400"/>
              </a:spcAft>
            </a:pPr>
            <a:r>
              <a:rPr sz="1200" b="0" i="0">
                <a:solidFill>
                  <a:srgbClr val="242A30"/>
                </a:solidFill>
                <a:latin typeface="Calibri"/>
              </a:rPr>
              <a:t/>
            </a:r>
          </a:p>
          <a:p>
            <a:pPr algn="l">
              <a:spcBef>
                <a:spcPts val="0"/>
              </a:spcBef>
              <a:spcAft>
                <a:spcPts val="400"/>
              </a:spcAft>
            </a:pPr>
            <a:r>
              <a:rPr sz="1200" b="0" i="0">
                <a:solidFill>
                  <a:srgbClr val="242A30"/>
                </a:solidFill>
                <a:latin typeface="Calibri"/>
              </a:rPr>
              <a:t>AURIS bu üç boşluğu birlikte ele alıyor.</a:t>
            </a:r>
          </a:p>
        </p:txBody>
      </p:sp>
      <p:sp>
        <p:nvSpPr>
          <p:cNvPr id="20" name="Rectangle 19"/>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2" name="TextBox 21"/>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 · GIRIŞ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Çalışmanın Amacı ve Literatüre Katkısı</a:t>
            </a:r>
          </a:p>
        </p:txBody>
      </p:sp>
      <p:sp>
        <p:nvSpPr>
          <p:cNvPr id="7" name="TextBox 6"/>
          <p:cNvSpPr txBox="1"/>
          <p:nvPr/>
        </p:nvSpPr>
        <p:spPr>
          <a:xfrm>
            <a:off x="365760" y="1554480"/>
            <a:ext cx="5669280" cy="365760"/>
          </a:xfrm>
          <a:prstGeom prst="rect">
            <a:avLst/>
          </a:prstGeom>
          <a:noFill/>
        </p:spPr>
        <p:txBody>
          <a:bodyPr wrap="square" anchor="t" lIns="25400" rIns="25400" tIns="12700" bIns="12700">
            <a:spAutoFit/>
          </a:bodyPr>
          <a:lstStyle/>
          <a:p>
            <a:pPr algn="l"/>
            <a:r>
              <a:rPr sz="1500" b="1" i="0">
                <a:solidFill>
                  <a:srgbClr val="102A4C"/>
                </a:solidFill>
                <a:latin typeface="Calibri"/>
              </a:rPr>
              <a:t>Araştırma Hedefleri</a:t>
            </a:r>
          </a:p>
        </p:txBody>
      </p:sp>
      <p:sp>
        <p:nvSpPr>
          <p:cNvPr id="8" name="TextBox 7"/>
          <p:cNvSpPr txBox="1"/>
          <p:nvPr/>
        </p:nvSpPr>
        <p:spPr>
          <a:xfrm>
            <a:off x="411480" y="1993392"/>
            <a:ext cx="5577840" cy="4114800"/>
          </a:xfrm>
          <a:prstGeom prst="rect">
            <a:avLst/>
          </a:prstGeom>
          <a:noFill/>
        </p:spPr>
        <p:txBody>
          <a:bodyPr wrap="square" anchor="t" lIns="25400" rIns="25400">
            <a:spAutoFit/>
          </a:bodyPr>
          <a:lstStyle/>
          <a:p>
            <a:pPr algn="l">
              <a:spcBef>
                <a:spcPts val="0"/>
              </a:spcBef>
              <a:spcAft>
                <a:spcPts val="1300"/>
              </a:spcAft>
            </a:pPr>
            <a:r>
              <a:rPr sz="1300" b="0" i="0">
                <a:solidFill>
                  <a:srgbClr val="242A30"/>
                </a:solidFill>
                <a:latin typeface="Calibri"/>
              </a:rPr>
              <a:t>•  Müzik-spesifik, beş aileli 47 boyutlu öznitelik vektörü tasarlamak</a:t>
            </a:r>
          </a:p>
          <a:p>
            <a:pPr algn="l">
              <a:spcBef>
                <a:spcPts val="0"/>
              </a:spcBef>
              <a:spcAft>
                <a:spcPts val="1300"/>
              </a:spcAft>
            </a:pPr>
            <a:r>
              <a:rPr sz="1300" b="0" i="0">
                <a:solidFill>
                  <a:srgbClr val="242A30"/>
                </a:solidFill>
                <a:latin typeface="Calibri"/>
              </a:rPr>
              <a:t>•  7 ML + 4 DL modelini ortak protokolde karşılaştırmak</a:t>
            </a:r>
          </a:p>
          <a:p>
            <a:pPr algn="l">
              <a:spcBef>
                <a:spcPts val="0"/>
              </a:spcBef>
              <a:spcAft>
                <a:spcPts val="1300"/>
              </a:spcAft>
            </a:pPr>
            <a:r>
              <a:rPr sz="1300" b="0" i="0">
                <a:solidFill>
                  <a:srgbClr val="242A30"/>
                </a:solidFill>
                <a:latin typeface="Calibri"/>
              </a:rPr>
              <a:t>•  5-katlı çapraz doğrulama ile düşük varyanslı değerlendirme</a:t>
            </a:r>
          </a:p>
          <a:p>
            <a:pPr algn="l">
              <a:spcBef>
                <a:spcPts val="0"/>
              </a:spcBef>
              <a:spcAft>
                <a:spcPts val="1300"/>
              </a:spcAft>
            </a:pPr>
            <a:r>
              <a:rPr sz="1300" b="0" i="0">
                <a:solidFill>
                  <a:srgbClr val="242A30"/>
                </a:solidFill>
                <a:latin typeface="Calibri"/>
              </a:rPr>
              <a:t>•  Youden J ile karar eşiğini optimize etmek</a:t>
            </a:r>
          </a:p>
          <a:p>
            <a:pPr algn="l">
              <a:spcBef>
                <a:spcPts val="0"/>
              </a:spcBef>
              <a:spcAft>
                <a:spcPts val="1300"/>
              </a:spcAft>
            </a:pPr>
            <a:r>
              <a:rPr sz="1300" b="0" i="0">
                <a:solidFill>
                  <a:srgbClr val="242A30"/>
                </a:solidFill>
                <a:latin typeface="Calibri"/>
              </a:rPr>
              <a:t>•  TreeSHAP ile kararı açıklanabilir kılmak</a:t>
            </a:r>
          </a:p>
          <a:p>
            <a:pPr algn="l">
              <a:spcBef>
                <a:spcPts val="0"/>
              </a:spcBef>
              <a:spcAft>
                <a:spcPts val="1300"/>
              </a:spcAft>
            </a:pPr>
            <a:r>
              <a:rPr sz="1300" b="0" i="0">
                <a:solidFill>
                  <a:srgbClr val="242A30"/>
                </a:solidFill>
                <a:latin typeface="Calibri"/>
              </a:rPr>
              <a:t>•  GUJSA formatında akademik yayın üretmek</a:t>
            </a:r>
          </a:p>
        </p:txBody>
      </p:sp>
      <p:sp>
        <p:nvSpPr>
          <p:cNvPr id="9" name="Rectangle 8"/>
          <p:cNvSpPr/>
          <p:nvPr/>
        </p:nvSpPr>
        <p:spPr>
          <a:xfrm>
            <a:off x="6263640" y="1600200"/>
            <a:ext cx="5559552" cy="13716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91440" cy="13716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1719072"/>
            <a:ext cx="5193792" cy="365760"/>
          </a:xfrm>
          <a:prstGeom prst="rect">
            <a:avLst/>
          </a:prstGeom>
          <a:noFill/>
        </p:spPr>
        <p:txBody>
          <a:bodyPr wrap="square" anchor="t" lIns="25400" rIns="25400" tIns="12700" bIns="12700">
            <a:spAutoFit/>
          </a:bodyPr>
          <a:lstStyle/>
          <a:p>
            <a:pPr algn="l"/>
            <a:r>
              <a:rPr sz="1300" b="1" i="0">
                <a:solidFill>
                  <a:srgbClr val="102A4C"/>
                </a:solidFill>
                <a:latin typeface="Calibri"/>
              </a:rPr>
              <a:t>Özgün değer</a:t>
            </a:r>
          </a:p>
        </p:txBody>
      </p:sp>
      <p:sp>
        <p:nvSpPr>
          <p:cNvPr id="12" name="TextBox 11"/>
          <p:cNvSpPr txBox="1"/>
          <p:nvPr/>
        </p:nvSpPr>
        <p:spPr>
          <a:xfrm>
            <a:off x="6483096" y="2148840"/>
            <a:ext cx="5175504" cy="713232"/>
          </a:xfrm>
          <a:prstGeom prst="rect">
            <a:avLst/>
          </a:prstGeom>
          <a:noFill/>
        </p:spPr>
        <p:txBody>
          <a:bodyPr wrap="square" anchor="t" lIns="25400" rIns="25400">
            <a:spAutoFit/>
          </a:bodyPr>
          <a:lstStyle/>
          <a:p>
            <a:pPr algn="l">
              <a:spcBef>
                <a:spcPts val="0"/>
              </a:spcBef>
              <a:spcAft>
                <a:spcPts val="500"/>
              </a:spcAft>
            </a:pPr>
            <a:r>
              <a:rPr sz="1200" b="0" i="0">
                <a:solidFill>
                  <a:srgbClr val="242A30"/>
                </a:solidFill>
                <a:latin typeface="Calibri"/>
              </a:rPr>
              <a:t>Müzik deepfake tespitinde topluluk öğrenmesi ile SHAP açıklanabilirliğini birleştiren ilk çalışmalardandır.</a:t>
            </a:r>
          </a:p>
        </p:txBody>
      </p:sp>
      <p:sp>
        <p:nvSpPr>
          <p:cNvPr id="13" name="Rectangle 12"/>
          <p:cNvSpPr/>
          <p:nvPr/>
        </p:nvSpPr>
        <p:spPr>
          <a:xfrm>
            <a:off x="6263640" y="3108960"/>
            <a:ext cx="5559552" cy="13716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3108960"/>
            <a:ext cx="91440"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3227832"/>
            <a:ext cx="5193792" cy="365760"/>
          </a:xfrm>
          <a:prstGeom prst="rect">
            <a:avLst/>
          </a:prstGeom>
          <a:noFill/>
        </p:spPr>
        <p:txBody>
          <a:bodyPr wrap="square" anchor="t" lIns="25400" rIns="25400" tIns="12700" bIns="12700">
            <a:spAutoFit/>
          </a:bodyPr>
          <a:lstStyle/>
          <a:p>
            <a:pPr algn="l"/>
            <a:r>
              <a:rPr sz="1300" b="1" i="0">
                <a:solidFill>
                  <a:srgbClr val="102A4C"/>
                </a:solidFill>
                <a:latin typeface="Calibri"/>
              </a:rPr>
              <a:t>Hafiflik avantajı</a:t>
            </a:r>
          </a:p>
        </p:txBody>
      </p:sp>
      <p:sp>
        <p:nvSpPr>
          <p:cNvPr id="16" name="TextBox 15"/>
          <p:cNvSpPr txBox="1"/>
          <p:nvPr/>
        </p:nvSpPr>
        <p:spPr>
          <a:xfrm>
            <a:off x="6483096" y="3657600"/>
            <a:ext cx="5175504" cy="713232"/>
          </a:xfrm>
          <a:prstGeom prst="rect">
            <a:avLst/>
          </a:prstGeom>
          <a:noFill/>
        </p:spPr>
        <p:txBody>
          <a:bodyPr wrap="square" anchor="t" lIns="25400" rIns="25400">
            <a:spAutoFit/>
          </a:bodyPr>
          <a:lstStyle/>
          <a:p>
            <a:pPr algn="l">
              <a:spcBef>
                <a:spcPts val="0"/>
              </a:spcBef>
              <a:spcAft>
                <a:spcPts val="500"/>
              </a:spcAft>
            </a:pPr>
            <a:r>
              <a:rPr sz="1200" b="0" i="0">
                <a:solidFill>
                  <a:srgbClr val="242A30"/>
                </a:solidFill>
                <a:latin typeface="Calibri"/>
              </a:rPr>
              <a:t>Derin öğrenme altyapısı gerektirmeden, elle tasarlanmış özniteliklerle rekabetçi doğruluk hedefleniyor.</a:t>
            </a:r>
          </a:p>
        </p:txBody>
      </p:sp>
      <p:sp>
        <p:nvSpPr>
          <p:cNvPr id="17" name="Rectangle 16"/>
          <p:cNvSpPr/>
          <p:nvPr/>
        </p:nvSpPr>
        <p:spPr>
          <a:xfrm>
            <a:off x="6263640" y="4617720"/>
            <a:ext cx="5559552"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4617720"/>
            <a:ext cx="91440" cy="141732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4736592"/>
            <a:ext cx="5193792" cy="365760"/>
          </a:xfrm>
          <a:prstGeom prst="rect">
            <a:avLst/>
          </a:prstGeom>
          <a:noFill/>
        </p:spPr>
        <p:txBody>
          <a:bodyPr wrap="square" anchor="t" lIns="25400" rIns="25400" tIns="12700" bIns="12700">
            <a:spAutoFit/>
          </a:bodyPr>
          <a:lstStyle/>
          <a:p>
            <a:pPr algn="l"/>
            <a:r>
              <a:rPr sz="1300" b="1" i="0">
                <a:solidFill>
                  <a:srgbClr val="102A4C"/>
                </a:solidFill>
                <a:latin typeface="Calibri"/>
              </a:rPr>
              <a:t>Açıklanabilirlik</a:t>
            </a:r>
          </a:p>
        </p:txBody>
      </p:sp>
      <p:sp>
        <p:nvSpPr>
          <p:cNvPr id="20" name="TextBox 19"/>
          <p:cNvSpPr txBox="1"/>
          <p:nvPr/>
        </p:nvSpPr>
        <p:spPr>
          <a:xfrm>
            <a:off x="6483096" y="5166359"/>
            <a:ext cx="5175504" cy="758952"/>
          </a:xfrm>
          <a:prstGeom prst="rect">
            <a:avLst/>
          </a:prstGeom>
          <a:noFill/>
        </p:spPr>
        <p:txBody>
          <a:bodyPr wrap="square" anchor="t" lIns="25400" rIns="25400">
            <a:spAutoFit/>
          </a:bodyPr>
          <a:lstStyle/>
          <a:p>
            <a:pPr algn="l">
              <a:spcBef>
                <a:spcPts val="0"/>
              </a:spcBef>
              <a:spcAft>
                <a:spcPts val="500"/>
              </a:spcAft>
            </a:pPr>
            <a:r>
              <a:rPr sz="1200" b="0" i="0">
                <a:solidFill>
                  <a:srgbClr val="242A30"/>
                </a:solidFill>
                <a:latin typeface="Calibri"/>
              </a:rPr>
              <a:t>Her tahmin, kararı yönlendiren akustik özelliklerle birlikte sunulur — kara kutu değil.</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PROJE YÖNETIMI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Çalışma Planı ve Risk Yönetimi</a:t>
            </a:r>
          </a:p>
        </p:txBody>
      </p:sp>
      <p:sp>
        <p:nvSpPr>
          <p:cNvPr id="7" name="TextBox 6"/>
          <p:cNvSpPr txBox="1"/>
          <p:nvPr/>
        </p:nvSpPr>
        <p:spPr>
          <a:xfrm>
            <a:off x="365760" y="1508760"/>
            <a:ext cx="7315200" cy="365760"/>
          </a:xfrm>
          <a:prstGeom prst="rect">
            <a:avLst/>
          </a:prstGeom>
          <a:noFill/>
        </p:spPr>
        <p:txBody>
          <a:bodyPr wrap="square" anchor="t" lIns="25400" rIns="25400" tIns="12700" bIns="12700">
            <a:spAutoFit/>
          </a:bodyPr>
          <a:lstStyle/>
          <a:p>
            <a:pPr algn="l"/>
            <a:r>
              <a:rPr sz="1400" b="1" i="0">
                <a:solidFill>
                  <a:srgbClr val="102A4C"/>
                </a:solidFill>
                <a:latin typeface="Calibri"/>
              </a:rPr>
              <a:t>10 Haftalık Zaman Planı</a:t>
            </a:r>
          </a:p>
        </p:txBody>
      </p:sp>
      <p:sp>
        <p:nvSpPr>
          <p:cNvPr id="8" name="TextBox 7"/>
          <p:cNvSpPr txBox="1"/>
          <p:nvPr/>
        </p:nvSpPr>
        <p:spPr>
          <a:xfrm>
            <a:off x="365760" y="201168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Veri toplama ve ön işleme</a:t>
            </a:r>
          </a:p>
        </p:txBody>
      </p:sp>
      <p:sp>
        <p:nvSpPr>
          <p:cNvPr id="9" name="Rectangle 8"/>
          <p:cNvSpPr/>
          <p:nvPr/>
        </p:nvSpPr>
        <p:spPr>
          <a:xfrm>
            <a:off x="3657600" y="2075688"/>
            <a:ext cx="1572768" cy="329184"/>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7568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H1–2</a:t>
            </a:r>
          </a:p>
        </p:txBody>
      </p:sp>
      <p:sp>
        <p:nvSpPr>
          <p:cNvPr id="11" name="TextBox 10"/>
          <p:cNvSpPr txBox="1"/>
          <p:nvPr/>
        </p:nvSpPr>
        <p:spPr>
          <a:xfrm>
            <a:off x="365760" y="256032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Öznitelik mühendisliği</a:t>
            </a:r>
          </a:p>
        </p:txBody>
      </p:sp>
      <p:sp>
        <p:nvSpPr>
          <p:cNvPr id="12" name="Rectangle 11"/>
          <p:cNvSpPr/>
          <p:nvPr/>
        </p:nvSpPr>
        <p:spPr>
          <a:xfrm>
            <a:off x="5230368" y="2624328"/>
            <a:ext cx="1572768" cy="329184"/>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30368" y="262432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H3–4</a:t>
            </a:r>
          </a:p>
        </p:txBody>
      </p:sp>
      <p:sp>
        <p:nvSpPr>
          <p:cNvPr id="14" name="TextBox 13"/>
          <p:cNvSpPr txBox="1"/>
          <p:nvPr/>
        </p:nvSpPr>
        <p:spPr>
          <a:xfrm>
            <a:off x="365760" y="310896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Model eğitimi ve çapraz doğrulama</a:t>
            </a:r>
          </a:p>
        </p:txBody>
      </p:sp>
      <p:sp>
        <p:nvSpPr>
          <p:cNvPr id="15" name="Rectangle 14"/>
          <p:cNvSpPr/>
          <p:nvPr/>
        </p:nvSpPr>
        <p:spPr>
          <a:xfrm>
            <a:off x="6803136" y="3172968"/>
            <a:ext cx="1572768" cy="329184"/>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03136" y="317296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H5–6</a:t>
            </a:r>
          </a:p>
        </p:txBody>
      </p:sp>
      <p:sp>
        <p:nvSpPr>
          <p:cNvPr id="17" name="TextBox 16"/>
          <p:cNvSpPr txBox="1"/>
          <p:nvPr/>
        </p:nvSpPr>
        <p:spPr>
          <a:xfrm>
            <a:off x="365760" y="365760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Değerlendirme ve SHAP analizi</a:t>
            </a:r>
          </a:p>
        </p:txBody>
      </p:sp>
      <p:sp>
        <p:nvSpPr>
          <p:cNvPr id="18" name="Rectangle 17"/>
          <p:cNvSpPr/>
          <p:nvPr/>
        </p:nvSpPr>
        <p:spPr>
          <a:xfrm>
            <a:off x="8375904" y="3721608"/>
            <a:ext cx="1572768" cy="329184"/>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75904" y="372160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H7–8</a:t>
            </a:r>
          </a:p>
        </p:txBody>
      </p:sp>
      <p:sp>
        <p:nvSpPr>
          <p:cNvPr id="20" name="TextBox 19"/>
          <p:cNvSpPr txBox="1"/>
          <p:nvPr/>
        </p:nvSpPr>
        <p:spPr>
          <a:xfrm>
            <a:off x="365760" y="4206240"/>
            <a:ext cx="3200400" cy="457200"/>
          </a:xfrm>
          <a:prstGeom prst="rect">
            <a:avLst/>
          </a:prstGeom>
          <a:noFill/>
        </p:spPr>
        <p:txBody>
          <a:bodyPr wrap="square" anchor="ctr" lIns="25400" rIns="25400" tIns="12700" bIns="12700">
            <a:spAutoFit/>
          </a:bodyPr>
          <a:lstStyle/>
          <a:p>
            <a:pPr algn="l"/>
            <a:r>
              <a:rPr sz="1100" b="0" i="0">
                <a:solidFill>
                  <a:srgbClr val="242A30"/>
                </a:solidFill>
                <a:latin typeface="Calibri"/>
              </a:rPr>
              <a:t>Yazım, sunum ve teslim</a:t>
            </a:r>
          </a:p>
        </p:txBody>
      </p:sp>
      <p:sp>
        <p:nvSpPr>
          <p:cNvPr id="21" name="Rectangle 20"/>
          <p:cNvSpPr/>
          <p:nvPr/>
        </p:nvSpPr>
        <p:spPr>
          <a:xfrm>
            <a:off x="9948672" y="4270248"/>
            <a:ext cx="1572768" cy="32918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48672" y="4270248"/>
            <a:ext cx="1572768" cy="329184"/>
          </a:xfrm>
          <a:prstGeom prst="rect">
            <a:avLst/>
          </a:prstGeom>
          <a:noFill/>
        </p:spPr>
        <p:txBody>
          <a:bodyPr wrap="square" anchor="ctr" lIns="25400" rIns="25400" tIns="12700" bIns="12700">
            <a:spAutoFit/>
          </a:bodyPr>
          <a:lstStyle/>
          <a:p>
            <a:pPr algn="ctr"/>
            <a:r>
              <a:rPr sz="1000" b="1" i="0">
                <a:solidFill>
                  <a:srgbClr val="FFFFFF"/>
                </a:solidFill>
                <a:latin typeface="Calibri"/>
              </a:rPr>
              <a:t>H9–10</a:t>
            </a:r>
          </a:p>
        </p:txBody>
      </p:sp>
      <p:sp>
        <p:nvSpPr>
          <p:cNvPr id="23" name="TextBox 22"/>
          <p:cNvSpPr txBox="1"/>
          <p:nvPr/>
        </p:nvSpPr>
        <p:spPr>
          <a:xfrm>
            <a:off x="365760" y="4892040"/>
            <a:ext cx="11430000" cy="365760"/>
          </a:xfrm>
          <a:prstGeom prst="rect">
            <a:avLst/>
          </a:prstGeom>
          <a:noFill/>
        </p:spPr>
        <p:txBody>
          <a:bodyPr wrap="square" anchor="t" lIns="25400" rIns="25400" tIns="12700" bIns="12700">
            <a:spAutoFit/>
          </a:bodyPr>
          <a:lstStyle/>
          <a:p>
            <a:pPr algn="l"/>
            <a:r>
              <a:rPr sz="1400" b="1" i="0">
                <a:solidFill>
                  <a:srgbClr val="102A4C"/>
                </a:solidFill>
                <a:latin typeface="Calibri"/>
              </a:rPr>
              <a:t>Risk Analizi ve Önlemler</a:t>
            </a:r>
          </a:p>
        </p:txBody>
      </p:sp>
      <p:sp>
        <p:nvSpPr>
          <p:cNvPr id="24" name="Rectangle 23"/>
          <p:cNvSpPr/>
          <p:nvPr/>
        </p:nvSpPr>
        <p:spPr>
          <a:xfrm>
            <a:off x="365760"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394960"/>
            <a:ext cx="3429000" cy="320040"/>
          </a:xfrm>
          <a:prstGeom prst="rect">
            <a:avLst/>
          </a:prstGeom>
          <a:noFill/>
        </p:spPr>
        <p:txBody>
          <a:bodyPr wrap="square" anchor="t" lIns="25400" rIns="25400" tIns="12700" bIns="12700">
            <a:spAutoFit/>
          </a:bodyPr>
          <a:lstStyle/>
          <a:p>
            <a:pPr algn="l"/>
            <a:r>
              <a:rPr sz="1200" b="1" i="0">
                <a:solidFill>
                  <a:srgbClr val="B32929"/>
                </a:solidFill>
                <a:latin typeface="Calibri"/>
              </a:rPr>
              <a:t>⚠  Sınıf dengesizliği</a:t>
            </a:r>
          </a:p>
        </p:txBody>
      </p:sp>
      <p:sp>
        <p:nvSpPr>
          <p:cNvPr id="27" name="TextBox 26"/>
          <p:cNvSpPr txBox="1"/>
          <p:nvPr/>
        </p:nvSpPr>
        <p:spPr>
          <a:xfrm>
            <a:off x="548640" y="5742432"/>
            <a:ext cx="3429000" cy="438912"/>
          </a:xfrm>
          <a:prstGeom prst="rect">
            <a:avLst/>
          </a:prstGeom>
          <a:noFill/>
        </p:spPr>
        <p:txBody>
          <a:bodyPr wrap="square" anchor="t" lIns="25400" rIns="25400" tIns="12700" bIns="12700">
            <a:spAutoFit/>
          </a:bodyPr>
          <a:lstStyle/>
          <a:p>
            <a:pPr algn="l"/>
            <a:r>
              <a:rPr sz="1050" b="0" i="0">
                <a:solidFill>
                  <a:srgbClr val="242A30"/>
                </a:solidFill>
                <a:latin typeface="Calibri"/>
              </a:rPr>
              <a:t>class_weight='balanced', is_unbalance=True</a:t>
            </a:r>
          </a:p>
        </p:txBody>
      </p:sp>
      <p:sp>
        <p:nvSpPr>
          <p:cNvPr id="28" name="Rectangle 27"/>
          <p:cNvSpPr/>
          <p:nvPr/>
        </p:nvSpPr>
        <p:spPr>
          <a:xfrm>
            <a:off x="4215384"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15384"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98264" y="5394960"/>
            <a:ext cx="3429000" cy="320040"/>
          </a:xfrm>
          <a:prstGeom prst="rect">
            <a:avLst/>
          </a:prstGeom>
          <a:noFill/>
        </p:spPr>
        <p:txBody>
          <a:bodyPr wrap="square" anchor="t" lIns="25400" rIns="25400" tIns="12700" bIns="12700">
            <a:spAutoFit/>
          </a:bodyPr>
          <a:lstStyle/>
          <a:p>
            <a:pPr algn="l"/>
            <a:r>
              <a:rPr sz="1200" b="1" i="0">
                <a:solidFill>
                  <a:srgbClr val="B32929"/>
                </a:solidFill>
                <a:latin typeface="Calibri"/>
              </a:rPr>
              <a:t>⚠  Aşırı uyum (overfitting)</a:t>
            </a:r>
          </a:p>
        </p:txBody>
      </p:sp>
      <p:sp>
        <p:nvSpPr>
          <p:cNvPr id="31" name="TextBox 30"/>
          <p:cNvSpPr txBox="1"/>
          <p:nvPr/>
        </p:nvSpPr>
        <p:spPr>
          <a:xfrm>
            <a:off x="4398264" y="5742432"/>
            <a:ext cx="3429000" cy="438912"/>
          </a:xfrm>
          <a:prstGeom prst="rect">
            <a:avLst/>
          </a:prstGeom>
          <a:noFill/>
        </p:spPr>
        <p:txBody>
          <a:bodyPr wrap="square" anchor="t" lIns="25400" rIns="25400" tIns="12700" bIns="12700">
            <a:spAutoFit/>
          </a:bodyPr>
          <a:lstStyle/>
          <a:p>
            <a:pPr algn="l"/>
            <a:r>
              <a:rPr sz="1050" b="0" i="0">
                <a:solidFill>
                  <a:srgbClr val="242A30"/>
                </a:solidFill>
                <a:latin typeface="Calibri"/>
              </a:rPr>
              <a:t>5-katlı CV, erken durdurma, düzenlileştirme</a:t>
            </a:r>
          </a:p>
        </p:txBody>
      </p:sp>
      <p:sp>
        <p:nvSpPr>
          <p:cNvPr id="32" name="Rectangle 31"/>
          <p:cNvSpPr/>
          <p:nvPr/>
        </p:nvSpPr>
        <p:spPr>
          <a:xfrm>
            <a:off x="8065008" y="5321808"/>
            <a:ext cx="3703320" cy="914400"/>
          </a:xfrm>
          <a:prstGeom prst="rect">
            <a:avLst/>
          </a:prstGeom>
          <a:solidFill>
            <a:srgbClr val="FFFFFF"/>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65008" y="5321808"/>
            <a:ext cx="82296" cy="91440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7888" y="5394960"/>
            <a:ext cx="3429000" cy="320040"/>
          </a:xfrm>
          <a:prstGeom prst="rect">
            <a:avLst/>
          </a:prstGeom>
          <a:noFill/>
        </p:spPr>
        <p:txBody>
          <a:bodyPr wrap="square" anchor="t" lIns="25400" rIns="25400" tIns="12700" bIns="12700">
            <a:spAutoFit/>
          </a:bodyPr>
          <a:lstStyle/>
          <a:p>
            <a:pPr algn="l"/>
            <a:r>
              <a:rPr sz="1200" b="1" i="0">
                <a:solidFill>
                  <a:srgbClr val="B32929"/>
                </a:solidFill>
                <a:latin typeface="Calibri"/>
              </a:rPr>
              <a:t>⚠  Veri sızıntısı</a:t>
            </a:r>
          </a:p>
        </p:txBody>
      </p:sp>
      <p:sp>
        <p:nvSpPr>
          <p:cNvPr id="35" name="TextBox 34"/>
          <p:cNvSpPr txBox="1"/>
          <p:nvPr/>
        </p:nvSpPr>
        <p:spPr>
          <a:xfrm>
            <a:off x="8247888" y="5742432"/>
            <a:ext cx="3429000" cy="438912"/>
          </a:xfrm>
          <a:prstGeom prst="rect">
            <a:avLst/>
          </a:prstGeom>
          <a:noFill/>
        </p:spPr>
        <p:txBody>
          <a:bodyPr wrap="square" anchor="t" lIns="25400" rIns="25400" tIns="12700" bIns="12700">
            <a:spAutoFit/>
          </a:bodyPr>
          <a:lstStyle/>
          <a:p>
            <a:pPr algn="l"/>
            <a:r>
              <a:rPr sz="1050" b="0" i="0">
                <a:solidFill>
                  <a:srgbClr val="242A30"/>
                </a:solidFill>
                <a:latin typeface="Calibri"/>
              </a:rPr>
              <a:t>Scaler her katta yalnız eğitim verisine fit edilir</a:t>
            </a:r>
          </a:p>
        </p:txBody>
      </p:sp>
      <p:sp>
        <p:nvSpPr>
          <p:cNvPr id="36" name="Rectangle 3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8" name="TextBox 37"/>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01: Dönem Başlangıç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Dönem Başlangıç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02</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Literatür Taraması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02 — LİTERATÜR TARAMASI</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İlgili Çalışmalar</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39 kaynak · üç araştırma alanı · sistematik boşluk analizi</a:t>
            </a:r>
          </a:p>
        </p:txBody>
      </p:sp>
      <p:sp>
        <p:nvSpPr>
          <p:cNvPr id="8" name="Rectangle 7"/>
          <p:cNvSpPr/>
          <p:nvPr/>
        </p:nvSpPr>
        <p:spPr>
          <a:xfrm>
            <a:off x="548640" y="2880360"/>
            <a:ext cx="356616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3027578"/>
            <a:ext cx="3566160" cy="525780"/>
          </a:xfrm>
          <a:prstGeom prst="rect">
            <a:avLst/>
          </a:prstGeom>
          <a:noFill/>
        </p:spPr>
        <p:txBody>
          <a:bodyPr wrap="square" anchor="ctr" lIns="25400" rIns="25400" tIns="12700" bIns="12700">
            <a:spAutoFit/>
          </a:bodyPr>
          <a:lstStyle/>
          <a:p>
            <a:pPr algn="ctr"/>
            <a:r>
              <a:rPr sz="3000" b="1" i="0">
                <a:solidFill>
                  <a:srgbClr val="D99A07"/>
                </a:solidFill>
                <a:latin typeface="Calibri"/>
              </a:rPr>
              <a:t>39</a:t>
            </a:r>
          </a:p>
        </p:txBody>
      </p:sp>
      <p:sp>
        <p:nvSpPr>
          <p:cNvPr id="10" name="TextBox 9"/>
          <p:cNvSpPr txBox="1"/>
          <p:nvPr/>
        </p:nvSpPr>
        <p:spPr>
          <a:xfrm>
            <a:off x="548640" y="3542842"/>
            <a:ext cx="3566160" cy="357530"/>
          </a:xfrm>
          <a:prstGeom prst="rect">
            <a:avLst/>
          </a:prstGeom>
          <a:noFill/>
        </p:spPr>
        <p:txBody>
          <a:bodyPr wrap="square" anchor="ctr" lIns="25400" rIns="25400" tIns="12700" bIns="12700">
            <a:spAutoFit/>
          </a:bodyPr>
          <a:lstStyle/>
          <a:p>
            <a:pPr algn="ctr"/>
            <a:r>
              <a:rPr sz="1100" b="0" i="0">
                <a:solidFill>
                  <a:srgbClr val="FFFFFF"/>
                </a:solidFill>
                <a:latin typeface="Calibri"/>
              </a:rPr>
              <a:t>Taranan kaynak</a:t>
            </a:r>
          </a:p>
        </p:txBody>
      </p:sp>
      <p:sp>
        <p:nvSpPr>
          <p:cNvPr id="11" name="Rectangle 10"/>
          <p:cNvSpPr/>
          <p:nvPr/>
        </p:nvSpPr>
        <p:spPr>
          <a:xfrm>
            <a:off x="4297680" y="2880360"/>
            <a:ext cx="356616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3027578"/>
            <a:ext cx="3566160" cy="525780"/>
          </a:xfrm>
          <a:prstGeom prst="rect">
            <a:avLst/>
          </a:prstGeom>
          <a:noFill/>
        </p:spPr>
        <p:txBody>
          <a:bodyPr wrap="square" anchor="ctr" lIns="25400" rIns="25400" tIns="12700" bIns="12700">
            <a:spAutoFit/>
          </a:bodyPr>
          <a:lstStyle/>
          <a:p>
            <a:pPr algn="ctr"/>
            <a:r>
              <a:rPr sz="3000" b="1" i="0">
                <a:solidFill>
                  <a:srgbClr val="6FD895"/>
                </a:solidFill>
                <a:latin typeface="Calibri"/>
              </a:rPr>
              <a:t>%74</a:t>
            </a:r>
          </a:p>
        </p:txBody>
      </p:sp>
      <p:sp>
        <p:nvSpPr>
          <p:cNvPr id="13" name="TextBox 12"/>
          <p:cNvSpPr txBox="1"/>
          <p:nvPr/>
        </p:nvSpPr>
        <p:spPr>
          <a:xfrm>
            <a:off x="4297680" y="3542842"/>
            <a:ext cx="3566160" cy="357530"/>
          </a:xfrm>
          <a:prstGeom prst="rect">
            <a:avLst/>
          </a:prstGeom>
          <a:noFill/>
        </p:spPr>
        <p:txBody>
          <a:bodyPr wrap="square" anchor="ctr" lIns="25400" rIns="25400" tIns="12700" bIns="12700">
            <a:spAutoFit/>
          </a:bodyPr>
          <a:lstStyle/>
          <a:p>
            <a:pPr algn="ctr"/>
            <a:r>
              <a:rPr sz="1100" b="0" i="0">
                <a:solidFill>
                  <a:srgbClr val="FFFFFF"/>
                </a:solidFill>
                <a:latin typeface="Calibri"/>
              </a:rPr>
              <a:t>Son 5 yıl (2021+)</a:t>
            </a:r>
          </a:p>
        </p:txBody>
      </p:sp>
      <p:sp>
        <p:nvSpPr>
          <p:cNvPr id="14" name="Rectangle 13"/>
          <p:cNvSpPr/>
          <p:nvPr/>
        </p:nvSpPr>
        <p:spPr>
          <a:xfrm>
            <a:off x="8046720" y="2880360"/>
            <a:ext cx="3657600" cy="10515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3027578"/>
            <a:ext cx="3657600" cy="525780"/>
          </a:xfrm>
          <a:prstGeom prst="rect">
            <a:avLst/>
          </a:prstGeom>
          <a:noFill/>
        </p:spPr>
        <p:txBody>
          <a:bodyPr wrap="square" anchor="ctr" lIns="25400" rIns="25400" tIns="12700" bIns="12700">
            <a:spAutoFit/>
          </a:bodyPr>
          <a:lstStyle/>
          <a:p>
            <a:pPr algn="ctr"/>
            <a:r>
              <a:rPr sz="3000" b="1" i="0">
                <a:solidFill>
                  <a:srgbClr val="D99A07"/>
                </a:solidFill>
                <a:latin typeface="Calibri"/>
              </a:rPr>
              <a:t>3</a:t>
            </a:r>
          </a:p>
        </p:txBody>
      </p:sp>
      <p:sp>
        <p:nvSpPr>
          <p:cNvPr id="16" name="TextBox 15"/>
          <p:cNvSpPr txBox="1"/>
          <p:nvPr/>
        </p:nvSpPr>
        <p:spPr>
          <a:xfrm>
            <a:off x="8046720" y="3542842"/>
            <a:ext cx="3657600" cy="357530"/>
          </a:xfrm>
          <a:prstGeom prst="rect">
            <a:avLst/>
          </a:prstGeom>
          <a:noFill/>
        </p:spPr>
        <p:txBody>
          <a:bodyPr wrap="square" anchor="ctr" lIns="25400" rIns="25400" tIns="12700" bIns="12700">
            <a:spAutoFit/>
          </a:bodyPr>
          <a:lstStyle/>
          <a:p>
            <a:pPr algn="ctr"/>
            <a:r>
              <a:rPr sz="1100" b="0" i="0">
                <a:solidFill>
                  <a:srgbClr val="FFFFFF"/>
                </a:solidFill>
                <a:latin typeface="Calibri"/>
              </a:rPr>
              <a:t>Araştırma alanı</a:t>
            </a:r>
          </a:p>
        </p:txBody>
      </p:sp>
      <p:sp>
        <p:nvSpPr>
          <p:cNvPr id="17" name="TextBox 16"/>
          <p:cNvSpPr txBox="1"/>
          <p:nvPr/>
        </p:nvSpPr>
        <p:spPr>
          <a:xfrm>
            <a:off x="548640" y="4297680"/>
            <a:ext cx="11155680" cy="1828800"/>
          </a:xfrm>
          <a:prstGeom prst="rect">
            <a:avLst/>
          </a:prstGeom>
          <a:noFill/>
        </p:spPr>
        <p:txBody>
          <a:bodyPr wrap="square" anchor="t" lIns="25400" rIns="25400">
            <a:spAutoFit/>
          </a:bodyPr>
          <a:lstStyle/>
          <a:p>
            <a:pPr algn="l">
              <a:spcBef>
                <a:spcPts val="0"/>
              </a:spcBef>
              <a:spcAft>
                <a:spcPts val="1000"/>
              </a:spcAft>
            </a:pPr>
            <a:r>
              <a:rPr sz="1300" b="0" i="0">
                <a:solidFill>
                  <a:srgbClr val="242A30"/>
                </a:solidFill>
                <a:latin typeface="Calibri"/>
              </a:rPr>
              <a:t>—  GUJSA, referansların en az %30'unun güncel olmasını şart koşar — AURIS %74 ile bu eşiği fazlasıyla aşar.</a:t>
            </a:r>
          </a:p>
          <a:p>
            <a:pPr algn="l">
              <a:spcBef>
                <a:spcPts val="0"/>
              </a:spcBef>
              <a:spcAft>
                <a:spcPts val="1000"/>
              </a:spcAft>
            </a:pPr>
            <a:r>
              <a:rPr sz="1300" b="0" i="0">
                <a:solidFill>
                  <a:srgbClr val="242A30"/>
                </a:solidFill>
                <a:latin typeface="Calibri"/>
              </a:rPr>
              <a:t>—  Tarama üç eksende yürütüldü: ses deepfake tespiti, üretken müzik sistemleri, YZ müzik tespiti.</a:t>
            </a:r>
          </a:p>
          <a:p>
            <a:pPr algn="l">
              <a:spcBef>
                <a:spcPts val="0"/>
              </a:spcBef>
              <a:spcAft>
                <a:spcPts val="1000"/>
              </a:spcAft>
            </a:pPr>
            <a:r>
              <a:rPr sz="1300" b="0" i="0">
                <a:solidFill>
                  <a:srgbClr val="242A30"/>
                </a:solidFill>
                <a:latin typeface="Calibri"/>
              </a:rPr>
              <a:t>—  Temel bulgu: müzik için topluluk öğrenmesi + SHAP açıklanabilirliğini birleştiren çalışma eksik.</a:t>
            </a:r>
          </a:p>
        </p:txBody>
      </p:sp>
      <p:sp>
        <p:nvSpPr>
          <p:cNvPr id="18" name="Rectangle 1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0" name="TextBox 19"/>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ALAN 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Ses Derin Sahte Tespiti (Audio Deepfake Detection)</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GenAI müzik tespiti için en olgun komşu alan</a:t>
            </a:r>
          </a:p>
        </p:txBody>
      </p:sp>
      <p:sp>
        <p:nvSpPr>
          <p:cNvPr id="8" name="Rectangle 7"/>
          <p:cNvSpPr/>
          <p:nvPr/>
        </p:nvSpPr>
        <p:spPr>
          <a:xfrm>
            <a:off x="365760" y="1627632"/>
            <a:ext cx="2286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2103120" cy="384048"/>
          </a:xfrm>
          <a:prstGeom prst="rect">
            <a:avLst/>
          </a:prstGeom>
          <a:noFill/>
        </p:spPr>
        <p:txBody>
          <a:bodyPr wrap="square" anchor="ctr" lIns="25400" rIns="25400" tIns="12700" bIns="12700">
            <a:spAutoFit/>
          </a:bodyPr>
          <a:lstStyle/>
          <a:p>
            <a:pPr algn="l"/>
            <a:r>
              <a:rPr sz="1150" b="1" i="0">
                <a:solidFill>
                  <a:srgbClr val="FFFFFF"/>
                </a:solidFill>
                <a:latin typeface="Calibri"/>
              </a:rPr>
              <a:t>Çalışma</a:t>
            </a:r>
          </a:p>
        </p:txBody>
      </p:sp>
      <p:sp>
        <p:nvSpPr>
          <p:cNvPr id="10" name="Rectangle 9"/>
          <p:cNvSpPr/>
          <p:nvPr/>
        </p:nvSpPr>
        <p:spPr>
          <a:xfrm>
            <a:off x="265176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1627632"/>
            <a:ext cx="18288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Yazarlar</a:t>
            </a:r>
          </a:p>
        </p:txBody>
      </p:sp>
      <p:sp>
        <p:nvSpPr>
          <p:cNvPr id="12" name="Rectangle 11"/>
          <p:cNvSpPr/>
          <p:nvPr/>
        </p:nvSpPr>
        <p:spPr>
          <a:xfrm>
            <a:off x="4480560" y="1627632"/>
            <a:ext cx="8229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627632"/>
            <a:ext cx="82296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Yıl</a:t>
            </a:r>
          </a:p>
        </p:txBody>
      </p:sp>
      <p:sp>
        <p:nvSpPr>
          <p:cNvPr id="14" name="Rectangle 13"/>
          <p:cNvSpPr/>
          <p:nvPr/>
        </p:nvSpPr>
        <p:spPr>
          <a:xfrm>
            <a:off x="5303520" y="1627632"/>
            <a:ext cx="651967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0" y="1627632"/>
            <a:ext cx="6336792" cy="384048"/>
          </a:xfrm>
          <a:prstGeom prst="rect">
            <a:avLst/>
          </a:prstGeom>
          <a:noFill/>
        </p:spPr>
        <p:txBody>
          <a:bodyPr wrap="square" anchor="ctr" lIns="25400" rIns="25400" tIns="12700" bIns="12700">
            <a:spAutoFit/>
          </a:bodyPr>
          <a:lstStyle/>
          <a:p>
            <a:pPr algn="l"/>
            <a:r>
              <a:rPr sz="1150" b="1" i="0">
                <a:solidFill>
                  <a:srgbClr val="FFFFFF"/>
                </a:solidFill>
                <a:latin typeface="Calibri"/>
              </a:rPr>
              <a:t>Yaklaşım ve Katkı</a:t>
            </a:r>
          </a:p>
        </p:txBody>
      </p:sp>
      <p:sp>
        <p:nvSpPr>
          <p:cNvPr id="16" name="Rectangle 15"/>
          <p:cNvSpPr/>
          <p:nvPr/>
        </p:nvSpPr>
        <p:spPr>
          <a:xfrm>
            <a:off x="365760" y="201168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01168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AASIST [10]</a:t>
            </a:r>
          </a:p>
        </p:txBody>
      </p:sp>
      <p:sp>
        <p:nvSpPr>
          <p:cNvPr id="18" name="Rectangle 17"/>
          <p:cNvSpPr/>
          <p:nvPr/>
        </p:nvSpPr>
        <p:spPr>
          <a:xfrm>
            <a:off x="2651760" y="201168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79191" y="201168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Jung vd.</a:t>
            </a:r>
          </a:p>
        </p:txBody>
      </p:sp>
      <p:sp>
        <p:nvSpPr>
          <p:cNvPr id="20" name="Rectangle 19"/>
          <p:cNvSpPr/>
          <p:nvPr/>
        </p:nvSpPr>
        <p:spPr>
          <a:xfrm>
            <a:off x="4480560" y="201168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7992" y="201168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2022</a:t>
            </a:r>
          </a:p>
        </p:txBody>
      </p:sp>
      <p:sp>
        <p:nvSpPr>
          <p:cNvPr id="22" name="Rectangle 21"/>
          <p:cNvSpPr/>
          <p:nvPr/>
        </p:nvSpPr>
        <p:spPr>
          <a:xfrm>
            <a:off x="5303520" y="201168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0" y="201168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Bütünleşik spektro-temporal graf dikkat ağı</a:t>
            </a:r>
          </a:p>
        </p:txBody>
      </p:sp>
      <p:sp>
        <p:nvSpPr>
          <p:cNvPr id="24" name="Rectangle 23"/>
          <p:cNvSpPr/>
          <p:nvPr/>
        </p:nvSpPr>
        <p:spPr>
          <a:xfrm>
            <a:off x="365760" y="2560320"/>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56032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RawNet2 [11]</a:t>
            </a:r>
          </a:p>
        </p:txBody>
      </p:sp>
      <p:sp>
        <p:nvSpPr>
          <p:cNvPr id="26" name="Rectangle 25"/>
          <p:cNvSpPr/>
          <p:nvPr/>
        </p:nvSpPr>
        <p:spPr>
          <a:xfrm>
            <a:off x="2651760" y="2560320"/>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79191" y="256032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Tak vd.</a:t>
            </a:r>
          </a:p>
        </p:txBody>
      </p:sp>
      <p:sp>
        <p:nvSpPr>
          <p:cNvPr id="28" name="Rectangle 27"/>
          <p:cNvSpPr/>
          <p:nvPr/>
        </p:nvSpPr>
        <p:spPr>
          <a:xfrm>
            <a:off x="4480560" y="2560320"/>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07992" y="256032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2021</a:t>
            </a:r>
          </a:p>
        </p:txBody>
      </p:sp>
      <p:sp>
        <p:nvSpPr>
          <p:cNvPr id="30" name="Rectangle 29"/>
          <p:cNvSpPr/>
          <p:nvPr/>
        </p:nvSpPr>
        <p:spPr>
          <a:xfrm>
            <a:off x="5303520" y="2560320"/>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94960" y="256032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Ham dalga formundan uçtan uca öğrenme</a:t>
            </a:r>
          </a:p>
        </p:txBody>
      </p:sp>
      <p:sp>
        <p:nvSpPr>
          <p:cNvPr id="32" name="Rectangle 31"/>
          <p:cNvSpPr/>
          <p:nvPr/>
        </p:nvSpPr>
        <p:spPr>
          <a:xfrm>
            <a:off x="365760" y="310896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0896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wav2vec 2.0 [13]</a:t>
            </a:r>
          </a:p>
        </p:txBody>
      </p:sp>
      <p:sp>
        <p:nvSpPr>
          <p:cNvPr id="34" name="Rectangle 33"/>
          <p:cNvSpPr/>
          <p:nvPr/>
        </p:nvSpPr>
        <p:spPr>
          <a:xfrm>
            <a:off x="2651760" y="310896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79191" y="310896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Baevski vd.</a:t>
            </a:r>
          </a:p>
        </p:txBody>
      </p:sp>
      <p:sp>
        <p:nvSpPr>
          <p:cNvPr id="36" name="Rectangle 35"/>
          <p:cNvSpPr/>
          <p:nvPr/>
        </p:nvSpPr>
        <p:spPr>
          <a:xfrm>
            <a:off x="4480560" y="310896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07992" y="310896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2020</a:t>
            </a:r>
          </a:p>
        </p:txBody>
      </p:sp>
      <p:sp>
        <p:nvSpPr>
          <p:cNvPr id="38" name="Rectangle 37"/>
          <p:cNvSpPr/>
          <p:nvPr/>
        </p:nvSpPr>
        <p:spPr>
          <a:xfrm>
            <a:off x="5303520" y="310896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60" y="310896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Öz-denetimli ses temsili; güçlü transfer tabanı</a:t>
            </a:r>
          </a:p>
        </p:txBody>
      </p:sp>
      <p:sp>
        <p:nvSpPr>
          <p:cNvPr id="40" name="Rectangle 39"/>
          <p:cNvSpPr/>
          <p:nvPr/>
        </p:nvSpPr>
        <p:spPr>
          <a:xfrm>
            <a:off x="365760" y="3657600"/>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365760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WavLM [15]</a:t>
            </a:r>
          </a:p>
        </p:txBody>
      </p:sp>
      <p:sp>
        <p:nvSpPr>
          <p:cNvPr id="42" name="Rectangle 41"/>
          <p:cNvSpPr/>
          <p:nvPr/>
        </p:nvSpPr>
        <p:spPr>
          <a:xfrm>
            <a:off x="2651760" y="3657600"/>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79191" y="365760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Chen vd.</a:t>
            </a:r>
          </a:p>
        </p:txBody>
      </p:sp>
      <p:sp>
        <p:nvSpPr>
          <p:cNvPr id="44" name="Rectangle 43"/>
          <p:cNvSpPr/>
          <p:nvPr/>
        </p:nvSpPr>
        <p:spPr>
          <a:xfrm>
            <a:off x="4480560" y="3657600"/>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07992" y="365760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2022</a:t>
            </a:r>
          </a:p>
        </p:txBody>
      </p:sp>
      <p:sp>
        <p:nvSpPr>
          <p:cNvPr id="46" name="Rectangle 45"/>
          <p:cNvSpPr/>
          <p:nvPr/>
        </p:nvSpPr>
        <p:spPr>
          <a:xfrm>
            <a:off x="5303520" y="3657600"/>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394960" y="365760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Maskelenmiş öngörü ile büyük ölçekli ön eğitim</a:t>
            </a:r>
          </a:p>
        </p:txBody>
      </p:sp>
      <p:sp>
        <p:nvSpPr>
          <p:cNvPr id="48" name="Rectangle 47"/>
          <p:cNvSpPr/>
          <p:nvPr/>
        </p:nvSpPr>
        <p:spPr>
          <a:xfrm>
            <a:off x="365760" y="4206240"/>
            <a:ext cx="22860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4206240"/>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ADD 2022 [3]</a:t>
            </a:r>
          </a:p>
        </p:txBody>
      </p:sp>
      <p:sp>
        <p:nvSpPr>
          <p:cNvPr id="50" name="Rectangle 49"/>
          <p:cNvSpPr/>
          <p:nvPr/>
        </p:nvSpPr>
        <p:spPr>
          <a:xfrm>
            <a:off x="2651760" y="4206240"/>
            <a:ext cx="182880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679191" y="4206240"/>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Yi vd.</a:t>
            </a:r>
          </a:p>
        </p:txBody>
      </p:sp>
      <p:sp>
        <p:nvSpPr>
          <p:cNvPr id="52" name="Rectangle 51"/>
          <p:cNvSpPr/>
          <p:nvPr/>
        </p:nvSpPr>
        <p:spPr>
          <a:xfrm>
            <a:off x="4480560" y="4206240"/>
            <a:ext cx="822960"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07992" y="4206240"/>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2022</a:t>
            </a:r>
          </a:p>
        </p:txBody>
      </p:sp>
      <p:sp>
        <p:nvSpPr>
          <p:cNvPr id="54" name="Rectangle 53"/>
          <p:cNvSpPr/>
          <p:nvPr/>
        </p:nvSpPr>
        <p:spPr>
          <a:xfrm>
            <a:off x="5303520" y="4206240"/>
            <a:ext cx="6519672" cy="54864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94960" y="4206240"/>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İlk YZ ses sentezi tespit yarışması</a:t>
            </a:r>
          </a:p>
        </p:txBody>
      </p:sp>
      <p:sp>
        <p:nvSpPr>
          <p:cNvPr id="56" name="Rectangle 55"/>
          <p:cNvSpPr/>
          <p:nvPr/>
        </p:nvSpPr>
        <p:spPr>
          <a:xfrm>
            <a:off x="365760" y="4754879"/>
            <a:ext cx="22860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54879"/>
            <a:ext cx="2103120" cy="548640"/>
          </a:xfrm>
          <a:prstGeom prst="rect">
            <a:avLst/>
          </a:prstGeom>
          <a:noFill/>
        </p:spPr>
        <p:txBody>
          <a:bodyPr wrap="square" anchor="ctr" lIns="25400" rIns="25400" tIns="12700" bIns="12700">
            <a:spAutoFit/>
          </a:bodyPr>
          <a:lstStyle/>
          <a:p>
            <a:pPr algn="l"/>
            <a:r>
              <a:rPr sz="1150" b="0" i="0">
                <a:solidFill>
                  <a:srgbClr val="242A30"/>
                </a:solidFill>
                <a:latin typeface="Calibri"/>
              </a:rPr>
              <a:t>ASVspoof 2019 [17]</a:t>
            </a:r>
          </a:p>
        </p:txBody>
      </p:sp>
      <p:sp>
        <p:nvSpPr>
          <p:cNvPr id="58" name="Rectangle 57"/>
          <p:cNvSpPr/>
          <p:nvPr/>
        </p:nvSpPr>
        <p:spPr>
          <a:xfrm>
            <a:off x="2651760" y="4754879"/>
            <a:ext cx="182880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679191" y="4754879"/>
            <a:ext cx="177393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Wang vd.</a:t>
            </a:r>
          </a:p>
        </p:txBody>
      </p:sp>
      <p:sp>
        <p:nvSpPr>
          <p:cNvPr id="60" name="Rectangle 59"/>
          <p:cNvSpPr/>
          <p:nvPr/>
        </p:nvSpPr>
        <p:spPr>
          <a:xfrm>
            <a:off x="4480560" y="4754879"/>
            <a:ext cx="822960"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07992" y="4754879"/>
            <a:ext cx="768096" cy="548640"/>
          </a:xfrm>
          <a:prstGeom prst="rect">
            <a:avLst/>
          </a:prstGeom>
          <a:noFill/>
        </p:spPr>
        <p:txBody>
          <a:bodyPr wrap="square" anchor="ctr" lIns="25400" rIns="25400" tIns="12700" bIns="12700">
            <a:spAutoFit/>
          </a:bodyPr>
          <a:lstStyle/>
          <a:p>
            <a:pPr algn="ctr"/>
            <a:r>
              <a:rPr sz="1150" b="0" i="0">
                <a:solidFill>
                  <a:srgbClr val="242A30"/>
                </a:solidFill>
                <a:latin typeface="Calibri"/>
              </a:rPr>
              <a:t>2020</a:t>
            </a:r>
          </a:p>
        </p:txBody>
      </p:sp>
      <p:sp>
        <p:nvSpPr>
          <p:cNvPr id="62" name="Rectangle 61"/>
          <p:cNvSpPr/>
          <p:nvPr/>
        </p:nvSpPr>
        <p:spPr>
          <a:xfrm>
            <a:off x="5303520" y="4754879"/>
            <a:ext cx="6519672" cy="54864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394960" y="4754879"/>
            <a:ext cx="6336792" cy="548640"/>
          </a:xfrm>
          <a:prstGeom prst="rect">
            <a:avLst/>
          </a:prstGeom>
          <a:noFill/>
        </p:spPr>
        <p:txBody>
          <a:bodyPr wrap="square" anchor="ctr" lIns="25400" rIns="25400" tIns="12700" bIns="12700">
            <a:spAutoFit/>
          </a:bodyPr>
          <a:lstStyle/>
          <a:p>
            <a:pPr algn="l"/>
            <a:r>
              <a:rPr sz="1150" b="0" i="0">
                <a:solidFill>
                  <a:srgbClr val="242A30"/>
                </a:solidFill>
                <a:latin typeface="Calibri"/>
              </a:rPr>
              <a:t>64k örnekli kıyaslama veri kümesi</a:t>
            </a:r>
          </a:p>
        </p:txBody>
      </p:sp>
      <p:sp>
        <p:nvSpPr>
          <p:cNvPr id="64" name="TextBox 63"/>
          <p:cNvSpPr txBox="1"/>
          <p:nvPr/>
        </p:nvSpPr>
        <p:spPr>
          <a:xfrm>
            <a:off x="365760" y="5486400"/>
            <a:ext cx="11430000" cy="365760"/>
          </a:xfrm>
          <a:prstGeom prst="rect">
            <a:avLst/>
          </a:prstGeom>
          <a:noFill/>
        </p:spPr>
        <p:txBody>
          <a:bodyPr wrap="square" anchor="t" lIns="25400" rIns="25400" tIns="12700" bIns="12700">
            <a:spAutoFit/>
          </a:bodyPr>
          <a:lstStyle/>
          <a:p>
            <a:pPr algn="l"/>
            <a:r>
              <a:rPr sz="1150" b="0" i="1">
                <a:solidFill>
                  <a:srgbClr val="6A7480"/>
                </a:solidFill>
                <a:latin typeface="Calibri"/>
              </a:rPr>
              <a:t>Çıkarım: Bu yöntemler konuşma için olgun; müziğin ritmik ve harmonik yapısını hedeflemiyor.</a:t>
            </a:r>
          </a:p>
        </p:txBody>
      </p:sp>
      <p:sp>
        <p:nvSpPr>
          <p:cNvPr id="65" name="Rectangle 6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67" name="TextBox 66"/>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ALAN 2 &amp; 3</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Üretken Müzik Sistemleri ve YZ Müzik Tespiti</a:t>
            </a:r>
          </a:p>
        </p:txBody>
      </p:sp>
      <p:sp>
        <p:nvSpPr>
          <p:cNvPr id="7" name="TextBox 6"/>
          <p:cNvSpPr txBox="1"/>
          <p:nvPr/>
        </p:nvSpPr>
        <p:spPr>
          <a:xfrm>
            <a:off x="365760" y="1508760"/>
            <a:ext cx="5577840" cy="347472"/>
          </a:xfrm>
          <a:prstGeom prst="rect">
            <a:avLst/>
          </a:prstGeom>
          <a:noFill/>
        </p:spPr>
        <p:txBody>
          <a:bodyPr wrap="square" anchor="t" lIns="25400" rIns="25400" tIns="12700" bIns="12700">
            <a:spAutoFit/>
          </a:bodyPr>
          <a:lstStyle/>
          <a:p>
            <a:pPr algn="l"/>
            <a:r>
              <a:rPr sz="1400" b="1" i="0">
                <a:solidFill>
                  <a:srgbClr val="102A4C"/>
                </a:solidFill>
                <a:latin typeface="Calibri"/>
              </a:rPr>
              <a:t>Üretici Sistemler</a:t>
            </a:r>
          </a:p>
        </p:txBody>
      </p:sp>
      <p:sp>
        <p:nvSpPr>
          <p:cNvPr id="8" name="Rectangle 7"/>
          <p:cNvSpPr/>
          <p:nvPr/>
        </p:nvSpPr>
        <p:spPr>
          <a:xfrm>
            <a:off x="365760" y="1938528"/>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29968"/>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MusicGen [1]</a:t>
            </a:r>
          </a:p>
        </p:txBody>
      </p:sp>
      <p:sp>
        <p:nvSpPr>
          <p:cNvPr id="10" name="TextBox 9"/>
          <p:cNvSpPr txBox="1"/>
          <p:nvPr/>
        </p:nvSpPr>
        <p:spPr>
          <a:xfrm>
            <a:off x="502920" y="2359152"/>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Copet vd., 2023 (Meta) — metne koşullu, tek aşamalı transformer</a:t>
            </a:r>
          </a:p>
        </p:txBody>
      </p:sp>
      <p:sp>
        <p:nvSpPr>
          <p:cNvPr id="11" name="Rectangle 10"/>
          <p:cNvSpPr/>
          <p:nvPr/>
        </p:nvSpPr>
        <p:spPr>
          <a:xfrm>
            <a:off x="365760" y="2916936"/>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008376"/>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AudioLDM2 [2]</a:t>
            </a:r>
          </a:p>
        </p:txBody>
      </p:sp>
      <p:sp>
        <p:nvSpPr>
          <p:cNvPr id="13" name="TextBox 12"/>
          <p:cNvSpPr txBox="1"/>
          <p:nvPr/>
        </p:nvSpPr>
        <p:spPr>
          <a:xfrm>
            <a:off x="502920" y="3337560"/>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Liu vd., 2023 — latent difüzyon tabanlı üretim</a:t>
            </a:r>
          </a:p>
        </p:txBody>
      </p:sp>
      <p:sp>
        <p:nvSpPr>
          <p:cNvPr id="14" name="Rectangle 13"/>
          <p:cNvSpPr/>
          <p:nvPr/>
        </p:nvSpPr>
        <p:spPr>
          <a:xfrm>
            <a:off x="365760" y="3895344"/>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986783"/>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Suno / Udio</a:t>
            </a:r>
          </a:p>
        </p:txBody>
      </p:sp>
      <p:sp>
        <p:nvSpPr>
          <p:cNvPr id="16" name="TextBox 15"/>
          <p:cNvSpPr txBox="1"/>
          <p:nvPr/>
        </p:nvSpPr>
        <p:spPr>
          <a:xfrm>
            <a:off x="502920" y="4315968"/>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Ticari sistemler, 2024 — yüksek kaliteli şarkı üretimi</a:t>
            </a:r>
          </a:p>
        </p:txBody>
      </p:sp>
      <p:sp>
        <p:nvSpPr>
          <p:cNvPr id="17" name="Rectangle 16"/>
          <p:cNvSpPr/>
          <p:nvPr/>
        </p:nvSpPr>
        <p:spPr>
          <a:xfrm>
            <a:off x="365760" y="4873752"/>
            <a:ext cx="5577840" cy="86868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965192"/>
            <a:ext cx="5303520" cy="310896"/>
          </a:xfrm>
          <a:prstGeom prst="rect">
            <a:avLst/>
          </a:prstGeom>
          <a:noFill/>
        </p:spPr>
        <p:txBody>
          <a:bodyPr wrap="square" anchor="t" lIns="25400" rIns="25400" tIns="12700" bIns="12700">
            <a:spAutoFit/>
          </a:bodyPr>
          <a:lstStyle/>
          <a:p>
            <a:pPr algn="l"/>
            <a:r>
              <a:rPr sz="1250" b="1" i="0">
                <a:solidFill>
                  <a:srgbClr val="0A808C"/>
                </a:solidFill>
                <a:latin typeface="Calibri"/>
              </a:rPr>
              <a:t>Stable Audio / Riffusion</a:t>
            </a:r>
          </a:p>
        </p:txBody>
      </p:sp>
      <p:sp>
        <p:nvSpPr>
          <p:cNvPr id="19" name="TextBox 18"/>
          <p:cNvSpPr txBox="1"/>
          <p:nvPr/>
        </p:nvSpPr>
        <p:spPr>
          <a:xfrm>
            <a:off x="502920" y="5294376"/>
            <a:ext cx="5303520" cy="384048"/>
          </a:xfrm>
          <a:prstGeom prst="rect">
            <a:avLst/>
          </a:prstGeom>
          <a:noFill/>
        </p:spPr>
        <p:txBody>
          <a:bodyPr wrap="square" anchor="t" lIns="25400" rIns="25400" tIns="12700" bIns="12700">
            <a:spAutoFit/>
          </a:bodyPr>
          <a:lstStyle/>
          <a:p>
            <a:pPr algn="l"/>
            <a:r>
              <a:rPr sz="1100" b="0" i="0">
                <a:solidFill>
                  <a:srgbClr val="242A30"/>
                </a:solidFill>
                <a:latin typeface="Calibri"/>
              </a:rPr>
              <a:t>Difüzyon tabanlı açık sistemler</a:t>
            </a:r>
          </a:p>
        </p:txBody>
      </p:sp>
      <p:sp>
        <p:nvSpPr>
          <p:cNvPr id="20" name="TextBox 19"/>
          <p:cNvSpPr txBox="1"/>
          <p:nvPr/>
        </p:nvSpPr>
        <p:spPr>
          <a:xfrm>
            <a:off x="6263640" y="1508760"/>
            <a:ext cx="5486400" cy="347472"/>
          </a:xfrm>
          <a:prstGeom prst="rect">
            <a:avLst/>
          </a:prstGeom>
          <a:noFill/>
        </p:spPr>
        <p:txBody>
          <a:bodyPr wrap="square" anchor="t" lIns="25400" rIns="25400" tIns="12700" bIns="12700">
            <a:spAutoFit/>
          </a:bodyPr>
          <a:lstStyle/>
          <a:p>
            <a:pPr algn="l"/>
            <a:r>
              <a:rPr sz="1400" b="1" i="0">
                <a:solidFill>
                  <a:srgbClr val="102A4C"/>
                </a:solidFill>
                <a:latin typeface="Calibri"/>
              </a:rPr>
              <a:t>Doğrudan İlgili Tespit Çalışmaları</a:t>
            </a:r>
          </a:p>
        </p:txBody>
      </p:sp>
      <p:sp>
        <p:nvSpPr>
          <p:cNvPr id="21" name="Rectangle 20"/>
          <p:cNvSpPr/>
          <p:nvPr/>
        </p:nvSpPr>
        <p:spPr>
          <a:xfrm>
            <a:off x="6263640" y="193852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00253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Afchar vd. [5] · 2025</a:t>
            </a:r>
          </a:p>
        </p:txBody>
      </p:sp>
      <p:sp>
        <p:nvSpPr>
          <p:cNvPr id="23" name="TextBox 22"/>
          <p:cNvSpPr txBox="1"/>
          <p:nvPr/>
        </p:nvSpPr>
        <p:spPr>
          <a:xfrm>
            <a:off x="6400800" y="228600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Oto-kodlayıcı artefaktı; aynı üreticide %99,8, farklı üreticide ciddi düşüş</a:t>
            </a:r>
          </a:p>
        </p:txBody>
      </p:sp>
      <p:sp>
        <p:nvSpPr>
          <p:cNvPr id="24" name="Rectangle 23"/>
          <p:cNvSpPr/>
          <p:nvPr/>
        </p:nvSpPr>
        <p:spPr>
          <a:xfrm>
            <a:off x="6263640" y="271576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277977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Cros Vila vd. [33] · 2025</a:t>
            </a:r>
          </a:p>
        </p:txBody>
      </p:sp>
      <p:sp>
        <p:nvSpPr>
          <p:cNvPr id="26" name="TextBox 25"/>
          <p:cNvSpPr txBox="1"/>
          <p:nvPr/>
        </p:nvSpPr>
        <p:spPr>
          <a:xfrm>
            <a:off x="6400800" y="306324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Spektral + ritmik öznitelik + SVM; müzik-spesifik</a:t>
            </a:r>
          </a:p>
        </p:txBody>
      </p:sp>
      <p:sp>
        <p:nvSpPr>
          <p:cNvPr id="27" name="Rectangle 26"/>
          <p:cNvSpPr/>
          <p:nvPr/>
        </p:nvSpPr>
        <p:spPr>
          <a:xfrm>
            <a:off x="6263640" y="349300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355701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Li vd. [22] · 2026</a:t>
            </a:r>
          </a:p>
        </p:txBody>
      </p:sp>
      <p:sp>
        <p:nvSpPr>
          <p:cNvPr id="29" name="TextBox 28"/>
          <p:cNvSpPr txBox="1"/>
          <p:nvPr/>
        </p:nvSpPr>
        <p:spPr>
          <a:xfrm>
            <a:off x="6400800" y="384048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Açıklanabilir öznitelik tabanlı erken değerlendirme</a:t>
            </a:r>
          </a:p>
        </p:txBody>
      </p:sp>
      <p:sp>
        <p:nvSpPr>
          <p:cNvPr id="30" name="Rectangle 29"/>
          <p:cNvSpPr/>
          <p:nvPr/>
        </p:nvSpPr>
        <p:spPr>
          <a:xfrm>
            <a:off x="6263640" y="427024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33425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SONICS [34] · 2025</a:t>
            </a:r>
          </a:p>
        </p:txBody>
      </p:sp>
      <p:sp>
        <p:nvSpPr>
          <p:cNvPr id="32" name="TextBox 31"/>
          <p:cNvSpPr txBox="1"/>
          <p:nvPr/>
        </p:nvSpPr>
        <p:spPr>
          <a:xfrm>
            <a:off x="6400800" y="4617720"/>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Transformer DL; 97k şarkılık büyük veri kümesi</a:t>
            </a:r>
          </a:p>
        </p:txBody>
      </p:sp>
      <p:sp>
        <p:nvSpPr>
          <p:cNvPr id="33" name="Rectangle 32"/>
          <p:cNvSpPr/>
          <p:nvPr/>
        </p:nvSpPr>
        <p:spPr>
          <a:xfrm>
            <a:off x="6263640" y="5047488"/>
            <a:ext cx="5559552" cy="694944"/>
          </a:xfrm>
          <a:prstGeom prst="rect">
            <a:avLst/>
          </a:prstGeom>
          <a:solidFill>
            <a:srgbClr val="FFFFFF"/>
          </a:solidFill>
          <a:ln w="1270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5111496"/>
            <a:ext cx="5303520" cy="292608"/>
          </a:xfrm>
          <a:prstGeom prst="rect">
            <a:avLst/>
          </a:prstGeom>
          <a:noFill/>
        </p:spPr>
        <p:txBody>
          <a:bodyPr wrap="square" anchor="t" lIns="25400" rIns="25400" tIns="12700" bIns="12700">
            <a:spAutoFit/>
          </a:bodyPr>
          <a:lstStyle/>
          <a:p>
            <a:pPr algn="l"/>
            <a:r>
              <a:rPr sz="1150" b="1" i="0">
                <a:solidFill>
                  <a:srgbClr val="8A6600"/>
                </a:solidFill>
                <a:latin typeface="Calibri"/>
              </a:rPr>
              <a:t>FakeMusicCaps [35] · 2025</a:t>
            </a:r>
          </a:p>
        </p:txBody>
      </p:sp>
      <p:sp>
        <p:nvSpPr>
          <p:cNvPr id="35" name="TextBox 34"/>
          <p:cNvSpPr txBox="1"/>
          <p:nvPr/>
        </p:nvSpPr>
        <p:spPr>
          <a:xfrm>
            <a:off x="6400800" y="5394959"/>
            <a:ext cx="5303520" cy="310896"/>
          </a:xfrm>
          <a:prstGeom prst="rect">
            <a:avLst/>
          </a:prstGeom>
          <a:noFill/>
        </p:spPr>
        <p:txBody>
          <a:bodyPr wrap="square" anchor="t" lIns="25400" rIns="25400" tIns="12700" bIns="12700">
            <a:spAutoFit/>
          </a:bodyPr>
          <a:lstStyle/>
          <a:p>
            <a:pPr algn="l"/>
            <a:r>
              <a:rPr sz="1050" b="0" i="0">
                <a:solidFill>
                  <a:srgbClr val="242A30"/>
                </a:solidFill>
                <a:latin typeface="Calibri"/>
              </a:rPr>
              <a:t>Metin→müzik tespiti ve atıf veri kümesi</a:t>
            </a:r>
          </a:p>
        </p:txBody>
      </p:sp>
      <p:sp>
        <p:nvSpPr>
          <p:cNvPr id="36" name="Rectangle 3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8" name="TextBox 37"/>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SENTEZ</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Literatür Boşluğu ve AURIS'in Konumu</a:t>
            </a:r>
          </a:p>
        </p:txBody>
      </p:sp>
      <p:sp>
        <p:nvSpPr>
          <p:cNvPr id="7" name="TextBox 6"/>
          <p:cNvSpPr txBox="1"/>
          <p:nvPr/>
        </p:nvSpPr>
        <p:spPr>
          <a:xfrm>
            <a:off x="365760" y="1554480"/>
            <a:ext cx="5623560" cy="365760"/>
          </a:xfrm>
          <a:prstGeom prst="rect">
            <a:avLst/>
          </a:prstGeom>
          <a:noFill/>
        </p:spPr>
        <p:txBody>
          <a:bodyPr wrap="square" anchor="t" lIns="25400" rIns="25400" tIns="12700" bIns="12700">
            <a:spAutoFit/>
          </a:bodyPr>
          <a:lstStyle/>
          <a:p>
            <a:pPr algn="l"/>
            <a:r>
              <a:rPr sz="1500" b="1" i="0">
                <a:solidFill>
                  <a:srgbClr val="B32929"/>
                </a:solidFill>
                <a:latin typeface="Calibri"/>
              </a:rPr>
              <a:t>Tespit Edilen Boşluklar</a:t>
            </a:r>
          </a:p>
        </p:txBody>
      </p:sp>
      <p:sp>
        <p:nvSpPr>
          <p:cNvPr id="8" name="Rectangle 7"/>
          <p:cNvSpPr/>
          <p:nvPr/>
        </p:nvSpPr>
        <p:spPr>
          <a:xfrm>
            <a:off x="365760" y="201168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201168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0" name="TextBox 9"/>
          <p:cNvSpPr txBox="1"/>
          <p:nvPr/>
        </p:nvSpPr>
        <p:spPr>
          <a:xfrm>
            <a:off x="960120" y="201168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Müzik için topluluk yaklaşımı yetersiz uygulanmış</a:t>
            </a:r>
          </a:p>
        </p:txBody>
      </p:sp>
      <p:sp>
        <p:nvSpPr>
          <p:cNvPr id="11" name="Rectangle 10"/>
          <p:cNvSpPr/>
          <p:nvPr/>
        </p:nvSpPr>
        <p:spPr>
          <a:xfrm>
            <a:off x="365760" y="283464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283464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3" name="TextBox 12"/>
          <p:cNvSpPr txBox="1"/>
          <p:nvPr/>
        </p:nvSpPr>
        <p:spPr>
          <a:xfrm>
            <a:off x="960120" y="283464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Çok aileli (47 boyut) heterojen öznitelik seti yok</a:t>
            </a:r>
          </a:p>
        </p:txBody>
      </p:sp>
      <p:sp>
        <p:nvSpPr>
          <p:cNvPr id="14" name="Rectangle 13"/>
          <p:cNvSpPr/>
          <p:nvPr/>
        </p:nvSpPr>
        <p:spPr>
          <a:xfrm>
            <a:off x="365760" y="365760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65760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6" name="TextBox 15"/>
          <p:cNvSpPr txBox="1"/>
          <p:nvPr/>
        </p:nvSpPr>
        <p:spPr>
          <a:xfrm>
            <a:off x="960120" y="365760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Üretici/kaynak bazlı performans analizi eksik</a:t>
            </a:r>
          </a:p>
        </p:txBody>
      </p:sp>
      <p:sp>
        <p:nvSpPr>
          <p:cNvPr id="17" name="Rectangle 16"/>
          <p:cNvSpPr/>
          <p:nvPr/>
        </p:nvSpPr>
        <p:spPr>
          <a:xfrm>
            <a:off x="365760" y="448056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48056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19" name="TextBox 18"/>
          <p:cNvSpPr txBox="1"/>
          <p:nvPr/>
        </p:nvSpPr>
        <p:spPr>
          <a:xfrm>
            <a:off x="960120" y="448056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SHAP/TreeSHAP açıklanabilirliği taşınmamış</a:t>
            </a:r>
          </a:p>
        </p:txBody>
      </p:sp>
      <p:sp>
        <p:nvSpPr>
          <p:cNvPr id="20" name="Rectangle 19"/>
          <p:cNvSpPr/>
          <p:nvPr/>
        </p:nvSpPr>
        <p:spPr>
          <a:xfrm>
            <a:off x="365760" y="5303520"/>
            <a:ext cx="5623560" cy="713232"/>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5303520"/>
            <a:ext cx="457200" cy="713232"/>
          </a:xfrm>
          <a:prstGeom prst="rect">
            <a:avLst/>
          </a:prstGeom>
          <a:noFill/>
        </p:spPr>
        <p:txBody>
          <a:bodyPr wrap="square" anchor="ctr" lIns="25400" rIns="25400" tIns="12700" bIns="12700">
            <a:spAutoFit/>
          </a:bodyPr>
          <a:lstStyle/>
          <a:p>
            <a:pPr algn="ctr"/>
            <a:r>
              <a:rPr sz="1800" b="1" i="0">
                <a:solidFill>
                  <a:srgbClr val="B32929"/>
                </a:solidFill>
                <a:latin typeface="Calibri"/>
              </a:rPr>
              <a:t>✗</a:t>
            </a:r>
          </a:p>
        </p:txBody>
      </p:sp>
      <p:sp>
        <p:nvSpPr>
          <p:cNvPr id="22" name="TextBox 21"/>
          <p:cNvSpPr txBox="1"/>
          <p:nvPr/>
        </p:nvSpPr>
        <p:spPr>
          <a:xfrm>
            <a:off x="960120" y="5303520"/>
            <a:ext cx="4937760" cy="713232"/>
          </a:xfrm>
          <a:prstGeom prst="rect">
            <a:avLst/>
          </a:prstGeom>
          <a:noFill/>
        </p:spPr>
        <p:txBody>
          <a:bodyPr wrap="square" anchor="ctr" lIns="25400" rIns="25400" tIns="12700" bIns="12700">
            <a:spAutoFit/>
          </a:bodyPr>
          <a:lstStyle/>
          <a:p>
            <a:pPr algn="l"/>
            <a:r>
              <a:rPr sz="1150" b="0" i="0">
                <a:solidFill>
                  <a:srgbClr val="242A30"/>
                </a:solidFill>
                <a:latin typeface="Calibri"/>
              </a:rPr>
              <a:t>Youden J karar eşiği optimizasyonu uygulanmamış</a:t>
            </a:r>
          </a:p>
        </p:txBody>
      </p:sp>
      <p:sp>
        <p:nvSpPr>
          <p:cNvPr id="23" name="TextBox 22"/>
          <p:cNvSpPr txBox="1"/>
          <p:nvPr/>
        </p:nvSpPr>
        <p:spPr>
          <a:xfrm>
            <a:off x="6199632" y="1554480"/>
            <a:ext cx="5623560" cy="365760"/>
          </a:xfrm>
          <a:prstGeom prst="rect">
            <a:avLst/>
          </a:prstGeom>
          <a:noFill/>
        </p:spPr>
        <p:txBody>
          <a:bodyPr wrap="square" anchor="t" lIns="25400" rIns="25400" tIns="12700" bIns="12700">
            <a:spAutoFit/>
          </a:bodyPr>
          <a:lstStyle/>
          <a:p>
            <a:pPr algn="l"/>
            <a:r>
              <a:rPr sz="1500" b="1" i="0">
                <a:solidFill>
                  <a:srgbClr val="1B6E3C"/>
                </a:solidFill>
                <a:latin typeface="Calibri"/>
              </a:rPr>
              <a:t>AURIS'in Çözümü</a:t>
            </a:r>
          </a:p>
        </p:txBody>
      </p:sp>
      <p:sp>
        <p:nvSpPr>
          <p:cNvPr id="24" name="Rectangle 23"/>
          <p:cNvSpPr/>
          <p:nvPr/>
        </p:nvSpPr>
        <p:spPr>
          <a:xfrm>
            <a:off x="6199632" y="201168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01168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26" name="TextBox 25"/>
          <p:cNvSpPr txBox="1"/>
          <p:nvPr/>
        </p:nvSpPr>
        <p:spPr>
          <a:xfrm>
            <a:off x="6784848" y="201168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7 ML + 4 DL = 11 modelli topluluk öğrenmesi</a:t>
            </a:r>
          </a:p>
        </p:txBody>
      </p:sp>
      <p:sp>
        <p:nvSpPr>
          <p:cNvPr id="27" name="Rectangle 26"/>
          <p:cNvSpPr/>
          <p:nvPr/>
        </p:nvSpPr>
        <p:spPr>
          <a:xfrm>
            <a:off x="6199632" y="283464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83464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29" name="TextBox 28"/>
          <p:cNvSpPr txBox="1"/>
          <p:nvPr/>
        </p:nvSpPr>
        <p:spPr>
          <a:xfrm>
            <a:off x="6784848" y="283464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Spektral · zamansal · ritmik · harmonik · vokal (47 boyut)</a:t>
            </a:r>
          </a:p>
        </p:txBody>
      </p:sp>
      <p:sp>
        <p:nvSpPr>
          <p:cNvPr id="30" name="Rectangle 29"/>
          <p:cNvSpPr/>
          <p:nvPr/>
        </p:nvSpPr>
        <p:spPr>
          <a:xfrm>
            <a:off x="6199632" y="365760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65760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32" name="TextBox 31"/>
          <p:cNvSpPr txBox="1"/>
          <p:nvPr/>
        </p:nvSpPr>
        <p:spPr>
          <a:xfrm>
            <a:off x="6784848" y="365760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Sekiz kaynak için ayrı duyarlılık analizi</a:t>
            </a:r>
          </a:p>
        </p:txBody>
      </p:sp>
      <p:sp>
        <p:nvSpPr>
          <p:cNvPr id="33" name="Rectangle 32"/>
          <p:cNvSpPr/>
          <p:nvPr/>
        </p:nvSpPr>
        <p:spPr>
          <a:xfrm>
            <a:off x="6199632" y="448056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448056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35" name="TextBox 34"/>
          <p:cNvSpPr txBox="1"/>
          <p:nvPr/>
        </p:nvSpPr>
        <p:spPr>
          <a:xfrm>
            <a:off x="6784848" y="448056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TreeSHAP ile global ve yerel öznitelik etkisi</a:t>
            </a:r>
          </a:p>
        </p:txBody>
      </p:sp>
      <p:sp>
        <p:nvSpPr>
          <p:cNvPr id="36" name="Rectangle 35"/>
          <p:cNvSpPr/>
          <p:nvPr/>
        </p:nvSpPr>
        <p:spPr>
          <a:xfrm>
            <a:off x="6199632" y="5303520"/>
            <a:ext cx="5623560" cy="713232"/>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5303520"/>
            <a:ext cx="457200" cy="713232"/>
          </a:xfrm>
          <a:prstGeom prst="rect">
            <a:avLst/>
          </a:prstGeom>
          <a:noFill/>
        </p:spPr>
        <p:txBody>
          <a:bodyPr wrap="square" anchor="ctr" lIns="25400" rIns="25400" tIns="12700" bIns="12700">
            <a:spAutoFit/>
          </a:bodyPr>
          <a:lstStyle/>
          <a:p>
            <a:pPr algn="ctr"/>
            <a:r>
              <a:rPr sz="1800" b="1" i="0">
                <a:solidFill>
                  <a:srgbClr val="1B6E3C"/>
                </a:solidFill>
                <a:latin typeface="Calibri"/>
              </a:rPr>
              <a:t>✓</a:t>
            </a:r>
          </a:p>
        </p:txBody>
      </p:sp>
      <p:sp>
        <p:nvSpPr>
          <p:cNvPr id="38" name="TextBox 37"/>
          <p:cNvSpPr txBox="1"/>
          <p:nvPr/>
        </p:nvSpPr>
        <p:spPr>
          <a:xfrm>
            <a:off x="6784848" y="5303520"/>
            <a:ext cx="4937760" cy="713232"/>
          </a:xfrm>
          <a:prstGeom prst="rect">
            <a:avLst/>
          </a:prstGeom>
          <a:noFill/>
        </p:spPr>
        <p:txBody>
          <a:bodyPr wrap="square" anchor="ctr" lIns="25400" rIns="25400" tIns="12700" bIns="12700">
            <a:spAutoFit/>
          </a:bodyPr>
          <a:lstStyle/>
          <a:p>
            <a:pPr algn="l"/>
            <a:r>
              <a:rPr sz="1100" b="0" i="0">
                <a:solidFill>
                  <a:srgbClr val="242A30"/>
                </a:solidFill>
                <a:latin typeface="Calibri"/>
              </a:rPr>
              <a:t>θ* = 0,4316 ile dengeli karar eşiği</a:t>
            </a: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1" name="TextBox 40"/>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02: Literatür Taraması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Literatür Taraması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03</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Tasarım ve Geliştirme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03 — TASARIM VE GELİŞTİRME</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Sistem Mimarisi ve Yöntem</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Ham sesten karara: yedi aşamalı uçtan uca işlem zinciri</a:t>
            </a:r>
          </a:p>
        </p:txBody>
      </p:sp>
      <p:sp>
        <p:nvSpPr>
          <p:cNvPr id="8" name="TextBox 7"/>
          <p:cNvSpPr txBox="1"/>
          <p:nvPr/>
        </p:nvSpPr>
        <p:spPr>
          <a:xfrm>
            <a:off x="548640" y="2926080"/>
            <a:ext cx="11155680" cy="3108960"/>
          </a:xfrm>
          <a:prstGeom prst="rect">
            <a:avLst/>
          </a:prstGeom>
          <a:noFill/>
        </p:spPr>
        <p:txBody>
          <a:bodyPr wrap="square" anchor="t" lIns="25400" rIns="25400">
            <a:spAutoFit/>
          </a:bodyPr>
          <a:lstStyle/>
          <a:p>
            <a:pPr algn="l">
              <a:spcBef>
                <a:spcPts val="0"/>
              </a:spcBef>
              <a:spcAft>
                <a:spcPts val="1100"/>
              </a:spcAft>
            </a:pPr>
            <a:r>
              <a:rPr sz="1400" b="0" i="0">
                <a:solidFill>
                  <a:srgbClr val="242A30"/>
                </a:solidFill>
                <a:latin typeface="Calibri"/>
              </a:rPr>
              <a:t>●  Veri katmanı: 5.195 ses örneği sekiz farklı insan ve YZ kaynağından derlendi.</a:t>
            </a:r>
          </a:p>
          <a:p>
            <a:pPr algn="l">
              <a:spcBef>
                <a:spcPts val="0"/>
              </a:spcBef>
              <a:spcAft>
                <a:spcPts val="1100"/>
              </a:spcAft>
            </a:pPr>
            <a:r>
              <a:rPr sz="1400" b="0" i="0">
                <a:solidFill>
                  <a:srgbClr val="242A30"/>
                </a:solidFill>
                <a:latin typeface="Calibri"/>
              </a:rPr>
              <a:t>●  Öznitelik katmanı: librosa ile 22.050 Hz'de 47 boyutlu vektör çıkarıldı.</a:t>
            </a:r>
          </a:p>
          <a:p>
            <a:pPr algn="l">
              <a:spcBef>
                <a:spcPts val="0"/>
              </a:spcBef>
              <a:spcAft>
                <a:spcPts val="1100"/>
              </a:spcAft>
            </a:pPr>
            <a:r>
              <a:rPr sz="1400" b="0" i="0">
                <a:solidFill>
                  <a:srgbClr val="242A30"/>
                </a:solidFill>
                <a:latin typeface="Calibri"/>
              </a:rPr>
              <a:t>●  Model katmanı: 7 ML + 4 DL modeli 5-katlı çapraz doğrulamada karşılaştırıldı.</a:t>
            </a:r>
          </a:p>
          <a:p>
            <a:pPr algn="l">
              <a:spcBef>
                <a:spcPts val="0"/>
              </a:spcBef>
              <a:spcAft>
                <a:spcPts val="1100"/>
              </a:spcAft>
            </a:pPr>
            <a:r>
              <a:rPr sz="1400" b="0" i="0">
                <a:solidFill>
                  <a:srgbClr val="242A30"/>
                </a:solidFill>
                <a:latin typeface="Calibri"/>
              </a:rPr>
              <a:t>●  Karar katmanı: LightGBM olasılığına Youden-optimal eşik (θ*=0,4316) uygulandı.</a:t>
            </a:r>
          </a:p>
          <a:p>
            <a:pPr algn="l">
              <a:spcBef>
                <a:spcPts val="0"/>
              </a:spcBef>
              <a:spcAft>
                <a:spcPts val="1100"/>
              </a:spcAft>
            </a:pPr>
            <a:r>
              <a:rPr sz="1400" b="0" i="0">
                <a:solidFill>
                  <a:srgbClr val="242A30"/>
                </a:solidFill>
                <a:latin typeface="Calibri"/>
              </a:rPr>
              <a:t>●  Açıklama katmanı: TreeSHAP her kararın akustik gerekçesini üretir.</a:t>
            </a:r>
          </a:p>
        </p:txBody>
      </p:sp>
      <p:sp>
        <p:nvSpPr>
          <p:cNvPr id="9" name="Rectangle 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1" name="TextBox 10"/>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MIMARI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AURIS Uçtan Uca İşleyiş Şeması</a:t>
            </a:r>
          </a:p>
        </p:txBody>
      </p:sp>
      <p:sp>
        <p:nvSpPr>
          <p:cNvPr id="7" name="Rectangle 6"/>
          <p:cNvSpPr/>
          <p:nvPr/>
        </p:nvSpPr>
        <p:spPr>
          <a:xfrm>
            <a:off x="320040" y="2173416"/>
            <a:ext cx="7863840" cy="1596766"/>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pipeline_diagram.png"/>
          <p:cNvPicPr>
            <a:picLocks noChangeAspect="1"/>
          </p:cNvPicPr>
          <p:nvPr/>
        </p:nvPicPr>
        <p:blipFill>
          <a:blip r:embed="rId2"/>
          <a:stretch>
            <a:fillRect/>
          </a:stretch>
        </p:blipFill>
        <p:spPr>
          <a:xfrm>
            <a:off x="365760" y="2219136"/>
            <a:ext cx="7772400" cy="1505326"/>
          </a:xfrm>
          <a:prstGeom prst="rect">
            <a:avLst/>
          </a:prstGeom>
        </p:spPr>
      </p:pic>
      <p:sp>
        <p:nvSpPr>
          <p:cNvPr id="9" name="TextBox 8"/>
          <p:cNvSpPr txBox="1"/>
          <p:nvPr/>
        </p:nvSpPr>
        <p:spPr>
          <a:xfrm>
            <a:off x="365760" y="3779327"/>
            <a:ext cx="77724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 Yedi aşamalı işlem zinciri (ham ses → karar)</a:t>
            </a:r>
          </a:p>
        </p:txBody>
      </p:sp>
      <p:sp>
        <p:nvSpPr>
          <p:cNvPr id="10" name="Rectangle 9"/>
          <p:cNvSpPr/>
          <p:nvPr/>
        </p:nvSpPr>
        <p:spPr>
          <a:xfrm>
            <a:off x="365760" y="4526280"/>
            <a:ext cx="11430000" cy="15544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526280"/>
            <a:ext cx="91440" cy="155448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4645152"/>
            <a:ext cx="11064240" cy="365760"/>
          </a:xfrm>
          <a:prstGeom prst="rect">
            <a:avLst/>
          </a:prstGeom>
          <a:noFill/>
        </p:spPr>
        <p:txBody>
          <a:bodyPr wrap="square" anchor="t" lIns="25400" rIns="25400" tIns="12700" bIns="12700">
            <a:spAutoFit/>
          </a:bodyPr>
          <a:lstStyle/>
          <a:p>
            <a:pPr algn="l"/>
            <a:r>
              <a:rPr sz="1300" b="1" i="0">
                <a:solidFill>
                  <a:srgbClr val="D99A07"/>
                </a:solidFill>
                <a:latin typeface="Calibri"/>
              </a:rPr>
              <a:t>Aşamalar</a:t>
            </a:r>
          </a:p>
        </p:txBody>
      </p:sp>
      <p:sp>
        <p:nvSpPr>
          <p:cNvPr id="13" name="TextBox 12"/>
          <p:cNvSpPr txBox="1"/>
          <p:nvPr/>
        </p:nvSpPr>
        <p:spPr>
          <a:xfrm>
            <a:off x="585216" y="5074920"/>
            <a:ext cx="11045952" cy="896112"/>
          </a:xfrm>
          <a:prstGeom prst="rect">
            <a:avLst/>
          </a:prstGeom>
          <a:noFill/>
        </p:spPr>
        <p:txBody>
          <a:bodyPr wrap="square" anchor="t" lIns="25400" rIns="25400">
            <a:spAutoFit/>
          </a:bodyPr>
          <a:lstStyle/>
          <a:p>
            <a:pPr algn="l">
              <a:spcBef>
                <a:spcPts val="0"/>
              </a:spcBef>
              <a:spcAft>
                <a:spcPts val="800"/>
              </a:spcAft>
            </a:pPr>
            <a:r>
              <a:rPr sz="1250" b="0" i="0">
                <a:solidFill>
                  <a:srgbClr val="242A30"/>
                </a:solidFill>
                <a:latin typeface="Calibri"/>
              </a:rPr>
              <a:t>1 · Ham ses (WAV/MP3)      2 · Ön işleme (22.050 Hz, mono)      3 · 47 öznitelik çıkarma      4 · StandardScaler (kat-içi)</a:t>
            </a:r>
          </a:p>
          <a:p>
            <a:pPr algn="l">
              <a:spcBef>
                <a:spcPts val="0"/>
              </a:spcBef>
              <a:spcAft>
                <a:spcPts val="800"/>
              </a:spcAft>
            </a:pPr>
            <a:r>
              <a:rPr sz="1250" b="0" i="0">
                <a:solidFill>
                  <a:srgbClr val="242A30"/>
                </a:solidFill>
                <a:latin typeface="Calibri"/>
              </a:rPr>
              <a:t>5 · 11 model / 5-katlı CV      6 · Youden eşik (θ*=0,4316)      7 · Karar (YZ / İnsan) + SHAP açıklaması</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6" name="TextBox 15"/>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VERI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Veri Kümesi Kompozisyonu</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5.195 örnek · 8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3840480" cy="384048"/>
          </a:xfrm>
          <a:prstGeom prst="rect">
            <a:avLst/>
          </a:prstGeom>
          <a:noFill/>
        </p:spPr>
        <p:txBody>
          <a:bodyPr wrap="square" anchor="ctr" lIns="25400" rIns="25400" tIns="12700" bIns="12700">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27632"/>
            <a:ext cx="23774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27632"/>
            <a:ext cx="13716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01168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201168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201168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0487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6552" y="240487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40487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9806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279806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9806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91256"/>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16552" y="3191256"/>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93992" y="3191256"/>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84448"/>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16552" y="3584448"/>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93992" y="3584448"/>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97764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16552" y="397764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3992" y="397764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7083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16552" y="437083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93992" y="437083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6402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16552" y="476402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93992" y="476402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157216"/>
            <a:ext cx="3840480" cy="393192"/>
          </a:xfrm>
          <a:prstGeom prst="rect">
            <a:avLst/>
          </a:prstGeom>
          <a:noFill/>
        </p:spPr>
        <p:txBody>
          <a:bodyPr wrap="square" anchor="ctr" lIns="25400" rIns="25400" tIns="12700" bIns="12700">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16552" y="5157216"/>
            <a:ext cx="232257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93992" y="5157216"/>
            <a:ext cx="131673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14884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1627632"/>
            <a:ext cx="91440" cy="214884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40496" y="1746504"/>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49047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3931920"/>
            <a:ext cx="3502152" cy="210312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321040" y="3931920"/>
            <a:ext cx="91440" cy="210312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40496" y="4050791"/>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Veri Sızıntısı Önlemi</a:t>
            </a:r>
          </a:p>
        </p:txBody>
      </p:sp>
      <p:sp>
        <p:nvSpPr>
          <p:cNvPr id="75" name="TextBox 74"/>
          <p:cNvSpPr txBox="1"/>
          <p:nvPr/>
        </p:nvSpPr>
        <p:spPr>
          <a:xfrm>
            <a:off x="8540496" y="4480559"/>
            <a:ext cx="3118104"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duration_sec ve sample_rate öznitelik kümesinden çıkarıldı.</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StandardScaler her katta yalnız eğitim verisine fit edildi — doğrulama verisi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78" name="TextBox 77"/>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ÖZNITELIK MÜHENDISLIĞI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47 Boyutlu Heterojen Akustik Vektör</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356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799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94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4005072"/>
            <a:ext cx="3913632" cy="411480"/>
          </a:xfrm>
          <a:prstGeom prst="rect">
            <a:avLst/>
          </a:prstGeom>
          <a:noFill/>
        </p:spPr>
        <p:txBody>
          <a:bodyPr wrap="square" anchor="t" lIns="25400" rIns="25400" tIns="12700" bIns="12700">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anchor="t" lIns="25400" rIns="25400" tIns="12700" bIns="12700">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anchor="t" lIns="25400" rIns="25400" tIns="12700" bIns="12700">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ÖZNITELIK ANALIZI</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YZ ve İnsan Müziğinin Dağılım Farkları</a:t>
            </a:r>
          </a:p>
        </p:txBody>
      </p:sp>
      <p:sp>
        <p:nvSpPr>
          <p:cNvPr id="7" name="Rectangle 6"/>
          <p:cNvSpPr/>
          <p:nvPr/>
        </p:nvSpPr>
        <p:spPr>
          <a:xfrm>
            <a:off x="320040" y="1706499"/>
            <a:ext cx="7406640" cy="4048504"/>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eature_distribution_ai_vs_human.png"/>
          <p:cNvPicPr>
            <a:picLocks noChangeAspect="1"/>
          </p:cNvPicPr>
          <p:nvPr/>
        </p:nvPicPr>
        <p:blipFill>
          <a:blip r:embed="rId2"/>
          <a:stretch>
            <a:fillRect/>
          </a:stretch>
        </p:blipFill>
        <p:spPr>
          <a:xfrm>
            <a:off x="365760" y="1752219"/>
            <a:ext cx="7315200" cy="3957064"/>
          </a:xfrm>
          <a:prstGeom prst="rect">
            <a:avLst/>
          </a:prstGeom>
        </p:spPr>
      </p:pic>
      <p:sp>
        <p:nvSpPr>
          <p:cNvPr id="9" name="TextBox 8"/>
          <p:cNvSpPr txBox="1"/>
          <p:nvPr/>
        </p:nvSpPr>
        <p:spPr>
          <a:xfrm>
            <a:off x="365760" y="5764148"/>
            <a:ext cx="73152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2: İlk sekiz özniteliğin sınıf bazlı dağılımları</a:t>
            </a:r>
          </a:p>
        </p:txBody>
      </p:sp>
      <p:sp>
        <p:nvSpPr>
          <p:cNvPr id="10" name="Rectangle 9"/>
          <p:cNvSpPr/>
          <p:nvPr/>
        </p:nvSpPr>
        <p:spPr>
          <a:xfrm>
            <a:off x="7909560" y="1627632"/>
            <a:ext cx="3913632"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627632"/>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9016" y="1746504"/>
            <a:ext cx="3547872" cy="365760"/>
          </a:xfrm>
          <a:prstGeom prst="rect">
            <a:avLst/>
          </a:prstGeom>
          <a:noFill/>
        </p:spPr>
        <p:txBody>
          <a:bodyPr wrap="square" anchor="t" lIns="25400" rIns="25400" tIns="12700" bIns="12700">
            <a:spAutoFit/>
          </a:bodyPr>
          <a:lstStyle/>
          <a:p>
            <a:pPr algn="l"/>
            <a:r>
              <a:rPr sz="1300" b="1" i="0">
                <a:solidFill>
                  <a:srgbClr val="102A4C"/>
                </a:solidFill>
                <a:latin typeface="Calibri"/>
              </a:rPr>
              <a:t>Yorum</a:t>
            </a:r>
          </a:p>
        </p:txBody>
      </p:sp>
      <p:sp>
        <p:nvSpPr>
          <p:cNvPr id="13" name="TextBox 12"/>
          <p:cNvSpPr txBox="1"/>
          <p:nvPr/>
        </p:nvSpPr>
        <p:spPr>
          <a:xfrm>
            <a:off x="8129016" y="2176272"/>
            <a:ext cx="3529584" cy="3867912"/>
          </a:xfrm>
          <a:prstGeom prst="rect">
            <a:avLst/>
          </a:prstGeom>
          <a:noFill/>
        </p:spPr>
        <p:txBody>
          <a:bodyPr wrap="square" anchor="t" lIns="25400" rIns="25400">
            <a:spAutoFit/>
          </a:bodyPr>
          <a:lstStyle/>
          <a:p>
            <a:pPr algn="l">
              <a:spcBef>
                <a:spcPts val="0"/>
              </a:spcBef>
              <a:spcAft>
                <a:spcPts val="600"/>
              </a:spcAft>
            </a:pPr>
            <a:r>
              <a:rPr sz="1150" b="0" i="0">
                <a:solidFill>
                  <a:srgbClr val="242A30"/>
                </a:solidFill>
                <a:latin typeface="Calibri"/>
              </a:rPr>
              <a:t>YZ üretimi parçalar belirli özniteliklerde insan kayıtlarından sistematik biçimde ayrışıyor.</a:t>
            </a:r>
          </a:p>
          <a:p>
            <a:pPr algn="l">
              <a:spcBef>
                <a:spcPts val="0"/>
              </a:spcBef>
              <a:spcAft>
                <a:spcPts val="600"/>
              </a:spcAft>
            </a:pPr>
            <a:r>
              <a:rPr sz="1150" b="0" i="0">
                <a:solidFill>
                  <a:srgbClr val="242A30"/>
                </a:solidFill>
                <a:latin typeface="Calibri"/>
              </a:rPr>
              <a:t/>
            </a:r>
          </a:p>
          <a:p>
            <a:pPr algn="l">
              <a:spcBef>
                <a:spcPts val="0"/>
              </a:spcBef>
              <a:spcAft>
                <a:spcPts val="600"/>
              </a:spcAft>
            </a:pPr>
            <a:r>
              <a:rPr sz="1150" b="0" i="0">
                <a:solidFill>
                  <a:srgbClr val="242A30"/>
                </a:solidFill>
                <a:latin typeface="Calibri"/>
              </a:rPr>
              <a:t>Özellikle spectral_flatness değerleri YZ müziğinde daha düzenli ve yüksek — üretim sistemleri algısal kaliteyi optimize ederken daha 'düz' bir spektrum bırakıyor.</a:t>
            </a:r>
          </a:p>
          <a:p>
            <a:pPr algn="l">
              <a:spcBef>
                <a:spcPts val="0"/>
              </a:spcBef>
              <a:spcAft>
                <a:spcPts val="600"/>
              </a:spcAft>
            </a:pPr>
            <a:r>
              <a:rPr sz="1150" b="0" i="0">
                <a:solidFill>
                  <a:srgbClr val="242A30"/>
                </a:solidFill>
                <a:latin typeface="Calibri"/>
              </a:rPr>
              <a:t/>
            </a:r>
          </a:p>
          <a:p>
            <a:pPr algn="l">
              <a:spcBef>
                <a:spcPts val="0"/>
              </a:spcBef>
              <a:spcAft>
                <a:spcPts val="600"/>
              </a:spcAft>
            </a:pPr>
            <a:r>
              <a:rPr sz="1150" b="0" i="0">
                <a:solidFill>
                  <a:srgbClr val="242A30"/>
                </a:solidFill>
                <a:latin typeface="Calibri"/>
              </a:rPr>
              <a:t>Bu görsel ayrım, SHAP analiziyle doğrulanan en güçlü ayırt edici özelliğin temelidir.</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6" name="TextBox 15"/>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MODELLEME</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On Bir Sınıflandırma Modeli</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Ortak 5-katlı çapraz doğrulama protokolü</a:t>
            </a:r>
          </a:p>
        </p:txBody>
      </p:sp>
      <p:sp>
        <p:nvSpPr>
          <p:cNvPr id="8" name="TextBox 7"/>
          <p:cNvSpPr txBox="1"/>
          <p:nvPr/>
        </p:nvSpPr>
        <p:spPr>
          <a:xfrm>
            <a:off x="365760" y="1508760"/>
            <a:ext cx="5669280" cy="347472"/>
          </a:xfrm>
          <a:prstGeom prst="rect">
            <a:avLst/>
          </a:prstGeom>
          <a:noFill/>
        </p:spPr>
        <p:txBody>
          <a:bodyPr wrap="square" anchor="t" lIns="25400" rIns="25400" tIns="12700" bIns="12700">
            <a:spAutoFit/>
          </a:bodyPr>
          <a:lstStyle/>
          <a:p>
            <a:pPr algn="l"/>
            <a:r>
              <a:rPr sz="1300" b="1" i="0">
                <a:solidFill>
                  <a:srgbClr val="102A4C"/>
                </a:solidFill>
                <a:latin typeface="Calibri"/>
              </a:rPr>
              <a:t>Makine Öğrenmesi (7) — scikit-learn</a:t>
            </a:r>
          </a:p>
        </p:txBody>
      </p:sp>
      <p:sp>
        <p:nvSpPr>
          <p:cNvPr id="9" name="Rectangle 8"/>
          <p:cNvSpPr/>
          <p:nvPr/>
        </p:nvSpPr>
        <p:spPr>
          <a:xfrm>
            <a:off x="365760" y="1938528"/>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1938528"/>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LightGBM</a:t>
            </a:r>
          </a:p>
        </p:txBody>
      </p:sp>
      <p:sp>
        <p:nvSpPr>
          <p:cNvPr id="11" name="TextBox 10"/>
          <p:cNvSpPr txBox="1"/>
          <p:nvPr/>
        </p:nvSpPr>
        <p:spPr>
          <a:xfrm>
            <a:off x="2606040" y="1938528"/>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n_estimators=300, num_leaves=31, lr=0,05</a:t>
            </a:r>
          </a:p>
        </p:txBody>
      </p:sp>
      <p:sp>
        <p:nvSpPr>
          <p:cNvPr id="12" name="Rectangle 11"/>
          <p:cNvSpPr/>
          <p:nvPr/>
        </p:nvSpPr>
        <p:spPr>
          <a:xfrm>
            <a:off x="365760" y="2505456"/>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505456"/>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XGBoost</a:t>
            </a:r>
          </a:p>
        </p:txBody>
      </p:sp>
      <p:sp>
        <p:nvSpPr>
          <p:cNvPr id="14" name="TextBox 13"/>
          <p:cNvSpPr txBox="1"/>
          <p:nvPr/>
        </p:nvSpPr>
        <p:spPr>
          <a:xfrm>
            <a:off x="2606040" y="2505456"/>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n_estimators=240, max_depth=5, lr=0,06</a:t>
            </a:r>
          </a:p>
        </p:txBody>
      </p:sp>
      <p:sp>
        <p:nvSpPr>
          <p:cNvPr id="15" name="Rectangle 14"/>
          <p:cNvSpPr/>
          <p:nvPr/>
        </p:nvSpPr>
        <p:spPr>
          <a:xfrm>
            <a:off x="365760" y="3072384"/>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3072384"/>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Gradyan Artırma</a:t>
            </a:r>
          </a:p>
        </p:txBody>
      </p:sp>
      <p:sp>
        <p:nvSpPr>
          <p:cNvPr id="17" name="TextBox 16"/>
          <p:cNvSpPr txBox="1"/>
          <p:nvPr/>
        </p:nvSpPr>
        <p:spPr>
          <a:xfrm>
            <a:off x="2606040" y="3072384"/>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n_estimators=180, max_depth=4</a:t>
            </a:r>
          </a:p>
        </p:txBody>
      </p:sp>
      <p:sp>
        <p:nvSpPr>
          <p:cNvPr id="18" name="Rectangle 17"/>
          <p:cNvSpPr/>
          <p:nvPr/>
        </p:nvSpPr>
        <p:spPr>
          <a:xfrm>
            <a:off x="365760" y="3639312"/>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3639312"/>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Rastgele Orman</a:t>
            </a:r>
          </a:p>
        </p:txBody>
      </p:sp>
      <p:sp>
        <p:nvSpPr>
          <p:cNvPr id="20" name="TextBox 19"/>
          <p:cNvSpPr txBox="1"/>
          <p:nvPr/>
        </p:nvSpPr>
        <p:spPr>
          <a:xfrm>
            <a:off x="2606040" y="3639312"/>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n_estimators=500, max_features=log2</a:t>
            </a:r>
          </a:p>
        </p:txBody>
      </p:sp>
      <p:sp>
        <p:nvSpPr>
          <p:cNvPr id="21" name="Rectangle 20"/>
          <p:cNvSpPr/>
          <p:nvPr/>
        </p:nvSpPr>
        <p:spPr>
          <a:xfrm>
            <a:off x="365760" y="4206240"/>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4206240"/>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SVM-RBF</a:t>
            </a:r>
          </a:p>
        </p:txBody>
      </p:sp>
      <p:sp>
        <p:nvSpPr>
          <p:cNvPr id="23" name="TextBox 22"/>
          <p:cNvSpPr txBox="1"/>
          <p:nvPr/>
        </p:nvSpPr>
        <p:spPr>
          <a:xfrm>
            <a:off x="2606040" y="4206240"/>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C=10, gamma=0,05, balanced</a:t>
            </a:r>
          </a:p>
        </p:txBody>
      </p:sp>
      <p:sp>
        <p:nvSpPr>
          <p:cNvPr id="24" name="Rectangle 23"/>
          <p:cNvSpPr/>
          <p:nvPr/>
        </p:nvSpPr>
        <p:spPr>
          <a:xfrm>
            <a:off x="365760" y="4773168"/>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4773168"/>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ÇKA Sinir Ağı</a:t>
            </a:r>
          </a:p>
        </p:txBody>
      </p:sp>
      <p:sp>
        <p:nvSpPr>
          <p:cNvPr id="26" name="TextBox 25"/>
          <p:cNvSpPr txBox="1"/>
          <p:nvPr/>
        </p:nvSpPr>
        <p:spPr>
          <a:xfrm>
            <a:off x="2606040" y="4773168"/>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192-96-32, alpha=0,001</a:t>
            </a:r>
          </a:p>
        </p:txBody>
      </p:sp>
      <p:sp>
        <p:nvSpPr>
          <p:cNvPr id="27" name="Rectangle 26"/>
          <p:cNvSpPr/>
          <p:nvPr/>
        </p:nvSpPr>
        <p:spPr>
          <a:xfrm>
            <a:off x="365760" y="5340096"/>
            <a:ext cx="5623560" cy="493776"/>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5340096"/>
            <a:ext cx="2103120" cy="493776"/>
          </a:xfrm>
          <a:prstGeom prst="rect">
            <a:avLst/>
          </a:prstGeom>
          <a:noFill/>
        </p:spPr>
        <p:txBody>
          <a:bodyPr wrap="square" anchor="ctr" lIns="25400" rIns="25400" tIns="12700" bIns="12700">
            <a:spAutoFit/>
          </a:bodyPr>
          <a:lstStyle/>
          <a:p>
            <a:pPr algn="l"/>
            <a:r>
              <a:rPr sz="1150" b="1" i="0">
                <a:solidFill>
                  <a:srgbClr val="0A808C"/>
                </a:solidFill>
                <a:latin typeface="Calibri"/>
              </a:rPr>
              <a:t>Lojistik Regresyon</a:t>
            </a:r>
          </a:p>
        </p:txBody>
      </p:sp>
      <p:sp>
        <p:nvSpPr>
          <p:cNvPr id="29" name="TextBox 28"/>
          <p:cNvSpPr txBox="1"/>
          <p:nvPr/>
        </p:nvSpPr>
        <p:spPr>
          <a:xfrm>
            <a:off x="2606040" y="5340096"/>
            <a:ext cx="3291840" cy="493776"/>
          </a:xfrm>
          <a:prstGeom prst="rect">
            <a:avLst/>
          </a:prstGeom>
          <a:noFill/>
        </p:spPr>
        <p:txBody>
          <a:bodyPr wrap="square" anchor="ctr" lIns="25400" rIns="25400" tIns="12700" bIns="12700">
            <a:spAutoFit/>
          </a:bodyPr>
          <a:lstStyle/>
          <a:p>
            <a:pPr algn="l"/>
            <a:r>
              <a:rPr sz="950" b="0" i="0">
                <a:solidFill>
                  <a:srgbClr val="242A30"/>
                </a:solidFill>
                <a:latin typeface="Calibri"/>
              </a:rPr>
              <a:t>C=2,0, max_iter=2500</a:t>
            </a:r>
          </a:p>
        </p:txBody>
      </p:sp>
      <p:sp>
        <p:nvSpPr>
          <p:cNvPr id="30" name="TextBox 29"/>
          <p:cNvSpPr txBox="1"/>
          <p:nvPr/>
        </p:nvSpPr>
        <p:spPr>
          <a:xfrm>
            <a:off x="6199632" y="1508760"/>
            <a:ext cx="5623560" cy="347472"/>
          </a:xfrm>
          <a:prstGeom prst="rect">
            <a:avLst/>
          </a:prstGeom>
          <a:noFill/>
        </p:spPr>
        <p:txBody>
          <a:bodyPr wrap="square" anchor="t" lIns="25400" rIns="25400" tIns="12700" bIns="12700">
            <a:spAutoFit/>
          </a:bodyPr>
          <a:lstStyle/>
          <a:p>
            <a:pPr algn="l"/>
            <a:r>
              <a:rPr sz="1300" b="1" i="0">
                <a:solidFill>
                  <a:srgbClr val="102A4C"/>
                </a:solidFill>
                <a:latin typeface="Calibri"/>
              </a:rPr>
              <a:t>Derin Öğrenme (4) — PyTorch / Adam</a:t>
            </a:r>
          </a:p>
        </p:txBody>
      </p:sp>
      <p:sp>
        <p:nvSpPr>
          <p:cNvPr id="31" name="Rectangle 30"/>
          <p:cNvSpPr/>
          <p:nvPr/>
        </p:nvSpPr>
        <p:spPr>
          <a:xfrm>
            <a:off x="6199632" y="1938528"/>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1938528"/>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Derin ÇKA</a:t>
            </a:r>
          </a:p>
        </p:txBody>
      </p:sp>
      <p:sp>
        <p:nvSpPr>
          <p:cNvPr id="33" name="TextBox 32"/>
          <p:cNvSpPr txBox="1"/>
          <p:nvPr/>
        </p:nvSpPr>
        <p:spPr>
          <a:xfrm>
            <a:off x="8458200" y="1938528"/>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512-256-128-64, BatchNorm, dropout</a:t>
            </a:r>
          </a:p>
        </p:txBody>
      </p:sp>
      <p:sp>
        <p:nvSpPr>
          <p:cNvPr id="34" name="Rectangle 33"/>
          <p:cNvSpPr/>
          <p:nvPr/>
        </p:nvSpPr>
        <p:spPr>
          <a:xfrm>
            <a:off x="6199632" y="2505456"/>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0" y="2505456"/>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Artık ÇKA</a:t>
            </a:r>
          </a:p>
        </p:txBody>
      </p:sp>
      <p:sp>
        <p:nvSpPr>
          <p:cNvPr id="36" name="TextBox 35"/>
          <p:cNvSpPr txBox="1"/>
          <p:nvPr/>
        </p:nvSpPr>
        <p:spPr>
          <a:xfrm>
            <a:off x="8458200" y="2505456"/>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3 artık blok, 256-256 boyut</a:t>
            </a:r>
          </a:p>
        </p:txBody>
      </p:sp>
      <p:sp>
        <p:nvSpPr>
          <p:cNvPr id="37" name="Rectangle 36"/>
          <p:cNvSpPr/>
          <p:nvPr/>
        </p:nvSpPr>
        <p:spPr>
          <a:xfrm>
            <a:off x="6199632" y="3072384"/>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0" y="3072384"/>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Dikkat ÇKA</a:t>
            </a:r>
          </a:p>
        </p:txBody>
      </p:sp>
      <p:sp>
        <p:nvSpPr>
          <p:cNvPr id="39" name="TextBox 38"/>
          <p:cNvSpPr txBox="1"/>
          <p:nvPr/>
        </p:nvSpPr>
        <p:spPr>
          <a:xfrm>
            <a:off x="8458200" y="3072384"/>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Öz-dikkat mekanizması, 4 baş</a:t>
            </a:r>
          </a:p>
        </p:txBody>
      </p:sp>
      <p:sp>
        <p:nvSpPr>
          <p:cNvPr id="40" name="Rectangle 39"/>
          <p:cNvSpPr/>
          <p:nvPr/>
        </p:nvSpPr>
        <p:spPr>
          <a:xfrm>
            <a:off x="6199632" y="3639312"/>
            <a:ext cx="5623560" cy="493776"/>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0" y="3639312"/>
            <a:ext cx="2103120" cy="493776"/>
          </a:xfrm>
          <a:prstGeom prst="rect">
            <a:avLst/>
          </a:prstGeom>
          <a:noFill/>
        </p:spPr>
        <p:txBody>
          <a:bodyPr wrap="square" anchor="ctr" lIns="25400" rIns="25400" tIns="12700" bIns="12700">
            <a:spAutoFit/>
          </a:bodyPr>
          <a:lstStyle/>
          <a:p>
            <a:pPr algn="l"/>
            <a:r>
              <a:rPr sz="1150" b="1" i="0">
                <a:solidFill>
                  <a:srgbClr val="8A6600"/>
                </a:solidFill>
                <a:latin typeface="Calibri"/>
              </a:rPr>
              <a:t>1B-ESA</a:t>
            </a:r>
          </a:p>
        </p:txBody>
      </p:sp>
      <p:sp>
        <p:nvSpPr>
          <p:cNvPr id="42" name="TextBox 41"/>
          <p:cNvSpPr txBox="1"/>
          <p:nvPr/>
        </p:nvSpPr>
        <p:spPr>
          <a:xfrm>
            <a:off x="8458200" y="3639312"/>
            <a:ext cx="3246120" cy="493776"/>
          </a:xfrm>
          <a:prstGeom prst="rect">
            <a:avLst/>
          </a:prstGeom>
          <a:noFill/>
        </p:spPr>
        <p:txBody>
          <a:bodyPr wrap="square" anchor="ctr" lIns="25400" rIns="25400" tIns="12700" bIns="12700">
            <a:spAutoFit/>
          </a:bodyPr>
          <a:lstStyle/>
          <a:p>
            <a:pPr algn="l"/>
            <a:r>
              <a:rPr sz="950" b="0" i="0">
                <a:solidFill>
                  <a:srgbClr val="242A30"/>
                </a:solidFill>
                <a:latin typeface="Calibri"/>
              </a:rPr>
              <a:t>Conv1D + max-pooling katmanları</a:t>
            </a:r>
          </a:p>
        </p:txBody>
      </p:sp>
      <p:sp>
        <p:nvSpPr>
          <p:cNvPr id="43" name="Rectangle 42"/>
          <p:cNvSpPr/>
          <p:nvPr/>
        </p:nvSpPr>
        <p:spPr>
          <a:xfrm>
            <a:off x="6199632" y="4343400"/>
            <a:ext cx="5623560" cy="173736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4343400"/>
            <a:ext cx="91440" cy="17373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44622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Ortak Eğitim Protokolü</a:t>
            </a:r>
          </a:p>
        </p:txBody>
      </p:sp>
      <p:sp>
        <p:nvSpPr>
          <p:cNvPr id="46" name="TextBox 45"/>
          <p:cNvSpPr txBox="1"/>
          <p:nvPr/>
        </p:nvSpPr>
        <p:spPr>
          <a:xfrm>
            <a:off x="6419088" y="4892040"/>
            <a:ext cx="5239512" cy="1078992"/>
          </a:xfrm>
          <a:prstGeom prst="rect">
            <a:avLst/>
          </a:prstGeom>
          <a:noFill/>
        </p:spPr>
        <p:txBody>
          <a:bodyPr wrap="square" anchor="t" lIns="25400" rIns="25400">
            <a:spAutoFit/>
          </a:bodyPr>
          <a:lstStyle/>
          <a:p>
            <a:pPr algn="l">
              <a:spcBef>
                <a:spcPts val="0"/>
              </a:spcBef>
              <a:spcAft>
                <a:spcPts val="500"/>
              </a:spcAft>
            </a:pPr>
            <a:r>
              <a:rPr sz="1100" b="0" i="0">
                <a:solidFill>
                  <a:srgbClr val="242A30"/>
                </a:solidFill>
                <a:latin typeface="Calibri"/>
              </a:rPr>
              <a:t>Stratifiye 5-katlı çapraz doğrulama (sınıf oranı korunur)</a:t>
            </a:r>
          </a:p>
          <a:p>
            <a:pPr algn="l">
              <a:spcBef>
                <a:spcPts val="0"/>
              </a:spcBef>
              <a:spcAft>
                <a:spcPts val="500"/>
              </a:spcAft>
            </a:pPr>
            <a:r>
              <a:rPr sz="1100" b="0" i="0">
                <a:solidFill>
                  <a:srgbClr val="242A30"/>
                </a:solidFill>
                <a:latin typeface="Calibri"/>
              </a:rPr>
              <a:t>StandardScaler her katta yalnız eğitim verisine fit</a:t>
            </a:r>
          </a:p>
          <a:p>
            <a:pPr algn="l">
              <a:spcBef>
                <a:spcPts val="0"/>
              </a:spcBef>
              <a:spcAft>
                <a:spcPts val="500"/>
              </a:spcAft>
            </a:pPr>
            <a:r>
              <a:rPr sz="1100" b="0" i="0">
                <a:solidFill>
                  <a:srgbClr val="242A30"/>
                </a:solidFill>
                <a:latin typeface="Calibri"/>
              </a:rPr>
              <a:t>Veri sızıntısı önlemi: duration_sec &amp; sample_rate dışlandı</a:t>
            </a:r>
          </a:p>
          <a:p>
            <a:pPr algn="l">
              <a:spcBef>
                <a:spcPts val="0"/>
              </a:spcBef>
              <a:spcAft>
                <a:spcPts val="500"/>
              </a:spcAft>
            </a:pPr>
            <a:r>
              <a:rPr sz="1100" b="0" i="0">
                <a:solidFill>
                  <a:srgbClr val="242A30"/>
                </a:solidFill>
                <a:latin typeface="Calibri"/>
              </a:rPr>
              <a:t>Dengesizlik: class_weight + is_unbalance</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03: Tasarım ve Geliştirme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Tasarım ve Geliştirme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04</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Sonuç ve Demo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2514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1460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82880" cy="2514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972800" cy="365760"/>
          </a:xfrm>
          <a:prstGeom prst="rect">
            <a:avLst/>
          </a:prstGeom>
          <a:noFill/>
        </p:spPr>
        <p:txBody>
          <a:bodyPr wrap="square" anchor="t" lIns="25400" rIns="25400" tIns="12700" bIns="12700">
            <a:spAutoFit/>
          </a:bodyPr>
          <a:lstStyle/>
          <a:p>
            <a:pPr algn="l"/>
            <a:r>
              <a:rPr sz="1300" b="1" i="0">
                <a:solidFill>
                  <a:srgbClr val="D99A07"/>
                </a:solidFill>
                <a:latin typeface="Calibri"/>
              </a:rPr>
              <a:t>04 — SONUÇ VE DEMO</a:t>
            </a:r>
          </a:p>
        </p:txBody>
      </p:sp>
      <p:sp>
        <p:nvSpPr>
          <p:cNvPr id="6" name="TextBox 5"/>
          <p:cNvSpPr txBox="1"/>
          <p:nvPr/>
        </p:nvSpPr>
        <p:spPr>
          <a:xfrm>
            <a:off x="548640" y="914400"/>
            <a:ext cx="10972800" cy="868680"/>
          </a:xfrm>
          <a:prstGeom prst="rect">
            <a:avLst/>
          </a:prstGeom>
          <a:noFill/>
        </p:spPr>
        <p:txBody>
          <a:bodyPr wrap="square" anchor="t" lIns="25400" rIns="25400" tIns="12700" bIns="12700">
            <a:spAutoFit/>
          </a:bodyPr>
          <a:lstStyle/>
          <a:p>
            <a:pPr algn="l"/>
            <a:r>
              <a:rPr sz="3400" b="1" i="0">
                <a:solidFill>
                  <a:srgbClr val="FFFFFF"/>
                </a:solidFill>
                <a:latin typeface="Calibri"/>
              </a:rPr>
              <a:t>Bulgular ve Çalışan Sistem</a:t>
            </a:r>
          </a:p>
        </p:txBody>
      </p:sp>
      <p:sp>
        <p:nvSpPr>
          <p:cNvPr id="7" name="TextBox 6"/>
          <p:cNvSpPr txBox="1"/>
          <p:nvPr/>
        </p:nvSpPr>
        <p:spPr>
          <a:xfrm>
            <a:off x="548640" y="1755648"/>
            <a:ext cx="10972800" cy="502920"/>
          </a:xfrm>
          <a:prstGeom prst="rect">
            <a:avLst/>
          </a:prstGeom>
          <a:noFill/>
        </p:spPr>
        <p:txBody>
          <a:bodyPr wrap="square" anchor="t" lIns="25400" rIns="25400" tIns="12700" bIns="12700">
            <a:spAutoFit/>
          </a:bodyPr>
          <a:lstStyle/>
          <a:p>
            <a:pPr algn="l"/>
            <a:r>
              <a:rPr sz="1600" b="0" i="0">
                <a:solidFill>
                  <a:srgbClr val="ADC4D6"/>
                </a:solidFill>
                <a:latin typeface="Calibri"/>
              </a:rPr>
              <a:t>LightGBM lider model · gerçek çapraz doğrulama sonuçları</a:t>
            </a:r>
          </a:p>
        </p:txBody>
      </p:sp>
      <p:sp>
        <p:nvSpPr>
          <p:cNvPr id="8" name="Rectangle 7"/>
          <p:cNvSpPr/>
          <p:nvPr/>
        </p:nvSpPr>
        <p:spPr>
          <a:xfrm>
            <a:off x="54864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3072384"/>
            <a:ext cx="2697480" cy="685800"/>
          </a:xfrm>
          <a:prstGeom prst="rect">
            <a:avLst/>
          </a:prstGeom>
          <a:noFill/>
        </p:spPr>
        <p:txBody>
          <a:bodyPr wrap="square" anchor="ctr" lIns="25400" rIns="25400" tIns="12700" bIns="12700">
            <a:spAutoFit/>
          </a:bodyPr>
          <a:lstStyle/>
          <a:p>
            <a:pPr algn="ctr"/>
            <a:r>
              <a:rPr sz="2800" b="1" i="0">
                <a:solidFill>
                  <a:srgbClr val="D99A07"/>
                </a:solidFill>
                <a:latin typeface="Calibri"/>
              </a:rPr>
              <a:t>0,9548</a:t>
            </a:r>
          </a:p>
        </p:txBody>
      </p:sp>
      <p:sp>
        <p:nvSpPr>
          <p:cNvPr id="10" name="TextBox 9"/>
          <p:cNvSpPr txBox="1"/>
          <p:nvPr/>
        </p:nvSpPr>
        <p:spPr>
          <a:xfrm>
            <a:off x="548640" y="3744468"/>
            <a:ext cx="269748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ROC-AUC</a:t>
            </a:r>
          </a:p>
        </p:txBody>
      </p:sp>
      <p:sp>
        <p:nvSpPr>
          <p:cNvPr id="11" name="Rectangle 10"/>
          <p:cNvSpPr/>
          <p:nvPr/>
        </p:nvSpPr>
        <p:spPr>
          <a:xfrm>
            <a:off x="342900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3072384"/>
            <a:ext cx="2697480" cy="685800"/>
          </a:xfrm>
          <a:prstGeom prst="rect">
            <a:avLst/>
          </a:prstGeom>
          <a:noFill/>
        </p:spPr>
        <p:txBody>
          <a:bodyPr wrap="square" anchor="ctr" lIns="25400" rIns="25400" tIns="12700" bIns="12700">
            <a:spAutoFit/>
          </a:bodyPr>
          <a:lstStyle/>
          <a:p>
            <a:pPr algn="ctr"/>
            <a:r>
              <a:rPr sz="2800" b="1" i="0">
                <a:solidFill>
                  <a:srgbClr val="D99A07"/>
                </a:solidFill>
                <a:latin typeface="Calibri"/>
              </a:rPr>
              <a:t>0,8839</a:t>
            </a:r>
          </a:p>
        </p:txBody>
      </p:sp>
      <p:sp>
        <p:nvSpPr>
          <p:cNvPr id="13" name="TextBox 12"/>
          <p:cNvSpPr txBox="1"/>
          <p:nvPr/>
        </p:nvSpPr>
        <p:spPr>
          <a:xfrm>
            <a:off x="3429000" y="3744468"/>
            <a:ext cx="269748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Doğruluk</a:t>
            </a:r>
          </a:p>
        </p:txBody>
      </p:sp>
      <p:sp>
        <p:nvSpPr>
          <p:cNvPr id="14" name="Rectangle 13"/>
          <p:cNvSpPr/>
          <p:nvPr/>
        </p:nvSpPr>
        <p:spPr>
          <a:xfrm>
            <a:off x="6309360" y="2880360"/>
            <a:ext cx="269748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3072384"/>
            <a:ext cx="2697480" cy="685800"/>
          </a:xfrm>
          <a:prstGeom prst="rect">
            <a:avLst/>
          </a:prstGeom>
          <a:noFill/>
        </p:spPr>
        <p:txBody>
          <a:bodyPr wrap="square" anchor="ctr" lIns="25400" rIns="25400" tIns="12700" bIns="12700">
            <a:spAutoFit/>
          </a:bodyPr>
          <a:lstStyle/>
          <a:p>
            <a:pPr algn="ctr"/>
            <a:r>
              <a:rPr sz="2800" b="1" i="0">
                <a:solidFill>
                  <a:srgbClr val="D99A07"/>
                </a:solidFill>
                <a:latin typeface="Calibri"/>
              </a:rPr>
              <a:t>0,8575</a:t>
            </a:r>
          </a:p>
        </p:txBody>
      </p:sp>
      <p:sp>
        <p:nvSpPr>
          <p:cNvPr id="16" name="TextBox 15"/>
          <p:cNvSpPr txBox="1"/>
          <p:nvPr/>
        </p:nvSpPr>
        <p:spPr>
          <a:xfrm>
            <a:off x="6309360" y="3744468"/>
            <a:ext cx="269748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F1-Skoru</a:t>
            </a:r>
          </a:p>
        </p:txBody>
      </p:sp>
      <p:sp>
        <p:nvSpPr>
          <p:cNvPr id="17" name="Rectangle 16"/>
          <p:cNvSpPr/>
          <p:nvPr/>
        </p:nvSpPr>
        <p:spPr>
          <a:xfrm>
            <a:off x="9189720" y="2880360"/>
            <a:ext cx="260604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3072384"/>
            <a:ext cx="2606040" cy="685800"/>
          </a:xfrm>
          <a:prstGeom prst="rect">
            <a:avLst/>
          </a:prstGeom>
          <a:noFill/>
        </p:spPr>
        <p:txBody>
          <a:bodyPr wrap="square" anchor="ctr" lIns="25400" rIns="25400" tIns="12700" bIns="12700">
            <a:spAutoFit/>
          </a:bodyPr>
          <a:lstStyle/>
          <a:p>
            <a:pPr algn="ctr"/>
            <a:r>
              <a:rPr sz="2400" b="1" i="0">
                <a:solidFill>
                  <a:srgbClr val="D99A07"/>
                </a:solidFill>
                <a:latin typeface="Calibri"/>
              </a:rPr>
              <a:t>0,4316</a:t>
            </a:r>
          </a:p>
        </p:txBody>
      </p:sp>
      <p:sp>
        <p:nvSpPr>
          <p:cNvPr id="19" name="TextBox 18"/>
          <p:cNvSpPr txBox="1"/>
          <p:nvPr/>
        </p:nvSpPr>
        <p:spPr>
          <a:xfrm>
            <a:off x="9189720" y="3744468"/>
            <a:ext cx="2606040"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Youden θ*</a:t>
            </a:r>
          </a:p>
        </p:txBody>
      </p:sp>
      <p:sp>
        <p:nvSpPr>
          <p:cNvPr id="20" name="TextBox 19"/>
          <p:cNvSpPr txBox="1"/>
          <p:nvPr/>
        </p:nvSpPr>
        <p:spPr>
          <a:xfrm>
            <a:off x="548640" y="4617720"/>
            <a:ext cx="11247120" cy="1737360"/>
          </a:xfrm>
          <a:prstGeom prst="rect">
            <a:avLst/>
          </a:prstGeom>
          <a:noFill/>
        </p:spPr>
        <p:txBody>
          <a:bodyPr wrap="square" anchor="t" lIns="25400" rIns="25400">
            <a:spAutoFit/>
          </a:bodyPr>
          <a:lstStyle/>
          <a:p>
            <a:pPr algn="l">
              <a:spcBef>
                <a:spcPts val="0"/>
              </a:spcBef>
              <a:spcAft>
                <a:spcPts val="900"/>
              </a:spcAft>
            </a:pPr>
            <a:r>
              <a:rPr sz="1300" b="0" i="0">
                <a:solidFill>
                  <a:srgbClr val="242A30"/>
                </a:solidFill>
                <a:latin typeface="Calibri"/>
              </a:rPr>
              <a:t>✓  LightGBM, 11 model içinde en yüksek ROC-AUC ve en düşük varyansı (±0,0023) elde etti.</a:t>
            </a:r>
          </a:p>
          <a:p>
            <a:pPr algn="l">
              <a:spcBef>
                <a:spcPts val="0"/>
              </a:spcBef>
              <a:spcAft>
                <a:spcPts val="900"/>
              </a:spcAft>
            </a:pPr>
            <a:r>
              <a:rPr sz="1300" b="0" i="0">
                <a:solidFill>
                  <a:srgbClr val="242A30"/>
                </a:solidFill>
                <a:latin typeface="Calibri"/>
              </a:rPr>
              <a:t>✓  spectral_flatness_std, YZ-insan ayrımındaki en belirleyici öznitelik oldu.</a:t>
            </a:r>
          </a:p>
          <a:p>
            <a:pPr algn="l">
              <a:spcBef>
                <a:spcPts val="0"/>
              </a:spcBef>
              <a:spcAft>
                <a:spcPts val="900"/>
              </a:spcAft>
            </a:pPr>
            <a:r>
              <a:rPr sz="1300" b="0" i="0">
                <a:solidFill>
                  <a:srgbClr val="242A30"/>
                </a:solidFill>
                <a:latin typeface="Calibri"/>
              </a:rPr>
              <a:t>✓  Youden J eşik optimizasyonu, dengesiz sınıf altında dengeli karar sağladı.</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SONUÇLAR</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Tüm Modellerin Performans Karşılaştırması</a:t>
            </a:r>
          </a:p>
        </p:txBody>
      </p:sp>
      <p:sp>
        <p:nvSpPr>
          <p:cNvPr id="7" name="Rectangle 6"/>
          <p:cNvSpPr/>
          <p:nvPr/>
        </p:nvSpPr>
        <p:spPr>
          <a:xfrm>
            <a:off x="320040" y="1716826"/>
            <a:ext cx="7406640" cy="4027851"/>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model_comparison.png"/>
          <p:cNvPicPr>
            <a:picLocks noChangeAspect="1"/>
          </p:cNvPicPr>
          <p:nvPr/>
        </p:nvPicPr>
        <p:blipFill>
          <a:blip r:embed="rId2"/>
          <a:stretch>
            <a:fillRect/>
          </a:stretch>
        </p:blipFill>
        <p:spPr>
          <a:xfrm>
            <a:off x="365760" y="1762546"/>
            <a:ext cx="7315200" cy="3936411"/>
          </a:xfrm>
          <a:prstGeom prst="rect">
            <a:avLst/>
          </a:prstGeom>
        </p:spPr>
      </p:pic>
      <p:sp>
        <p:nvSpPr>
          <p:cNvPr id="9" name="TextBox 8"/>
          <p:cNvSpPr txBox="1"/>
          <p:nvPr/>
        </p:nvSpPr>
        <p:spPr>
          <a:xfrm>
            <a:off x="365760" y="5753821"/>
            <a:ext cx="73152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3: Doğruluk, F1 ve ROC-AUC karşılaştırması</a:t>
            </a:r>
          </a:p>
        </p:txBody>
      </p:sp>
      <p:sp>
        <p:nvSpPr>
          <p:cNvPr id="10" name="Rectangle 9"/>
          <p:cNvSpPr/>
          <p:nvPr/>
        </p:nvSpPr>
        <p:spPr>
          <a:xfrm>
            <a:off x="7909560" y="1627632"/>
            <a:ext cx="3913632"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909560" y="1627632"/>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9016" y="1746504"/>
            <a:ext cx="3547872" cy="365760"/>
          </a:xfrm>
          <a:prstGeom prst="rect">
            <a:avLst/>
          </a:prstGeom>
          <a:noFill/>
        </p:spPr>
        <p:txBody>
          <a:bodyPr wrap="square" anchor="t" lIns="25400" rIns="25400" tIns="12700" bIns="12700">
            <a:spAutoFit/>
          </a:bodyPr>
          <a:lstStyle/>
          <a:p>
            <a:pPr algn="l"/>
            <a:r>
              <a:rPr sz="1300" b="1" i="0">
                <a:solidFill>
                  <a:srgbClr val="102A4C"/>
                </a:solidFill>
                <a:latin typeface="Calibri"/>
              </a:rPr>
              <a:t>Öne çıkanlar</a:t>
            </a:r>
          </a:p>
        </p:txBody>
      </p:sp>
      <p:sp>
        <p:nvSpPr>
          <p:cNvPr id="13" name="TextBox 12"/>
          <p:cNvSpPr txBox="1"/>
          <p:nvPr/>
        </p:nvSpPr>
        <p:spPr>
          <a:xfrm>
            <a:off x="8129016" y="2176272"/>
            <a:ext cx="3529584" cy="3867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LightGBM (0,9548) ve Derin ÇKA (0,9542) başa baş.</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7 ML modeli ort. %92,75 ROC-AUC; 4 DL modeli ort. %92,32.</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1B-ESA hariç tutulduğunda DL ort. %94,62'ye yükseliyor.</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Sonuç: 47 boyutlu vektör ayırt edici bilginin büyük bölümünü kodluyor — öznitelik mühendisliği model kapasitesinin önüne geçiyor.</a:t>
            </a:r>
          </a:p>
        </p:txBody>
      </p:sp>
      <p:sp>
        <p:nvSpPr>
          <p:cNvPr id="14" name="Rectangle 1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6" name="TextBox 15"/>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DEMO</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Sistem Çalışma Akışı</a:t>
            </a:r>
          </a:p>
        </p:txBody>
      </p:sp>
      <p:sp>
        <p:nvSpPr>
          <p:cNvPr id="7" name="Rectangle 6"/>
          <p:cNvSpPr/>
          <p:nvPr/>
        </p:nvSpPr>
        <p:spPr>
          <a:xfrm>
            <a:off x="365760" y="1627632"/>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1</a:t>
            </a:r>
          </a:p>
        </p:txBody>
      </p:sp>
      <p:sp>
        <p:nvSpPr>
          <p:cNvPr id="10" name="TextBox 9"/>
          <p:cNvSpPr txBox="1"/>
          <p:nvPr/>
        </p:nvSpPr>
        <p:spPr>
          <a:xfrm>
            <a:off x="1097280" y="1709928"/>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Müzik dosyası yüklenir</a:t>
            </a:r>
          </a:p>
        </p:txBody>
      </p:sp>
      <p:sp>
        <p:nvSpPr>
          <p:cNvPr id="11" name="TextBox 10"/>
          <p:cNvSpPr txBox="1"/>
          <p:nvPr/>
        </p:nvSpPr>
        <p:spPr>
          <a:xfrm>
            <a:off x="1097280" y="2002536"/>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WAV / MP3 formatı kabul edilir</a:t>
            </a:r>
          </a:p>
        </p:txBody>
      </p:sp>
      <p:sp>
        <p:nvSpPr>
          <p:cNvPr id="12" name="Rectangle 11"/>
          <p:cNvSpPr/>
          <p:nvPr/>
        </p:nvSpPr>
        <p:spPr>
          <a:xfrm>
            <a:off x="365760" y="2377440"/>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377440"/>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377440"/>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2</a:t>
            </a:r>
          </a:p>
        </p:txBody>
      </p:sp>
      <p:sp>
        <p:nvSpPr>
          <p:cNvPr id="15" name="TextBox 14"/>
          <p:cNvSpPr txBox="1"/>
          <p:nvPr/>
        </p:nvSpPr>
        <p:spPr>
          <a:xfrm>
            <a:off x="1097280" y="2459736"/>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Ön işleme</a:t>
            </a:r>
          </a:p>
        </p:txBody>
      </p:sp>
      <p:sp>
        <p:nvSpPr>
          <p:cNvPr id="16" name="TextBox 15"/>
          <p:cNvSpPr txBox="1"/>
          <p:nvPr/>
        </p:nvSpPr>
        <p:spPr>
          <a:xfrm>
            <a:off x="1097280" y="2752344"/>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22.050 Hz'e indirgenir, mono'ya çevrilir</a:t>
            </a:r>
          </a:p>
        </p:txBody>
      </p:sp>
      <p:sp>
        <p:nvSpPr>
          <p:cNvPr id="17" name="Rectangle 16"/>
          <p:cNvSpPr/>
          <p:nvPr/>
        </p:nvSpPr>
        <p:spPr>
          <a:xfrm>
            <a:off x="365760" y="3127248"/>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127248"/>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127248"/>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3</a:t>
            </a:r>
          </a:p>
        </p:txBody>
      </p:sp>
      <p:sp>
        <p:nvSpPr>
          <p:cNvPr id="20" name="TextBox 19"/>
          <p:cNvSpPr txBox="1"/>
          <p:nvPr/>
        </p:nvSpPr>
        <p:spPr>
          <a:xfrm>
            <a:off x="1097280" y="3209544"/>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Öznitelik çıkarma</a:t>
            </a:r>
          </a:p>
        </p:txBody>
      </p:sp>
      <p:sp>
        <p:nvSpPr>
          <p:cNvPr id="21" name="TextBox 20"/>
          <p:cNvSpPr txBox="1"/>
          <p:nvPr/>
        </p:nvSpPr>
        <p:spPr>
          <a:xfrm>
            <a:off x="1097280" y="3502152"/>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librosa ile 47 boyutlu vektör hesaplanır</a:t>
            </a:r>
          </a:p>
        </p:txBody>
      </p:sp>
      <p:sp>
        <p:nvSpPr>
          <p:cNvPr id="22" name="Rectangle 21"/>
          <p:cNvSpPr/>
          <p:nvPr/>
        </p:nvSpPr>
        <p:spPr>
          <a:xfrm>
            <a:off x="365760" y="3877056"/>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3877056"/>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3877056"/>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4</a:t>
            </a:r>
          </a:p>
        </p:txBody>
      </p:sp>
      <p:sp>
        <p:nvSpPr>
          <p:cNvPr id="25" name="TextBox 24"/>
          <p:cNvSpPr txBox="1"/>
          <p:nvPr/>
        </p:nvSpPr>
        <p:spPr>
          <a:xfrm>
            <a:off x="1097280" y="3959352"/>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Model tahmini</a:t>
            </a:r>
          </a:p>
        </p:txBody>
      </p:sp>
      <p:sp>
        <p:nvSpPr>
          <p:cNvPr id="26" name="TextBox 25"/>
          <p:cNvSpPr txBox="1"/>
          <p:nvPr/>
        </p:nvSpPr>
        <p:spPr>
          <a:xfrm>
            <a:off x="1097280" y="4251960"/>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LightGBM yapay zekâ olasılığı üretir</a:t>
            </a:r>
          </a:p>
        </p:txBody>
      </p:sp>
      <p:sp>
        <p:nvSpPr>
          <p:cNvPr id="27" name="Rectangle 26"/>
          <p:cNvSpPr/>
          <p:nvPr/>
        </p:nvSpPr>
        <p:spPr>
          <a:xfrm>
            <a:off x="365760" y="4626864"/>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4626864"/>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4626864"/>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5</a:t>
            </a:r>
          </a:p>
        </p:txBody>
      </p:sp>
      <p:sp>
        <p:nvSpPr>
          <p:cNvPr id="30" name="TextBox 29"/>
          <p:cNvSpPr txBox="1"/>
          <p:nvPr/>
        </p:nvSpPr>
        <p:spPr>
          <a:xfrm>
            <a:off x="1097280" y="4709159"/>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Eşik uygulama</a:t>
            </a:r>
          </a:p>
        </p:txBody>
      </p:sp>
      <p:sp>
        <p:nvSpPr>
          <p:cNvPr id="31" name="TextBox 30"/>
          <p:cNvSpPr txBox="1"/>
          <p:nvPr/>
        </p:nvSpPr>
        <p:spPr>
          <a:xfrm>
            <a:off x="1097280" y="5001768"/>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θ*=0,4316 ile sınıf kararı verilir</a:t>
            </a:r>
          </a:p>
        </p:txBody>
      </p:sp>
      <p:sp>
        <p:nvSpPr>
          <p:cNvPr id="32" name="Rectangle 31"/>
          <p:cNvSpPr/>
          <p:nvPr/>
        </p:nvSpPr>
        <p:spPr>
          <a:xfrm>
            <a:off x="365760" y="5376672"/>
            <a:ext cx="6766560" cy="65836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376672"/>
            <a:ext cx="594360" cy="65836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5376672"/>
            <a:ext cx="594360" cy="658368"/>
          </a:xfrm>
          <a:prstGeom prst="rect">
            <a:avLst/>
          </a:prstGeom>
          <a:noFill/>
        </p:spPr>
        <p:txBody>
          <a:bodyPr wrap="square" anchor="ctr" lIns="25400" rIns="25400" tIns="12700" bIns="12700">
            <a:spAutoFit/>
          </a:bodyPr>
          <a:lstStyle/>
          <a:p>
            <a:pPr algn="ctr"/>
            <a:r>
              <a:rPr sz="2000" b="1" i="0">
                <a:solidFill>
                  <a:srgbClr val="D99A07"/>
                </a:solidFill>
                <a:latin typeface="Calibri"/>
              </a:rPr>
              <a:t>6</a:t>
            </a:r>
          </a:p>
        </p:txBody>
      </p:sp>
      <p:sp>
        <p:nvSpPr>
          <p:cNvPr id="35" name="TextBox 34"/>
          <p:cNvSpPr txBox="1"/>
          <p:nvPr/>
        </p:nvSpPr>
        <p:spPr>
          <a:xfrm>
            <a:off x="1097280" y="5458968"/>
            <a:ext cx="5943600" cy="292608"/>
          </a:xfrm>
          <a:prstGeom prst="rect">
            <a:avLst/>
          </a:prstGeom>
          <a:noFill/>
        </p:spPr>
        <p:txBody>
          <a:bodyPr wrap="square" anchor="t" lIns="25400" rIns="25400" tIns="12700" bIns="12700">
            <a:spAutoFit/>
          </a:bodyPr>
          <a:lstStyle/>
          <a:p>
            <a:pPr algn="l"/>
            <a:r>
              <a:rPr sz="1250" b="1" i="0">
                <a:solidFill>
                  <a:srgbClr val="102A4C"/>
                </a:solidFill>
                <a:latin typeface="Calibri"/>
              </a:rPr>
              <a:t>Açıklama</a:t>
            </a:r>
          </a:p>
        </p:txBody>
      </p:sp>
      <p:sp>
        <p:nvSpPr>
          <p:cNvPr id="36" name="TextBox 35"/>
          <p:cNvSpPr txBox="1"/>
          <p:nvPr/>
        </p:nvSpPr>
        <p:spPr>
          <a:xfrm>
            <a:off x="1097280" y="5751576"/>
            <a:ext cx="5943600" cy="256032"/>
          </a:xfrm>
          <a:prstGeom prst="rect">
            <a:avLst/>
          </a:prstGeom>
          <a:noFill/>
        </p:spPr>
        <p:txBody>
          <a:bodyPr wrap="square" anchor="t" lIns="25400" rIns="25400" tIns="12700" bIns="12700">
            <a:spAutoFit/>
          </a:bodyPr>
          <a:lstStyle/>
          <a:p>
            <a:pPr algn="l"/>
            <a:r>
              <a:rPr sz="1050" b="0" i="0">
                <a:solidFill>
                  <a:srgbClr val="242A30"/>
                </a:solidFill>
                <a:latin typeface="Calibri"/>
              </a:rPr>
              <a:t>SHAP ile kararın gerekçesi gösterilir</a:t>
            </a:r>
          </a:p>
        </p:txBody>
      </p:sp>
      <p:sp>
        <p:nvSpPr>
          <p:cNvPr id="37" name="Rectangle 36"/>
          <p:cNvSpPr/>
          <p:nvPr/>
        </p:nvSpPr>
        <p:spPr>
          <a:xfrm>
            <a:off x="7315200" y="1842432"/>
            <a:ext cx="4526279" cy="289881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paper_score_distribution.png"/>
          <p:cNvPicPr>
            <a:picLocks noChangeAspect="1"/>
          </p:cNvPicPr>
          <p:nvPr/>
        </p:nvPicPr>
        <p:blipFill>
          <a:blip r:embed="rId2"/>
          <a:stretch>
            <a:fillRect/>
          </a:stretch>
        </p:blipFill>
        <p:spPr>
          <a:xfrm>
            <a:off x="7360920" y="1888152"/>
            <a:ext cx="4434840" cy="2807375"/>
          </a:xfrm>
          <a:prstGeom prst="rect">
            <a:avLst/>
          </a:prstGeom>
        </p:spPr>
      </p:pic>
      <p:sp>
        <p:nvSpPr>
          <p:cNvPr id="39" name="TextBox 38"/>
          <p:cNvSpPr txBox="1"/>
          <p:nvPr/>
        </p:nvSpPr>
        <p:spPr>
          <a:xfrm>
            <a:off x="7360920" y="4750391"/>
            <a:ext cx="443484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9: P(YZ) olasılık dağılımı</a:t>
            </a:r>
          </a:p>
        </p:txBody>
      </p:sp>
      <p:sp>
        <p:nvSpPr>
          <p:cNvPr id="40" name="Rectangle 39"/>
          <p:cNvSpPr/>
          <p:nvPr/>
        </p:nvSpPr>
        <p:spPr>
          <a:xfrm>
            <a:off x="7360920" y="5074920"/>
            <a:ext cx="4434840" cy="9601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60920" y="5074920"/>
            <a:ext cx="91440" cy="960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80376" y="5193792"/>
            <a:ext cx="4069079" cy="365760"/>
          </a:xfrm>
          <a:prstGeom prst="rect">
            <a:avLst/>
          </a:prstGeom>
          <a:noFill/>
        </p:spPr>
        <p:txBody>
          <a:bodyPr wrap="square" anchor="t" lIns="25400" rIns="25400" tIns="12700" bIns="12700">
            <a:spAutoFit/>
          </a:bodyPr>
          <a:lstStyle/>
          <a:p>
            <a:pPr algn="l"/>
            <a:r>
              <a:rPr sz="1300" b="1" i="0">
                <a:solidFill>
                  <a:srgbClr val="102A4C"/>
                </a:solidFill>
                <a:latin typeface="Calibri"/>
              </a:rPr>
              <a:t>Çıktı</a:t>
            </a:r>
          </a:p>
        </p:txBody>
      </p:sp>
      <p:sp>
        <p:nvSpPr>
          <p:cNvPr id="43" name="TextBox 42"/>
          <p:cNvSpPr txBox="1"/>
          <p:nvPr/>
        </p:nvSpPr>
        <p:spPr>
          <a:xfrm>
            <a:off x="7580376" y="5623559"/>
            <a:ext cx="4050791" cy="30175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Sınıf etiketi (YZ / İnsan), güven skoru ve SHAP gerekçesi. Demo videosu Uygulama/ klasöründe.</a:t>
            </a:r>
          </a:p>
        </p:txBody>
      </p:sp>
      <p:sp>
        <p:nvSpPr>
          <p:cNvPr id="44" name="Rectangle 43"/>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6" name="TextBox 45"/>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DEĞERLENDIRME</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Akademik Katkı ve Özgün Değer</a:t>
            </a:r>
          </a:p>
        </p:txBody>
      </p:sp>
      <p:sp>
        <p:nvSpPr>
          <p:cNvPr id="7" name="Rectangle 6"/>
          <p:cNvSpPr/>
          <p:nvPr/>
        </p:nvSpPr>
        <p:spPr>
          <a:xfrm>
            <a:off x="365760" y="1627632"/>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1</a:t>
            </a:r>
          </a:p>
        </p:txBody>
      </p:sp>
      <p:sp>
        <p:nvSpPr>
          <p:cNvPr id="10" name="TextBox 9"/>
          <p:cNvSpPr txBox="1"/>
          <p:nvPr/>
        </p:nvSpPr>
        <p:spPr>
          <a:xfrm>
            <a:off x="1097280" y="1773936"/>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47 boyutlu heterojen öznitelik</a:t>
            </a:r>
          </a:p>
        </p:txBody>
      </p:sp>
      <p:sp>
        <p:nvSpPr>
          <p:cNvPr id="11" name="TextBox 10"/>
          <p:cNvSpPr txBox="1"/>
          <p:nvPr/>
        </p:nvSpPr>
        <p:spPr>
          <a:xfrm>
            <a:off x="1097280" y="2231136"/>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Beş akustik aileyi tek vektörde birleştiren müzik-spesifik temsil.</a:t>
            </a:r>
          </a:p>
        </p:txBody>
      </p:sp>
      <p:sp>
        <p:nvSpPr>
          <p:cNvPr id="12" name="Rectangle 11"/>
          <p:cNvSpPr/>
          <p:nvPr/>
        </p:nvSpPr>
        <p:spPr>
          <a:xfrm>
            <a:off x="6172200" y="1627632"/>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627632"/>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627632"/>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2</a:t>
            </a:r>
          </a:p>
        </p:txBody>
      </p:sp>
      <p:sp>
        <p:nvSpPr>
          <p:cNvPr id="15" name="TextBox 14"/>
          <p:cNvSpPr txBox="1"/>
          <p:nvPr/>
        </p:nvSpPr>
        <p:spPr>
          <a:xfrm>
            <a:off x="6903720" y="1773936"/>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11 modelli topluluk öğrenmesi</a:t>
            </a:r>
          </a:p>
        </p:txBody>
      </p:sp>
      <p:sp>
        <p:nvSpPr>
          <p:cNvPr id="16" name="TextBox 15"/>
          <p:cNvSpPr txBox="1"/>
          <p:nvPr/>
        </p:nvSpPr>
        <p:spPr>
          <a:xfrm>
            <a:off x="6903720" y="2231136"/>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ML ve DL ailelerinin ortak protokolde sistematik karşılaştırması.</a:t>
            </a:r>
          </a:p>
        </p:txBody>
      </p:sp>
      <p:sp>
        <p:nvSpPr>
          <p:cNvPr id="17" name="Rectangle 16"/>
          <p:cNvSpPr/>
          <p:nvPr/>
        </p:nvSpPr>
        <p:spPr>
          <a:xfrm>
            <a:off x="365760" y="3163824"/>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163824"/>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163824"/>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3</a:t>
            </a:r>
          </a:p>
        </p:txBody>
      </p:sp>
      <p:sp>
        <p:nvSpPr>
          <p:cNvPr id="20" name="TextBox 19"/>
          <p:cNvSpPr txBox="1"/>
          <p:nvPr/>
        </p:nvSpPr>
        <p:spPr>
          <a:xfrm>
            <a:off x="1097280" y="3310128"/>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TreeSHAP açıklanabilirlik</a:t>
            </a:r>
          </a:p>
        </p:txBody>
      </p:sp>
      <p:sp>
        <p:nvSpPr>
          <p:cNvPr id="21" name="TextBox 20"/>
          <p:cNvSpPr txBox="1"/>
          <p:nvPr/>
        </p:nvSpPr>
        <p:spPr>
          <a:xfrm>
            <a:off x="1097280" y="3767328"/>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Müzik deepfake tespitinde global + yerel öznitelik etkisi.</a:t>
            </a:r>
          </a:p>
        </p:txBody>
      </p:sp>
      <p:sp>
        <p:nvSpPr>
          <p:cNvPr id="22" name="Rectangle 21"/>
          <p:cNvSpPr/>
          <p:nvPr/>
        </p:nvSpPr>
        <p:spPr>
          <a:xfrm>
            <a:off x="6172200" y="3163824"/>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163824"/>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2200" y="3163824"/>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4</a:t>
            </a:r>
          </a:p>
        </p:txBody>
      </p:sp>
      <p:sp>
        <p:nvSpPr>
          <p:cNvPr id="25" name="TextBox 24"/>
          <p:cNvSpPr txBox="1"/>
          <p:nvPr/>
        </p:nvSpPr>
        <p:spPr>
          <a:xfrm>
            <a:off x="6903720" y="3310128"/>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Youden J eşik optimizasyonu</a:t>
            </a:r>
          </a:p>
        </p:txBody>
      </p:sp>
      <p:sp>
        <p:nvSpPr>
          <p:cNvPr id="26" name="TextBox 25"/>
          <p:cNvSpPr txBox="1"/>
          <p:nvPr/>
        </p:nvSpPr>
        <p:spPr>
          <a:xfrm>
            <a:off x="6903720" y="3767328"/>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Dengesiz sınıf için θ*=0,4316; varsayılan 0,5'ten üstün denge.</a:t>
            </a:r>
          </a:p>
        </p:txBody>
      </p:sp>
      <p:sp>
        <p:nvSpPr>
          <p:cNvPr id="27" name="Rectangle 26"/>
          <p:cNvSpPr/>
          <p:nvPr/>
        </p:nvSpPr>
        <p:spPr>
          <a:xfrm>
            <a:off x="365760" y="4700016"/>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4700016"/>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4700016"/>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5</a:t>
            </a:r>
          </a:p>
        </p:txBody>
      </p:sp>
      <p:sp>
        <p:nvSpPr>
          <p:cNvPr id="30" name="TextBox 29"/>
          <p:cNvSpPr txBox="1"/>
          <p:nvPr/>
        </p:nvSpPr>
        <p:spPr>
          <a:xfrm>
            <a:off x="1097280" y="4846320"/>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Hafif ve rekabetçi</a:t>
            </a:r>
          </a:p>
        </p:txBody>
      </p:sp>
      <p:sp>
        <p:nvSpPr>
          <p:cNvPr id="31" name="TextBox 30"/>
          <p:cNvSpPr txBox="1"/>
          <p:nvPr/>
        </p:nvSpPr>
        <p:spPr>
          <a:xfrm>
            <a:off x="1097280" y="5303520"/>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Derin öğrenme altyapısı olmadan SONICS'e yakın ROC-AUC.</a:t>
            </a:r>
          </a:p>
        </p:txBody>
      </p:sp>
      <p:sp>
        <p:nvSpPr>
          <p:cNvPr id="32" name="Rectangle 31"/>
          <p:cNvSpPr/>
          <p:nvPr/>
        </p:nvSpPr>
        <p:spPr>
          <a:xfrm>
            <a:off x="6172200" y="4700016"/>
            <a:ext cx="5577840" cy="138988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2200" y="4700016"/>
            <a:ext cx="566928" cy="138988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72200" y="4700016"/>
            <a:ext cx="566928" cy="1389888"/>
          </a:xfrm>
          <a:prstGeom prst="rect">
            <a:avLst/>
          </a:prstGeom>
          <a:noFill/>
        </p:spPr>
        <p:txBody>
          <a:bodyPr wrap="square" anchor="ctr" lIns="25400" rIns="25400" tIns="12700" bIns="12700">
            <a:spAutoFit/>
          </a:bodyPr>
          <a:lstStyle/>
          <a:p>
            <a:pPr algn="ctr"/>
            <a:r>
              <a:rPr sz="2400" b="1" i="0">
                <a:solidFill>
                  <a:srgbClr val="D99A07"/>
                </a:solidFill>
                <a:latin typeface="Calibri"/>
              </a:rPr>
              <a:t>6</a:t>
            </a:r>
          </a:p>
        </p:txBody>
      </p:sp>
      <p:sp>
        <p:nvSpPr>
          <p:cNvPr id="35" name="TextBox 34"/>
          <p:cNvSpPr txBox="1"/>
          <p:nvPr/>
        </p:nvSpPr>
        <p:spPr>
          <a:xfrm>
            <a:off x="6903720" y="4846320"/>
            <a:ext cx="4754880" cy="457200"/>
          </a:xfrm>
          <a:prstGeom prst="rect">
            <a:avLst/>
          </a:prstGeom>
          <a:noFill/>
        </p:spPr>
        <p:txBody>
          <a:bodyPr wrap="square" anchor="t" lIns="25400" rIns="25400" tIns="12700" bIns="12700">
            <a:spAutoFit/>
          </a:bodyPr>
          <a:lstStyle/>
          <a:p>
            <a:pPr algn="l"/>
            <a:r>
              <a:rPr sz="1300" b="1" i="0">
                <a:solidFill>
                  <a:srgbClr val="102A4C"/>
                </a:solidFill>
                <a:latin typeface="Calibri"/>
              </a:rPr>
              <a:t>GUJSA akademik yayını</a:t>
            </a:r>
          </a:p>
        </p:txBody>
      </p:sp>
      <p:sp>
        <p:nvSpPr>
          <p:cNvPr id="36" name="TextBox 35"/>
          <p:cNvSpPr txBox="1"/>
          <p:nvPr/>
        </p:nvSpPr>
        <p:spPr>
          <a:xfrm>
            <a:off x="6903720" y="5303520"/>
            <a:ext cx="4754880" cy="731520"/>
          </a:xfrm>
          <a:prstGeom prst="rect">
            <a:avLst/>
          </a:prstGeom>
          <a:noFill/>
        </p:spPr>
        <p:txBody>
          <a:bodyPr wrap="square" anchor="t" lIns="25400" rIns="25400" tIns="12700" bIns="12700">
            <a:spAutoFit/>
          </a:bodyPr>
          <a:lstStyle/>
          <a:p>
            <a:pPr algn="l"/>
            <a:r>
              <a:rPr sz="1100" b="0" i="0">
                <a:solidFill>
                  <a:srgbClr val="242A30"/>
                </a:solidFill>
                <a:latin typeface="Calibri"/>
              </a:rPr>
              <a:t>39 güncel referansla ulusal hakemli dergi formatında.</a:t>
            </a:r>
          </a:p>
        </p:txBody>
      </p:sp>
      <p:sp>
        <p:nvSpPr>
          <p:cNvPr id="37" name="Rectangle 3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9" name="TextBox 3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04: Sonuç ve Demo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Sonuç ve Demo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395728"/>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0080"/>
            <a:ext cx="11247120" cy="1005840"/>
          </a:xfrm>
          <a:prstGeom prst="rect">
            <a:avLst/>
          </a:prstGeom>
          <a:noFill/>
        </p:spPr>
        <p:txBody>
          <a:bodyPr wrap="square" anchor="t" lIns="25400" rIns="25400" tIns="12700" bIns="12700">
            <a:spAutoFit/>
          </a:bodyPr>
          <a:lstStyle/>
          <a:p>
            <a:pPr algn="ctr"/>
            <a:r>
              <a:rPr sz="5400" b="1" i="0">
                <a:solidFill>
                  <a:srgbClr val="D99A07"/>
                </a:solidFill>
                <a:latin typeface="Calibri"/>
              </a:rPr>
              <a:t>05</a:t>
            </a:r>
          </a:p>
        </p:txBody>
      </p:sp>
      <p:sp>
        <p:nvSpPr>
          <p:cNvPr id="4" name="TextBox 3"/>
          <p:cNvSpPr txBox="1"/>
          <p:nvPr/>
        </p:nvSpPr>
        <p:spPr>
          <a:xfrm>
            <a:off x="457200" y="1554480"/>
            <a:ext cx="11247120" cy="777240"/>
          </a:xfrm>
          <a:prstGeom prst="rect">
            <a:avLst/>
          </a:prstGeom>
          <a:noFill/>
        </p:spPr>
        <p:txBody>
          <a:bodyPr wrap="square" anchor="t" lIns="25400" rIns="25400" tIns="12700" bIns="12700">
            <a:spAutoFit/>
          </a:bodyPr>
          <a:lstStyle/>
          <a:p>
            <a:pPr algn="ctr"/>
            <a:r>
              <a:rPr sz="2500" b="1" i="0">
                <a:solidFill>
                  <a:srgbClr val="FFFFFF"/>
                </a:solidFill>
                <a:latin typeface="Calibri"/>
              </a:rPr>
              <a:t>Final Savunma Sunumu</a:t>
            </a:r>
          </a:p>
        </p:txBody>
      </p:sp>
      <p:sp>
        <p:nvSpPr>
          <p:cNvPr id="5" name="TextBox 4"/>
          <p:cNvSpPr txBox="1"/>
          <p:nvPr/>
        </p:nvSpPr>
        <p:spPr>
          <a:xfrm>
            <a:off x="457200" y="5897880"/>
            <a:ext cx="11247120" cy="365760"/>
          </a:xfrm>
          <a:prstGeom prst="rect">
            <a:avLst/>
          </a:prstGeom>
          <a:noFill/>
        </p:spPr>
        <p:txBody>
          <a:bodyPr wrap="square" anchor="t" lIns="25400" rIns="25400" tIns="12700" bIns="12700">
            <a:spAutoFit/>
          </a:bodyPr>
          <a:lstStyle/>
          <a:p>
            <a:pPr algn="ctr"/>
            <a:r>
              <a:rPr sz="1100" b="0" i="0">
                <a:solidFill>
                  <a:srgbClr val="557290"/>
                </a:solidFill>
                <a:latin typeface="Calibri"/>
              </a:rPr>
              <a:t>Hasan Arthur Altuntaş  ·  BM498  ·  Düzce Üniversitesi  ·  2025-2026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44805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0"/>
            <a:ext cx="11247120" cy="1188720"/>
          </a:xfrm>
          <a:prstGeom prst="rect">
            <a:avLst/>
          </a:prstGeom>
          <a:noFill/>
        </p:spPr>
        <p:txBody>
          <a:bodyPr wrap="square" anchor="t" lIns="25400" rIns="25400" tIns="12700" bIns="12700">
            <a:spAutoFit/>
          </a:bodyPr>
          <a:lstStyle/>
          <a:p>
            <a:pPr algn="ctr"/>
            <a:r>
              <a:rPr sz="7800" b="1" i="0">
                <a:solidFill>
                  <a:srgbClr val="D99A07"/>
                </a:solidFill>
                <a:latin typeface="Calibri"/>
              </a:rPr>
              <a:t>AURIS</a:t>
            </a:r>
          </a:p>
        </p:txBody>
      </p:sp>
      <p:sp>
        <p:nvSpPr>
          <p:cNvPr id="4" name="TextBox 3"/>
          <p:cNvSpPr txBox="1"/>
          <p:nvPr/>
        </p:nvSpPr>
        <p:spPr>
          <a:xfrm>
            <a:off x="457200" y="2148840"/>
            <a:ext cx="11247120" cy="640080"/>
          </a:xfrm>
          <a:prstGeom prst="rect">
            <a:avLst/>
          </a:prstGeom>
          <a:noFill/>
        </p:spPr>
        <p:txBody>
          <a:bodyPr wrap="square" anchor="t" lIns="25400" rIns="25400" tIns="12700" bIns="12700">
            <a:spAutoFit/>
          </a:bodyPr>
          <a:lstStyle/>
          <a:p>
            <a:pPr algn="ctr"/>
            <a:r>
              <a:rPr sz="2200" b="1" i="0">
                <a:solidFill>
                  <a:srgbClr val="FFFFFF"/>
                </a:solidFill>
                <a:latin typeface="Calibri"/>
              </a:rPr>
              <a:t>Yapay Zekâ Üretimli Müzik Tespitinde Topluluk Öğrenmesi</a:t>
            </a:r>
          </a:p>
        </p:txBody>
      </p:sp>
      <p:sp>
        <p:nvSpPr>
          <p:cNvPr id="5" name="TextBox 4"/>
          <p:cNvSpPr txBox="1"/>
          <p:nvPr/>
        </p:nvSpPr>
        <p:spPr>
          <a:xfrm>
            <a:off x="457200" y="2788920"/>
            <a:ext cx="11247120" cy="457200"/>
          </a:xfrm>
          <a:prstGeom prst="rect">
            <a:avLst/>
          </a:prstGeom>
          <a:noFill/>
        </p:spPr>
        <p:txBody>
          <a:bodyPr wrap="square" anchor="t" lIns="25400" rIns="25400" tIns="12700" bIns="12700">
            <a:spAutoFit/>
          </a:bodyPr>
          <a:lstStyle/>
          <a:p>
            <a:pPr algn="ctr"/>
            <a:r>
              <a:rPr sz="1500" b="0" i="0">
                <a:solidFill>
                  <a:srgbClr val="ADC4D6"/>
                </a:solidFill>
                <a:latin typeface="Calibri"/>
              </a:rPr>
              <a:t>Heterojen Akustik Öznitelikler ve LightGBM Tabanlı Bir Yaklaşım</a:t>
            </a:r>
          </a:p>
        </p:txBody>
      </p:sp>
      <p:sp>
        <p:nvSpPr>
          <p:cNvPr id="6" name="TextBox 5"/>
          <p:cNvSpPr txBox="1"/>
          <p:nvPr/>
        </p:nvSpPr>
        <p:spPr>
          <a:xfrm>
            <a:off x="457200" y="3383280"/>
            <a:ext cx="11247120" cy="411480"/>
          </a:xfrm>
          <a:prstGeom prst="rect">
            <a:avLst/>
          </a:prstGeom>
          <a:noFill/>
        </p:spPr>
        <p:txBody>
          <a:bodyPr wrap="square" anchor="t" lIns="25400" rIns="25400" tIns="12700" bIns="12700">
            <a:spAutoFit/>
          </a:bodyPr>
          <a:lstStyle/>
          <a:p>
            <a:pPr algn="ctr"/>
            <a:r>
              <a:rPr sz="1400" b="0" i="1">
                <a:solidFill>
                  <a:srgbClr val="7E9AB4"/>
                </a:solidFill>
                <a:latin typeface="Calibri"/>
              </a:rPr>
              <a:t>BM498 Mezuniyet Tezi · Final Savunma Sunumu</a:t>
            </a:r>
          </a:p>
        </p:txBody>
      </p:sp>
      <p:sp>
        <p:nvSpPr>
          <p:cNvPr id="7" name="TextBox 6"/>
          <p:cNvSpPr txBox="1"/>
          <p:nvPr/>
        </p:nvSpPr>
        <p:spPr>
          <a:xfrm>
            <a:off x="457200" y="4754880"/>
            <a:ext cx="11247120" cy="411480"/>
          </a:xfrm>
          <a:prstGeom prst="rect">
            <a:avLst/>
          </a:prstGeom>
          <a:noFill/>
        </p:spPr>
        <p:txBody>
          <a:bodyPr wrap="square" anchor="t" lIns="25400" rIns="25400" tIns="12700" bIns="12700">
            <a:spAutoFit/>
          </a:bodyPr>
          <a:lstStyle/>
          <a:p>
            <a:pPr algn="ctr"/>
            <a:r>
              <a:rPr sz="1800" b="1" i="0">
                <a:solidFill>
                  <a:srgbClr val="FFFFFF"/>
                </a:solidFill>
                <a:latin typeface="Calibri"/>
              </a:rPr>
              <a:t>Hasan Arthur Altuntaş</a:t>
            </a:r>
          </a:p>
        </p:txBody>
      </p:sp>
      <p:sp>
        <p:nvSpPr>
          <p:cNvPr id="8" name="TextBox 7"/>
          <p:cNvSpPr txBox="1"/>
          <p:nvPr/>
        </p:nvSpPr>
        <p:spPr>
          <a:xfrm>
            <a:off x="457200" y="5212080"/>
            <a:ext cx="11247120" cy="365760"/>
          </a:xfrm>
          <a:prstGeom prst="rect">
            <a:avLst/>
          </a:prstGeom>
          <a:noFill/>
        </p:spPr>
        <p:txBody>
          <a:bodyPr wrap="square" anchor="t" lIns="25400" rIns="25400" tIns="12700" bIns="12700">
            <a:spAutoFit/>
          </a:bodyPr>
          <a:lstStyle/>
          <a:p>
            <a:pPr algn="ctr"/>
            <a:r>
              <a:rPr sz="1400" b="0" i="0">
                <a:solidFill>
                  <a:srgbClr val="ADC4D6"/>
                </a:solidFill>
                <a:latin typeface="Calibri"/>
              </a:rPr>
              <a:t>Danışman: ___________________________</a:t>
            </a:r>
          </a:p>
        </p:txBody>
      </p:sp>
      <p:sp>
        <p:nvSpPr>
          <p:cNvPr id="9" name="TextBox 8"/>
          <p:cNvSpPr txBox="1"/>
          <p:nvPr/>
        </p:nvSpPr>
        <p:spPr>
          <a:xfrm>
            <a:off x="457200" y="5897880"/>
            <a:ext cx="11247120" cy="365760"/>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Mühendislik Fakültesi · Bilgisayar Mühendisliği · 2025-2026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GENEL BAKIŞ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Sunum Planı</a:t>
            </a:r>
          </a:p>
        </p:txBody>
      </p:sp>
      <p:sp>
        <p:nvSpPr>
          <p:cNvPr id="7" name="Rectangle 6"/>
          <p:cNvSpPr/>
          <p:nvPr/>
        </p:nvSpPr>
        <p:spPr>
          <a:xfrm>
            <a:off x="365760"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a:t>
            </a:r>
          </a:p>
        </p:txBody>
      </p:sp>
      <p:sp>
        <p:nvSpPr>
          <p:cNvPr id="10" name="TextBox 9"/>
          <p:cNvSpPr txBox="1"/>
          <p:nvPr/>
        </p:nvSpPr>
        <p:spPr>
          <a:xfrm>
            <a:off x="1143000"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Motivasyon ve Problem</a:t>
            </a:r>
          </a:p>
        </p:txBody>
      </p:sp>
      <p:sp>
        <p:nvSpPr>
          <p:cNvPr id="11" name="Rectangle 10"/>
          <p:cNvSpPr/>
          <p:nvPr/>
        </p:nvSpPr>
        <p:spPr>
          <a:xfrm>
            <a:off x="365760"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2</a:t>
            </a:r>
          </a:p>
        </p:txBody>
      </p:sp>
      <p:sp>
        <p:nvSpPr>
          <p:cNvPr id="14" name="TextBox 13"/>
          <p:cNvSpPr txBox="1"/>
          <p:nvPr/>
        </p:nvSpPr>
        <p:spPr>
          <a:xfrm>
            <a:off x="1143000"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ve Boşluk Analizi</a:t>
            </a:r>
          </a:p>
        </p:txBody>
      </p:sp>
      <p:sp>
        <p:nvSpPr>
          <p:cNvPr id="15" name="Rectangle 14"/>
          <p:cNvSpPr/>
          <p:nvPr/>
        </p:nvSpPr>
        <p:spPr>
          <a:xfrm>
            <a:off x="365760"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3</a:t>
            </a:r>
          </a:p>
        </p:txBody>
      </p:sp>
      <p:sp>
        <p:nvSpPr>
          <p:cNvPr id="18" name="TextBox 17"/>
          <p:cNvSpPr txBox="1"/>
          <p:nvPr/>
        </p:nvSpPr>
        <p:spPr>
          <a:xfrm>
            <a:off x="1143000"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Sistem Mimarisi</a:t>
            </a:r>
          </a:p>
        </p:txBody>
      </p:sp>
      <p:sp>
        <p:nvSpPr>
          <p:cNvPr id="19" name="Rectangle 18"/>
          <p:cNvSpPr/>
          <p:nvPr/>
        </p:nvSpPr>
        <p:spPr>
          <a:xfrm>
            <a:off x="365760"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4</a:t>
            </a:r>
          </a:p>
        </p:txBody>
      </p:sp>
      <p:sp>
        <p:nvSpPr>
          <p:cNvPr id="22" name="TextBox 21"/>
          <p:cNvSpPr txBox="1"/>
          <p:nvPr/>
        </p:nvSpPr>
        <p:spPr>
          <a:xfrm>
            <a:off x="1143000"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Veri Kümesi</a:t>
            </a:r>
          </a:p>
        </p:txBody>
      </p:sp>
      <p:sp>
        <p:nvSpPr>
          <p:cNvPr id="23" name="Rectangle 22"/>
          <p:cNvSpPr/>
          <p:nvPr/>
        </p:nvSpPr>
        <p:spPr>
          <a:xfrm>
            <a:off x="365760"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5</a:t>
            </a:r>
          </a:p>
        </p:txBody>
      </p:sp>
      <p:sp>
        <p:nvSpPr>
          <p:cNvPr id="26" name="TextBox 25"/>
          <p:cNvSpPr txBox="1"/>
          <p:nvPr/>
        </p:nvSpPr>
        <p:spPr>
          <a:xfrm>
            <a:off x="1143000"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Öznitelik Çıkarma (47 boyut)</a:t>
            </a:r>
          </a:p>
        </p:txBody>
      </p:sp>
      <p:sp>
        <p:nvSpPr>
          <p:cNvPr id="27" name="Rectangle 26"/>
          <p:cNvSpPr/>
          <p:nvPr/>
        </p:nvSpPr>
        <p:spPr>
          <a:xfrm>
            <a:off x="365760"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6</a:t>
            </a:r>
          </a:p>
        </p:txBody>
      </p:sp>
      <p:sp>
        <p:nvSpPr>
          <p:cNvPr id="30" name="TextBox 29"/>
          <p:cNvSpPr txBox="1"/>
          <p:nvPr/>
        </p:nvSpPr>
        <p:spPr>
          <a:xfrm>
            <a:off x="1143000"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Sınıflandırma Modelleri</a:t>
            </a:r>
          </a:p>
        </p:txBody>
      </p:sp>
      <p:sp>
        <p:nvSpPr>
          <p:cNvPr id="31" name="Rectangle 30"/>
          <p:cNvSpPr/>
          <p:nvPr/>
        </p:nvSpPr>
        <p:spPr>
          <a:xfrm>
            <a:off x="6199632"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99632"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2"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7</a:t>
            </a:r>
          </a:p>
        </p:txBody>
      </p:sp>
      <p:sp>
        <p:nvSpPr>
          <p:cNvPr id="34" name="TextBox 33"/>
          <p:cNvSpPr txBox="1"/>
          <p:nvPr/>
        </p:nvSpPr>
        <p:spPr>
          <a:xfrm>
            <a:off x="6976872"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Eğitim Protokolü ve Eşik</a:t>
            </a:r>
          </a:p>
        </p:txBody>
      </p:sp>
      <p:sp>
        <p:nvSpPr>
          <p:cNvPr id="35" name="Rectangle 34"/>
          <p:cNvSpPr/>
          <p:nvPr/>
        </p:nvSpPr>
        <p:spPr>
          <a:xfrm>
            <a:off x="6199632"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99632"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9632"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8</a:t>
            </a:r>
          </a:p>
        </p:txBody>
      </p:sp>
      <p:sp>
        <p:nvSpPr>
          <p:cNvPr id="38" name="TextBox 37"/>
          <p:cNvSpPr txBox="1"/>
          <p:nvPr/>
        </p:nvSpPr>
        <p:spPr>
          <a:xfrm>
            <a:off x="6976872"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Sonuçlar — Model Karşılaştırması</a:t>
            </a:r>
          </a:p>
        </p:txBody>
      </p:sp>
      <p:sp>
        <p:nvSpPr>
          <p:cNvPr id="39" name="Rectangle 38"/>
          <p:cNvSpPr/>
          <p:nvPr/>
        </p:nvSpPr>
        <p:spPr>
          <a:xfrm>
            <a:off x="6199632"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9632"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9</a:t>
            </a:r>
          </a:p>
        </p:txBody>
      </p:sp>
      <p:sp>
        <p:nvSpPr>
          <p:cNvPr id="42" name="TextBox 41"/>
          <p:cNvSpPr txBox="1"/>
          <p:nvPr/>
        </p:nvSpPr>
        <p:spPr>
          <a:xfrm>
            <a:off x="6976872"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Açıklanabilirlik (SHAP)</a:t>
            </a:r>
          </a:p>
        </p:txBody>
      </p:sp>
      <p:sp>
        <p:nvSpPr>
          <p:cNvPr id="43" name="Rectangle 42"/>
          <p:cNvSpPr/>
          <p:nvPr/>
        </p:nvSpPr>
        <p:spPr>
          <a:xfrm>
            <a:off x="6199632"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632"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10</a:t>
            </a:r>
          </a:p>
        </p:txBody>
      </p:sp>
      <p:sp>
        <p:nvSpPr>
          <p:cNvPr id="46" name="TextBox 45"/>
          <p:cNvSpPr txBox="1"/>
          <p:nvPr/>
        </p:nvSpPr>
        <p:spPr>
          <a:xfrm>
            <a:off x="6976872"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Tanılayıcı Analizler</a:t>
            </a:r>
          </a:p>
        </p:txBody>
      </p:sp>
      <p:sp>
        <p:nvSpPr>
          <p:cNvPr id="47" name="Rectangle 46"/>
          <p:cNvSpPr/>
          <p:nvPr/>
        </p:nvSpPr>
        <p:spPr>
          <a:xfrm>
            <a:off x="6199632"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9632"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11</a:t>
            </a:r>
          </a:p>
        </p:txBody>
      </p:sp>
      <p:sp>
        <p:nvSpPr>
          <p:cNvPr id="50" name="TextBox 49"/>
          <p:cNvSpPr txBox="1"/>
          <p:nvPr/>
        </p:nvSpPr>
        <p:spPr>
          <a:xfrm>
            <a:off x="6976872"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Karşılaştırması</a:t>
            </a:r>
          </a:p>
        </p:txBody>
      </p:sp>
      <p:sp>
        <p:nvSpPr>
          <p:cNvPr id="51" name="Rectangle 50"/>
          <p:cNvSpPr/>
          <p:nvPr/>
        </p:nvSpPr>
        <p:spPr>
          <a:xfrm>
            <a:off x="6199632"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99632"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12</a:t>
            </a:r>
          </a:p>
        </p:txBody>
      </p:sp>
      <p:sp>
        <p:nvSpPr>
          <p:cNvPr id="54" name="TextBox 53"/>
          <p:cNvSpPr txBox="1"/>
          <p:nvPr/>
        </p:nvSpPr>
        <p:spPr>
          <a:xfrm>
            <a:off x="6976872"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Kısıtlamalar, Sonuç, Gelecek</a:t>
            </a:r>
          </a:p>
        </p:txBody>
      </p:sp>
      <p:sp>
        <p:nvSpPr>
          <p:cNvPr id="55" name="Rectangle 5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57" name="TextBox 56"/>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Motivasyon ve Problem Tanımı</a:t>
            </a:r>
          </a:p>
        </p:txBody>
      </p:sp>
      <p:sp>
        <p:nvSpPr>
          <p:cNvPr id="7" name="Rectangle 6"/>
          <p:cNvSpPr/>
          <p:nvPr/>
        </p:nvSpPr>
        <p:spPr>
          <a:xfrm>
            <a:off x="365760" y="1600200"/>
            <a:ext cx="6675120" cy="210312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03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6309359" cy="365760"/>
          </a:xfrm>
          <a:prstGeom prst="rect">
            <a:avLst/>
          </a:prstGeom>
          <a:noFill/>
        </p:spPr>
        <p:txBody>
          <a:bodyPr wrap="square" anchor="t" lIns="25400" rIns="25400" tIns="12700" bIns="12700">
            <a:spAutoFit/>
          </a:bodyPr>
          <a:lstStyle/>
          <a:p>
            <a:pPr algn="l"/>
            <a:r>
              <a:rPr sz="1300" b="1" i="0">
                <a:solidFill>
                  <a:srgbClr val="102A4C"/>
                </a:solidFill>
                <a:latin typeface="Calibri"/>
              </a:rPr>
              <a:t>Üretken müzik patlaması</a:t>
            </a:r>
          </a:p>
        </p:txBody>
      </p:sp>
      <p:sp>
        <p:nvSpPr>
          <p:cNvPr id="10" name="TextBox 9"/>
          <p:cNvSpPr txBox="1"/>
          <p:nvPr/>
        </p:nvSpPr>
        <p:spPr>
          <a:xfrm>
            <a:off x="585216" y="2148840"/>
            <a:ext cx="6291072"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Suno, Udio ve MusicGen, tek bir metin istemiyle dakikalar içinde deneyimsiz dinleyicinin insan bestesinden ayıramayacağı tam uzunlukta parçalar üretiyor. Üretim erişilebilirliği telif, özgünlük ve içerik bütünlüğü açısından somut bir tespit problemi doğurdu.</a:t>
            </a:r>
          </a:p>
        </p:txBody>
      </p:sp>
      <p:sp>
        <p:nvSpPr>
          <p:cNvPr id="11" name="TextBox 10"/>
          <p:cNvSpPr txBox="1"/>
          <p:nvPr/>
        </p:nvSpPr>
        <p:spPr>
          <a:xfrm>
            <a:off x="365760" y="3931920"/>
            <a:ext cx="6675120" cy="347472"/>
          </a:xfrm>
          <a:prstGeom prst="rect">
            <a:avLst/>
          </a:prstGeom>
          <a:noFill/>
        </p:spPr>
        <p:txBody>
          <a:bodyPr wrap="square" anchor="t" lIns="25400" rIns="25400" tIns="12700" bIns="12700">
            <a:spAutoFit/>
          </a:bodyPr>
          <a:lstStyle/>
          <a:p>
            <a:pPr algn="l"/>
            <a:r>
              <a:rPr sz="1300" b="1" i="0">
                <a:solidFill>
                  <a:srgbClr val="102A4C"/>
                </a:solidFill>
                <a:latin typeface="Calibri"/>
              </a:rPr>
              <a:t>Tespit ihtiyacının kaynakları</a:t>
            </a:r>
          </a:p>
        </p:txBody>
      </p:sp>
      <p:sp>
        <p:nvSpPr>
          <p:cNvPr id="12" name="TextBox 11"/>
          <p:cNvSpPr txBox="1"/>
          <p:nvPr/>
        </p:nvSpPr>
        <p:spPr>
          <a:xfrm>
            <a:off x="411480" y="4370832"/>
            <a:ext cx="6629400" cy="1783080"/>
          </a:xfrm>
          <a:prstGeom prst="rect">
            <a:avLst/>
          </a:prstGeom>
          <a:noFill/>
        </p:spPr>
        <p:txBody>
          <a:bodyPr wrap="square" anchor="t" lIns="25400" rIns="25400">
            <a:spAutoFit/>
          </a:bodyPr>
          <a:lstStyle/>
          <a:p>
            <a:pPr algn="l">
              <a:spcBef>
                <a:spcPts val="0"/>
              </a:spcBef>
              <a:spcAft>
                <a:spcPts val="900"/>
              </a:spcAft>
            </a:pPr>
            <a:r>
              <a:rPr sz="1250" b="0" i="0">
                <a:solidFill>
                  <a:srgbClr val="242A30"/>
                </a:solidFill>
                <a:latin typeface="Calibri"/>
              </a:rPr>
              <a:t>•  Telif hakkı ve içerik sahipliği belirsizliği</a:t>
            </a:r>
          </a:p>
          <a:p>
            <a:pPr algn="l">
              <a:spcBef>
                <a:spcPts val="0"/>
              </a:spcBef>
              <a:spcAft>
                <a:spcPts val="900"/>
              </a:spcAft>
            </a:pPr>
            <a:r>
              <a:rPr sz="1250" b="0" i="0">
                <a:solidFill>
                  <a:srgbClr val="242A30"/>
                </a:solidFill>
                <a:latin typeface="Calibri"/>
              </a:rPr>
              <a:t>•  Akış platformlarında sahte dinlenme ve gelir manipülasyonu</a:t>
            </a:r>
          </a:p>
          <a:p>
            <a:pPr algn="l">
              <a:spcBef>
                <a:spcPts val="0"/>
              </a:spcBef>
              <a:spcAft>
                <a:spcPts val="900"/>
              </a:spcAft>
            </a:pPr>
            <a:r>
              <a:rPr sz="1250" b="0" i="0">
                <a:solidFill>
                  <a:srgbClr val="242A30"/>
                </a:solidFill>
                <a:latin typeface="Calibri"/>
              </a:rPr>
              <a:t>•  Dezenformasyon ile kimlik ve üslup taklidi</a:t>
            </a:r>
          </a:p>
          <a:p>
            <a:pPr algn="l">
              <a:spcBef>
                <a:spcPts val="0"/>
              </a:spcBef>
              <a:spcAft>
                <a:spcPts val="900"/>
              </a:spcAft>
            </a:pPr>
            <a:r>
              <a:rPr sz="1250" b="0" i="0">
                <a:solidFill>
                  <a:srgbClr val="242A30"/>
                </a:solidFill>
                <a:latin typeface="Calibri"/>
              </a:rPr>
              <a:t>•  Konuşma-odaklı dedektörlerin müziğe genelleyememesi</a:t>
            </a:r>
          </a:p>
        </p:txBody>
      </p:sp>
      <p:sp>
        <p:nvSpPr>
          <p:cNvPr id="13" name="Rectangle 12"/>
          <p:cNvSpPr/>
          <p:nvPr/>
        </p:nvSpPr>
        <p:spPr>
          <a:xfrm>
            <a:off x="7269480" y="1600200"/>
            <a:ext cx="455371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792224"/>
            <a:ext cx="4553712" cy="685800"/>
          </a:xfrm>
          <a:prstGeom prst="rect">
            <a:avLst/>
          </a:prstGeom>
          <a:noFill/>
        </p:spPr>
        <p:txBody>
          <a:bodyPr wrap="square" anchor="ctr" lIns="25400" rIns="25400" tIns="12700" bIns="12700">
            <a:spAutoFit/>
          </a:bodyPr>
          <a:lstStyle/>
          <a:p>
            <a:pPr algn="ctr"/>
            <a:r>
              <a:rPr sz="3000" b="1" i="0">
                <a:solidFill>
                  <a:srgbClr val="D99A07"/>
                </a:solidFill>
                <a:latin typeface="Calibri"/>
              </a:rPr>
              <a:t>0,9548</a:t>
            </a:r>
          </a:p>
        </p:txBody>
      </p:sp>
      <p:sp>
        <p:nvSpPr>
          <p:cNvPr id="15" name="TextBox 14"/>
          <p:cNvSpPr txBox="1"/>
          <p:nvPr/>
        </p:nvSpPr>
        <p:spPr>
          <a:xfrm>
            <a:off x="7269480" y="2464308"/>
            <a:ext cx="4553712"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AURIS ROC-AUC</a:t>
            </a:r>
          </a:p>
        </p:txBody>
      </p:sp>
      <p:sp>
        <p:nvSpPr>
          <p:cNvPr id="16" name="Rectangle 15"/>
          <p:cNvSpPr/>
          <p:nvPr/>
        </p:nvSpPr>
        <p:spPr>
          <a:xfrm>
            <a:off x="7269480"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5.195</a:t>
            </a:r>
          </a:p>
        </p:txBody>
      </p:sp>
      <p:sp>
        <p:nvSpPr>
          <p:cNvPr id="18" name="TextBox 17"/>
          <p:cNvSpPr txBox="1"/>
          <p:nvPr/>
        </p:nvSpPr>
        <p:spPr>
          <a:xfrm>
            <a:off x="7269480"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Örnek</a:t>
            </a:r>
          </a:p>
        </p:txBody>
      </p:sp>
      <p:sp>
        <p:nvSpPr>
          <p:cNvPr id="19" name="Rectangle 18"/>
          <p:cNvSpPr/>
          <p:nvPr/>
        </p:nvSpPr>
        <p:spPr>
          <a:xfrm>
            <a:off x="9628632"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28632"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8</a:t>
            </a:r>
          </a:p>
        </p:txBody>
      </p:sp>
      <p:sp>
        <p:nvSpPr>
          <p:cNvPr id="21" name="TextBox 20"/>
          <p:cNvSpPr txBox="1"/>
          <p:nvPr/>
        </p:nvSpPr>
        <p:spPr>
          <a:xfrm>
            <a:off x="9628632"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Kaynak</a:t>
            </a:r>
          </a:p>
        </p:txBody>
      </p:sp>
      <p:sp>
        <p:nvSpPr>
          <p:cNvPr id="22" name="Rectangle 21"/>
          <p:cNvSpPr/>
          <p:nvPr/>
        </p:nvSpPr>
        <p:spPr>
          <a:xfrm>
            <a:off x="7269480"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47</a:t>
            </a:r>
          </a:p>
        </p:txBody>
      </p:sp>
      <p:sp>
        <p:nvSpPr>
          <p:cNvPr id="24" name="TextBox 23"/>
          <p:cNvSpPr txBox="1"/>
          <p:nvPr/>
        </p:nvSpPr>
        <p:spPr>
          <a:xfrm>
            <a:off x="7269480"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Öznitelik</a:t>
            </a:r>
          </a:p>
        </p:txBody>
      </p:sp>
      <p:sp>
        <p:nvSpPr>
          <p:cNvPr id="25" name="Rectangle 24"/>
          <p:cNvSpPr/>
          <p:nvPr/>
        </p:nvSpPr>
        <p:spPr>
          <a:xfrm>
            <a:off x="9628632"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28632"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11</a:t>
            </a:r>
          </a:p>
        </p:txBody>
      </p:sp>
      <p:sp>
        <p:nvSpPr>
          <p:cNvPr id="27" name="TextBox 26"/>
          <p:cNvSpPr txBox="1"/>
          <p:nvPr/>
        </p:nvSpPr>
        <p:spPr>
          <a:xfrm>
            <a:off x="9628632"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Model</a:t>
            </a:r>
          </a:p>
        </p:txBody>
      </p:sp>
      <p:sp>
        <p:nvSpPr>
          <p:cNvPr id="28" name="Rectangle 2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0" name="TextBox 29"/>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2</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Literatür Özeti ve Boşluk Analizi</a:t>
            </a:r>
          </a:p>
        </p:txBody>
      </p:sp>
      <p:sp>
        <p:nvSpPr>
          <p:cNvPr id="7" name="TextBox 6"/>
          <p:cNvSpPr txBox="1"/>
          <p:nvPr/>
        </p:nvSpPr>
        <p:spPr>
          <a:xfrm>
            <a:off x="365760" y="1554480"/>
            <a:ext cx="5669280" cy="347472"/>
          </a:xfrm>
          <a:prstGeom prst="rect">
            <a:avLst/>
          </a:prstGeom>
          <a:noFill/>
        </p:spPr>
        <p:txBody>
          <a:bodyPr wrap="square" anchor="t" lIns="25400" rIns="25400" tIns="12700" bIns="12700">
            <a:spAutoFit/>
          </a:bodyPr>
          <a:lstStyle/>
          <a:p>
            <a:pPr algn="l"/>
            <a:r>
              <a:rPr sz="1300" b="1" i="0">
                <a:solidFill>
                  <a:srgbClr val="102A4C"/>
                </a:solidFill>
                <a:latin typeface="Calibri"/>
              </a:rPr>
              <a:t>Üç araştırma alanı</a:t>
            </a:r>
          </a:p>
        </p:txBody>
      </p:sp>
      <p:sp>
        <p:nvSpPr>
          <p:cNvPr id="8" name="Rectangle 7"/>
          <p:cNvSpPr/>
          <p:nvPr/>
        </p:nvSpPr>
        <p:spPr>
          <a:xfrm>
            <a:off x="365760" y="199339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Ses Deepfake Tespiti</a:t>
            </a:r>
          </a:p>
        </p:txBody>
      </p:sp>
      <p:sp>
        <p:nvSpPr>
          <p:cNvPr id="10" name="TextBox 9"/>
          <p:cNvSpPr txBox="1"/>
          <p:nvPr/>
        </p:nvSpPr>
        <p:spPr>
          <a:xfrm>
            <a:off x="502920" y="241401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AASIST, RawNet2, wav2vec 2.0, WavLM — konuşma için olgun</a:t>
            </a:r>
          </a:p>
        </p:txBody>
      </p:sp>
      <p:sp>
        <p:nvSpPr>
          <p:cNvPr id="11" name="Rectangle 10"/>
          <p:cNvSpPr/>
          <p:nvPr/>
        </p:nvSpPr>
        <p:spPr>
          <a:xfrm>
            <a:off x="365760" y="295351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04495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Üretken Müzik Sistemleri</a:t>
            </a:r>
          </a:p>
        </p:txBody>
      </p:sp>
      <p:sp>
        <p:nvSpPr>
          <p:cNvPr id="13" name="TextBox 12"/>
          <p:cNvSpPr txBox="1"/>
          <p:nvPr/>
        </p:nvSpPr>
        <p:spPr>
          <a:xfrm>
            <a:off x="502920" y="337413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MusicGen, AudioLDM2, Suno, Udio — tespit hedefini şekillendirir</a:t>
            </a:r>
          </a:p>
        </p:txBody>
      </p:sp>
      <p:sp>
        <p:nvSpPr>
          <p:cNvPr id="14" name="Rectangle 13"/>
          <p:cNvSpPr/>
          <p:nvPr/>
        </p:nvSpPr>
        <p:spPr>
          <a:xfrm>
            <a:off x="365760" y="391363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00507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YZ Müzik Tespiti</a:t>
            </a:r>
          </a:p>
        </p:txBody>
      </p:sp>
      <p:sp>
        <p:nvSpPr>
          <p:cNvPr id="16" name="TextBox 15"/>
          <p:cNvSpPr txBox="1"/>
          <p:nvPr/>
        </p:nvSpPr>
        <p:spPr>
          <a:xfrm>
            <a:off x="502920" y="433425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Afchar, Cros Vila, Li, SONICS, FakeMusicCaps — yeni ve dağınık</a:t>
            </a:r>
          </a:p>
        </p:txBody>
      </p:sp>
      <p:sp>
        <p:nvSpPr>
          <p:cNvPr id="17" name="Rectangle 16"/>
          <p:cNvSpPr/>
          <p:nvPr/>
        </p:nvSpPr>
        <p:spPr>
          <a:xfrm>
            <a:off x="6199632" y="1554480"/>
            <a:ext cx="5623560"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2" y="1554480"/>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67335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Tespit edilen boşluk</a:t>
            </a:r>
          </a:p>
        </p:txBody>
      </p:sp>
      <p:sp>
        <p:nvSpPr>
          <p:cNvPr id="20" name="TextBox 19"/>
          <p:cNvSpPr txBox="1"/>
          <p:nvPr/>
        </p:nvSpPr>
        <p:spPr>
          <a:xfrm>
            <a:off x="6419088" y="2103120"/>
            <a:ext cx="5239512" cy="3867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Literatürde müzik tespiti için:</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  Topluluk öğrenmesi yetersiz uygulanmış</a:t>
            </a:r>
          </a:p>
          <a:p>
            <a:pPr algn="l">
              <a:spcBef>
                <a:spcPts val="0"/>
              </a:spcBef>
              <a:spcAft>
                <a:spcPts val="500"/>
              </a:spcAft>
            </a:pPr>
            <a:r>
              <a:rPr sz="1150" b="0" i="0">
                <a:solidFill>
                  <a:srgbClr val="242A30"/>
                </a:solidFill>
                <a:latin typeface="Calibri"/>
              </a:rPr>
              <a:t>✗  Çok aileli (47 boyut) öznitelik seti yok</a:t>
            </a:r>
          </a:p>
          <a:p>
            <a:pPr algn="l">
              <a:spcBef>
                <a:spcPts val="0"/>
              </a:spcBef>
              <a:spcAft>
                <a:spcPts val="500"/>
              </a:spcAft>
            </a:pPr>
            <a:r>
              <a:rPr sz="1150" b="0" i="0">
                <a:solidFill>
                  <a:srgbClr val="242A30"/>
                </a:solidFill>
                <a:latin typeface="Calibri"/>
              </a:rPr>
              <a:t>✗  Kaynak bazlı performans analizi eksik</a:t>
            </a:r>
          </a:p>
          <a:p>
            <a:pPr algn="l">
              <a:spcBef>
                <a:spcPts val="0"/>
              </a:spcBef>
              <a:spcAft>
                <a:spcPts val="500"/>
              </a:spcAft>
            </a:pPr>
            <a:r>
              <a:rPr sz="1150" b="0" i="0">
                <a:solidFill>
                  <a:srgbClr val="242A30"/>
                </a:solidFill>
                <a:latin typeface="Calibri"/>
              </a:rPr>
              <a:t>✗  SHAP açıklanabilirliği taşınmamış</a:t>
            </a:r>
          </a:p>
          <a:p>
            <a:pPr algn="l">
              <a:spcBef>
                <a:spcPts val="0"/>
              </a:spcBef>
              <a:spcAft>
                <a:spcPts val="500"/>
              </a:spcAft>
            </a:pPr>
            <a:r>
              <a:rPr sz="1150" b="0" i="0">
                <a:solidFill>
                  <a:srgbClr val="242A30"/>
                </a:solidFill>
                <a:latin typeface="Calibri"/>
              </a:rPr>
              <a:t>✗  Youden J eşik optimizasyonu yok</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AURIS bu beş boşluğu birlikte ele alarak hafif, açıklanabilir ve rekabetçi bir sistem sunar.</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3</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Sistem Mimarisi — Uçtan Uca Pipeline</a:t>
            </a:r>
          </a:p>
        </p:txBody>
      </p:sp>
      <p:sp>
        <p:nvSpPr>
          <p:cNvPr id="7" name="Rectangle 6"/>
          <p:cNvSpPr/>
          <p:nvPr/>
        </p:nvSpPr>
        <p:spPr>
          <a:xfrm>
            <a:off x="320040" y="1727782"/>
            <a:ext cx="11521440" cy="230515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pipeline_diagram.png"/>
          <p:cNvPicPr>
            <a:picLocks noChangeAspect="1"/>
          </p:cNvPicPr>
          <p:nvPr/>
        </p:nvPicPr>
        <p:blipFill>
          <a:blip r:embed="rId2"/>
          <a:stretch>
            <a:fillRect/>
          </a:stretch>
        </p:blipFill>
        <p:spPr>
          <a:xfrm>
            <a:off x="365760" y="1773502"/>
            <a:ext cx="11430000" cy="2213715"/>
          </a:xfrm>
          <a:prstGeom prst="rect">
            <a:avLst/>
          </a:prstGeom>
        </p:spPr>
      </p:pic>
      <p:sp>
        <p:nvSpPr>
          <p:cNvPr id="9" name="TextBox 8"/>
          <p:cNvSpPr txBox="1"/>
          <p:nvPr/>
        </p:nvSpPr>
        <p:spPr>
          <a:xfrm>
            <a:off x="365760" y="4042081"/>
            <a:ext cx="114300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 AURIS uçtan uca işleyiş şeması</a:t>
            </a:r>
          </a:p>
        </p:txBody>
      </p:sp>
      <p:sp>
        <p:nvSpPr>
          <p:cNvPr id="10" name="Rectangle 9"/>
          <p:cNvSpPr/>
          <p:nvPr/>
        </p:nvSpPr>
        <p:spPr>
          <a:xfrm>
            <a:off x="36576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1 · Giriş</a:t>
            </a:r>
          </a:p>
        </p:txBody>
      </p:sp>
      <p:sp>
        <p:nvSpPr>
          <p:cNvPr id="13" name="TextBox 12"/>
          <p:cNvSpPr txBox="1"/>
          <p:nvPr/>
        </p:nvSpPr>
        <p:spPr>
          <a:xfrm>
            <a:off x="42062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Ham ses WAV/MP3</a:t>
            </a:r>
          </a:p>
        </p:txBody>
      </p:sp>
      <p:sp>
        <p:nvSpPr>
          <p:cNvPr id="14" name="Rectangle 13"/>
          <p:cNvSpPr/>
          <p:nvPr/>
        </p:nvSpPr>
        <p:spPr>
          <a:xfrm>
            <a:off x="200253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0253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8255"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2 · Ön işleme</a:t>
            </a:r>
          </a:p>
        </p:txBody>
      </p:sp>
      <p:sp>
        <p:nvSpPr>
          <p:cNvPr id="17" name="TextBox 16"/>
          <p:cNvSpPr txBox="1"/>
          <p:nvPr/>
        </p:nvSpPr>
        <p:spPr>
          <a:xfrm>
            <a:off x="205740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22.050 Hz, mono</a:t>
            </a:r>
          </a:p>
        </p:txBody>
      </p:sp>
      <p:sp>
        <p:nvSpPr>
          <p:cNvPr id="18" name="Rectangle 17"/>
          <p:cNvSpPr/>
          <p:nvPr/>
        </p:nvSpPr>
        <p:spPr>
          <a:xfrm>
            <a:off x="3639312"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39312"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5032"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3 · Öznitelik</a:t>
            </a:r>
          </a:p>
        </p:txBody>
      </p:sp>
      <p:sp>
        <p:nvSpPr>
          <p:cNvPr id="21" name="TextBox 20"/>
          <p:cNvSpPr txBox="1"/>
          <p:nvPr/>
        </p:nvSpPr>
        <p:spPr>
          <a:xfrm>
            <a:off x="3694176"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47 boyutlu vektör</a:t>
            </a:r>
          </a:p>
        </p:txBody>
      </p:sp>
      <p:sp>
        <p:nvSpPr>
          <p:cNvPr id="22" name="Rectangle 21"/>
          <p:cNvSpPr/>
          <p:nvPr/>
        </p:nvSpPr>
        <p:spPr>
          <a:xfrm>
            <a:off x="5276088"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76088"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21808"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4 · Ölçekleme</a:t>
            </a:r>
          </a:p>
        </p:txBody>
      </p:sp>
      <p:sp>
        <p:nvSpPr>
          <p:cNvPr id="25" name="TextBox 24"/>
          <p:cNvSpPr txBox="1"/>
          <p:nvPr/>
        </p:nvSpPr>
        <p:spPr>
          <a:xfrm>
            <a:off x="5330952"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Kat-içi StandardScaler</a:t>
            </a:r>
          </a:p>
        </p:txBody>
      </p:sp>
      <p:sp>
        <p:nvSpPr>
          <p:cNvPr id="26" name="Rectangle 25"/>
          <p:cNvSpPr/>
          <p:nvPr/>
        </p:nvSpPr>
        <p:spPr>
          <a:xfrm>
            <a:off x="6912864"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12864"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58584"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5 · Modeller</a:t>
            </a:r>
          </a:p>
        </p:txBody>
      </p:sp>
      <p:sp>
        <p:nvSpPr>
          <p:cNvPr id="29" name="TextBox 28"/>
          <p:cNvSpPr txBox="1"/>
          <p:nvPr/>
        </p:nvSpPr>
        <p:spPr>
          <a:xfrm>
            <a:off x="6967728"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11 model, 5-katlı CV</a:t>
            </a:r>
          </a:p>
        </p:txBody>
      </p:sp>
      <p:sp>
        <p:nvSpPr>
          <p:cNvPr id="30" name="Rectangle 29"/>
          <p:cNvSpPr/>
          <p:nvPr/>
        </p:nvSpPr>
        <p:spPr>
          <a:xfrm>
            <a:off x="854964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964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6 · Eşik</a:t>
            </a:r>
          </a:p>
        </p:txBody>
      </p:sp>
      <p:sp>
        <p:nvSpPr>
          <p:cNvPr id="33" name="TextBox 32"/>
          <p:cNvSpPr txBox="1"/>
          <p:nvPr/>
        </p:nvSpPr>
        <p:spPr>
          <a:xfrm>
            <a:off x="860450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Youden θ*=0,4316</a:t>
            </a:r>
          </a:p>
        </p:txBody>
      </p:sp>
      <p:sp>
        <p:nvSpPr>
          <p:cNvPr id="34" name="Rectangle 33"/>
          <p:cNvSpPr/>
          <p:nvPr/>
        </p:nvSpPr>
        <p:spPr>
          <a:xfrm>
            <a:off x="1018641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18641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32136"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7 · Karar</a:t>
            </a:r>
          </a:p>
        </p:txBody>
      </p:sp>
      <p:sp>
        <p:nvSpPr>
          <p:cNvPr id="37" name="TextBox 36"/>
          <p:cNvSpPr txBox="1"/>
          <p:nvPr/>
        </p:nvSpPr>
        <p:spPr>
          <a:xfrm>
            <a:off x="1024128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YZ/İnsan + SHAP</a:t>
            </a:r>
          </a:p>
        </p:txBody>
      </p:sp>
      <p:sp>
        <p:nvSpPr>
          <p:cNvPr id="38" name="Rectangle 3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0" name="TextBox 39"/>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4</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Veri Kümesi</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5.195 örnek · sekiz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3840480" cy="384048"/>
          </a:xfrm>
          <a:prstGeom prst="rect">
            <a:avLst/>
          </a:prstGeom>
          <a:noFill/>
        </p:spPr>
        <p:txBody>
          <a:bodyPr wrap="square" anchor="ctr" lIns="25400" rIns="25400" tIns="12700" bIns="12700">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27632"/>
            <a:ext cx="23774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27632"/>
            <a:ext cx="13716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01168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201168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201168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0487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6552" y="240487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40487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9806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279806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9806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91256"/>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16552" y="3191256"/>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93992" y="3191256"/>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84448"/>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16552" y="3584448"/>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93992" y="3584448"/>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97764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16552" y="397764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3992" y="397764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7083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16552" y="437083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93992" y="437083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6402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16552" y="476402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93992" y="476402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157216"/>
            <a:ext cx="3840480" cy="393192"/>
          </a:xfrm>
          <a:prstGeom prst="rect">
            <a:avLst/>
          </a:prstGeom>
          <a:noFill/>
        </p:spPr>
        <p:txBody>
          <a:bodyPr wrap="square" anchor="ctr" lIns="25400" rIns="25400" tIns="12700" bIns="12700">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16552" y="5157216"/>
            <a:ext cx="232257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93992" y="5157216"/>
            <a:ext cx="131673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1627632"/>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40496" y="1746504"/>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581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4023360"/>
            <a:ext cx="3502152" cy="20116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321040" y="4023360"/>
            <a:ext cx="91440" cy="20116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40496" y="4142232"/>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Sızıntı Önlemi</a:t>
            </a:r>
          </a:p>
        </p:txBody>
      </p:sp>
      <p:sp>
        <p:nvSpPr>
          <p:cNvPr id="75" name="TextBox 74"/>
          <p:cNvSpPr txBox="1"/>
          <p:nvPr/>
        </p:nvSpPr>
        <p:spPr>
          <a:xfrm>
            <a:off x="8540496" y="4572000"/>
            <a:ext cx="3118104" cy="13533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duration_sec &amp; sample_rate çıkarıldı.</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StandardScaler her katta yalnız eğitim verisine fit — doğrulama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78" name="TextBox 77"/>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5</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Öznitelik Çıkarma — 47 Boyutlu Vektör</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356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799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94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4005072"/>
            <a:ext cx="3913632" cy="411480"/>
          </a:xfrm>
          <a:prstGeom prst="rect">
            <a:avLst/>
          </a:prstGeom>
          <a:noFill/>
        </p:spPr>
        <p:txBody>
          <a:bodyPr wrap="square" anchor="t" lIns="25400" rIns="25400" tIns="12700" bIns="12700">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anchor="t" lIns="25400" rIns="25400" tIns="12700" bIns="12700">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anchor="t" lIns="25400" rIns="25400" tIns="12700" bIns="12700">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6-7</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Modeller ve Eğitim Protokolü</a:t>
            </a:r>
          </a:p>
        </p:txBody>
      </p:sp>
      <p:sp>
        <p:nvSpPr>
          <p:cNvPr id="7" name="TextBox 6"/>
          <p:cNvSpPr txBox="1"/>
          <p:nvPr/>
        </p:nvSpPr>
        <p:spPr>
          <a:xfrm>
            <a:off x="365760" y="1481328"/>
            <a:ext cx="3657600" cy="329184"/>
          </a:xfrm>
          <a:prstGeom prst="rect">
            <a:avLst/>
          </a:prstGeom>
          <a:noFill/>
        </p:spPr>
        <p:txBody>
          <a:bodyPr wrap="square" anchor="t" lIns="25400" rIns="25400" tIns="12700" bIns="12700">
            <a:spAutoFit/>
          </a:bodyPr>
          <a:lstStyle/>
          <a:p>
            <a:pPr algn="l"/>
            <a:r>
              <a:rPr sz="1250" b="1" i="0">
                <a:solidFill>
                  <a:srgbClr val="0A808C"/>
                </a:solidFill>
                <a:latin typeface="Calibri"/>
              </a:rPr>
              <a:t>Makine Öğrenmesi (7)</a:t>
            </a:r>
          </a:p>
        </p:txBody>
      </p:sp>
      <p:sp>
        <p:nvSpPr>
          <p:cNvPr id="8" name="Rectangle 7"/>
          <p:cNvSpPr/>
          <p:nvPr/>
        </p:nvSpPr>
        <p:spPr>
          <a:xfrm>
            <a:off x="365760" y="187451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87451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LightGBM</a:t>
            </a:r>
          </a:p>
        </p:txBody>
      </p:sp>
      <p:sp>
        <p:nvSpPr>
          <p:cNvPr id="10" name="Rectangle 9"/>
          <p:cNvSpPr/>
          <p:nvPr/>
        </p:nvSpPr>
        <p:spPr>
          <a:xfrm>
            <a:off x="365760" y="242316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242316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XGBoost</a:t>
            </a:r>
          </a:p>
        </p:txBody>
      </p:sp>
      <p:sp>
        <p:nvSpPr>
          <p:cNvPr id="12" name="Rectangle 11"/>
          <p:cNvSpPr/>
          <p:nvPr/>
        </p:nvSpPr>
        <p:spPr>
          <a:xfrm>
            <a:off x="365760" y="297180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97180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Gradyan Artırma</a:t>
            </a:r>
          </a:p>
        </p:txBody>
      </p:sp>
      <p:sp>
        <p:nvSpPr>
          <p:cNvPr id="14" name="Rectangle 13"/>
          <p:cNvSpPr/>
          <p:nvPr/>
        </p:nvSpPr>
        <p:spPr>
          <a:xfrm>
            <a:off x="365760" y="352043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52043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Rastgele Orman</a:t>
            </a:r>
          </a:p>
        </p:txBody>
      </p:sp>
      <p:sp>
        <p:nvSpPr>
          <p:cNvPr id="16" name="Rectangle 15"/>
          <p:cNvSpPr/>
          <p:nvPr/>
        </p:nvSpPr>
        <p:spPr>
          <a:xfrm>
            <a:off x="365760" y="406907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 y="406907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SVM-RBF</a:t>
            </a:r>
          </a:p>
        </p:txBody>
      </p:sp>
      <p:sp>
        <p:nvSpPr>
          <p:cNvPr id="18" name="Rectangle 17"/>
          <p:cNvSpPr/>
          <p:nvPr/>
        </p:nvSpPr>
        <p:spPr>
          <a:xfrm>
            <a:off x="365760" y="461772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461772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ÇKA Sinir Ağı</a:t>
            </a:r>
          </a:p>
        </p:txBody>
      </p:sp>
      <p:sp>
        <p:nvSpPr>
          <p:cNvPr id="20" name="Rectangle 19"/>
          <p:cNvSpPr/>
          <p:nvPr/>
        </p:nvSpPr>
        <p:spPr>
          <a:xfrm>
            <a:off x="365760" y="516635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516635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Lojistik Reg.</a:t>
            </a:r>
          </a:p>
        </p:txBody>
      </p:sp>
      <p:sp>
        <p:nvSpPr>
          <p:cNvPr id="22" name="TextBox 21"/>
          <p:cNvSpPr txBox="1"/>
          <p:nvPr/>
        </p:nvSpPr>
        <p:spPr>
          <a:xfrm>
            <a:off x="4160520" y="1481328"/>
            <a:ext cx="3657600" cy="329184"/>
          </a:xfrm>
          <a:prstGeom prst="rect">
            <a:avLst/>
          </a:prstGeom>
          <a:noFill/>
        </p:spPr>
        <p:txBody>
          <a:bodyPr wrap="square" anchor="t" lIns="25400" rIns="25400" tIns="12700" bIns="12700">
            <a:spAutoFit/>
          </a:bodyPr>
          <a:lstStyle/>
          <a:p>
            <a:pPr algn="l"/>
            <a:r>
              <a:rPr sz="1250" b="1" i="0">
                <a:solidFill>
                  <a:srgbClr val="8A6600"/>
                </a:solidFill>
                <a:latin typeface="Calibri"/>
              </a:rPr>
              <a:t>Derin Öğrenme (4)</a:t>
            </a:r>
          </a:p>
        </p:txBody>
      </p:sp>
      <p:sp>
        <p:nvSpPr>
          <p:cNvPr id="23" name="Rectangle 22"/>
          <p:cNvSpPr/>
          <p:nvPr/>
        </p:nvSpPr>
        <p:spPr>
          <a:xfrm>
            <a:off x="4160520" y="187451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187451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Derin ÇKA (512-256-128-64)</a:t>
            </a:r>
          </a:p>
        </p:txBody>
      </p:sp>
      <p:sp>
        <p:nvSpPr>
          <p:cNvPr id="25" name="Rectangle 24"/>
          <p:cNvSpPr/>
          <p:nvPr/>
        </p:nvSpPr>
        <p:spPr>
          <a:xfrm>
            <a:off x="4160520" y="242316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0248" y="242316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 (3 blok)</a:t>
            </a:r>
          </a:p>
        </p:txBody>
      </p:sp>
      <p:sp>
        <p:nvSpPr>
          <p:cNvPr id="27" name="Rectangle 26"/>
          <p:cNvSpPr/>
          <p:nvPr/>
        </p:nvSpPr>
        <p:spPr>
          <a:xfrm>
            <a:off x="4160520" y="297180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70248" y="297180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 (4 baş)</a:t>
            </a:r>
          </a:p>
        </p:txBody>
      </p:sp>
      <p:sp>
        <p:nvSpPr>
          <p:cNvPr id="29" name="Rectangle 28"/>
          <p:cNvSpPr/>
          <p:nvPr/>
        </p:nvSpPr>
        <p:spPr>
          <a:xfrm>
            <a:off x="4160520" y="352043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52043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1B-ESA (Conv1D)</a:t>
            </a:r>
          </a:p>
        </p:txBody>
      </p:sp>
      <p:sp>
        <p:nvSpPr>
          <p:cNvPr id="31" name="Rectangle 30"/>
          <p:cNvSpPr/>
          <p:nvPr/>
        </p:nvSpPr>
        <p:spPr>
          <a:xfrm>
            <a:off x="8001000" y="1481328"/>
            <a:ext cx="3822191" cy="22860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01000" y="1481328"/>
            <a:ext cx="91440" cy="2286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6" y="160020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Eğitim Protokolü</a:t>
            </a:r>
          </a:p>
        </p:txBody>
      </p:sp>
      <p:sp>
        <p:nvSpPr>
          <p:cNvPr id="34" name="TextBox 33"/>
          <p:cNvSpPr txBox="1"/>
          <p:nvPr/>
        </p:nvSpPr>
        <p:spPr>
          <a:xfrm>
            <a:off x="8220456" y="2029968"/>
            <a:ext cx="3438144" cy="1627632"/>
          </a:xfrm>
          <a:prstGeom prst="rect">
            <a:avLst/>
          </a:prstGeom>
          <a:noFill/>
        </p:spPr>
        <p:txBody>
          <a:bodyPr wrap="square" anchor="t" lIns="25400" rIns="25400">
            <a:spAutoFit/>
          </a:bodyPr>
          <a:lstStyle/>
          <a:p>
            <a:pPr algn="l">
              <a:spcBef>
                <a:spcPts val="0"/>
              </a:spcBef>
              <a:spcAft>
                <a:spcPts val="600"/>
              </a:spcAft>
            </a:pPr>
            <a:r>
              <a:rPr sz="1150" b="0" i="0">
                <a:solidFill>
                  <a:srgbClr val="242A30"/>
                </a:solidFill>
                <a:latin typeface="Calibri"/>
              </a:rPr>
              <a:t>Stratifiye 5-katlı CV</a:t>
            </a:r>
          </a:p>
          <a:p>
            <a:pPr algn="l">
              <a:spcBef>
                <a:spcPts val="0"/>
              </a:spcBef>
              <a:spcAft>
                <a:spcPts val="600"/>
              </a:spcAft>
            </a:pPr>
            <a:r>
              <a:rPr sz="1150" b="0" i="0">
                <a:solidFill>
                  <a:srgbClr val="242A30"/>
                </a:solidFill>
                <a:latin typeface="Calibri"/>
              </a:rPr>
              <a:t>Kat-içi StandardScaler</a:t>
            </a:r>
          </a:p>
          <a:p>
            <a:pPr algn="l">
              <a:spcBef>
                <a:spcPts val="0"/>
              </a:spcBef>
              <a:spcAft>
                <a:spcPts val="600"/>
              </a:spcAft>
            </a:pPr>
            <a:r>
              <a:rPr sz="1150" b="0" i="0">
                <a:solidFill>
                  <a:srgbClr val="242A30"/>
                </a:solidFill>
                <a:latin typeface="Calibri"/>
              </a:rPr>
              <a:t>Adam optimize edici (DL)</a:t>
            </a:r>
          </a:p>
          <a:p>
            <a:pPr algn="l">
              <a:spcBef>
                <a:spcPts val="0"/>
              </a:spcBef>
              <a:spcAft>
                <a:spcPts val="600"/>
              </a:spcAft>
            </a:pPr>
            <a:r>
              <a:rPr sz="1150" b="0" i="0">
                <a:solidFill>
                  <a:srgbClr val="242A30"/>
                </a:solidFill>
                <a:latin typeface="Calibri"/>
              </a:rPr>
              <a:t>class_weight + is_unbalance</a:t>
            </a:r>
          </a:p>
          <a:p>
            <a:pPr algn="l">
              <a:spcBef>
                <a:spcPts val="0"/>
              </a:spcBef>
              <a:spcAft>
                <a:spcPts val="600"/>
              </a:spcAft>
            </a:pPr>
            <a:r>
              <a:rPr sz="1150" b="0" i="0">
                <a:solidFill>
                  <a:srgbClr val="242A30"/>
                </a:solidFill>
                <a:latin typeface="Calibri"/>
              </a:rPr>
              <a:t>TreeSHAP açıklanabilirlik</a:t>
            </a:r>
          </a:p>
        </p:txBody>
      </p:sp>
      <p:sp>
        <p:nvSpPr>
          <p:cNvPr id="35" name="Rectangle 34"/>
          <p:cNvSpPr/>
          <p:nvPr/>
        </p:nvSpPr>
        <p:spPr>
          <a:xfrm>
            <a:off x="8001000" y="3950208"/>
            <a:ext cx="3822191"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01000" y="3950208"/>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406908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Eşik Optimizasyonu (Youden J)</a:t>
            </a:r>
          </a:p>
        </p:txBody>
      </p:sp>
      <p:sp>
        <p:nvSpPr>
          <p:cNvPr id="38" name="TextBox 37"/>
          <p:cNvSpPr txBox="1"/>
          <p:nvPr/>
        </p:nvSpPr>
        <p:spPr>
          <a:xfrm>
            <a:off x="8220456" y="4498848"/>
            <a:ext cx="3438144" cy="1581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J(θ) = TPR(θ) − FPR(θ)</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θ* = 0,4316  (varsayılan 0,5 yerine)</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Brier skoru = 0,083 → model iyi kalibre; güven düzeyleri gerçek doğruluğu yansıtır.</a:t>
            </a: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1" name="TextBox 40"/>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 — Model Karşılaştırması</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5-katlı çapraz doğrulama · ROC-AUC sırasına göre</a:t>
            </a:r>
          </a:p>
        </p:txBody>
      </p:sp>
      <p:sp>
        <p:nvSpPr>
          <p:cNvPr id="8" name="Rectangle 7"/>
          <p:cNvSpPr/>
          <p:nvPr/>
        </p:nvSpPr>
        <p:spPr>
          <a:xfrm>
            <a:off x="365760" y="1536192"/>
            <a:ext cx="548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36192"/>
            <a:ext cx="5486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a:t>
            </a:r>
          </a:p>
        </p:txBody>
      </p:sp>
      <p:sp>
        <p:nvSpPr>
          <p:cNvPr id="10" name="Rectangle 9"/>
          <p:cNvSpPr/>
          <p:nvPr/>
        </p:nvSpPr>
        <p:spPr>
          <a:xfrm>
            <a:off x="914400" y="1536192"/>
            <a:ext cx="2834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536192"/>
            <a:ext cx="2651760" cy="384048"/>
          </a:xfrm>
          <a:prstGeom prst="rect">
            <a:avLst/>
          </a:prstGeom>
          <a:noFill/>
        </p:spPr>
        <p:txBody>
          <a:bodyPr wrap="square" anchor="ctr" lIns="25400" rIns="25400" tIns="12700" bIns="12700">
            <a:spAutoFit/>
          </a:bodyPr>
          <a:lstStyle/>
          <a:p>
            <a:pPr algn="l"/>
            <a:r>
              <a:rPr sz="1150" b="1" i="0">
                <a:solidFill>
                  <a:srgbClr val="FFFFFF"/>
                </a:solidFill>
                <a:latin typeface="Calibri"/>
              </a:rPr>
              <a:t>Model</a:t>
            </a:r>
          </a:p>
        </p:txBody>
      </p:sp>
      <p:sp>
        <p:nvSpPr>
          <p:cNvPr id="12" name="Rectangle 11"/>
          <p:cNvSpPr/>
          <p:nvPr/>
        </p:nvSpPr>
        <p:spPr>
          <a:xfrm>
            <a:off x="3749039" y="1536192"/>
            <a:ext cx="9144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1536192"/>
            <a:ext cx="9144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Tip</a:t>
            </a:r>
          </a:p>
        </p:txBody>
      </p:sp>
      <p:sp>
        <p:nvSpPr>
          <p:cNvPr id="14" name="Rectangle 13"/>
          <p:cNvSpPr/>
          <p:nvPr/>
        </p:nvSpPr>
        <p:spPr>
          <a:xfrm>
            <a:off x="466344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53619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Doğruluk</a:t>
            </a:r>
          </a:p>
        </p:txBody>
      </p:sp>
      <p:sp>
        <p:nvSpPr>
          <p:cNvPr id="16" name="Rectangle 15"/>
          <p:cNvSpPr/>
          <p:nvPr/>
        </p:nvSpPr>
        <p:spPr>
          <a:xfrm>
            <a:off x="6446520" y="1536192"/>
            <a:ext cx="16002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536192"/>
            <a:ext cx="16002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8" name="Rectangle 17"/>
          <p:cNvSpPr/>
          <p:nvPr/>
        </p:nvSpPr>
        <p:spPr>
          <a:xfrm>
            <a:off x="804672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53619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20" name="Rectangle 19"/>
          <p:cNvSpPr/>
          <p:nvPr/>
        </p:nvSpPr>
        <p:spPr>
          <a:xfrm>
            <a:off x="9829800" y="1536192"/>
            <a:ext cx="16276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1536192"/>
            <a:ext cx="162763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Std</a:t>
            </a:r>
          </a:p>
        </p:txBody>
      </p:sp>
      <p:sp>
        <p:nvSpPr>
          <p:cNvPr id="22" name="Rectangle 21"/>
          <p:cNvSpPr/>
          <p:nvPr/>
        </p:nvSpPr>
        <p:spPr>
          <a:xfrm>
            <a:off x="365760" y="1920240"/>
            <a:ext cx="548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3192" y="1920240"/>
            <a:ext cx="49377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1</a:t>
            </a:r>
          </a:p>
        </p:txBody>
      </p:sp>
      <p:sp>
        <p:nvSpPr>
          <p:cNvPr id="24" name="Rectangle 23"/>
          <p:cNvSpPr/>
          <p:nvPr/>
        </p:nvSpPr>
        <p:spPr>
          <a:xfrm>
            <a:off x="914400" y="1920240"/>
            <a:ext cx="2834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1920240"/>
            <a:ext cx="2651760" cy="374904"/>
          </a:xfrm>
          <a:prstGeom prst="rect">
            <a:avLst/>
          </a:prstGeom>
          <a:noFill/>
        </p:spPr>
        <p:txBody>
          <a:bodyPr wrap="square" anchor="ctr" lIns="25400" rIns="25400" tIns="12700" bIns="12700">
            <a:spAutoFit/>
          </a:bodyPr>
          <a:lstStyle/>
          <a:p>
            <a:pPr algn="l"/>
            <a:r>
              <a:rPr sz="1100" b="1" i="0">
                <a:solidFill>
                  <a:srgbClr val="1B6E3C"/>
                </a:solidFill>
                <a:latin typeface="Calibri"/>
              </a:rPr>
              <a:t>LightGBM</a:t>
            </a:r>
          </a:p>
        </p:txBody>
      </p:sp>
      <p:sp>
        <p:nvSpPr>
          <p:cNvPr id="26" name="Rectangle 25"/>
          <p:cNvSpPr/>
          <p:nvPr/>
        </p:nvSpPr>
        <p:spPr>
          <a:xfrm>
            <a:off x="3749039" y="1920240"/>
            <a:ext cx="9144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76472" y="1920240"/>
            <a:ext cx="85953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ML</a:t>
            </a:r>
          </a:p>
        </p:txBody>
      </p:sp>
      <p:sp>
        <p:nvSpPr>
          <p:cNvPr id="28" name="Rectangle 27"/>
          <p:cNvSpPr/>
          <p:nvPr/>
        </p:nvSpPr>
        <p:spPr>
          <a:xfrm>
            <a:off x="466344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90872" y="1920240"/>
            <a:ext cx="172821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0,8839</a:t>
            </a:r>
          </a:p>
        </p:txBody>
      </p:sp>
      <p:sp>
        <p:nvSpPr>
          <p:cNvPr id="30" name="Rectangle 29"/>
          <p:cNvSpPr/>
          <p:nvPr/>
        </p:nvSpPr>
        <p:spPr>
          <a:xfrm>
            <a:off x="6446520" y="1920240"/>
            <a:ext cx="16002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73952" y="1920240"/>
            <a:ext cx="154533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0,8575</a:t>
            </a:r>
          </a:p>
        </p:txBody>
      </p:sp>
      <p:sp>
        <p:nvSpPr>
          <p:cNvPr id="32" name="Rectangle 31"/>
          <p:cNvSpPr/>
          <p:nvPr/>
        </p:nvSpPr>
        <p:spPr>
          <a:xfrm>
            <a:off x="804672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4152" y="1920240"/>
            <a:ext cx="172821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34" name="Rectangle 33"/>
          <p:cNvSpPr/>
          <p:nvPr/>
        </p:nvSpPr>
        <p:spPr>
          <a:xfrm>
            <a:off x="9829800" y="1920240"/>
            <a:ext cx="1627632"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57232" y="1920240"/>
            <a:ext cx="1572768"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±0,0023</a:t>
            </a:r>
          </a:p>
        </p:txBody>
      </p:sp>
      <p:sp>
        <p:nvSpPr>
          <p:cNvPr id="36" name="Rectangle 35"/>
          <p:cNvSpPr/>
          <p:nvPr/>
        </p:nvSpPr>
        <p:spPr>
          <a:xfrm>
            <a:off x="365760" y="2295144"/>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 y="2295144"/>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2</a:t>
            </a:r>
          </a:p>
        </p:txBody>
      </p:sp>
      <p:sp>
        <p:nvSpPr>
          <p:cNvPr id="38" name="Rectangle 37"/>
          <p:cNvSpPr/>
          <p:nvPr/>
        </p:nvSpPr>
        <p:spPr>
          <a:xfrm>
            <a:off x="914400" y="2295144"/>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295144"/>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Derin ÇKA</a:t>
            </a:r>
          </a:p>
        </p:txBody>
      </p:sp>
      <p:sp>
        <p:nvSpPr>
          <p:cNvPr id="40" name="Rectangle 39"/>
          <p:cNvSpPr/>
          <p:nvPr/>
        </p:nvSpPr>
        <p:spPr>
          <a:xfrm>
            <a:off x="3749039" y="2295144"/>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776472" y="2295144"/>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42" name="Rectangle 41"/>
          <p:cNvSpPr/>
          <p:nvPr/>
        </p:nvSpPr>
        <p:spPr>
          <a:xfrm>
            <a:off x="466344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90872" y="229514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0,8849</a:t>
            </a:r>
          </a:p>
        </p:txBody>
      </p:sp>
      <p:sp>
        <p:nvSpPr>
          <p:cNvPr id="44" name="Rectangle 43"/>
          <p:cNvSpPr/>
          <p:nvPr/>
        </p:nvSpPr>
        <p:spPr>
          <a:xfrm>
            <a:off x="6446520" y="2295144"/>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3952" y="2295144"/>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0,8596</a:t>
            </a:r>
          </a:p>
        </p:txBody>
      </p:sp>
      <p:sp>
        <p:nvSpPr>
          <p:cNvPr id="46" name="Rectangle 45"/>
          <p:cNvSpPr/>
          <p:nvPr/>
        </p:nvSpPr>
        <p:spPr>
          <a:xfrm>
            <a:off x="804672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229514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0,9542</a:t>
            </a:r>
          </a:p>
        </p:txBody>
      </p:sp>
      <p:sp>
        <p:nvSpPr>
          <p:cNvPr id="48" name="Rectangle 47"/>
          <p:cNvSpPr/>
          <p:nvPr/>
        </p:nvSpPr>
        <p:spPr>
          <a:xfrm>
            <a:off x="9829800" y="2295144"/>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57232" y="2295144"/>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±0,0036</a:t>
            </a:r>
          </a:p>
        </p:txBody>
      </p:sp>
      <p:sp>
        <p:nvSpPr>
          <p:cNvPr id="50" name="Rectangle 49"/>
          <p:cNvSpPr/>
          <p:nvPr/>
        </p:nvSpPr>
        <p:spPr>
          <a:xfrm>
            <a:off x="365760" y="2670048"/>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93192" y="2670048"/>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3</a:t>
            </a:r>
          </a:p>
        </p:txBody>
      </p:sp>
      <p:sp>
        <p:nvSpPr>
          <p:cNvPr id="52" name="Rectangle 51"/>
          <p:cNvSpPr/>
          <p:nvPr/>
        </p:nvSpPr>
        <p:spPr>
          <a:xfrm>
            <a:off x="914400" y="2670048"/>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2670048"/>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a:t>
            </a:r>
          </a:p>
        </p:txBody>
      </p:sp>
      <p:sp>
        <p:nvSpPr>
          <p:cNvPr id="54" name="Rectangle 53"/>
          <p:cNvSpPr/>
          <p:nvPr/>
        </p:nvSpPr>
        <p:spPr>
          <a:xfrm>
            <a:off x="3749039" y="2670048"/>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776472" y="2670048"/>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56" name="Rectangle 55"/>
          <p:cNvSpPr/>
          <p:nvPr/>
        </p:nvSpPr>
        <p:spPr>
          <a:xfrm>
            <a:off x="466344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0872" y="267004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0,8756</a:t>
            </a:r>
          </a:p>
        </p:txBody>
      </p:sp>
      <p:sp>
        <p:nvSpPr>
          <p:cNvPr id="58" name="Rectangle 57"/>
          <p:cNvSpPr/>
          <p:nvPr/>
        </p:nvSpPr>
        <p:spPr>
          <a:xfrm>
            <a:off x="6446520" y="2670048"/>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73952" y="2670048"/>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0,8476</a:t>
            </a:r>
          </a:p>
        </p:txBody>
      </p:sp>
      <p:sp>
        <p:nvSpPr>
          <p:cNvPr id="60" name="Rectangle 59"/>
          <p:cNvSpPr/>
          <p:nvPr/>
        </p:nvSpPr>
        <p:spPr>
          <a:xfrm>
            <a:off x="804672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74152" y="267004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0,9485</a:t>
            </a:r>
          </a:p>
        </p:txBody>
      </p:sp>
      <p:sp>
        <p:nvSpPr>
          <p:cNvPr id="62" name="Rectangle 61"/>
          <p:cNvSpPr/>
          <p:nvPr/>
        </p:nvSpPr>
        <p:spPr>
          <a:xfrm>
            <a:off x="9829800" y="2670048"/>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857232" y="2670048"/>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±0,0048</a:t>
            </a:r>
          </a:p>
        </p:txBody>
      </p:sp>
      <p:sp>
        <p:nvSpPr>
          <p:cNvPr id="64" name="Rectangle 63"/>
          <p:cNvSpPr/>
          <p:nvPr/>
        </p:nvSpPr>
        <p:spPr>
          <a:xfrm>
            <a:off x="365760" y="3044952"/>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93192" y="3044952"/>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4</a:t>
            </a:r>
          </a:p>
        </p:txBody>
      </p:sp>
      <p:sp>
        <p:nvSpPr>
          <p:cNvPr id="66" name="Rectangle 65"/>
          <p:cNvSpPr/>
          <p:nvPr/>
        </p:nvSpPr>
        <p:spPr>
          <a:xfrm>
            <a:off x="914400" y="3044952"/>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05840" y="3044952"/>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XGBoost</a:t>
            </a:r>
          </a:p>
        </p:txBody>
      </p:sp>
      <p:sp>
        <p:nvSpPr>
          <p:cNvPr id="68" name="Rectangle 67"/>
          <p:cNvSpPr/>
          <p:nvPr/>
        </p:nvSpPr>
        <p:spPr>
          <a:xfrm>
            <a:off x="3749039" y="3044952"/>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76472" y="3044952"/>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70" name="Rectangle 69"/>
          <p:cNvSpPr/>
          <p:nvPr/>
        </p:nvSpPr>
        <p:spPr>
          <a:xfrm>
            <a:off x="466344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90872" y="304495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0,8751</a:t>
            </a:r>
          </a:p>
        </p:txBody>
      </p:sp>
      <p:sp>
        <p:nvSpPr>
          <p:cNvPr id="72" name="Rectangle 71"/>
          <p:cNvSpPr/>
          <p:nvPr/>
        </p:nvSpPr>
        <p:spPr>
          <a:xfrm>
            <a:off x="6446520" y="3044952"/>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73952" y="3044952"/>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0,8408</a:t>
            </a:r>
          </a:p>
        </p:txBody>
      </p:sp>
      <p:sp>
        <p:nvSpPr>
          <p:cNvPr id="74" name="Rectangle 73"/>
          <p:cNvSpPr/>
          <p:nvPr/>
        </p:nvSpPr>
        <p:spPr>
          <a:xfrm>
            <a:off x="804672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074152" y="304495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0,9465</a:t>
            </a:r>
          </a:p>
        </p:txBody>
      </p:sp>
      <p:sp>
        <p:nvSpPr>
          <p:cNvPr id="76" name="Rectangle 75"/>
          <p:cNvSpPr/>
          <p:nvPr/>
        </p:nvSpPr>
        <p:spPr>
          <a:xfrm>
            <a:off x="9829800" y="3044952"/>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857232" y="3044952"/>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±0,0029</a:t>
            </a:r>
          </a:p>
        </p:txBody>
      </p:sp>
      <p:sp>
        <p:nvSpPr>
          <p:cNvPr id="78" name="Rectangle 77"/>
          <p:cNvSpPr/>
          <p:nvPr/>
        </p:nvSpPr>
        <p:spPr>
          <a:xfrm>
            <a:off x="365760" y="3419856"/>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93192" y="3419856"/>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5</a:t>
            </a:r>
          </a:p>
        </p:txBody>
      </p:sp>
      <p:sp>
        <p:nvSpPr>
          <p:cNvPr id="80" name="Rectangle 79"/>
          <p:cNvSpPr/>
          <p:nvPr/>
        </p:nvSpPr>
        <p:spPr>
          <a:xfrm>
            <a:off x="914400" y="3419856"/>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05840" y="3419856"/>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Gradyan Artırma</a:t>
            </a:r>
          </a:p>
        </p:txBody>
      </p:sp>
      <p:sp>
        <p:nvSpPr>
          <p:cNvPr id="82" name="Rectangle 81"/>
          <p:cNvSpPr/>
          <p:nvPr/>
        </p:nvSpPr>
        <p:spPr>
          <a:xfrm>
            <a:off x="3749039" y="3419856"/>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776472" y="3419856"/>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84" name="Rectangle 83"/>
          <p:cNvSpPr/>
          <p:nvPr/>
        </p:nvSpPr>
        <p:spPr>
          <a:xfrm>
            <a:off x="466344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90872" y="341985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0,8685</a:t>
            </a:r>
          </a:p>
        </p:txBody>
      </p:sp>
      <p:sp>
        <p:nvSpPr>
          <p:cNvPr id="86" name="Rectangle 85"/>
          <p:cNvSpPr/>
          <p:nvPr/>
        </p:nvSpPr>
        <p:spPr>
          <a:xfrm>
            <a:off x="6446520" y="3419856"/>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73952" y="3419856"/>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0,8337</a:t>
            </a:r>
          </a:p>
        </p:txBody>
      </p:sp>
      <p:sp>
        <p:nvSpPr>
          <p:cNvPr id="88" name="Rectangle 87"/>
          <p:cNvSpPr/>
          <p:nvPr/>
        </p:nvSpPr>
        <p:spPr>
          <a:xfrm>
            <a:off x="804672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074152" y="341985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0,9397</a:t>
            </a:r>
          </a:p>
        </p:txBody>
      </p:sp>
      <p:sp>
        <p:nvSpPr>
          <p:cNvPr id="90" name="Rectangle 89"/>
          <p:cNvSpPr/>
          <p:nvPr/>
        </p:nvSpPr>
        <p:spPr>
          <a:xfrm>
            <a:off x="9829800" y="3419856"/>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57232" y="3419856"/>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±0,0038</a:t>
            </a:r>
          </a:p>
        </p:txBody>
      </p:sp>
      <p:sp>
        <p:nvSpPr>
          <p:cNvPr id="92" name="Rectangle 91"/>
          <p:cNvSpPr/>
          <p:nvPr/>
        </p:nvSpPr>
        <p:spPr>
          <a:xfrm>
            <a:off x="365760" y="3794760"/>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93192" y="3794760"/>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6</a:t>
            </a:r>
          </a:p>
        </p:txBody>
      </p:sp>
      <p:sp>
        <p:nvSpPr>
          <p:cNvPr id="94" name="Rectangle 93"/>
          <p:cNvSpPr/>
          <p:nvPr/>
        </p:nvSpPr>
        <p:spPr>
          <a:xfrm>
            <a:off x="914400" y="3794760"/>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05840" y="3794760"/>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Rastgele Orman</a:t>
            </a:r>
          </a:p>
        </p:txBody>
      </p:sp>
      <p:sp>
        <p:nvSpPr>
          <p:cNvPr id="96" name="Rectangle 95"/>
          <p:cNvSpPr/>
          <p:nvPr/>
        </p:nvSpPr>
        <p:spPr>
          <a:xfrm>
            <a:off x="3749039" y="3794760"/>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776472" y="3794760"/>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98" name="Rectangle 97"/>
          <p:cNvSpPr/>
          <p:nvPr/>
        </p:nvSpPr>
        <p:spPr>
          <a:xfrm>
            <a:off x="466344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690872" y="379476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0,8606</a:t>
            </a:r>
          </a:p>
        </p:txBody>
      </p:sp>
      <p:sp>
        <p:nvSpPr>
          <p:cNvPr id="100" name="Rectangle 99"/>
          <p:cNvSpPr/>
          <p:nvPr/>
        </p:nvSpPr>
        <p:spPr>
          <a:xfrm>
            <a:off x="6446520" y="3794760"/>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73952" y="3794760"/>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0,8183</a:t>
            </a:r>
          </a:p>
        </p:txBody>
      </p:sp>
      <p:sp>
        <p:nvSpPr>
          <p:cNvPr id="102" name="Rectangle 101"/>
          <p:cNvSpPr/>
          <p:nvPr/>
        </p:nvSpPr>
        <p:spPr>
          <a:xfrm>
            <a:off x="804672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074152" y="379476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0,9394</a:t>
            </a:r>
          </a:p>
        </p:txBody>
      </p:sp>
      <p:sp>
        <p:nvSpPr>
          <p:cNvPr id="104" name="Rectangle 103"/>
          <p:cNvSpPr/>
          <p:nvPr/>
        </p:nvSpPr>
        <p:spPr>
          <a:xfrm>
            <a:off x="9829800" y="3794760"/>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857232" y="3794760"/>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±0,0051</a:t>
            </a:r>
          </a:p>
        </p:txBody>
      </p:sp>
      <p:sp>
        <p:nvSpPr>
          <p:cNvPr id="106" name="Rectangle 105"/>
          <p:cNvSpPr/>
          <p:nvPr/>
        </p:nvSpPr>
        <p:spPr>
          <a:xfrm>
            <a:off x="365760" y="4169664"/>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93192" y="4169664"/>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7</a:t>
            </a:r>
          </a:p>
        </p:txBody>
      </p:sp>
      <p:sp>
        <p:nvSpPr>
          <p:cNvPr id="108" name="Rectangle 107"/>
          <p:cNvSpPr/>
          <p:nvPr/>
        </p:nvSpPr>
        <p:spPr>
          <a:xfrm>
            <a:off x="914400" y="4169664"/>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05840" y="4169664"/>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a:t>
            </a:r>
          </a:p>
        </p:txBody>
      </p:sp>
      <p:sp>
        <p:nvSpPr>
          <p:cNvPr id="110" name="Rectangle 109"/>
          <p:cNvSpPr/>
          <p:nvPr/>
        </p:nvSpPr>
        <p:spPr>
          <a:xfrm>
            <a:off x="3749039" y="4169664"/>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776472" y="4169664"/>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12" name="Rectangle 111"/>
          <p:cNvSpPr/>
          <p:nvPr/>
        </p:nvSpPr>
        <p:spPr>
          <a:xfrm>
            <a:off x="466344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690872" y="416966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0,8628</a:t>
            </a:r>
          </a:p>
        </p:txBody>
      </p:sp>
      <p:sp>
        <p:nvSpPr>
          <p:cNvPr id="114" name="Rectangle 113"/>
          <p:cNvSpPr/>
          <p:nvPr/>
        </p:nvSpPr>
        <p:spPr>
          <a:xfrm>
            <a:off x="6446520" y="4169664"/>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473952" y="4169664"/>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0,8293</a:t>
            </a:r>
          </a:p>
        </p:txBody>
      </p:sp>
      <p:sp>
        <p:nvSpPr>
          <p:cNvPr id="116" name="Rectangle 115"/>
          <p:cNvSpPr/>
          <p:nvPr/>
        </p:nvSpPr>
        <p:spPr>
          <a:xfrm>
            <a:off x="804672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8074152" y="416966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0,9359</a:t>
            </a:r>
          </a:p>
        </p:txBody>
      </p:sp>
      <p:sp>
        <p:nvSpPr>
          <p:cNvPr id="118" name="Rectangle 117"/>
          <p:cNvSpPr/>
          <p:nvPr/>
        </p:nvSpPr>
        <p:spPr>
          <a:xfrm>
            <a:off x="9829800" y="4169664"/>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57232" y="4169664"/>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±0,0059</a:t>
            </a:r>
          </a:p>
        </p:txBody>
      </p:sp>
      <p:sp>
        <p:nvSpPr>
          <p:cNvPr id="120" name="Rectangle 119"/>
          <p:cNvSpPr/>
          <p:nvPr/>
        </p:nvSpPr>
        <p:spPr>
          <a:xfrm>
            <a:off x="365760" y="4544568"/>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93192" y="4544568"/>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8</a:t>
            </a:r>
          </a:p>
        </p:txBody>
      </p:sp>
      <p:sp>
        <p:nvSpPr>
          <p:cNvPr id="122" name="Rectangle 121"/>
          <p:cNvSpPr/>
          <p:nvPr/>
        </p:nvSpPr>
        <p:spPr>
          <a:xfrm>
            <a:off x="914400" y="4544568"/>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005840" y="4544568"/>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SVM-RBF</a:t>
            </a:r>
          </a:p>
        </p:txBody>
      </p:sp>
      <p:sp>
        <p:nvSpPr>
          <p:cNvPr id="124" name="Rectangle 123"/>
          <p:cNvSpPr/>
          <p:nvPr/>
        </p:nvSpPr>
        <p:spPr>
          <a:xfrm>
            <a:off x="3749039" y="4544568"/>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3776472" y="4544568"/>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26" name="Rectangle 125"/>
          <p:cNvSpPr/>
          <p:nvPr/>
        </p:nvSpPr>
        <p:spPr>
          <a:xfrm>
            <a:off x="466344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690872" y="454456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0,8612</a:t>
            </a:r>
          </a:p>
        </p:txBody>
      </p:sp>
      <p:sp>
        <p:nvSpPr>
          <p:cNvPr id="128" name="Rectangle 127"/>
          <p:cNvSpPr/>
          <p:nvPr/>
        </p:nvSpPr>
        <p:spPr>
          <a:xfrm>
            <a:off x="6446520" y="4544568"/>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473952" y="4544568"/>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0,8252</a:t>
            </a:r>
          </a:p>
        </p:txBody>
      </p:sp>
      <p:sp>
        <p:nvSpPr>
          <p:cNvPr id="130" name="Rectangle 129"/>
          <p:cNvSpPr/>
          <p:nvPr/>
        </p:nvSpPr>
        <p:spPr>
          <a:xfrm>
            <a:off x="804672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8074152" y="454456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0,9346</a:t>
            </a:r>
          </a:p>
        </p:txBody>
      </p:sp>
      <p:sp>
        <p:nvSpPr>
          <p:cNvPr id="132" name="Rectangle 131"/>
          <p:cNvSpPr/>
          <p:nvPr/>
        </p:nvSpPr>
        <p:spPr>
          <a:xfrm>
            <a:off x="9829800" y="4544568"/>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857232" y="4544568"/>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±0,0075</a:t>
            </a:r>
          </a:p>
        </p:txBody>
      </p:sp>
      <p:sp>
        <p:nvSpPr>
          <p:cNvPr id="134" name="Rectangle 133"/>
          <p:cNvSpPr/>
          <p:nvPr/>
        </p:nvSpPr>
        <p:spPr>
          <a:xfrm>
            <a:off x="365760" y="4919472"/>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93192" y="4919472"/>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9</a:t>
            </a:r>
          </a:p>
        </p:txBody>
      </p:sp>
      <p:sp>
        <p:nvSpPr>
          <p:cNvPr id="136" name="Rectangle 135"/>
          <p:cNvSpPr/>
          <p:nvPr/>
        </p:nvSpPr>
        <p:spPr>
          <a:xfrm>
            <a:off x="914400" y="4919472"/>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005840" y="4919472"/>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ÇKA Sinir Ağı</a:t>
            </a:r>
          </a:p>
        </p:txBody>
      </p:sp>
      <p:sp>
        <p:nvSpPr>
          <p:cNvPr id="138" name="Rectangle 137"/>
          <p:cNvSpPr/>
          <p:nvPr/>
        </p:nvSpPr>
        <p:spPr>
          <a:xfrm>
            <a:off x="3749039" y="4919472"/>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776472" y="4919472"/>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40" name="Rectangle 139"/>
          <p:cNvSpPr/>
          <p:nvPr/>
        </p:nvSpPr>
        <p:spPr>
          <a:xfrm>
            <a:off x="466344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4690872" y="491947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0,8566</a:t>
            </a:r>
          </a:p>
        </p:txBody>
      </p:sp>
      <p:sp>
        <p:nvSpPr>
          <p:cNvPr id="142" name="Rectangle 141"/>
          <p:cNvSpPr/>
          <p:nvPr/>
        </p:nvSpPr>
        <p:spPr>
          <a:xfrm>
            <a:off x="6446520" y="4919472"/>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6473952" y="4919472"/>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0,8189</a:t>
            </a:r>
          </a:p>
        </p:txBody>
      </p:sp>
      <p:sp>
        <p:nvSpPr>
          <p:cNvPr id="144" name="Rectangle 143"/>
          <p:cNvSpPr/>
          <p:nvPr/>
        </p:nvSpPr>
        <p:spPr>
          <a:xfrm>
            <a:off x="804672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074152" y="491947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0,9276</a:t>
            </a:r>
          </a:p>
        </p:txBody>
      </p:sp>
      <p:sp>
        <p:nvSpPr>
          <p:cNvPr id="146" name="Rectangle 145"/>
          <p:cNvSpPr/>
          <p:nvPr/>
        </p:nvSpPr>
        <p:spPr>
          <a:xfrm>
            <a:off x="9829800" y="4919472"/>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857232" y="4919472"/>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±0,0061</a:t>
            </a:r>
          </a:p>
        </p:txBody>
      </p:sp>
      <p:sp>
        <p:nvSpPr>
          <p:cNvPr id="148" name="Rectangle 147"/>
          <p:cNvSpPr/>
          <p:nvPr/>
        </p:nvSpPr>
        <p:spPr>
          <a:xfrm>
            <a:off x="365760" y="5294376"/>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192" y="5294376"/>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10</a:t>
            </a:r>
          </a:p>
        </p:txBody>
      </p:sp>
      <p:sp>
        <p:nvSpPr>
          <p:cNvPr id="150" name="Rectangle 149"/>
          <p:cNvSpPr/>
          <p:nvPr/>
        </p:nvSpPr>
        <p:spPr>
          <a:xfrm>
            <a:off x="914400" y="5294376"/>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05840" y="5294376"/>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1B-ESA</a:t>
            </a:r>
          </a:p>
        </p:txBody>
      </p:sp>
      <p:sp>
        <p:nvSpPr>
          <p:cNvPr id="152" name="Rectangle 151"/>
          <p:cNvSpPr/>
          <p:nvPr/>
        </p:nvSpPr>
        <p:spPr>
          <a:xfrm>
            <a:off x="3749039" y="5294376"/>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3776472" y="5294376"/>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54" name="Rectangle 153"/>
          <p:cNvSpPr/>
          <p:nvPr/>
        </p:nvSpPr>
        <p:spPr>
          <a:xfrm>
            <a:off x="466344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690872" y="529437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0,7665</a:t>
            </a:r>
          </a:p>
        </p:txBody>
      </p:sp>
      <p:sp>
        <p:nvSpPr>
          <p:cNvPr id="156" name="Rectangle 155"/>
          <p:cNvSpPr/>
          <p:nvPr/>
        </p:nvSpPr>
        <p:spPr>
          <a:xfrm>
            <a:off x="6446520" y="5294376"/>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473952" y="5294376"/>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0,7159</a:t>
            </a:r>
          </a:p>
        </p:txBody>
      </p:sp>
      <p:sp>
        <p:nvSpPr>
          <p:cNvPr id="158" name="Rectangle 157"/>
          <p:cNvSpPr/>
          <p:nvPr/>
        </p:nvSpPr>
        <p:spPr>
          <a:xfrm>
            <a:off x="804672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074152" y="529437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0,8543</a:t>
            </a:r>
          </a:p>
        </p:txBody>
      </p:sp>
      <p:sp>
        <p:nvSpPr>
          <p:cNvPr id="160" name="Rectangle 159"/>
          <p:cNvSpPr/>
          <p:nvPr/>
        </p:nvSpPr>
        <p:spPr>
          <a:xfrm>
            <a:off x="9829800" y="5294376"/>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57232" y="5294376"/>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±0,0087</a:t>
            </a:r>
          </a:p>
        </p:txBody>
      </p:sp>
      <p:sp>
        <p:nvSpPr>
          <p:cNvPr id="162" name="Rectangle 161"/>
          <p:cNvSpPr/>
          <p:nvPr/>
        </p:nvSpPr>
        <p:spPr>
          <a:xfrm>
            <a:off x="365760" y="5669280"/>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393192" y="5669280"/>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11</a:t>
            </a:r>
          </a:p>
        </p:txBody>
      </p:sp>
      <p:sp>
        <p:nvSpPr>
          <p:cNvPr id="164" name="Rectangle 163"/>
          <p:cNvSpPr/>
          <p:nvPr/>
        </p:nvSpPr>
        <p:spPr>
          <a:xfrm>
            <a:off x="914400" y="5669280"/>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005840" y="5669280"/>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Lojistik Regresyon</a:t>
            </a:r>
          </a:p>
        </p:txBody>
      </p:sp>
      <p:sp>
        <p:nvSpPr>
          <p:cNvPr id="166" name="Rectangle 165"/>
          <p:cNvSpPr/>
          <p:nvPr/>
        </p:nvSpPr>
        <p:spPr>
          <a:xfrm>
            <a:off x="3749039" y="5669280"/>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3776472" y="5669280"/>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68" name="Rectangle 167"/>
          <p:cNvSpPr/>
          <p:nvPr/>
        </p:nvSpPr>
        <p:spPr>
          <a:xfrm>
            <a:off x="466344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4690872" y="566928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0,7779</a:t>
            </a:r>
          </a:p>
        </p:txBody>
      </p:sp>
      <p:sp>
        <p:nvSpPr>
          <p:cNvPr id="170" name="Rectangle 169"/>
          <p:cNvSpPr/>
          <p:nvPr/>
        </p:nvSpPr>
        <p:spPr>
          <a:xfrm>
            <a:off x="6446520" y="5669280"/>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473952" y="5669280"/>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0,7390</a:t>
            </a:r>
          </a:p>
        </p:txBody>
      </p:sp>
      <p:sp>
        <p:nvSpPr>
          <p:cNvPr id="172" name="Rectangle 171"/>
          <p:cNvSpPr/>
          <p:nvPr/>
        </p:nvSpPr>
        <p:spPr>
          <a:xfrm>
            <a:off x="804672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8074152" y="566928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0,8515</a:t>
            </a:r>
          </a:p>
        </p:txBody>
      </p:sp>
      <p:sp>
        <p:nvSpPr>
          <p:cNvPr id="174" name="Rectangle 173"/>
          <p:cNvSpPr/>
          <p:nvPr/>
        </p:nvSpPr>
        <p:spPr>
          <a:xfrm>
            <a:off x="9829800" y="5669280"/>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857232" y="5669280"/>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±0,0042</a:t>
            </a:r>
          </a:p>
        </p:txBody>
      </p:sp>
      <p:sp>
        <p:nvSpPr>
          <p:cNvPr id="176" name="TextBox 175"/>
          <p:cNvSpPr txBox="1"/>
          <p:nvPr/>
        </p:nvSpPr>
        <p:spPr>
          <a:xfrm>
            <a:off x="365760" y="6053328"/>
            <a:ext cx="11430000" cy="310896"/>
          </a:xfrm>
          <a:prstGeom prst="rect">
            <a:avLst/>
          </a:prstGeom>
          <a:noFill/>
        </p:spPr>
        <p:txBody>
          <a:bodyPr wrap="square" anchor="t" lIns="25400" rIns="25400" tIns="12700" bIns="12700">
            <a:spAutoFit/>
          </a:bodyPr>
          <a:lstStyle/>
          <a:p>
            <a:pPr algn="l"/>
            <a:r>
              <a:rPr sz="1050" b="0" i="1">
                <a:solidFill>
                  <a:srgbClr val="6A7480"/>
                </a:solidFill>
                <a:latin typeface="Calibri"/>
              </a:rPr>
              <a:t>LightGBM en yüksek ROC-AUC (0,9548) ve en düşük varyans (±0,0023) — yüksek performans istikrarsız optimumlardan değil, sağlam öznitelik temsilinden geliyor.</a:t>
            </a:r>
          </a:p>
        </p:txBody>
      </p:sp>
      <p:sp>
        <p:nvSpPr>
          <p:cNvPr id="177" name="Rectangle 17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79" name="TextBox 17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ROC Eğrileri ve Karmaşıklık Matrisi</a:t>
            </a:r>
          </a:p>
        </p:txBody>
      </p:sp>
      <p:sp>
        <p:nvSpPr>
          <p:cNvPr id="7" name="Rectangle 6"/>
          <p:cNvSpPr/>
          <p:nvPr/>
        </p:nvSpPr>
        <p:spPr>
          <a:xfrm>
            <a:off x="668184" y="1581912"/>
            <a:ext cx="4790110" cy="402335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roc_curves.png"/>
          <p:cNvPicPr>
            <a:picLocks noChangeAspect="1"/>
          </p:cNvPicPr>
          <p:nvPr/>
        </p:nvPicPr>
        <p:blipFill>
          <a:blip r:embed="rId2"/>
          <a:stretch>
            <a:fillRect/>
          </a:stretch>
        </p:blipFill>
        <p:spPr>
          <a:xfrm>
            <a:off x="713904" y="1627632"/>
            <a:ext cx="4698670" cy="3931920"/>
          </a:xfrm>
          <a:prstGeom prst="rect">
            <a:avLst/>
          </a:prstGeom>
        </p:spPr>
      </p:pic>
      <p:sp>
        <p:nvSpPr>
          <p:cNvPr id="9" name="TextBox 8"/>
          <p:cNvSpPr txBox="1"/>
          <p:nvPr/>
        </p:nvSpPr>
        <p:spPr>
          <a:xfrm>
            <a:off x="365760" y="5614416"/>
            <a:ext cx="53949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4: Makine öğrenmesi ROC eğrileri</a:t>
            </a:r>
          </a:p>
        </p:txBody>
      </p:sp>
      <p:sp>
        <p:nvSpPr>
          <p:cNvPr id="10" name="Rectangle 9"/>
          <p:cNvSpPr/>
          <p:nvPr/>
        </p:nvSpPr>
        <p:spPr>
          <a:xfrm>
            <a:off x="5943600" y="1705852"/>
            <a:ext cx="4206240" cy="3775478"/>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per_confusion_matrix_lightgbm.png"/>
          <p:cNvPicPr>
            <a:picLocks noChangeAspect="1"/>
          </p:cNvPicPr>
          <p:nvPr/>
        </p:nvPicPr>
        <p:blipFill>
          <a:blip r:embed="rId3"/>
          <a:stretch>
            <a:fillRect/>
          </a:stretch>
        </p:blipFill>
        <p:spPr>
          <a:xfrm>
            <a:off x="5989320" y="1751572"/>
            <a:ext cx="4114800" cy="3684038"/>
          </a:xfrm>
          <a:prstGeom prst="rect">
            <a:avLst/>
          </a:prstGeom>
        </p:spPr>
      </p:pic>
      <p:sp>
        <p:nvSpPr>
          <p:cNvPr id="12" name="TextBox 11"/>
          <p:cNvSpPr txBox="1"/>
          <p:nvPr/>
        </p:nvSpPr>
        <p:spPr>
          <a:xfrm>
            <a:off x="5989320" y="5490475"/>
            <a:ext cx="41148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8: LightGBM karmaşıklık matrisi (θ*=0,4316)</a:t>
            </a:r>
          </a:p>
        </p:txBody>
      </p:sp>
      <p:sp>
        <p:nvSpPr>
          <p:cNvPr id="13" name="Rectangle 12"/>
          <p:cNvSpPr/>
          <p:nvPr/>
        </p:nvSpPr>
        <p:spPr>
          <a:xfrm>
            <a:off x="10287000" y="1627632"/>
            <a:ext cx="1536192" cy="39319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1627632"/>
            <a:ext cx="91440" cy="3931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06456" y="1746504"/>
            <a:ext cx="1170431" cy="365760"/>
          </a:xfrm>
          <a:prstGeom prst="rect">
            <a:avLst/>
          </a:prstGeom>
          <a:noFill/>
        </p:spPr>
        <p:txBody>
          <a:bodyPr wrap="square" anchor="t" lIns="25400" rIns="25400" tIns="12700" bIns="12700">
            <a:spAutoFit/>
          </a:bodyPr>
          <a:lstStyle/>
          <a:p>
            <a:pPr algn="l"/>
            <a:r>
              <a:rPr sz="1200" b="1" i="0">
                <a:solidFill>
                  <a:srgbClr val="102A4C"/>
                </a:solidFill>
                <a:latin typeface="Calibri"/>
              </a:rPr>
              <a:t>Matris</a:t>
            </a:r>
          </a:p>
        </p:txBody>
      </p:sp>
      <p:sp>
        <p:nvSpPr>
          <p:cNvPr id="16" name="TextBox 15"/>
          <p:cNvSpPr txBox="1"/>
          <p:nvPr/>
        </p:nvSpPr>
        <p:spPr>
          <a:xfrm>
            <a:off x="10506456" y="2176272"/>
            <a:ext cx="1152144" cy="3273552"/>
          </a:xfrm>
          <a:prstGeom prst="rect">
            <a:avLst/>
          </a:prstGeom>
          <a:noFill/>
        </p:spPr>
        <p:txBody>
          <a:bodyPr wrap="square" anchor="t" lIns="25400" rIns="25400">
            <a:spAutoFit/>
          </a:bodyPr>
          <a:lstStyle/>
          <a:p>
            <a:pPr algn="l">
              <a:spcBef>
                <a:spcPts val="0"/>
              </a:spcBef>
              <a:spcAft>
                <a:spcPts val="200"/>
              </a:spcAft>
            </a:pPr>
            <a:r>
              <a:rPr sz="1000" b="0" i="0">
                <a:solidFill>
                  <a:srgbClr val="242A30"/>
                </a:solidFill>
                <a:latin typeface="Calibri"/>
              </a:rPr>
              <a:t>DN 2.721</a:t>
            </a:r>
          </a:p>
          <a:p>
            <a:pPr algn="l">
              <a:spcBef>
                <a:spcPts val="0"/>
              </a:spcBef>
              <a:spcAft>
                <a:spcPts val="200"/>
              </a:spcAft>
            </a:pPr>
            <a:r>
              <a:rPr sz="1000" b="0" i="0">
                <a:solidFill>
                  <a:srgbClr val="242A30"/>
                </a:solidFill>
                <a:latin typeface="Calibri"/>
              </a:rPr>
              <a:t>(%87,4)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DP 1.862</a:t>
            </a:r>
          </a:p>
          <a:p>
            <a:pPr algn="l">
              <a:spcBef>
                <a:spcPts val="0"/>
              </a:spcBef>
              <a:spcAft>
                <a:spcPts val="200"/>
              </a:spcAft>
            </a:pPr>
            <a:r>
              <a:rPr sz="1000" b="0" i="0">
                <a:solidFill>
                  <a:srgbClr val="242A30"/>
                </a:solidFill>
                <a:latin typeface="Calibri"/>
              </a:rPr>
              <a:t>(%89,4)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YP 392</a:t>
            </a:r>
          </a:p>
          <a:p>
            <a:pPr algn="l">
              <a:spcBef>
                <a:spcPts val="0"/>
              </a:spcBef>
              <a:spcAft>
                <a:spcPts val="200"/>
              </a:spcAft>
            </a:pPr>
            <a:r>
              <a:rPr sz="1000" b="0" i="0">
                <a:solidFill>
                  <a:srgbClr val="242A30"/>
                </a:solidFill>
                <a:latin typeface="Calibri"/>
              </a:rPr>
              <a:t>(%12,6)</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YN 220</a:t>
            </a:r>
          </a:p>
          <a:p>
            <a:pPr algn="l">
              <a:spcBef>
                <a:spcPts val="0"/>
              </a:spcBef>
              <a:spcAft>
                <a:spcPts val="200"/>
              </a:spcAft>
            </a:pPr>
            <a:r>
              <a:rPr sz="1000" b="0" i="0">
                <a:solidFill>
                  <a:srgbClr val="242A30"/>
                </a:solidFill>
                <a:latin typeface="Calibri"/>
              </a:rPr>
              <a:t>(%10,6)</a:t>
            </a:r>
          </a:p>
        </p:txBody>
      </p:sp>
      <p:sp>
        <p:nvSpPr>
          <p:cNvPr id="17" name="Rectangle 1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9" name="TextBox 1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9</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Açıklanabilirlik — SHAP / TreeSHAP</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En belirleyici öznitelik: spectral_flatness_std</a:t>
            </a:r>
          </a:p>
        </p:txBody>
      </p:sp>
      <p:sp>
        <p:nvSpPr>
          <p:cNvPr id="8" name="Rectangle 7"/>
          <p:cNvSpPr/>
          <p:nvPr/>
        </p:nvSpPr>
        <p:spPr>
          <a:xfrm>
            <a:off x="991653" y="1581912"/>
            <a:ext cx="4051733" cy="429767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p_summary.png"/>
          <p:cNvPicPr>
            <a:picLocks noChangeAspect="1"/>
          </p:cNvPicPr>
          <p:nvPr/>
        </p:nvPicPr>
        <p:blipFill>
          <a:blip r:embed="rId2"/>
          <a:stretch>
            <a:fillRect/>
          </a:stretch>
        </p:blipFill>
        <p:spPr>
          <a:xfrm>
            <a:off x="1037373" y="1627632"/>
            <a:ext cx="3960293" cy="4206240"/>
          </a:xfrm>
          <a:prstGeom prst="rect">
            <a:avLst/>
          </a:prstGeom>
        </p:spPr>
      </p:pic>
      <p:sp>
        <p:nvSpPr>
          <p:cNvPr id="10" name="TextBox 9"/>
          <p:cNvSpPr txBox="1"/>
          <p:nvPr/>
        </p:nvSpPr>
        <p:spPr>
          <a:xfrm>
            <a:off x="365760" y="5888736"/>
            <a:ext cx="530352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7: TreeSHAP global etki diyagramı</a:t>
            </a:r>
          </a:p>
        </p:txBody>
      </p:sp>
      <p:sp>
        <p:nvSpPr>
          <p:cNvPr id="11" name="TextBox 10"/>
          <p:cNvSpPr txBox="1"/>
          <p:nvPr/>
        </p:nvSpPr>
        <p:spPr>
          <a:xfrm>
            <a:off x="5943600" y="1554480"/>
            <a:ext cx="5852160" cy="329184"/>
          </a:xfrm>
          <a:prstGeom prst="rect">
            <a:avLst/>
          </a:prstGeom>
          <a:noFill/>
        </p:spPr>
        <p:txBody>
          <a:bodyPr wrap="square" anchor="t" lIns="25400" rIns="25400" tIns="12700" bIns="12700">
            <a:spAutoFit/>
          </a:bodyPr>
          <a:lstStyle/>
          <a:p>
            <a:pPr algn="l"/>
            <a:r>
              <a:rPr sz="1300" b="1" i="0">
                <a:solidFill>
                  <a:srgbClr val="102A4C"/>
                </a:solidFill>
                <a:latin typeface="Calibri"/>
              </a:rPr>
              <a:t>İlk 10 Öznitelik — Tablo 6</a:t>
            </a:r>
          </a:p>
        </p:txBody>
      </p:sp>
      <p:sp>
        <p:nvSpPr>
          <p:cNvPr id="12" name="Rectangle 11"/>
          <p:cNvSpPr/>
          <p:nvPr/>
        </p:nvSpPr>
        <p:spPr>
          <a:xfrm>
            <a:off x="5943600" y="1938528"/>
            <a:ext cx="50292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938528"/>
            <a:ext cx="50292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t>
            </a:r>
          </a:p>
        </p:txBody>
      </p:sp>
      <p:sp>
        <p:nvSpPr>
          <p:cNvPr id="14" name="Rectangle 13"/>
          <p:cNvSpPr/>
          <p:nvPr/>
        </p:nvSpPr>
        <p:spPr>
          <a:xfrm>
            <a:off x="6446520" y="1938528"/>
            <a:ext cx="30632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938528"/>
            <a:ext cx="2880360" cy="384048"/>
          </a:xfrm>
          <a:prstGeom prst="rect">
            <a:avLst/>
          </a:prstGeom>
          <a:noFill/>
        </p:spPr>
        <p:txBody>
          <a:bodyPr wrap="square" anchor="ctr" lIns="25400" rIns="25400" tIns="12700" bIns="12700">
            <a:spAutoFit/>
          </a:bodyPr>
          <a:lstStyle/>
          <a:p>
            <a:pPr algn="l"/>
            <a:r>
              <a:rPr sz="1050" b="1" i="0">
                <a:solidFill>
                  <a:srgbClr val="FFFFFF"/>
                </a:solidFill>
                <a:latin typeface="Calibri"/>
              </a:rPr>
              <a:t>Öznitelik</a:t>
            </a:r>
          </a:p>
        </p:txBody>
      </p:sp>
      <p:sp>
        <p:nvSpPr>
          <p:cNvPr id="16" name="Rectangle 15"/>
          <p:cNvSpPr/>
          <p:nvPr/>
        </p:nvSpPr>
        <p:spPr>
          <a:xfrm>
            <a:off x="9509760" y="1938528"/>
            <a:ext cx="1143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1938528"/>
            <a:ext cx="114300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Önem</a:t>
            </a:r>
          </a:p>
        </p:txBody>
      </p:sp>
      <p:sp>
        <p:nvSpPr>
          <p:cNvPr id="18" name="Rectangle 17"/>
          <p:cNvSpPr/>
          <p:nvPr/>
        </p:nvSpPr>
        <p:spPr>
          <a:xfrm>
            <a:off x="10652760" y="1938528"/>
            <a:ext cx="11704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52760" y="1938528"/>
            <a:ext cx="1170432"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Aile</a:t>
            </a:r>
          </a:p>
        </p:txBody>
      </p:sp>
      <p:sp>
        <p:nvSpPr>
          <p:cNvPr id="20" name="Rectangle 19"/>
          <p:cNvSpPr/>
          <p:nvPr/>
        </p:nvSpPr>
        <p:spPr>
          <a:xfrm>
            <a:off x="5943600" y="2322576"/>
            <a:ext cx="50292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1032" y="2322576"/>
            <a:ext cx="44805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1</a:t>
            </a:r>
          </a:p>
        </p:txBody>
      </p:sp>
      <p:sp>
        <p:nvSpPr>
          <p:cNvPr id="22" name="Rectangle 21"/>
          <p:cNvSpPr/>
          <p:nvPr/>
        </p:nvSpPr>
        <p:spPr>
          <a:xfrm>
            <a:off x="6446520" y="2322576"/>
            <a:ext cx="306324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59" y="2322576"/>
            <a:ext cx="2880360" cy="365760"/>
          </a:xfrm>
          <a:prstGeom prst="rect">
            <a:avLst/>
          </a:prstGeom>
          <a:noFill/>
        </p:spPr>
        <p:txBody>
          <a:bodyPr wrap="square" anchor="ctr" lIns="25400" rIns="25400" tIns="12700" bIns="12700">
            <a:spAutoFit/>
          </a:bodyPr>
          <a:lstStyle/>
          <a:p>
            <a:pPr algn="l"/>
            <a:r>
              <a:rPr sz="1000" b="1" i="0">
                <a:solidFill>
                  <a:srgbClr val="1B6E3C"/>
                </a:solidFill>
                <a:latin typeface="Calibri"/>
              </a:rPr>
              <a:t>spectral_flatness_std</a:t>
            </a:r>
          </a:p>
        </p:txBody>
      </p:sp>
      <p:sp>
        <p:nvSpPr>
          <p:cNvPr id="24" name="Rectangle 23"/>
          <p:cNvSpPr/>
          <p:nvPr/>
        </p:nvSpPr>
        <p:spPr>
          <a:xfrm>
            <a:off x="9509760" y="2322576"/>
            <a:ext cx="114300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37192" y="2322576"/>
            <a:ext cx="108813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0,0619</a:t>
            </a:r>
          </a:p>
        </p:txBody>
      </p:sp>
      <p:sp>
        <p:nvSpPr>
          <p:cNvPr id="26" name="Rectangle 25"/>
          <p:cNvSpPr/>
          <p:nvPr/>
        </p:nvSpPr>
        <p:spPr>
          <a:xfrm>
            <a:off x="10652760" y="2322576"/>
            <a:ext cx="1170432"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80192" y="2322576"/>
            <a:ext cx="1115568"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Spektral</a:t>
            </a:r>
          </a:p>
        </p:txBody>
      </p:sp>
      <p:sp>
        <p:nvSpPr>
          <p:cNvPr id="28" name="Rectangle 27"/>
          <p:cNvSpPr/>
          <p:nvPr/>
        </p:nvSpPr>
        <p:spPr>
          <a:xfrm>
            <a:off x="5943600" y="268833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71032" y="26883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2</a:t>
            </a:r>
          </a:p>
        </p:txBody>
      </p:sp>
      <p:sp>
        <p:nvSpPr>
          <p:cNvPr id="30" name="Rectangle 29"/>
          <p:cNvSpPr/>
          <p:nvPr/>
        </p:nvSpPr>
        <p:spPr>
          <a:xfrm>
            <a:off x="6446520" y="268833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59" y="26883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spectral_contrast_mean</a:t>
            </a:r>
          </a:p>
        </p:txBody>
      </p:sp>
      <p:sp>
        <p:nvSpPr>
          <p:cNvPr id="32" name="Rectangle 31"/>
          <p:cNvSpPr/>
          <p:nvPr/>
        </p:nvSpPr>
        <p:spPr>
          <a:xfrm>
            <a:off x="9509760" y="268833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37192" y="26883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0,0467</a:t>
            </a:r>
          </a:p>
        </p:txBody>
      </p:sp>
      <p:sp>
        <p:nvSpPr>
          <p:cNvPr id="34" name="Rectangle 33"/>
          <p:cNvSpPr/>
          <p:nvPr/>
        </p:nvSpPr>
        <p:spPr>
          <a:xfrm>
            <a:off x="10652760" y="268833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0192" y="26883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36" name="Rectangle 35"/>
          <p:cNvSpPr/>
          <p:nvPr/>
        </p:nvSpPr>
        <p:spPr>
          <a:xfrm>
            <a:off x="5943600" y="305409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71032" y="30540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3</a:t>
            </a:r>
          </a:p>
        </p:txBody>
      </p:sp>
      <p:sp>
        <p:nvSpPr>
          <p:cNvPr id="38" name="Rectangle 37"/>
          <p:cNvSpPr/>
          <p:nvPr/>
        </p:nvSpPr>
        <p:spPr>
          <a:xfrm>
            <a:off x="6446520" y="305409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37959" y="30540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rms_energy</a:t>
            </a:r>
          </a:p>
        </p:txBody>
      </p:sp>
      <p:sp>
        <p:nvSpPr>
          <p:cNvPr id="40" name="Rectangle 39"/>
          <p:cNvSpPr/>
          <p:nvPr/>
        </p:nvSpPr>
        <p:spPr>
          <a:xfrm>
            <a:off x="9509760" y="305409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7192" y="30540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0,0456</a:t>
            </a:r>
          </a:p>
        </p:txBody>
      </p:sp>
      <p:sp>
        <p:nvSpPr>
          <p:cNvPr id="42" name="Rectangle 41"/>
          <p:cNvSpPr/>
          <p:nvPr/>
        </p:nvSpPr>
        <p:spPr>
          <a:xfrm>
            <a:off x="10652760" y="305409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0192" y="30540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44" name="Rectangle 43"/>
          <p:cNvSpPr/>
          <p:nvPr/>
        </p:nvSpPr>
        <p:spPr>
          <a:xfrm>
            <a:off x="5943600" y="341985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1032" y="34198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4</a:t>
            </a:r>
          </a:p>
        </p:txBody>
      </p:sp>
      <p:sp>
        <p:nvSpPr>
          <p:cNvPr id="46" name="Rectangle 45"/>
          <p:cNvSpPr/>
          <p:nvPr/>
        </p:nvSpPr>
        <p:spPr>
          <a:xfrm>
            <a:off x="6446520" y="341985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59" y="34198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onset_strength_std</a:t>
            </a:r>
          </a:p>
        </p:txBody>
      </p:sp>
      <p:sp>
        <p:nvSpPr>
          <p:cNvPr id="48" name="Rectangle 47"/>
          <p:cNvSpPr/>
          <p:nvPr/>
        </p:nvSpPr>
        <p:spPr>
          <a:xfrm>
            <a:off x="9509760" y="341985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37192" y="34198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0,0388</a:t>
            </a:r>
          </a:p>
        </p:txBody>
      </p:sp>
      <p:sp>
        <p:nvSpPr>
          <p:cNvPr id="50" name="Rectangle 49"/>
          <p:cNvSpPr/>
          <p:nvPr/>
        </p:nvSpPr>
        <p:spPr>
          <a:xfrm>
            <a:off x="10652760" y="341985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680192" y="34198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52" name="Rectangle 51"/>
          <p:cNvSpPr/>
          <p:nvPr/>
        </p:nvSpPr>
        <p:spPr>
          <a:xfrm>
            <a:off x="5943600" y="3785615"/>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71032" y="3785615"/>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5</a:t>
            </a:r>
          </a:p>
        </p:txBody>
      </p:sp>
      <p:sp>
        <p:nvSpPr>
          <p:cNvPr id="54" name="Rectangle 53"/>
          <p:cNvSpPr/>
          <p:nvPr/>
        </p:nvSpPr>
        <p:spPr>
          <a:xfrm>
            <a:off x="6446520" y="3785615"/>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59" y="3785615"/>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spectral_flatness_mean</a:t>
            </a:r>
          </a:p>
        </p:txBody>
      </p:sp>
      <p:sp>
        <p:nvSpPr>
          <p:cNvPr id="56" name="Rectangle 55"/>
          <p:cNvSpPr/>
          <p:nvPr/>
        </p:nvSpPr>
        <p:spPr>
          <a:xfrm>
            <a:off x="9509760" y="3785615"/>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37192" y="3785615"/>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0,0370</a:t>
            </a:r>
          </a:p>
        </p:txBody>
      </p:sp>
      <p:sp>
        <p:nvSpPr>
          <p:cNvPr id="58" name="Rectangle 57"/>
          <p:cNvSpPr/>
          <p:nvPr/>
        </p:nvSpPr>
        <p:spPr>
          <a:xfrm>
            <a:off x="10652760" y="3785615"/>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80192" y="3785615"/>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60" name="Rectangle 59"/>
          <p:cNvSpPr/>
          <p:nvPr/>
        </p:nvSpPr>
        <p:spPr>
          <a:xfrm>
            <a:off x="5943600" y="415137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971032" y="415137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6</a:t>
            </a:r>
          </a:p>
        </p:txBody>
      </p:sp>
      <p:sp>
        <p:nvSpPr>
          <p:cNvPr id="62" name="Rectangle 61"/>
          <p:cNvSpPr/>
          <p:nvPr/>
        </p:nvSpPr>
        <p:spPr>
          <a:xfrm>
            <a:off x="6446520" y="415137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37959" y="415137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rms_dynamic_range</a:t>
            </a:r>
          </a:p>
        </p:txBody>
      </p:sp>
      <p:sp>
        <p:nvSpPr>
          <p:cNvPr id="64" name="Rectangle 63"/>
          <p:cNvSpPr/>
          <p:nvPr/>
        </p:nvSpPr>
        <p:spPr>
          <a:xfrm>
            <a:off x="9509760" y="415137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37192" y="415137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0,0346</a:t>
            </a:r>
          </a:p>
        </p:txBody>
      </p:sp>
      <p:sp>
        <p:nvSpPr>
          <p:cNvPr id="66" name="Rectangle 65"/>
          <p:cNvSpPr/>
          <p:nvPr/>
        </p:nvSpPr>
        <p:spPr>
          <a:xfrm>
            <a:off x="10652760" y="415137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80192" y="415137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68" name="Rectangle 67"/>
          <p:cNvSpPr/>
          <p:nvPr/>
        </p:nvSpPr>
        <p:spPr>
          <a:xfrm>
            <a:off x="5943600" y="451713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71032" y="45171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7</a:t>
            </a:r>
          </a:p>
        </p:txBody>
      </p:sp>
      <p:sp>
        <p:nvSpPr>
          <p:cNvPr id="70" name="Rectangle 69"/>
          <p:cNvSpPr/>
          <p:nvPr/>
        </p:nvSpPr>
        <p:spPr>
          <a:xfrm>
            <a:off x="6446520" y="451713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37959" y="45171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onset_strength_mean</a:t>
            </a:r>
          </a:p>
        </p:txBody>
      </p:sp>
      <p:sp>
        <p:nvSpPr>
          <p:cNvPr id="72" name="Rectangle 71"/>
          <p:cNvSpPr/>
          <p:nvPr/>
        </p:nvSpPr>
        <p:spPr>
          <a:xfrm>
            <a:off x="9509760" y="451713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537192" y="45171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0,0332</a:t>
            </a:r>
          </a:p>
        </p:txBody>
      </p:sp>
      <p:sp>
        <p:nvSpPr>
          <p:cNvPr id="74" name="Rectangle 73"/>
          <p:cNvSpPr/>
          <p:nvPr/>
        </p:nvSpPr>
        <p:spPr>
          <a:xfrm>
            <a:off x="10652760" y="451713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680192" y="45171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76" name="Rectangle 75"/>
          <p:cNvSpPr/>
          <p:nvPr/>
        </p:nvSpPr>
        <p:spPr>
          <a:xfrm>
            <a:off x="5943600" y="488289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71032" y="48828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8</a:t>
            </a:r>
          </a:p>
        </p:txBody>
      </p:sp>
      <p:sp>
        <p:nvSpPr>
          <p:cNvPr id="78" name="Rectangle 77"/>
          <p:cNvSpPr/>
          <p:nvPr/>
        </p:nvSpPr>
        <p:spPr>
          <a:xfrm>
            <a:off x="6446520" y="488289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537959" y="48828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rms_std</a:t>
            </a:r>
          </a:p>
        </p:txBody>
      </p:sp>
      <p:sp>
        <p:nvSpPr>
          <p:cNvPr id="80" name="Rectangle 79"/>
          <p:cNvSpPr/>
          <p:nvPr/>
        </p:nvSpPr>
        <p:spPr>
          <a:xfrm>
            <a:off x="9509760" y="488289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537192" y="48828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82" name="Rectangle 81"/>
          <p:cNvSpPr/>
          <p:nvPr/>
        </p:nvSpPr>
        <p:spPr>
          <a:xfrm>
            <a:off x="10652760" y="488289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680192" y="48828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84" name="Rectangle 83"/>
          <p:cNvSpPr/>
          <p:nvPr/>
        </p:nvSpPr>
        <p:spPr>
          <a:xfrm>
            <a:off x="5943600" y="524865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971032" y="52486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9</a:t>
            </a:r>
          </a:p>
        </p:txBody>
      </p:sp>
      <p:sp>
        <p:nvSpPr>
          <p:cNvPr id="86" name="Rectangle 85"/>
          <p:cNvSpPr/>
          <p:nvPr/>
        </p:nvSpPr>
        <p:spPr>
          <a:xfrm>
            <a:off x="6446520" y="524865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37959" y="52486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beat_count</a:t>
            </a:r>
          </a:p>
        </p:txBody>
      </p:sp>
      <p:sp>
        <p:nvSpPr>
          <p:cNvPr id="88" name="Rectangle 87"/>
          <p:cNvSpPr/>
          <p:nvPr/>
        </p:nvSpPr>
        <p:spPr>
          <a:xfrm>
            <a:off x="9509760" y="524865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537192" y="52486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90" name="Rectangle 89"/>
          <p:cNvSpPr/>
          <p:nvPr/>
        </p:nvSpPr>
        <p:spPr>
          <a:xfrm>
            <a:off x="10652760" y="524865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680192" y="52486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92" name="Rectangle 91"/>
          <p:cNvSpPr/>
          <p:nvPr/>
        </p:nvSpPr>
        <p:spPr>
          <a:xfrm>
            <a:off x="5943600" y="561441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971032" y="561441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10</a:t>
            </a:r>
          </a:p>
        </p:txBody>
      </p:sp>
      <p:sp>
        <p:nvSpPr>
          <p:cNvPr id="94" name="Rectangle 93"/>
          <p:cNvSpPr/>
          <p:nvPr/>
        </p:nvSpPr>
        <p:spPr>
          <a:xfrm>
            <a:off x="6446520" y="561441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59" y="561441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mfcc_delta_var</a:t>
            </a:r>
          </a:p>
        </p:txBody>
      </p:sp>
      <p:sp>
        <p:nvSpPr>
          <p:cNvPr id="96" name="Rectangle 95"/>
          <p:cNvSpPr/>
          <p:nvPr/>
        </p:nvSpPr>
        <p:spPr>
          <a:xfrm>
            <a:off x="9509760" y="561441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537192" y="561441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0,0289</a:t>
            </a:r>
          </a:p>
        </p:txBody>
      </p:sp>
      <p:sp>
        <p:nvSpPr>
          <p:cNvPr id="98" name="Rectangle 97"/>
          <p:cNvSpPr/>
          <p:nvPr/>
        </p:nvSpPr>
        <p:spPr>
          <a:xfrm>
            <a:off x="10652760" y="561441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680192" y="561441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100" name="TextBox 99"/>
          <p:cNvSpPr txBox="1"/>
          <p:nvPr/>
        </p:nvSpPr>
        <p:spPr>
          <a:xfrm>
            <a:off x="5943600" y="5943600"/>
            <a:ext cx="5852160" cy="457200"/>
          </a:xfrm>
          <a:prstGeom prst="rect">
            <a:avLst/>
          </a:prstGeom>
          <a:noFill/>
        </p:spPr>
        <p:txBody>
          <a:bodyPr wrap="square" anchor="t" lIns="25400" rIns="25400" tIns="12700" bIns="12700">
            <a:spAutoFit/>
          </a:bodyPr>
          <a:lstStyle/>
          <a:p>
            <a:pPr algn="l"/>
            <a:r>
              <a:rPr sz="1050" b="0" i="1">
                <a:solidFill>
                  <a:srgbClr val="6A7480"/>
                </a:solidFill>
                <a:latin typeface="Calibri"/>
              </a:rPr>
              <a:t>Yüksek spectral_flatness_std değerleri modeli YZ sınıfına yönlendiriyor — bağımsız ses deepfake literatürüyle [16] örtüşüyor.</a:t>
            </a:r>
          </a:p>
        </p:txBody>
      </p:sp>
      <p:sp>
        <p:nvSpPr>
          <p:cNvPr id="101" name="Rectangle 10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03" name="TextBox 10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10</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Tanılayıcı Analizler</a:t>
            </a:r>
          </a:p>
        </p:txBody>
      </p:sp>
      <p:sp>
        <p:nvSpPr>
          <p:cNvPr id="7" name="Rectangle 6"/>
          <p:cNvSpPr/>
          <p:nvPr/>
        </p:nvSpPr>
        <p:spPr>
          <a:xfrm>
            <a:off x="365760" y="1600200"/>
            <a:ext cx="5623560" cy="214884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4884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Kaynak Bazlı Performans (Şekil 13)</a:t>
            </a:r>
          </a:p>
        </p:txBody>
      </p:sp>
      <p:sp>
        <p:nvSpPr>
          <p:cNvPr id="10" name="TextBox 9"/>
          <p:cNvSpPr txBox="1"/>
          <p:nvPr/>
        </p:nvSpPr>
        <p:spPr>
          <a:xfrm>
            <a:off x="585216" y="2148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Suno parçaları:  %93,0 duyarlılık</a:t>
            </a:r>
          </a:p>
          <a:p>
            <a:pPr algn="l">
              <a:spcBef>
                <a:spcPts val="0"/>
              </a:spcBef>
              <a:spcAft>
                <a:spcPts val="400"/>
              </a:spcAft>
            </a:pPr>
            <a:r>
              <a:rPr sz="1100" b="0" i="0">
                <a:solidFill>
                  <a:srgbClr val="242A30"/>
                </a:solidFill>
                <a:latin typeface="Calibri"/>
              </a:rPr>
              <a:t>Echoes alt kümesi:  %88,6 duyarlılık</a:t>
            </a:r>
          </a:p>
          <a:p>
            <a:pPr algn="l">
              <a:spcBef>
                <a:spcPts val="0"/>
              </a:spcBef>
              <a:spcAft>
                <a:spcPts val="400"/>
              </a:spcAft>
            </a:pPr>
            <a:r>
              <a:rPr sz="1100" b="0" i="0">
                <a:solidFill>
                  <a:srgbClr val="242A30"/>
                </a:solidFill>
                <a:latin typeface="Calibri"/>
              </a:rPr>
              <a:t>Deepfake alt kümesi:  %50,0 duyarlılık</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Deepfake düşüşü genel başarısızlık değil; bu küme konuşma deepfake'inden türetilmiş, müzik üretim imzalarını taşımıyor (dağılım kayması).</a:t>
            </a:r>
          </a:p>
        </p:txBody>
      </p:sp>
      <p:sp>
        <p:nvSpPr>
          <p:cNvPr id="11" name="Rectangle 10"/>
          <p:cNvSpPr/>
          <p:nvPr/>
        </p:nvSpPr>
        <p:spPr>
          <a:xfrm>
            <a:off x="365760" y="3886200"/>
            <a:ext cx="5623560" cy="214884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886200"/>
            <a:ext cx="91440" cy="214884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4005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Aşırı Uyum Tanısı (Şekil 14)</a:t>
            </a:r>
          </a:p>
        </p:txBody>
      </p:sp>
      <p:sp>
        <p:nvSpPr>
          <p:cNvPr id="14" name="TextBox 13"/>
          <p:cNvSpPr txBox="1"/>
          <p:nvPr/>
        </p:nvSpPr>
        <p:spPr>
          <a:xfrm>
            <a:off x="585216" y="4434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Ağaç modellerinde eğitim ile CV doğruluğu arasında 8–14 puanlık açık var.</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Rastgele Orman uç örnek: eğitim %100 → CV %86,1.</a:t>
            </a:r>
          </a:p>
          <a:p>
            <a:pPr algn="l">
              <a:spcBef>
                <a:spcPts val="0"/>
              </a:spcBef>
              <a:spcAft>
                <a:spcPts val="400"/>
              </a:spcAft>
            </a:pPr>
            <a:r>
              <a:rPr sz="1100" b="0" i="0">
                <a:solidFill>
                  <a:srgbClr val="242A30"/>
                </a:solidFill>
                <a:latin typeface="Calibri"/>
              </a:rPr>
              <a:t>Lojistik Regresyon en dengeli (0,6 puan) ama düşük kapasiteli.</a:t>
            </a:r>
          </a:p>
        </p:txBody>
      </p:sp>
      <p:sp>
        <p:nvSpPr>
          <p:cNvPr id="15" name="Rectangle 14"/>
          <p:cNvSpPr/>
          <p:nvPr/>
        </p:nvSpPr>
        <p:spPr>
          <a:xfrm>
            <a:off x="7033019" y="1581912"/>
            <a:ext cx="3901920" cy="2743200"/>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hreshold_sweep.png"/>
          <p:cNvPicPr>
            <a:picLocks noChangeAspect="1"/>
          </p:cNvPicPr>
          <p:nvPr/>
        </p:nvPicPr>
        <p:blipFill>
          <a:blip r:embed="rId2"/>
          <a:stretch>
            <a:fillRect/>
          </a:stretch>
        </p:blipFill>
        <p:spPr>
          <a:xfrm>
            <a:off x="7078739" y="1627632"/>
            <a:ext cx="3810480" cy="2651760"/>
          </a:xfrm>
          <a:prstGeom prst="rect">
            <a:avLst/>
          </a:prstGeom>
        </p:spPr>
      </p:pic>
      <p:sp>
        <p:nvSpPr>
          <p:cNvPr id="17" name="TextBox 16"/>
          <p:cNvSpPr txBox="1"/>
          <p:nvPr/>
        </p:nvSpPr>
        <p:spPr>
          <a:xfrm>
            <a:off x="6172200" y="4334255"/>
            <a:ext cx="56235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12: Karar eşiği taraması (0,40–0,50 platosu)</a:t>
            </a:r>
          </a:p>
        </p:txBody>
      </p:sp>
      <p:sp>
        <p:nvSpPr>
          <p:cNvPr id="18" name="Rectangle 17"/>
          <p:cNvSpPr/>
          <p:nvPr/>
        </p:nvSpPr>
        <p:spPr>
          <a:xfrm>
            <a:off x="6172200" y="4617720"/>
            <a:ext cx="5623560"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4617720"/>
            <a:ext cx="91440" cy="14173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473659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Öznitelik Sayısı Analizi (Şekil 16)</a:t>
            </a:r>
          </a:p>
        </p:txBody>
      </p:sp>
      <p:sp>
        <p:nvSpPr>
          <p:cNvPr id="21" name="TextBox 20"/>
          <p:cNvSpPr txBox="1"/>
          <p:nvPr/>
        </p:nvSpPr>
        <p:spPr>
          <a:xfrm>
            <a:off x="6391656" y="5166359"/>
            <a:ext cx="5239512" cy="75895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Doğruluk N=30'da platoya ulaşıyor; son 17 özniteliğin ölçülebilir katkısı yok. Gelecek yinelemede ~30 öznitelikle benzer doğruluk elde edilebilir.</a:t>
            </a:r>
          </a:p>
        </p:txBody>
      </p:sp>
      <p:sp>
        <p:nvSpPr>
          <p:cNvPr id="22" name="Rectangle 2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4" name="TextBox 23"/>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İlgili Çalışmalarla Karşılaştırma — Tablo 7</a:t>
            </a:r>
          </a:p>
        </p:txBody>
      </p:sp>
      <p:sp>
        <p:nvSpPr>
          <p:cNvPr id="7" name="Rectangle 6"/>
          <p:cNvSpPr/>
          <p:nvPr/>
        </p:nvSpPr>
        <p:spPr>
          <a:xfrm>
            <a:off x="365760" y="1627632"/>
            <a:ext cx="26517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27632"/>
            <a:ext cx="2468879" cy="384048"/>
          </a:xfrm>
          <a:prstGeom prst="rect">
            <a:avLst/>
          </a:prstGeom>
          <a:noFill/>
        </p:spPr>
        <p:txBody>
          <a:bodyPr wrap="square" anchor="ctr" lIns="25400" rIns="25400" tIns="12700" bIns="12700">
            <a:spAutoFit/>
          </a:bodyPr>
          <a:lstStyle/>
          <a:p>
            <a:pPr algn="l"/>
            <a:r>
              <a:rPr sz="1150" b="1" i="0">
                <a:solidFill>
                  <a:srgbClr val="FFFFFF"/>
                </a:solidFill>
                <a:latin typeface="Calibri"/>
              </a:rPr>
              <a:t>Çalışma</a:t>
            </a:r>
          </a:p>
        </p:txBody>
      </p:sp>
      <p:sp>
        <p:nvSpPr>
          <p:cNvPr id="9" name="Rectangle 8"/>
          <p:cNvSpPr/>
          <p:nvPr/>
        </p:nvSpPr>
        <p:spPr>
          <a:xfrm>
            <a:off x="3017520" y="1627632"/>
            <a:ext cx="33832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1627632"/>
            <a:ext cx="3200400" cy="384048"/>
          </a:xfrm>
          <a:prstGeom prst="rect">
            <a:avLst/>
          </a:prstGeom>
          <a:noFill/>
        </p:spPr>
        <p:txBody>
          <a:bodyPr wrap="square" anchor="ctr" lIns="25400" rIns="25400" tIns="12700" bIns="12700">
            <a:spAutoFit/>
          </a:bodyPr>
          <a:lstStyle/>
          <a:p>
            <a:pPr algn="l"/>
            <a:r>
              <a:rPr sz="1150" b="1" i="0">
                <a:solidFill>
                  <a:srgbClr val="FFFFFF"/>
                </a:solidFill>
                <a:latin typeface="Calibri"/>
              </a:rPr>
              <a:t>Yaklaşım</a:t>
            </a:r>
          </a:p>
        </p:txBody>
      </p:sp>
      <p:sp>
        <p:nvSpPr>
          <p:cNvPr id="11" name="Rectangle 10"/>
          <p:cNvSpPr/>
          <p:nvPr/>
        </p:nvSpPr>
        <p:spPr>
          <a:xfrm>
            <a:off x="640080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27632"/>
            <a:ext cx="18288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Veri Kümesi</a:t>
            </a:r>
          </a:p>
        </p:txBody>
      </p:sp>
      <p:sp>
        <p:nvSpPr>
          <p:cNvPr id="13" name="Rectangle 12"/>
          <p:cNvSpPr/>
          <p:nvPr/>
        </p:nvSpPr>
        <p:spPr>
          <a:xfrm>
            <a:off x="8229600" y="162763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2763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15" name="Rectangle 14"/>
          <p:cNvSpPr/>
          <p:nvPr/>
        </p:nvSpPr>
        <p:spPr>
          <a:xfrm>
            <a:off x="10012680" y="1627632"/>
            <a:ext cx="181051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1627632"/>
            <a:ext cx="181051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7" name="Rectangle 16"/>
          <p:cNvSpPr/>
          <p:nvPr/>
        </p:nvSpPr>
        <p:spPr>
          <a:xfrm>
            <a:off x="365760" y="2011680"/>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011680"/>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Afchar vd. [5]</a:t>
            </a:r>
          </a:p>
        </p:txBody>
      </p:sp>
      <p:sp>
        <p:nvSpPr>
          <p:cNvPr id="19" name="Rectangle 18"/>
          <p:cNvSpPr/>
          <p:nvPr/>
        </p:nvSpPr>
        <p:spPr>
          <a:xfrm>
            <a:off x="3017520" y="2011680"/>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2011680"/>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Oto-kodlayıcı artefakt</a:t>
            </a:r>
          </a:p>
        </p:txBody>
      </p:sp>
      <p:sp>
        <p:nvSpPr>
          <p:cNvPr id="21" name="Rectangle 20"/>
          <p:cNvSpPr/>
          <p:nvPr/>
        </p:nvSpPr>
        <p:spPr>
          <a:xfrm>
            <a:off x="6400800" y="2011680"/>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011680"/>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23" name="Rectangle 22"/>
          <p:cNvSpPr/>
          <p:nvPr/>
        </p:nvSpPr>
        <p:spPr>
          <a:xfrm>
            <a:off x="8229600" y="2011680"/>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2011680"/>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25" name="Rectangle 24"/>
          <p:cNvSpPr/>
          <p:nvPr/>
        </p:nvSpPr>
        <p:spPr>
          <a:xfrm>
            <a:off x="10012680" y="2011680"/>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40111" y="2011680"/>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0,872</a:t>
            </a:r>
          </a:p>
        </p:txBody>
      </p:sp>
      <p:sp>
        <p:nvSpPr>
          <p:cNvPr id="27" name="Rectangle 26"/>
          <p:cNvSpPr/>
          <p:nvPr/>
        </p:nvSpPr>
        <p:spPr>
          <a:xfrm>
            <a:off x="365760" y="2578608"/>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2578608"/>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Li vd. [22]</a:t>
            </a:r>
          </a:p>
        </p:txBody>
      </p:sp>
      <p:sp>
        <p:nvSpPr>
          <p:cNvPr id="29" name="Rectangle 28"/>
          <p:cNvSpPr/>
          <p:nvPr/>
        </p:nvSpPr>
        <p:spPr>
          <a:xfrm>
            <a:off x="3017520" y="2578608"/>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0" y="2578608"/>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Açıklanabilir öznitelik + ML</a:t>
            </a:r>
          </a:p>
        </p:txBody>
      </p:sp>
      <p:sp>
        <p:nvSpPr>
          <p:cNvPr id="31" name="Rectangle 30"/>
          <p:cNvSpPr/>
          <p:nvPr/>
        </p:nvSpPr>
        <p:spPr>
          <a:xfrm>
            <a:off x="6400800" y="2578608"/>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2578608"/>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33" name="Rectangle 32"/>
          <p:cNvSpPr/>
          <p:nvPr/>
        </p:nvSpPr>
        <p:spPr>
          <a:xfrm>
            <a:off x="8229600" y="2578608"/>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2578608"/>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0,931</a:t>
            </a:r>
          </a:p>
        </p:txBody>
      </p:sp>
      <p:sp>
        <p:nvSpPr>
          <p:cNvPr id="35" name="Rectangle 34"/>
          <p:cNvSpPr/>
          <p:nvPr/>
        </p:nvSpPr>
        <p:spPr>
          <a:xfrm>
            <a:off x="10012680" y="2578608"/>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40111" y="2578608"/>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0,884</a:t>
            </a:r>
          </a:p>
        </p:txBody>
      </p:sp>
      <p:sp>
        <p:nvSpPr>
          <p:cNvPr id="37" name="Rectangle 36"/>
          <p:cNvSpPr/>
          <p:nvPr/>
        </p:nvSpPr>
        <p:spPr>
          <a:xfrm>
            <a:off x="365760" y="3145536"/>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3145536"/>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Cros Vila vd. [33]</a:t>
            </a:r>
          </a:p>
        </p:txBody>
      </p:sp>
      <p:sp>
        <p:nvSpPr>
          <p:cNvPr id="39" name="Rectangle 38"/>
          <p:cNvSpPr/>
          <p:nvPr/>
        </p:nvSpPr>
        <p:spPr>
          <a:xfrm>
            <a:off x="3017520" y="3145536"/>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3145536"/>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Spektral + ritmik + SVM</a:t>
            </a:r>
          </a:p>
        </p:txBody>
      </p:sp>
      <p:sp>
        <p:nvSpPr>
          <p:cNvPr id="41" name="Rectangle 40"/>
          <p:cNvSpPr/>
          <p:nvPr/>
        </p:nvSpPr>
        <p:spPr>
          <a:xfrm>
            <a:off x="6400800" y="3145536"/>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28232" y="3145536"/>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43" name="Rectangle 42"/>
          <p:cNvSpPr/>
          <p:nvPr/>
        </p:nvSpPr>
        <p:spPr>
          <a:xfrm>
            <a:off x="8229600" y="3145536"/>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57031" y="3145536"/>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0,941</a:t>
            </a:r>
          </a:p>
        </p:txBody>
      </p:sp>
      <p:sp>
        <p:nvSpPr>
          <p:cNvPr id="45" name="Rectangle 44"/>
          <p:cNvSpPr/>
          <p:nvPr/>
        </p:nvSpPr>
        <p:spPr>
          <a:xfrm>
            <a:off x="10012680" y="3145536"/>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40111" y="3145536"/>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47" name="Rectangle 46"/>
          <p:cNvSpPr/>
          <p:nvPr/>
        </p:nvSpPr>
        <p:spPr>
          <a:xfrm>
            <a:off x="365760" y="3712464"/>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3712464"/>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SONICS [34]</a:t>
            </a:r>
          </a:p>
        </p:txBody>
      </p:sp>
      <p:sp>
        <p:nvSpPr>
          <p:cNvPr id="49" name="Rectangle 48"/>
          <p:cNvSpPr/>
          <p:nvPr/>
        </p:nvSpPr>
        <p:spPr>
          <a:xfrm>
            <a:off x="3017520" y="3712464"/>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8960" y="3712464"/>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Transformer tabanlı DL</a:t>
            </a:r>
          </a:p>
        </p:txBody>
      </p:sp>
      <p:sp>
        <p:nvSpPr>
          <p:cNvPr id="51" name="Rectangle 50"/>
          <p:cNvSpPr/>
          <p:nvPr/>
        </p:nvSpPr>
        <p:spPr>
          <a:xfrm>
            <a:off x="6400800" y="3712464"/>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28232" y="3712464"/>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SONICS</a:t>
            </a:r>
          </a:p>
        </p:txBody>
      </p:sp>
      <p:sp>
        <p:nvSpPr>
          <p:cNvPr id="53" name="Rectangle 52"/>
          <p:cNvSpPr/>
          <p:nvPr/>
        </p:nvSpPr>
        <p:spPr>
          <a:xfrm>
            <a:off x="8229600" y="3712464"/>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57031" y="3712464"/>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0,960</a:t>
            </a:r>
          </a:p>
        </p:txBody>
      </p:sp>
      <p:sp>
        <p:nvSpPr>
          <p:cNvPr id="55" name="Rectangle 54"/>
          <p:cNvSpPr/>
          <p:nvPr/>
        </p:nvSpPr>
        <p:spPr>
          <a:xfrm>
            <a:off x="10012680" y="3712464"/>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40111" y="3712464"/>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0,921</a:t>
            </a:r>
          </a:p>
        </p:txBody>
      </p:sp>
      <p:sp>
        <p:nvSpPr>
          <p:cNvPr id="57" name="Rectangle 56"/>
          <p:cNvSpPr/>
          <p:nvPr/>
        </p:nvSpPr>
        <p:spPr>
          <a:xfrm>
            <a:off x="365760" y="4279392"/>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279392"/>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FakeMusicCaps [35]</a:t>
            </a:r>
          </a:p>
        </p:txBody>
      </p:sp>
      <p:sp>
        <p:nvSpPr>
          <p:cNvPr id="59" name="Rectangle 58"/>
          <p:cNvSpPr/>
          <p:nvPr/>
        </p:nvSpPr>
        <p:spPr>
          <a:xfrm>
            <a:off x="3017520" y="4279392"/>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108960" y="4279392"/>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Çok modlu MusicCaps</a:t>
            </a:r>
          </a:p>
        </p:txBody>
      </p:sp>
      <p:sp>
        <p:nvSpPr>
          <p:cNvPr id="61" name="Rectangle 60"/>
          <p:cNvSpPr/>
          <p:nvPr/>
        </p:nvSpPr>
        <p:spPr>
          <a:xfrm>
            <a:off x="6400800" y="4279392"/>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28232" y="4279392"/>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FMC</a:t>
            </a:r>
          </a:p>
        </p:txBody>
      </p:sp>
      <p:sp>
        <p:nvSpPr>
          <p:cNvPr id="63" name="Rectangle 62"/>
          <p:cNvSpPr/>
          <p:nvPr/>
        </p:nvSpPr>
        <p:spPr>
          <a:xfrm>
            <a:off x="8229600" y="4279392"/>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57031" y="4279392"/>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0,943</a:t>
            </a:r>
          </a:p>
        </p:txBody>
      </p:sp>
      <p:sp>
        <p:nvSpPr>
          <p:cNvPr id="65" name="Rectangle 64"/>
          <p:cNvSpPr/>
          <p:nvPr/>
        </p:nvSpPr>
        <p:spPr>
          <a:xfrm>
            <a:off x="10012680" y="4279392"/>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040111" y="4279392"/>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0,906</a:t>
            </a:r>
          </a:p>
        </p:txBody>
      </p:sp>
      <p:sp>
        <p:nvSpPr>
          <p:cNvPr id="67" name="Rectangle 66"/>
          <p:cNvSpPr/>
          <p:nvPr/>
        </p:nvSpPr>
        <p:spPr>
          <a:xfrm>
            <a:off x="365760" y="4846320"/>
            <a:ext cx="265176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846320"/>
            <a:ext cx="2468879" cy="566928"/>
          </a:xfrm>
          <a:prstGeom prst="rect">
            <a:avLst/>
          </a:prstGeom>
          <a:noFill/>
        </p:spPr>
        <p:txBody>
          <a:bodyPr wrap="square" anchor="ctr" lIns="25400" rIns="25400" tIns="12700" bIns="12700">
            <a:spAutoFit/>
          </a:bodyPr>
          <a:lstStyle/>
          <a:p>
            <a:pPr algn="l"/>
            <a:r>
              <a:rPr sz="1100" b="1" i="0">
                <a:solidFill>
                  <a:srgbClr val="1B6E3C"/>
                </a:solidFill>
                <a:latin typeface="Calibri"/>
              </a:rPr>
              <a:t>AURIS (bu çalışma)</a:t>
            </a:r>
          </a:p>
        </p:txBody>
      </p:sp>
      <p:sp>
        <p:nvSpPr>
          <p:cNvPr id="69" name="Rectangle 68"/>
          <p:cNvSpPr/>
          <p:nvPr/>
        </p:nvSpPr>
        <p:spPr>
          <a:xfrm>
            <a:off x="3017520" y="4846320"/>
            <a:ext cx="33832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4846320"/>
            <a:ext cx="3200400" cy="566928"/>
          </a:xfrm>
          <a:prstGeom prst="rect">
            <a:avLst/>
          </a:prstGeom>
          <a:noFill/>
        </p:spPr>
        <p:txBody>
          <a:bodyPr wrap="square" anchor="ctr" lIns="25400" rIns="25400" tIns="12700" bIns="12700">
            <a:spAutoFit/>
          </a:bodyPr>
          <a:lstStyle/>
          <a:p>
            <a:pPr algn="l"/>
            <a:r>
              <a:rPr sz="1100" b="1" i="0">
                <a:solidFill>
                  <a:srgbClr val="1B6E3C"/>
                </a:solidFill>
                <a:latin typeface="Calibri"/>
              </a:rPr>
              <a:t>47 öznitelik + 11 model topluluk</a:t>
            </a:r>
          </a:p>
        </p:txBody>
      </p:sp>
      <p:sp>
        <p:nvSpPr>
          <p:cNvPr id="71" name="Rectangle 70"/>
          <p:cNvSpPr/>
          <p:nvPr/>
        </p:nvSpPr>
        <p:spPr>
          <a:xfrm>
            <a:off x="6400800" y="4846320"/>
            <a:ext cx="182880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28232" y="4846320"/>
            <a:ext cx="177393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5.195</a:t>
            </a:r>
          </a:p>
        </p:txBody>
      </p:sp>
      <p:sp>
        <p:nvSpPr>
          <p:cNvPr id="73" name="Rectangle 72"/>
          <p:cNvSpPr/>
          <p:nvPr/>
        </p:nvSpPr>
        <p:spPr>
          <a:xfrm>
            <a:off x="8229600" y="4846320"/>
            <a:ext cx="17830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57031" y="4846320"/>
            <a:ext cx="172821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75" name="Rectangle 74"/>
          <p:cNvSpPr/>
          <p:nvPr/>
        </p:nvSpPr>
        <p:spPr>
          <a:xfrm>
            <a:off x="10012680" y="4846320"/>
            <a:ext cx="1810512"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040111" y="4846320"/>
            <a:ext cx="1755648"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0,8731</a:t>
            </a:r>
          </a:p>
        </p:txBody>
      </p:sp>
      <p:sp>
        <p:nvSpPr>
          <p:cNvPr id="77" name="Rectangle 76"/>
          <p:cNvSpPr/>
          <p:nvPr/>
        </p:nvSpPr>
        <p:spPr>
          <a:xfrm>
            <a:off x="365760" y="5486400"/>
            <a:ext cx="11457432" cy="8686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65760" y="5486400"/>
            <a:ext cx="91440" cy="8686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85216" y="5605272"/>
            <a:ext cx="11091672" cy="365760"/>
          </a:xfrm>
          <a:prstGeom prst="rect">
            <a:avLst/>
          </a:prstGeom>
          <a:noFill/>
        </p:spPr>
        <p:txBody>
          <a:bodyPr wrap="square" anchor="t" lIns="25400" rIns="25400" tIns="12700" bIns="12700">
            <a:spAutoFit/>
          </a:bodyPr>
          <a:lstStyle/>
          <a:p>
            <a:pPr algn="l"/>
            <a:r>
              <a:rPr sz="1300" b="1" i="0">
                <a:solidFill>
                  <a:srgbClr val="102A4C"/>
                </a:solidFill>
                <a:latin typeface="Calibri"/>
              </a:rPr>
              <a:t>Konumlandırma</a:t>
            </a:r>
          </a:p>
        </p:txBody>
      </p:sp>
      <p:sp>
        <p:nvSpPr>
          <p:cNvPr id="80" name="TextBox 79"/>
          <p:cNvSpPr txBox="1"/>
          <p:nvPr/>
        </p:nvSpPr>
        <p:spPr>
          <a:xfrm>
            <a:off x="585216" y="6035040"/>
            <a:ext cx="11073384" cy="210311"/>
          </a:xfrm>
          <a:prstGeom prst="rect">
            <a:avLst/>
          </a:prstGeom>
          <a:noFill/>
        </p:spPr>
        <p:txBody>
          <a:bodyPr wrap="square" anchor="t" lIns="25400" rIns="25400">
            <a:spAutoFit/>
          </a:bodyPr>
          <a:lstStyle/>
          <a:p>
            <a:pPr algn="l">
              <a:spcBef>
                <a:spcPts val="0"/>
              </a:spcBef>
              <a:spcAft>
                <a:spcPts val="300"/>
              </a:spcAft>
            </a:pPr>
            <a:r>
              <a:rPr sz="1150" b="0" i="0">
                <a:solidFill>
                  <a:srgbClr val="242A30"/>
                </a:solidFill>
                <a:latin typeface="Calibri"/>
              </a:rPr>
              <a:t>AURIS (0,9548), Transformer tabanlı SONICS (0,960) ile Li vd. (0,931) arasında — üstelik derin öğrenme altyapısı gerektirmeden ve katlar arası en düşük varyansla (±0,0023).</a:t>
            </a:r>
          </a:p>
        </p:txBody>
      </p:sp>
      <p:sp>
        <p:nvSpPr>
          <p:cNvPr id="81" name="Rectangle 8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83" name="TextBox 8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Kısıtlamalar ve Güçlü Yönler</a:t>
            </a:r>
          </a:p>
        </p:txBody>
      </p:sp>
      <p:sp>
        <p:nvSpPr>
          <p:cNvPr id="7" name="TextBox 6"/>
          <p:cNvSpPr txBox="1"/>
          <p:nvPr/>
        </p:nvSpPr>
        <p:spPr>
          <a:xfrm>
            <a:off x="365760" y="1554480"/>
            <a:ext cx="5623560" cy="347472"/>
          </a:xfrm>
          <a:prstGeom prst="rect">
            <a:avLst/>
          </a:prstGeom>
          <a:noFill/>
        </p:spPr>
        <p:txBody>
          <a:bodyPr wrap="square" anchor="t" lIns="25400" rIns="25400" tIns="12700" bIns="12700">
            <a:spAutoFit/>
          </a:bodyPr>
          <a:lstStyle/>
          <a:p>
            <a:pPr algn="l"/>
            <a:r>
              <a:rPr sz="1400" b="1" i="0">
                <a:solidFill>
                  <a:srgbClr val="B32929"/>
                </a:solidFill>
                <a:latin typeface="Calibri"/>
              </a:rPr>
              <a:t>Kısıtlamalar</a:t>
            </a:r>
          </a:p>
        </p:txBody>
      </p:sp>
      <p:sp>
        <p:nvSpPr>
          <p:cNvPr id="8" name="Rectangle 7"/>
          <p:cNvSpPr/>
          <p:nvPr/>
        </p:nvSpPr>
        <p:spPr>
          <a:xfrm>
            <a:off x="365760" y="1993392"/>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Dağılım kayması</a:t>
            </a:r>
          </a:p>
        </p:txBody>
      </p:sp>
      <p:sp>
        <p:nvSpPr>
          <p:cNvPr id="10" name="TextBox 9"/>
          <p:cNvSpPr txBox="1"/>
          <p:nvPr/>
        </p:nvSpPr>
        <p:spPr>
          <a:xfrm>
            <a:off x="502920"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Eğitim dışı YZ sistemlerine ve deepfake setine (%50) sınırlı genelleme.</a:t>
            </a:r>
          </a:p>
        </p:txBody>
      </p:sp>
      <p:sp>
        <p:nvSpPr>
          <p:cNvPr id="11" name="Rectangle 10"/>
          <p:cNvSpPr/>
          <p:nvPr/>
        </p:nvSpPr>
        <p:spPr>
          <a:xfrm>
            <a:off x="365760" y="3054096"/>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145536"/>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Aşırı uyum eğilimi</a:t>
            </a:r>
          </a:p>
        </p:txBody>
      </p:sp>
      <p:sp>
        <p:nvSpPr>
          <p:cNvPr id="13" name="TextBox 12"/>
          <p:cNvSpPr txBox="1"/>
          <p:nvPr/>
        </p:nvSpPr>
        <p:spPr>
          <a:xfrm>
            <a:off x="502920"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Ağaç modellerinde 8–14 puanlık eğitim-CV açığı.</a:t>
            </a:r>
          </a:p>
        </p:txBody>
      </p:sp>
      <p:sp>
        <p:nvSpPr>
          <p:cNvPr id="14" name="Rectangle 13"/>
          <p:cNvSpPr/>
          <p:nvPr/>
        </p:nvSpPr>
        <p:spPr>
          <a:xfrm>
            <a:off x="365760" y="4114800"/>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206240"/>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Öznitelik fazlalığı</a:t>
            </a:r>
          </a:p>
        </p:txBody>
      </p:sp>
      <p:sp>
        <p:nvSpPr>
          <p:cNvPr id="16" name="TextBox 15"/>
          <p:cNvSpPr txBox="1"/>
          <p:nvPr/>
        </p:nvSpPr>
        <p:spPr>
          <a:xfrm>
            <a:off x="502920"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Son 17 özniteliğin doğruluğa ölçülebilir katkısı yok.</a:t>
            </a:r>
          </a:p>
        </p:txBody>
      </p:sp>
      <p:sp>
        <p:nvSpPr>
          <p:cNvPr id="17" name="Rectangle 16"/>
          <p:cNvSpPr/>
          <p:nvPr/>
        </p:nvSpPr>
        <p:spPr>
          <a:xfrm>
            <a:off x="365760" y="5175504"/>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266944"/>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Gerçek zaman</a:t>
            </a:r>
          </a:p>
        </p:txBody>
      </p:sp>
      <p:sp>
        <p:nvSpPr>
          <p:cNvPr id="19" name="TextBox 18"/>
          <p:cNvSpPr txBox="1"/>
          <p:nvPr/>
        </p:nvSpPr>
        <p:spPr>
          <a:xfrm>
            <a:off x="502920"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Düşük gecikmeli çıkarım henüz test edilmedi.</a:t>
            </a:r>
          </a:p>
        </p:txBody>
      </p:sp>
      <p:sp>
        <p:nvSpPr>
          <p:cNvPr id="20" name="TextBox 19"/>
          <p:cNvSpPr txBox="1"/>
          <p:nvPr/>
        </p:nvSpPr>
        <p:spPr>
          <a:xfrm>
            <a:off x="6199632" y="1554480"/>
            <a:ext cx="5623560" cy="347472"/>
          </a:xfrm>
          <a:prstGeom prst="rect">
            <a:avLst/>
          </a:prstGeom>
          <a:noFill/>
        </p:spPr>
        <p:txBody>
          <a:bodyPr wrap="square" anchor="t" lIns="25400" rIns="25400" tIns="12700" bIns="12700">
            <a:spAutoFit/>
          </a:bodyPr>
          <a:lstStyle/>
          <a:p>
            <a:pPr algn="l"/>
            <a:r>
              <a:rPr sz="1400" b="1" i="0">
                <a:solidFill>
                  <a:srgbClr val="1B6E3C"/>
                </a:solidFill>
                <a:latin typeface="Calibri"/>
              </a:rPr>
              <a:t>Güçlü Yönler</a:t>
            </a:r>
          </a:p>
        </p:txBody>
      </p:sp>
      <p:sp>
        <p:nvSpPr>
          <p:cNvPr id="21" name="Rectangle 20"/>
          <p:cNvSpPr/>
          <p:nvPr/>
        </p:nvSpPr>
        <p:spPr>
          <a:xfrm>
            <a:off x="6199632" y="1993392"/>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36792" y="2084832"/>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Heterojen öznitelik</a:t>
            </a:r>
          </a:p>
        </p:txBody>
      </p:sp>
      <p:sp>
        <p:nvSpPr>
          <p:cNvPr id="23" name="TextBox 22"/>
          <p:cNvSpPr txBox="1"/>
          <p:nvPr/>
        </p:nvSpPr>
        <p:spPr>
          <a:xfrm>
            <a:off x="6336792"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5 aile / 47 boyut — tek temsile aşırı uyumu sınırlar.</a:t>
            </a:r>
          </a:p>
        </p:txBody>
      </p:sp>
      <p:sp>
        <p:nvSpPr>
          <p:cNvPr id="24" name="Rectangle 23"/>
          <p:cNvSpPr/>
          <p:nvPr/>
        </p:nvSpPr>
        <p:spPr>
          <a:xfrm>
            <a:off x="6199632" y="3054096"/>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6792" y="3145536"/>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Açıklanabilirlik</a:t>
            </a:r>
          </a:p>
        </p:txBody>
      </p:sp>
      <p:sp>
        <p:nvSpPr>
          <p:cNvPr id="26" name="TextBox 25"/>
          <p:cNvSpPr txBox="1"/>
          <p:nvPr/>
        </p:nvSpPr>
        <p:spPr>
          <a:xfrm>
            <a:off x="6336792"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TreeSHAP ile global ve yerel karar gerekçesi.</a:t>
            </a:r>
          </a:p>
        </p:txBody>
      </p:sp>
      <p:sp>
        <p:nvSpPr>
          <p:cNvPr id="27" name="Rectangle 26"/>
          <p:cNvSpPr/>
          <p:nvPr/>
        </p:nvSpPr>
        <p:spPr>
          <a:xfrm>
            <a:off x="6199632" y="4114800"/>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4206240"/>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Eşik optimizasyonu</a:t>
            </a:r>
          </a:p>
        </p:txBody>
      </p:sp>
      <p:sp>
        <p:nvSpPr>
          <p:cNvPr id="29" name="TextBox 28"/>
          <p:cNvSpPr txBox="1"/>
          <p:nvPr/>
        </p:nvSpPr>
        <p:spPr>
          <a:xfrm>
            <a:off x="6336792"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Youden J ile dengeli karar (θ*=0,4316).</a:t>
            </a:r>
          </a:p>
        </p:txBody>
      </p:sp>
      <p:sp>
        <p:nvSpPr>
          <p:cNvPr id="30" name="Rectangle 29"/>
          <p:cNvSpPr/>
          <p:nvPr/>
        </p:nvSpPr>
        <p:spPr>
          <a:xfrm>
            <a:off x="6199632" y="5175504"/>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5266944"/>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Düşük varyans</a:t>
            </a:r>
          </a:p>
        </p:txBody>
      </p:sp>
      <p:sp>
        <p:nvSpPr>
          <p:cNvPr id="32" name="TextBox 31"/>
          <p:cNvSpPr txBox="1"/>
          <p:nvPr/>
        </p:nvSpPr>
        <p:spPr>
          <a:xfrm>
            <a:off x="6336792"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±0,0023 katlar arası std — en kararlı model.</a:t>
            </a:r>
          </a:p>
        </p:txBody>
      </p:sp>
      <p:sp>
        <p:nvSpPr>
          <p:cNvPr id="33" name="Rectangle 32"/>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5" name="TextBox 34"/>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a:t>
            </a:r>
          </a:p>
        </p:txBody>
      </p:sp>
      <p:sp>
        <p:nvSpPr>
          <p:cNvPr id="7" name="Rectangle 6"/>
          <p:cNvSpPr/>
          <p:nvPr/>
        </p:nvSpPr>
        <p:spPr>
          <a:xfrm>
            <a:off x="365760" y="1627632"/>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1</a:t>
            </a:r>
          </a:p>
        </p:txBody>
      </p:sp>
      <p:sp>
        <p:nvSpPr>
          <p:cNvPr id="10" name="TextBox 9"/>
          <p:cNvSpPr txBox="1"/>
          <p:nvPr/>
        </p:nvSpPr>
        <p:spPr>
          <a:xfrm>
            <a:off x="1188720" y="1627632"/>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Uçtan uca tespit sistemi</a:t>
            </a:r>
          </a:p>
        </p:txBody>
      </p:sp>
      <p:sp>
        <p:nvSpPr>
          <p:cNvPr id="11" name="TextBox 10"/>
          <p:cNvSpPr txBox="1"/>
          <p:nvPr/>
        </p:nvSpPr>
        <p:spPr>
          <a:xfrm>
            <a:off x="5486400" y="1627632"/>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47 boyutlu vektör + 11 modelli topluluk, 5.195 örnekte eğitildi.</a:t>
            </a:r>
          </a:p>
        </p:txBody>
      </p:sp>
      <p:sp>
        <p:nvSpPr>
          <p:cNvPr id="12" name="Rectangle 11"/>
          <p:cNvSpPr/>
          <p:nvPr/>
        </p:nvSpPr>
        <p:spPr>
          <a:xfrm>
            <a:off x="365760" y="2560320"/>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560320"/>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560320"/>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2</a:t>
            </a:r>
          </a:p>
        </p:txBody>
      </p:sp>
      <p:sp>
        <p:nvSpPr>
          <p:cNvPr id="15" name="TextBox 14"/>
          <p:cNvSpPr txBox="1"/>
          <p:nvPr/>
        </p:nvSpPr>
        <p:spPr>
          <a:xfrm>
            <a:off x="1188720" y="2560320"/>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LightGBM lider</a:t>
            </a:r>
          </a:p>
        </p:txBody>
      </p:sp>
      <p:sp>
        <p:nvSpPr>
          <p:cNvPr id="16" name="TextBox 15"/>
          <p:cNvSpPr txBox="1"/>
          <p:nvPr/>
        </p:nvSpPr>
        <p:spPr>
          <a:xfrm>
            <a:off x="5486400" y="2560320"/>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ROC-AUC 0,9548, en düşük varyans (±0,0023); Derin ÇKA 0,9542 ile ikinci.</a:t>
            </a:r>
          </a:p>
        </p:txBody>
      </p:sp>
      <p:sp>
        <p:nvSpPr>
          <p:cNvPr id="17" name="Rectangle 16"/>
          <p:cNvSpPr/>
          <p:nvPr/>
        </p:nvSpPr>
        <p:spPr>
          <a:xfrm>
            <a:off x="365760" y="3493008"/>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493008"/>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493008"/>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3</a:t>
            </a:r>
          </a:p>
        </p:txBody>
      </p:sp>
      <p:sp>
        <p:nvSpPr>
          <p:cNvPr id="20" name="TextBox 19"/>
          <p:cNvSpPr txBox="1"/>
          <p:nvPr/>
        </p:nvSpPr>
        <p:spPr>
          <a:xfrm>
            <a:off x="1188720" y="3493008"/>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spectral_flatness_std belirleyici</a:t>
            </a:r>
          </a:p>
        </p:txBody>
      </p:sp>
      <p:sp>
        <p:nvSpPr>
          <p:cNvPr id="21" name="TextBox 20"/>
          <p:cNvSpPr txBox="1"/>
          <p:nvPr/>
        </p:nvSpPr>
        <p:spPr>
          <a:xfrm>
            <a:off x="5486400" y="3493008"/>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YZ-insan ayrımındaki en güçlü öznitelik; literatürle [16] tutarlı.</a:t>
            </a:r>
          </a:p>
        </p:txBody>
      </p:sp>
      <p:sp>
        <p:nvSpPr>
          <p:cNvPr id="22" name="Rectangle 21"/>
          <p:cNvSpPr/>
          <p:nvPr/>
        </p:nvSpPr>
        <p:spPr>
          <a:xfrm>
            <a:off x="365760" y="4425696"/>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425696"/>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425696"/>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4</a:t>
            </a:r>
          </a:p>
        </p:txBody>
      </p:sp>
      <p:sp>
        <p:nvSpPr>
          <p:cNvPr id="25" name="TextBox 24"/>
          <p:cNvSpPr txBox="1"/>
          <p:nvPr/>
        </p:nvSpPr>
        <p:spPr>
          <a:xfrm>
            <a:off x="1188720" y="4425696"/>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Hafif ama rekabetçi</a:t>
            </a:r>
          </a:p>
        </p:txBody>
      </p:sp>
      <p:sp>
        <p:nvSpPr>
          <p:cNvPr id="26" name="TextBox 25"/>
          <p:cNvSpPr txBox="1"/>
          <p:nvPr/>
        </p:nvSpPr>
        <p:spPr>
          <a:xfrm>
            <a:off x="5486400" y="4425696"/>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Derin öğrenme altyapısı olmadan SONICS'e yakın AUC.</a:t>
            </a:r>
          </a:p>
        </p:txBody>
      </p:sp>
      <p:sp>
        <p:nvSpPr>
          <p:cNvPr id="27" name="Rectangle 26"/>
          <p:cNvSpPr/>
          <p:nvPr/>
        </p:nvSpPr>
        <p:spPr>
          <a:xfrm>
            <a:off x="365760" y="5358384"/>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58384"/>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58384"/>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5</a:t>
            </a:r>
          </a:p>
        </p:txBody>
      </p:sp>
      <p:sp>
        <p:nvSpPr>
          <p:cNvPr id="30" name="TextBox 29"/>
          <p:cNvSpPr txBox="1"/>
          <p:nvPr/>
        </p:nvSpPr>
        <p:spPr>
          <a:xfrm>
            <a:off x="1188720" y="5358384"/>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Tanılanan sınırlar</a:t>
            </a:r>
          </a:p>
        </p:txBody>
      </p:sp>
      <p:sp>
        <p:nvSpPr>
          <p:cNvPr id="31" name="TextBox 30"/>
          <p:cNvSpPr txBox="1"/>
          <p:nvPr/>
        </p:nvSpPr>
        <p:spPr>
          <a:xfrm>
            <a:off x="5486400" y="5358384"/>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Aşırı uyum açığı, öznitelik fazlalığı, deepfake setinde dağılım kayması.</a:t>
            </a:r>
          </a:p>
        </p:txBody>
      </p:sp>
      <p:sp>
        <p:nvSpPr>
          <p:cNvPr id="32" name="Rectangle 3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4" name="TextBox 33"/>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Gelecek Çalışmalar</a:t>
            </a:r>
          </a:p>
        </p:txBody>
      </p:sp>
      <p:sp>
        <p:nvSpPr>
          <p:cNvPr id="7" name="Rectangle 6"/>
          <p:cNvSpPr/>
          <p:nvPr/>
        </p:nvSpPr>
        <p:spPr>
          <a:xfrm>
            <a:off x="365760" y="1627632"/>
            <a:ext cx="3657600" cy="4434840"/>
          </a:xfrm>
          <a:prstGeom prst="rect">
            <a:avLst/>
          </a:prstGeom>
          <a:solidFill>
            <a:srgbClr val="E8F5EB"/>
          </a:solidFill>
          <a:ln w="1524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3657600" cy="54864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Kısa Vade</a:t>
            </a:r>
          </a:p>
        </p:txBody>
      </p:sp>
      <p:sp>
        <p:nvSpPr>
          <p:cNvPr id="10" name="TextBox 9"/>
          <p:cNvSpPr txBox="1"/>
          <p:nvPr/>
        </p:nvSpPr>
        <p:spPr>
          <a:xfrm>
            <a:off x="5486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SONICS / FakeMusicCaps ile üretici-bağımsız değerlendirme</a:t>
            </a:r>
          </a:p>
          <a:p>
            <a:pPr algn="l">
              <a:spcBef>
                <a:spcPts val="0"/>
              </a:spcBef>
              <a:spcAft>
                <a:spcPts val="1400"/>
              </a:spcAft>
            </a:pPr>
            <a:r>
              <a:rPr sz="1200" b="0" i="0">
                <a:solidFill>
                  <a:srgbClr val="242A30"/>
                </a:solidFill>
                <a:latin typeface="Calibri"/>
              </a:rPr>
              <a:t>•  wav2vec2 ince ayarı ile doğrudan karşılaştırma</a:t>
            </a:r>
          </a:p>
          <a:p>
            <a:pPr algn="l">
              <a:spcBef>
                <a:spcPts val="0"/>
              </a:spcBef>
              <a:spcAft>
                <a:spcPts val="1400"/>
              </a:spcAft>
            </a:pPr>
            <a:r>
              <a:rPr sz="1200" b="0" i="0">
                <a:solidFill>
                  <a:srgbClr val="242A30"/>
                </a:solidFill>
                <a:latin typeface="Calibri"/>
              </a:rPr>
              <a:t>•  MP3, perde kaydırma, zaman gerdirme sağlamlık testleri</a:t>
            </a:r>
          </a:p>
        </p:txBody>
      </p:sp>
      <p:sp>
        <p:nvSpPr>
          <p:cNvPr id="11" name="Rectangle 10"/>
          <p:cNvSpPr/>
          <p:nvPr/>
        </p:nvSpPr>
        <p:spPr>
          <a:xfrm>
            <a:off x="4251960" y="1627632"/>
            <a:ext cx="3657600" cy="4434840"/>
          </a:xfrm>
          <a:prstGeom prst="rect">
            <a:avLst/>
          </a:prstGeom>
          <a:solidFill>
            <a:srgbClr val="E8F0FA"/>
          </a:solidFill>
          <a:ln w="15240">
            <a:solidFill>
              <a:srgbClr val="2E5A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627632"/>
            <a:ext cx="3657600" cy="548640"/>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Orta Vade</a:t>
            </a:r>
          </a:p>
        </p:txBody>
      </p:sp>
      <p:sp>
        <p:nvSpPr>
          <p:cNvPr id="14" name="TextBox 13"/>
          <p:cNvSpPr txBox="1"/>
          <p:nvPr/>
        </p:nvSpPr>
        <p:spPr>
          <a:xfrm>
            <a:off x="44348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Alan uyarlama (domain adaptation) ile genelleme</a:t>
            </a:r>
          </a:p>
          <a:p>
            <a:pPr algn="l">
              <a:spcBef>
                <a:spcPts val="0"/>
              </a:spcBef>
              <a:spcAft>
                <a:spcPts val="1400"/>
              </a:spcAft>
            </a:pPr>
            <a:r>
              <a:rPr sz="1200" b="0" i="0">
                <a:solidFill>
                  <a:srgbClr val="242A30"/>
                </a:solidFill>
                <a:latin typeface="Calibri"/>
              </a:rPr>
              <a:t>•  Gerçek zamanlı düşük gecikmeli çıkarım</a:t>
            </a:r>
          </a:p>
          <a:p>
            <a:pPr algn="l">
              <a:spcBef>
                <a:spcPts val="0"/>
              </a:spcBef>
              <a:spcAft>
                <a:spcPts val="1400"/>
              </a:spcAft>
            </a:pPr>
            <a:r>
              <a:rPr sz="1200" b="0" i="0">
                <a:solidFill>
                  <a:srgbClr val="242A30"/>
                </a:solidFill>
                <a:latin typeface="Calibri"/>
              </a:rPr>
              <a:t>•  Veri kümesini 10.000 örneğe genişletme</a:t>
            </a:r>
          </a:p>
        </p:txBody>
      </p:sp>
      <p:sp>
        <p:nvSpPr>
          <p:cNvPr id="15" name="Rectangle 14"/>
          <p:cNvSpPr/>
          <p:nvPr/>
        </p:nvSpPr>
        <p:spPr>
          <a:xfrm>
            <a:off x="8138160" y="1627632"/>
            <a:ext cx="3657600" cy="4434840"/>
          </a:xfrm>
          <a:prstGeom prst="rect">
            <a:avLst/>
          </a:prstGeom>
          <a:solidFill>
            <a:srgbClr val="FFF3DD"/>
          </a:solidFill>
          <a:ln w="15240">
            <a:solidFill>
              <a:srgbClr val="8A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27632"/>
            <a:ext cx="3657600" cy="548640"/>
          </a:xfrm>
          <a:prstGeom prst="rect">
            <a:avLst/>
          </a:prstGeom>
          <a:solidFill>
            <a:srgbClr val="8A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Uzun Vade</a:t>
            </a:r>
          </a:p>
        </p:txBody>
      </p:sp>
      <p:sp>
        <p:nvSpPr>
          <p:cNvPr id="18" name="TextBox 17"/>
          <p:cNvSpPr txBox="1"/>
          <p:nvPr/>
        </p:nvSpPr>
        <p:spPr>
          <a:xfrm>
            <a:off x="83210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Yeni nesil üretici sistemlerin kapsanması</a:t>
            </a:r>
          </a:p>
          <a:p>
            <a:pPr algn="l">
              <a:spcBef>
                <a:spcPts val="0"/>
              </a:spcBef>
              <a:spcAft>
                <a:spcPts val="1400"/>
              </a:spcAft>
            </a:pPr>
            <a:r>
              <a:rPr sz="1200" b="0" i="0">
                <a:solidFill>
                  <a:srgbClr val="242A30"/>
                </a:solidFill>
                <a:latin typeface="Calibri"/>
              </a:rPr>
              <a:t>•  Watermarking ve ses parmak izi entegrasyonu</a:t>
            </a:r>
          </a:p>
          <a:p>
            <a:pPr algn="l">
              <a:spcBef>
                <a:spcPts val="0"/>
              </a:spcBef>
              <a:spcAft>
                <a:spcPts val="1400"/>
              </a:spcAft>
            </a:pPr>
            <a:r>
              <a:rPr sz="1200" b="0" i="0">
                <a:solidFill>
                  <a:srgbClr val="242A30"/>
                </a:solidFill>
                <a:latin typeface="Calibri"/>
              </a:rPr>
              <a:t>•  Sosyal medya ve canlı akış entegrasyonu</a:t>
            </a:r>
          </a:p>
        </p:txBody>
      </p:sp>
      <p:sp>
        <p:nvSpPr>
          <p:cNvPr id="19" name="Rectangle 1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1" name="TextBox 20"/>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6517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51560"/>
            <a:ext cx="11247120" cy="1005840"/>
          </a:xfrm>
          <a:prstGeom prst="rect">
            <a:avLst/>
          </a:prstGeom>
          <a:noFill/>
        </p:spPr>
        <p:txBody>
          <a:bodyPr wrap="square" anchor="t" lIns="25400" rIns="25400" tIns="12700" bIns="12700">
            <a:spAutoFit/>
          </a:bodyPr>
          <a:lstStyle/>
          <a:p>
            <a:pPr algn="ctr"/>
            <a:r>
              <a:rPr sz="3600" b="1" i="0">
                <a:solidFill>
                  <a:srgbClr val="FFFFFF"/>
                </a:solidFill>
                <a:latin typeface="Calibri"/>
              </a:rPr>
              <a:t>Dinlediğiniz için teşekkürler.</a:t>
            </a:r>
          </a:p>
        </p:txBody>
      </p:sp>
      <p:sp>
        <p:nvSpPr>
          <p:cNvPr id="4" name="TextBox 3"/>
          <p:cNvSpPr txBox="1"/>
          <p:nvPr/>
        </p:nvSpPr>
        <p:spPr>
          <a:xfrm>
            <a:off x="457200" y="2103120"/>
            <a:ext cx="11247120" cy="548640"/>
          </a:xfrm>
          <a:prstGeom prst="rect">
            <a:avLst/>
          </a:prstGeom>
          <a:noFill/>
        </p:spPr>
        <p:txBody>
          <a:bodyPr wrap="square" anchor="t" lIns="25400" rIns="25400" tIns="12700" bIns="12700">
            <a:spAutoFit/>
          </a:bodyPr>
          <a:lstStyle/>
          <a:p>
            <a:pPr algn="ctr"/>
            <a:r>
              <a:rPr sz="2200" b="0" i="0">
                <a:solidFill>
                  <a:srgbClr val="D99A07"/>
                </a:solidFill>
                <a:latin typeface="Calibri"/>
              </a:rPr>
              <a:t>Sorularınızı bekliyorum.</a:t>
            </a:r>
          </a:p>
        </p:txBody>
      </p:sp>
      <p:sp>
        <p:nvSpPr>
          <p:cNvPr id="5" name="Rectangle 4"/>
          <p:cNvSpPr/>
          <p:nvPr/>
        </p:nvSpPr>
        <p:spPr>
          <a:xfrm>
            <a:off x="1051560"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0,9548</a:t>
            </a:r>
          </a:p>
        </p:txBody>
      </p:sp>
      <p:sp>
        <p:nvSpPr>
          <p:cNvPr id="7" name="TextBox 6"/>
          <p:cNvSpPr txBox="1"/>
          <p:nvPr/>
        </p:nvSpPr>
        <p:spPr>
          <a:xfrm>
            <a:off x="1051560"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ROC-AUC</a:t>
            </a:r>
          </a:p>
        </p:txBody>
      </p:sp>
      <p:sp>
        <p:nvSpPr>
          <p:cNvPr id="8" name="Rectangle 7"/>
          <p:cNvSpPr/>
          <p:nvPr/>
        </p:nvSpPr>
        <p:spPr>
          <a:xfrm>
            <a:off x="3593591"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1"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47</a:t>
            </a:r>
          </a:p>
        </p:txBody>
      </p:sp>
      <p:sp>
        <p:nvSpPr>
          <p:cNvPr id="10" name="TextBox 9"/>
          <p:cNvSpPr txBox="1"/>
          <p:nvPr/>
        </p:nvSpPr>
        <p:spPr>
          <a:xfrm>
            <a:off x="3593591"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Öznitelik</a:t>
            </a:r>
          </a:p>
        </p:txBody>
      </p:sp>
      <p:sp>
        <p:nvSpPr>
          <p:cNvPr id="11" name="Rectangle 10"/>
          <p:cNvSpPr/>
          <p:nvPr/>
        </p:nvSpPr>
        <p:spPr>
          <a:xfrm>
            <a:off x="6135623"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5623"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11</a:t>
            </a:r>
          </a:p>
        </p:txBody>
      </p:sp>
      <p:sp>
        <p:nvSpPr>
          <p:cNvPr id="13" name="TextBox 12"/>
          <p:cNvSpPr txBox="1"/>
          <p:nvPr/>
        </p:nvSpPr>
        <p:spPr>
          <a:xfrm>
            <a:off x="6135623"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Model</a:t>
            </a:r>
          </a:p>
        </p:txBody>
      </p:sp>
      <p:sp>
        <p:nvSpPr>
          <p:cNvPr id="14" name="Rectangle 13"/>
          <p:cNvSpPr/>
          <p:nvPr/>
        </p:nvSpPr>
        <p:spPr>
          <a:xfrm>
            <a:off x="8677656"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77656"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5.195</a:t>
            </a:r>
          </a:p>
        </p:txBody>
      </p:sp>
      <p:sp>
        <p:nvSpPr>
          <p:cNvPr id="16" name="TextBox 15"/>
          <p:cNvSpPr txBox="1"/>
          <p:nvPr/>
        </p:nvSpPr>
        <p:spPr>
          <a:xfrm>
            <a:off x="8677656"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Örnek</a:t>
            </a:r>
          </a:p>
        </p:txBody>
      </p:sp>
      <p:sp>
        <p:nvSpPr>
          <p:cNvPr id="17" name="TextBox 16"/>
          <p:cNvSpPr txBox="1"/>
          <p:nvPr/>
        </p:nvSpPr>
        <p:spPr>
          <a:xfrm>
            <a:off x="457200" y="4800600"/>
            <a:ext cx="11247120" cy="384048"/>
          </a:xfrm>
          <a:prstGeom prst="rect">
            <a:avLst/>
          </a:prstGeom>
          <a:noFill/>
        </p:spPr>
        <p:txBody>
          <a:bodyPr wrap="square" anchor="t" lIns="25400" rIns="25400" tIns="12700" bIns="12700">
            <a:spAutoFit/>
          </a:bodyPr>
          <a:lstStyle/>
          <a:p>
            <a:pPr algn="ctr"/>
            <a:r>
              <a:rPr sz="1400" b="0" i="0">
                <a:solidFill>
                  <a:srgbClr val="ADC4D6"/>
                </a:solidFill>
                <a:latin typeface="Calibri"/>
              </a:rPr>
              <a:t>Hasan Arthur Altuntaş  ·  hasannarthurrr@gmail.com</a:t>
            </a:r>
          </a:p>
        </p:txBody>
      </p:sp>
      <p:sp>
        <p:nvSpPr>
          <p:cNvPr id="18" name="TextBox 17"/>
          <p:cNvSpPr txBox="1"/>
          <p:nvPr/>
        </p:nvSpPr>
        <p:spPr>
          <a:xfrm>
            <a:off x="457200" y="5212080"/>
            <a:ext cx="11247120" cy="347472"/>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Bilgisayar Mühendisliği · BM498 · 2025-2026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05: Final Savunma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Final Savunma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