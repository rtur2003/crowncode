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1">
                <a:solidFill>
                  <a:srgbClr val="E0A800"/>
                </a:solidFill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</a:rPr>
              <a:t>Yapay Zekâ Üretimli Müzik Tespitinde Topluluk Öğrenmesi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214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0C8D8"/>
                </a:solidFill>
              </a:rPr>
              <a:t>Heterojen Akustik Öznitelikler ve LightGBM Tabanlı Bir Yaklaşım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00600"/>
            <a:ext cx="12188952" cy="2057400"/>
          </a:xfrm>
          <a:prstGeom prst="rect">
            <a:avLst/>
          </a:prstGeom>
          <a:solidFill>
            <a:srgbClr val="06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03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Hasan Arthur Altuntaş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21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Danışman: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8756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Mühendislik Fakültesi  |  BM498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Sunum Planı — 05 Final Savunma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1.   Motivasyon ve Problem Tanımı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2.   Literatür Özeti ve Boşluk Analizi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3.   Sistem Mimarisi (AURIS Pipeline)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4.   Veri Kümesi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5.   Öznitelik Çıkarma (47 Boyutlu Vektör)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6.   Sınıflandırma Modelleri ve Eğitim Protokolü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7.   Sonuçlar — Model Karşılaştırması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8.   Açıklanabilirlik (SHAP / TreeSHAP)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9.   İlgili Çalışmalarla Karşılaştırma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10.  Kısıtlamalar ve Güçlü Yönler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11.  Sonuçlar ve Gelecek Çalışmalar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Motivasyon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Neden AURIS? Neden şimdi?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Suno, Udio, MusicGen saniyeler içinde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insan sesinden ayırt edilemez müzik üretiyor.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Telif hakkı ihlalleri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Sahte hit (streaming fraud)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Dezenformasyon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Yaratıcı ekonomide zarar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Mevcut dedektörler konuşma odaklı —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müzik için yetersiz.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0020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%95,48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671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834639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35584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977639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23359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445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16636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2120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332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AURIS uçtan uca pipeline</a:t>
            </a:r>
          </a:p>
        </p:txBody>
      </p:sp>
      <p:pic>
        <p:nvPicPr>
          <p:cNvPr id="5" name="Picture 4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Veri Kümesi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5.195 örnek — 8 farklı kaynak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6276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7639" y="1600200"/>
            <a:ext cx="2743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Tür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1600200"/>
            <a:ext cx="23774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162763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Örnek Sayısı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98280" y="1600200"/>
            <a:ext cx="21945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62763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Oran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029968"/>
            <a:ext cx="3657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5" y="2093976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MusicGen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2029968"/>
            <a:ext cx="27432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2093976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2029968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57416" y="2093976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712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2029968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4855" y="2093976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%13,7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542032"/>
            <a:ext cx="365760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5" y="2606040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AudioLDM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7639" y="2542032"/>
            <a:ext cx="274320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14215" y="2606040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2542032"/>
            <a:ext cx="237744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57416" y="2606040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498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2542032"/>
            <a:ext cx="219456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5" y="2606040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%9,6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054096"/>
            <a:ext cx="3657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5" y="3118104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Suno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3054096"/>
            <a:ext cx="27432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14215" y="3118104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0840" y="3054096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57416" y="3118104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644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98280" y="3054096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34855" y="3118104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%12,4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566160"/>
            <a:ext cx="365760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5" y="3630168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Udio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7639" y="3566160"/>
            <a:ext cx="274320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14215" y="3630168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0840" y="3566160"/>
            <a:ext cx="237744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57416" y="3630168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610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3566160"/>
            <a:ext cx="2194560" cy="45720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34855" y="3630168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%11,7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078224"/>
            <a:ext cx="3657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4142232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Diğer YZ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77639" y="4078224"/>
            <a:ext cx="27432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14215" y="4142232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YZ üretimi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0840" y="4078224"/>
            <a:ext cx="237744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57416" y="4142232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649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78224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34855" y="4142232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%12,5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590288"/>
            <a:ext cx="3657600" cy="45720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5" y="4654296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 Kaydı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77639" y="4590288"/>
            <a:ext cx="2743200" cy="45720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14215" y="4654296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Gerçek müzik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20840" y="4590288"/>
            <a:ext cx="2377440" cy="45720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57416" y="4654296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2.082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4590288"/>
            <a:ext cx="2194560" cy="45720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4855" y="4654296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%40,1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102352"/>
            <a:ext cx="3657600" cy="457200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6615" y="5166360"/>
            <a:ext cx="35844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TOPLAM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977639" y="5102352"/>
            <a:ext cx="2743200" cy="457200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14215" y="5166360"/>
            <a:ext cx="267004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0840" y="5102352"/>
            <a:ext cx="2377440" cy="457200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57416" y="5166360"/>
            <a:ext cx="230428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102352"/>
            <a:ext cx="2194560" cy="457200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34855" y="5166360"/>
            <a:ext cx="212140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%100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7607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A87"/>
                </a:solidFill>
              </a:rPr>
              <a:t>Sınıf dağılımı: %59,9 YZ — %40,1 insan  |  class_weight='balanced'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Çıkarma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47 boyutlu heterojen akustik vektör — 5 aile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Spektral (16)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MFCC×13, centroid, bandwidth,
rolloff, flatness std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39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Ritmik (10)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Tempo, beat strength,
onset density, regularity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Tonal (9)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Chroma×9, key confidence, HNR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Enerji (8)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RMS, ZCR,
dynamic range, crest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Yapısal (4)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Segment sınırı yoğunluğu,
tekrar oranı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977639"/>
            <a:ext cx="38862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404164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4622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16 + 10 + 9 + 8 + 4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5-katlı CV sonuçları — 11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274320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61848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600200"/>
            <a:ext cx="173736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1618488"/>
            <a:ext cx="16824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600200"/>
            <a:ext cx="146304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61848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16459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618488"/>
            <a:ext cx="15910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1600200"/>
            <a:ext cx="17830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1618488"/>
            <a:ext cx="17282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Hassasiyet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92640" y="1600200"/>
            <a:ext cx="169164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20072" y="1618488"/>
            <a:ext cx="16367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Duyarlılık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011680"/>
            <a:ext cx="274320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057400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LightGBM 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2011680"/>
            <a:ext cx="173736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2057400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95,48%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011680"/>
            <a:ext cx="146304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2" y="2057400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92,7%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11680"/>
            <a:ext cx="164592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057400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93,1%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2011680"/>
            <a:ext cx="178308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36992" y="2057400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91,8%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2011680"/>
            <a:ext cx="1691640" cy="438912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2057400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93,6%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505456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2551176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XGBoost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505456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0672" y="2551176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94,21%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2505456"/>
            <a:ext cx="14630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2" y="2551176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91,2%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505456"/>
            <a:ext cx="164592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2551176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91,8%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09560" y="2505456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36992" y="2551176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90,5%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92640" y="2505456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20072" y="2551176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92,0%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999232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3044952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Random Forest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999232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90672" y="3044952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93,87%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0600" y="2999232"/>
            <a:ext cx="14630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28032" y="3044952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90,8%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2999232"/>
            <a:ext cx="1645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044952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91,3%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09560" y="2999232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36992" y="3044952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89,9%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2999232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20072" y="3044952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91,7%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493008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" y="3538728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Extra Trees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493008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90672" y="3538728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92,14%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00600" y="3493008"/>
            <a:ext cx="14630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28032" y="35387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89,3%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63640" y="3493008"/>
            <a:ext cx="164592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1072" y="3538728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89,9%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09560" y="3493008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36992" y="3538728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92640" y="3493008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20072" y="3538728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90,4%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86784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" y="4032504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SVM (RBF)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986784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90672" y="4032504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91,05%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0600" y="3986784"/>
            <a:ext cx="14630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28032" y="4032504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88,1%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63640" y="3986784"/>
            <a:ext cx="1645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1072" y="4032504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88,7%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09560" y="3986784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36992" y="4032504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87,4%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92640" y="3986784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20072" y="4032504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480560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7472" y="4526280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MLP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480560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90672" y="4526280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90,43%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00600" y="4480560"/>
            <a:ext cx="14630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828032" y="4526280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87,6%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4480560"/>
            <a:ext cx="164592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91072" y="4526280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88,2%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909560" y="4480560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36992" y="4526280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86,9%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92640" y="4480560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20072" y="4526280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4974336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7472" y="5020056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1D-CNN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63240" y="4974336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90672" y="5020056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89,76%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800600" y="4974336"/>
            <a:ext cx="14630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28032" y="5020056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86,8%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63640" y="4974336"/>
            <a:ext cx="1645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91072" y="5020056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87,4%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09560" y="4974336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936992" y="5020056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85,7%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92640" y="4974336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20072" y="5020056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87,9%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468112"/>
            <a:ext cx="274320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7472" y="5513832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LSTM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063240" y="5468112"/>
            <a:ext cx="173736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090672" y="5513832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88,32%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00600" y="5468112"/>
            <a:ext cx="14630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828032" y="5513832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85,1%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63640" y="5468112"/>
            <a:ext cx="164592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5513832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85,8%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909560" y="5468112"/>
            <a:ext cx="178308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936992" y="5513832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84,3%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92640" y="5468112"/>
            <a:ext cx="1691640" cy="438912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720072" y="5513832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85,9%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5961888"/>
            <a:ext cx="274320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7472" y="6007608"/>
            <a:ext cx="2688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Transformer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63240" y="5961888"/>
            <a:ext cx="173736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090672" y="6007608"/>
            <a:ext cx="16824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87,91%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00600" y="5961888"/>
            <a:ext cx="14630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28032" y="600760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84,7%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263640" y="5961888"/>
            <a:ext cx="164592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91072" y="6007608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85,3%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09560" y="5961888"/>
            <a:ext cx="178308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36992" y="6007608"/>
            <a:ext cx="1728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83,8%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92640" y="5961888"/>
            <a:ext cx="1691640" cy="438912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20072" y="6007608"/>
            <a:ext cx="1636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85,4%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492240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7A87"/>
                </a:solidFill>
              </a:rPr>
              <a:t>★ LightGBM — en yüksek performans, tüm metriklerde lider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ROC Eğrileri ve Karmaşıklık Matrisi</a:t>
            </a:r>
          </a:p>
        </p:txBody>
      </p:sp>
      <p:pic>
        <p:nvPicPr>
          <p:cNvPr id="4" name="Picture 3" descr="paper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7607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23620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4: Makine öğrenmesi ROC eğrileri</a:t>
            </a:r>
          </a:p>
        </p:txBody>
      </p:sp>
      <p:pic>
        <p:nvPicPr>
          <p:cNvPr id="6" name="Picture 5" descr="paper_confusion_matrix_lightgb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23620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8: LightGBM karmaşıklık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SHAP Açıklanabilirlik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Hangi öznitelik kararı yönlendiriyor?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TreeSHAP ile global öznitelik sıralaması: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spectral_flatness_std  ← EN ÖNEMLİ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mfcc_4_mean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tempo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spectral_centroid_mean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zcr_mean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YZ müziği spektral açıdan daha 'düz' ve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düzenli — bu fark en güçlü ayırt edici.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Tablo 5: İlk 10 öznitelik tam listesi.</a:t>
            </a:r>
          </a:p>
        </p:txBody>
      </p:sp>
      <p:pic>
        <p:nvPicPr>
          <p:cNvPr id="6" name="Picture 5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614476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7: TreeSHAP global etki diyagramı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Önemi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LightGBM öznitelik önem skorları</a:t>
            </a:r>
          </a:p>
        </p:txBody>
      </p:sp>
      <p:pic>
        <p:nvPicPr>
          <p:cNvPr id="5" name="Picture 4" descr="pape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1152144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6: LightGBM öznitelik önem skorları — ilk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İlgili Çalışmalarla Karşılaştırma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Tablo 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2560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5" y="1618488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Çalışma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600200"/>
            <a:ext cx="2743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16936" y="161848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Yöntem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600200"/>
            <a:ext cx="20116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0136" y="1618488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600200"/>
            <a:ext cx="17373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61848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2600" y="1600200"/>
            <a:ext cx="17373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09176" y="161848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Açıkl.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29968"/>
            <a:ext cx="25603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5" y="2139696"/>
            <a:ext cx="2487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Afchar (2025)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29968"/>
            <a:ext cx="274320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213969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MFCC+CNN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0" y="2029968"/>
            <a:ext cx="201168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0136" y="2139696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2029968"/>
            <a:ext cx="173736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1816" y="2139696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91,3%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2029968"/>
            <a:ext cx="173736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2139696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779776"/>
            <a:ext cx="256032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5" y="2889504"/>
            <a:ext cx="2487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Cros Vila (2025)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779776"/>
            <a:ext cx="274320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16936" y="2889504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Müzik öznitelik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779776"/>
            <a:ext cx="201168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0136" y="2889504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2779776"/>
            <a:ext cx="173736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71816" y="2889504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93,7%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72600" y="2779776"/>
            <a:ext cx="173736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9176" y="2889504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529584"/>
            <a:ext cx="25603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5" y="3639312"/>
            <a:ext cx="2487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SONICS (2025)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80360" y="3529584"/>
            <a:ext cx="274320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6936" y="3639312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End-to-end DL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23560" y="3529584"/>
            <a:ext cx="201168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0136" y="3639312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97k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35240" y="3529584"/>
            <a:ext cx="173736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3639312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72600" y="3529584"/>
            <a:ext cx="1737360" cy="67665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09176" y="3639312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279392"/>
            <a:ext cx="256032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4389120"/>
            <a:ext cx="2487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FakeMusicCaps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80360" y="4279392"/>
            <a:ext cx="274320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16936" y="4389120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Metin→müzik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23560" y="4279392"/>
            <a:ext cx="201168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0136" y="4389120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FMC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35240" y="4279392"/>
            <a:ext cx="173736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71816" y="4389120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72600" y="4279392"/>
            <a:ext cx="1737360" cy="676656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09176" y="4389120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029200"/>
            <a:ext cx="2560320" cy="676656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5" y="5138928"/>
            <a:ext cx="2487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AURIS 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80360" y="5029200"/>
            <a:ext cx="2743200" cy="676656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16936" y="513892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LightGBM topluluk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5029200"/>
            <a:ext cx="2011680" cy="676656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0136" y="5138928"/>
            <a:ext cx="19385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35240" y="5029200"/>
            <a:ext cx="1737360" cy="676656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71816" y="5138928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95,48%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72600" y="5029200"/>
            <a:ext cx="1737360" cy="676656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09176" y="5138928"/>
            <a:ext cx="16642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SHAP 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598932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A87"/>
                </a:solidFill>
              </a:rPr>
              <a:t>AURIS — literatürdeki en yüksek ROC-AUC + tek açıklanabilir yaklaşım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Kalibrasyon ve Eşik Analizi</a:t>
            </a:r>
          </a:p>
        </p:txBody>
      </p:sp>
      <p:pic>
        <p:nvPicPr>
          <p:cNvPr id="4" name="Picture 3" descr="paper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7607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1447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10: Kalibrasyon eğrisi (Brier=0,083)</a:t>
            </a:r>
          </a:p>
        </p:txBody>
      </p:sp>
      <p:pic>
        <p:nvPicPr>
          <p:cNvPr id="6" name="Picture 5" descr="threshol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1447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12: Karar eşiği taraması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Kısıtlamalar ve Güçlü Yönler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Kısıtlamalar: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Dağılım kayması (distribution shift)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Eğitim dışı YZ sistemlerine sınırlı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genelleme.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Sınıf dengesizliği (%59,9/%40,1)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class_weight ile kısmen giderildi.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Gerçek zamanlı uygulama henüz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test edilmedi.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6002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Güçlü Yönler: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47 boyutlu heterojen öznitelik vektörü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SHAP ile açıklanabilirlik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Youden J eşik optimizasyonu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5-katlı CV — güvenilir istatistik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(±0,0023 std)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GUJSA formatında akademik yayın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Sonuçlar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öznitelik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akustik aileden derlenen, müzik-spesifik kapsamlı vektör.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87752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LightGBM lider — %95,48 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0837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±0,0023 std ile 11 model içinde en kararlı.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75304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639312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210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Spectral Flatness Std Dev kritik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YZ müziğini insan müziğinden en güçlü ayıran öznitelik.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62856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26864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0857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optimizasyonu +3,3 puan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83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θ*=0,4316 ile F1 %89,4→%92,7.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50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614416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96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Açıklanabilir 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710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TreeSHAP — her karar yorumlanabilir.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Gelecek Çalışmalar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749039" cy="4892040"/>
          </a:xfrm>
          <a:prstGeom prst="rect">
            <a:avLst/>
          </a:prstGeom>
          <a:solidFill>
            <a:srgbClr val="E8F4E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Kısa Vade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Domain adaptation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Gerçek zamanlı çıkarım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&lt;5 sn klipler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600200"/>
            <a:ext cx="3749039" cy="4892040"/>
          </a:xfrm>
          <a:prstGeom prst="rect">
            <a:avLst/>
          </a:prstGeom>
          <a:solidFill>
            <a:srgbClr val="E8F0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39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Orta Vade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39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Sosyal medya entegrasyonu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Canlı ses akışı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Çok dilli veri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600200"/>
            <a:ext cx="3749039" cy="4892040"/>
          </a:xfrm>
          <a:prstGeom prst="rect">
            <a:avLst/>
          </a:prstGeom>
          <a:solidFill>
            <a:srgbClr val="FFF3CC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Uzun Vade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Az örnekli öğrenme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Watermarking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Telif kuruluşu işbirliği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Dinlediğiniz için teşekkürler.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0A800"/>
                </a:solidFill>
              </a:rPr>
              <a:t>Sorularınızı bekliyorum.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%95,48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Hasan Arthur Altuntaş  |  hasannarthurrr@gmail.com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023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Bilgisayar Mühendisliği  |  BM498  |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05: Final Savunma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Final Savunma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