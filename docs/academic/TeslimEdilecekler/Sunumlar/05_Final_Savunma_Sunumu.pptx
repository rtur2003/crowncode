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1">
                <a:solidFill>
                  <a:srgbClr val="E0A800"/>
                </a:solidFill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</a:rPr>
              <a:t>Yapay Zekâ Üretimli Müzik Tespitinde Topluluk Öğrenmesi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2140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0C8D8"/>
                </a:solidFill>
              </a:rPr>
              <a:t>Heterojen Akustik Öznitelikler ve LightGBM Tabanlı Bir Yaklaşım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00600"/>
            <a:ext cx="12188952" cy="2057400"/>
          </a:xfrm>
          <a:prstGeom prst="rect">
            <a:avLst/>
          </a:prstGeom>
          <a:solidFill>
            <a:srgbClr val="06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910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Hasan Arthur Altuntaş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21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Danışman: ___________________________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8756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Mühendislik Fakültesi  |  BM498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Sunum Planı — 05 Final Savunma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1.   Motivasyon ve Problem Tanımı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2.   Literatür Özeti ve Boşluk Analizi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3.   Sistem Mimarisi (AURIS Pipeline)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4.   Veri Kümesi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5.   Öznitelik Çıkarma (47 Boyutlu Vektör)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6.   Sınıflandırma Modelleri ve Eğitim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7.   Sonuçlar — Model Karşılaştırması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8.   Açıklanabilirlik (SHAP / TreeSHAP)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9.   İlgili Çalışmalarla Karşılaştırma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10.  Kısıtlamalar ve Güçlü Yönler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333333"/>
                </a:solidFill>
              </a:rPr>
              <a:t>11.  Sonuçlar ve Gelecek Çalışmalar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Neden AURIS? Neden şimdi?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Suno, Udio, MusicGen saniyeler içinde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insan kaydından ayırt edilemez müzik üretiyor.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Telif hakkı ihlalleri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Sahte hit (streaming fraud)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Dezenformasyon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Yaratıcı ekonomide zarar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Mevcut dedektörler konuşma odaklı —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müzik için yetersiz.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0020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671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83463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35584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977639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23359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4456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166360"/>
            <a:ext cx="539496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2120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73328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AURIS uçtan uca pipeline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Veri Kümesi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5.195 örnek — çoklu insan ve YZ kaynağı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38404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581912"/>
            <a:ext cx="3749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554480"/>
            <a:ext cx="2743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8191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Tür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3720" y="1554480"/>
            <a:ext cx="23774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158191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Örnek Sayısı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81160" y="1554480"/>
            <a:ext cx="20116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58191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Etiket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9751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5" y="20299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9751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97096" y="20299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9751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0296" y="20299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19751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0299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4323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5" y="24871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FMA Small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4323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97096" y="24871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03720" y="24323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0296" y="24871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81160" y="24323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17736" y="24871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8895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5" y="29443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SleepyJesse (kapak)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8895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97096" y="29443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28895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0296" y="29443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854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28895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17736" y="29443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3467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5" y="34015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Diğer insan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33467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97096" y="34015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İnsan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33467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0296" y="34015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360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33467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17736" y="34015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8039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38587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Echoes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38039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97096" y="38587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03720" y="38039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0296" y="38587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1.128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81160" y="38039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17736" y="38587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2611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5" y="43159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Suno (v3-v5)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42611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97096" y="43159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03720" y="42611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0296" y="43159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500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81160" y="42611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17736" y="43159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718304"/>
            <a:ext cx="38404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6615" y="47731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Deepfake seti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0520" y="4718304"/>
            <a:ext cx="274320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97096" y="47731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03720" y="4718304"/>
            <a:ext cx="237744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0296" y="47731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492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81160" y="4718304"/>
            <a:ext cx="2011680" cy="420624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17736" y="47731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175504"/>
            <a:ext cx="38404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56615" y="52303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AImE/Mustango/JEN-1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60520" y="5175504"/>
            <a:ext cx="274320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97096" y="52303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Yapay zekâ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03720" y="5175504"/>
            <a:ext cx="237744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0296" y="52303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81160" y="5175504"/>
            <a:ext cx="2011680" cy="420624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17736" y="52303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5632704"/>
            <a:ext cx="384048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6615" y="5687568"/>
            <a:ext cx="37673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TOPLAM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60520" y="5632704"/>
            <a:ext cx="274320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97096" y="5687568"/>
            <a:ext cx="26700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6903720" y="5632704"/>
            <a:ext cx="237744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940296" y="56875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81160" y="5632704"/>
            <a:ext cx="2011680" cy="420624"/>
          </a:xfrm>
          <a:prstGeom prst="rect">
            <a:avLst/>
          </a:prstGeom>
          <a:solidFill>
            <a:srgbClr val="E8F4E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317736" y="5687568"/>
            <a:ext cx="19385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6B3A"/>
                </a:solidFill>
              </a:rPr>
              <a:t/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585216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A87"/>
                </a:solidFill>
              </a:rPr>
              <a:t>Sınıf dağılımı: 3.113 insan (%59,9) — 2.082 YZ (%40,1)  |  class_weight='balanced'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47 boyutlu heterojen vektör — 5 işlevsel aile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MFCC, mel-spektrogram, centroid,
bandwidth, rolloff, flatness + delta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Zamansal (10)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 enerjisi, sıfır geçiş hızı,
dinamik aralık türevleri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sayısı,
onset gücü istatistikleri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Harmonik (8)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 vektörü, harmonik-
algısal ayrıştırma bileşenleri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Vokal (4)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Temel frekans istatistikleri,
vibrato, formant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5-katlı CV — 11 model, ROC-AUC sırasına göre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32918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572768"/>
            <a:ext cx="32369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1554480"/>
            <a:ext cx="146304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57276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Tip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0235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Doğruluk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81160" y="1554480"/>
            <a:ext cx="210312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8592" y="1572768"/>
            <a:ext cx="204825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947672"/>
            <a:ext cx="329184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1975103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LightGBM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1947672"/>
            <a:ext cx="146304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1975103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ML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235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0,8839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0,8575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1947672"/>
            <a:ext cx="2103120" cy="36576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8592" y="1975103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0,9548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350008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377439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Derin ÇKA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350008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2377439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7492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0235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0,8849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547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2350008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8592" y="2377439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0,9542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752344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2779775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Artık ÇKA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2752344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39312" y="2779775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0235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0,8756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7804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547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0,8476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2752344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8592" y="2779775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0,9485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154680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318211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XGBoost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3154680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39312" y="3182112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0235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0,8751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7804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547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0,8408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3154680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318211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0,9465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557015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" y="3584447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Gradyan Artırma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11880" y="3557015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39312" y="3584447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7492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0235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0,8685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7804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547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0,8337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81160" y="3557015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08592" y="3584447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0,9397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59352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398678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Rastgele Orman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11880" y="3959352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39312" y="3986784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492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10235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0,8606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7804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0547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0,8183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281160" y="3959352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308592" y="398678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0,9394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361688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472" y="4389120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Dikkat ÇKA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11880" y="4361688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39312" y="4389120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7492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0,8628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7804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0547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0,8293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81160" y="4361688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308592" y="4389120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0,9359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4764024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791456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SVM-RBF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11880" y="4764024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39312" y="4791456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7492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0235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0,8612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17804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20547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0,8252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281160" y="4764024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08592" y="4791456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0,9346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166360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7472" y="5193792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ÇKA Sinir Ağı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11880" y="5166360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39312" y="5193792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7492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0235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0,8566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17804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0547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0,8189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281160" y="5166360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308592" y="5193792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0,9276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5568696"/>
            <a:ext cx="32918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596128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1B-ESA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611880" y="5568696"/>
            <a:ext cx="146304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39312" y="5596128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DL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7492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10235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0,7665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17804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0547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0,7159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281160" y="5568696"/>
            <a:ext cx="2103120" cy="3657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08592" y="5596128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0,8543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5971032"/>
            <a:ext cx="32918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" y="5998464"/>
            <a:ext cx="3236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Lojistik Reg.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11880" y="5971032"/>
            <a:ext cx="146304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639312" y="5998464"/>
            <a:ext cx="14081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ML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7492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0235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0,7779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17804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20547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0,7390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281160" y="5971032"/>
            <a:ext cx="210312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308592" y="5998464"/>
            <a:ext cx="204825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0,8515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4465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007A87"/>
                </a:solidFill>
              </a:rPr>
              <a:t>★ LightGBM — en yüksek ROC-AUC (0,9548) ve Youden eşik optimizasyonu uygulanan tek model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ROC Eğrileri ve Karmaşıklık Matrisi</a:t>
            </a:r>
          </a:p>
        </p:txBody>
      </p:sp>
      <p:pic>
        <p:nvPicPr>
          <p:cNvPr id="4" name="Picture 3" descr="paper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23620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4: Makine öğrenmesi ROC eğrileri</a:t>
            </a:r>
          </a:p>
        </p:txBody>
      </p:sp>
      <p:pic>
        <p:nvPicPr>
          <p:cNvPr id="6" name="Picture 5" descr="paper_confusion_matrix_lightgb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23620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8: LightGBM karmaşıklık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SHAP Açıklanabilirlik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Hangi öznitelik kararı yönlendiriyor?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002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TreeSHAP global öznitelik sıralaması: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spectral_flatness_std  ← EN ÖNEMLİ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spectral_contrast_mean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rms_energy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onset_strength_std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spectral_flatness_mean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YZ müziği spektral açıdan daha 'düz' ve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düzenli — en güçlü ayırt edici özellik.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Tablo 6: İlk 10 öznitelik tam listesi.</a:t>
            </a:r>
          </a:p>
        </p:txBody>
      </p:sp>
      <p:pic>
        <p:nvPicPr>
          <p:cNvPr id="6" name="Picture 5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08760"/>
            <a:ext cx="64008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614476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7: TreeSHAP global etki diyagramı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Önemi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LightGBM öznitelik önem skorları</a:t>
            </a:r>
          </a:p>
        </p:txBody>
      </p:sp>
      <p:pic>
        <p:nvPicPr>
          <p:cNvPr id="5" name="Picture 4" descr="paper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1152144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6: LightGBM öznitelik önem skorları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İlgili Çalışmalarla Karşılaştırma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Tablo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5" y="1618488"/>
            <a:ext cx="2487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Çalışma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1600200"/>
            <a:ext cx="31089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16936" y="1618488"/>
            <a:ext cx="3035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Yaklaşım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600200"/>
            <a:ext cx="17373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25896" y="1618488"/>
            <a:ext cx="166420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Veri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63255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19" y="1600200"/>
            <a:ext cx="16916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54895" y="1618488"/>
            <a:ext cx="1618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29968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5" y="2121408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Afchar vd. (2025)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29968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16936" y="2121408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Oto-kodlayıcı artefakt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029968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25896" y="2121408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029968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63255" y="212140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8319" y="2029968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5" y="212140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0,872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651760"/>
            <a:ext cx="256032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5" y="2743200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Li vd. (2026)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651760"/>
            <a:ext cx="31089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16936" y="2743200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Açıklanabilir öznitelik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2651760"/>
            <a:ext cx="17373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5896" y="2743200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79" y="2651760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63255" y="2743200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19" y="2651760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54895" y="2743200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0,884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273552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5" y="3364992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Cros Vila vd. (2025)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80360" y="3273552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6936" y="3364992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Spektral+ritmik+SVM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3273552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25896" y="3364992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Özel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26679" y="3273552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3255" y="3364992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19" y="3273552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54895" y="3364992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895344"/>
            <a:ext cx="256032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5" y="3986783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SONICS (2025)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880360" y="3895344"/>
            <a:ext cx="31089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16936" y="3986783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Transformer DL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3895344"/>
            <a:ext cx="173736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25896" y="3986783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SONICS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26679" y="3895344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63255" y="3986783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8319" y="3895344"/>
            <a:ext cx="1691640" cy="54864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54895" y="3986783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0,921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4517136"/>
            <a:ext cx="256032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5" y="4608576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FakeMusicCaps (2025)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880360" y="4517136"/>
            <a:ext cx="3108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16936" y="4608576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Çok modlu MusicCaps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89320" y="4517136"/>
            <a:ext cx="17373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25896" y="4608576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FMC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79" y="4517136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63255" y="4608576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0,943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8319" y="4517136"/>
            <a:ext cx="1691640" cy="54864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54895" y="4608576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</a:rPr>
              <a:t>0,906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138928"/>
            <a:ext cx="256032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6615" y="5230368"/>
            <a:ext cx="2487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AURIS ★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5138928"/>
            <a:ext cx="310896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16936" y="5230368"/>
            <a:ext cx="30358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47 öznitelik+11 model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89320" y="5138928"/>
            <a:ext cx="173736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25896" y="5230368"/>
            <a:ext cx="16642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5.195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26679" y="5138928"/>
            <a:ext cx="169164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63255" y="523036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0,9548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418319" y="5138928"/>
            <a:ext cx="1691640" cy="548640"/>
          </a:xfrm>
          <a:prstGeom prst="rect">
            <a:avLst/>
          </a:prstGeom>
          <a:solidFill>
            <a:srgbClr val="FFF8E1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54895" y="5230368"/>
            <a:ext cx="1618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</a:rPr>
              <a:t>0,8731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040" y="594360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A87"/>
                </a:solidFill>
              </a:rPr>
              <a:t>AURIS — yüksek ROC-AUC (0,9548) + tek açıklanabilir (SHAP) topluluk yaklaşımı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Kalibrasyon ve Eşik Analizi</a:t>
            </a:r>
          </a:p>
        </p:txBody>
      </p:sp>
      <p:pic>
        <p:nvPicPr>
          <p:cNvPr id="4" name="Picture 3" descr="paper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57607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614476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10: Kalibrasyon eğrisi</a:t>
            </a:r>
          </a:p>
        </p:txBody>
      </p:sp>
      <p:pic>
        <p:nvPicPr>
          <p:cNvPr id="6" name="Picture 5" descr="threshold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6144768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12: Karar eşiği taraması (θ*=0,4316)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Kısıtlamalar ve Güçlü Yönler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6002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Kısıtlamalar: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Dağılım kayması (distribution shift)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Eğitim dışı YZ sistemlerine sınırlı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genelleme.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Sınıf dengesizliği (%59,9/%40,1)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class_weight ile giderildi.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Gerçek zamanlı uygulama henüz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  test edilmedi.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60020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Güçlü Yönler: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47 boyutlu heterojen öznitelik vektörü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SHAP/TreeSHAP ile açıklanabilirlik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Youden J eşik optimizasyonu (θ*=0,4316)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5-katlı CV — güvenilir istatistik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✓  GUJSA formatında akademik yayın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Sonuçlar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 müzik-spesifik kapsamlı vektör.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87752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3347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LightGBM lider — ROC-AUC 0,9548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08376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11 model içinde en yüksek ayırt etme gücü.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75304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639312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21024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spectral_flatness_std kritik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YZ müziğini insan müziğinden en güçlü ayıran öznitelik.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562856"/>
            <a:ext cx="11430000" cy="868680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26864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08576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θ*=0,4316 ile dengeli sınıf kararı sağlandı.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550408"/>
            <a:ext cx="11430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614416"/>
            <a:ext cx="457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961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Açıklanabilir sistem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7103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TreeSHAP — her karar yorumlanabilir.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Gelecek Çalışmalar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749039" cy="4892040"/>
          </a:xfrm>
          <a:prstGeom prst="rect">
            <a:avLst/>
          </a:prstGeom>
          <a:solidFill>
            <a:srgbClr val="E8F4E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Kısa Vade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SONICS/FakeMusicCaps ile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  üretici-bağımsız değerlendirme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Gerçek zamanlı çıkarım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600200"/>
            <a:ext cx="3749039" cy="4892040"/>
          </a:xfrm>
          <a:prstGeom prst="rect">
            <a:avLst/>
          </a:prstGeom>
          <a:solidFill>
            <a:srgbClr val="E8F0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Orta Vade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39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Sosyal medya entegrasyonu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Canlı ses akışı tespiti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Çok dilli veri seti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600200"/>
            <a:ext cx="3749039" cy="4892040"/>
          </a:xfrm>
          <a:prstGeom prst="rect">
            <a:avLst/>
          </a:prstGeom>
          <a:solidFill>
            <a:srgbClr val="FFF3CC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91640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Uzun Vade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24028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Az örnekli öğrenme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Watermarking entegrasyonu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333333"/>
                </a:solidFill>
              </a:rPr>
              <a:t>Telif kuruluşu işbirliği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Dinlediğiniz için teşekkürler.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0A800"/>
                </a:solidFill>
              </a:rPr>
              <a:t>Sorularınızı bekliyorum.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0,9548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Öznitelik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3200400"/>
            <a:ext cx="2194560" cy="1234440"/>
          </a:xfrm>
          <a:prstGeom prst="rect">
            <a:avLst/>
          </a:prstGeom>
          <a:solidFill>
            <a:srgbClr val="061A35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324612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82219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Örnek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0C8D8"/>
                </a:solidFill>
              </a:rPr>
              <a:t>Hasan Arthur Altuntaş  |  hasannarthurrr@gmail.com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0235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99AA"/>
                </a:solidFill>
              </a:rPr>
              <a:t>Düzce Üniversitesi  |  Bilgisayar Mühendisliği  |  BM498  |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05: Final Savunma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Final Savunma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