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0A800"/>
                </a:solidFill>
              </a:rPr>
              <a:t>AURIS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Yapay Zekâ Üretimli Müzik Tespitinde Topluluk Öğrenmesi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23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C8D8"/>
                </a:solidFill>
              </a:rPr>
              <a:t>Heterojen Akustik Öznitelikler ve LightGBM Tabanlı Bir Yaklaşım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6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Hasan Arthur Altuntaş  |  Öğrenci No: 201401001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Danışman: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Mühendislik Fakültesi  |  Bilgisayar Mühendisliği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Sunum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1.  Motivasyon ve Problem Tanımı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2.  Literatür Özeti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3.  Sistem Mimarisi (AURIS Pipeline)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4.  Veri Kümesi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5.  Öznitelik Çıkarma (47 Boyutlu Vektör)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6.  Sınıflandırma Modelleri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7.  Eğitim Protokolü ve Eşik Optimizasyonu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8.  Sonuçlar — Model Karşılaştırması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9.  Açıklanabilirlik (SHAP / TreeSHAP)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10. İlgili Çalışmalarla Karşılaştırma</a:t>
            </a:r>
          </a:p>
          <a:p>
            <a:pPr algn="l"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11. Sonuçlar ve Gelecek Çalışmalar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Neden bu problem? Neden şimdi?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Suno, Udio, MusicGen gibi sistemler saniyeler içinde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insan sesinden ayırt edilemeyen müzik üretmektedir.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▸  Telif hakkı ihlalleri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▸  Sahte hit manipülasyonu (streaming fraud)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▸  Dezenformasyon ve kimlik sahteciliği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▸  Yaratıcı endüstride ekonomik zarar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Mevcut tespitciler ya konuşma odaklıdır ya da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</a:rPr>
              <a:t>müzik için yetersiz öznitelik kullanmaktadır.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00200"/>
            <a:ext cx="530352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eğitim örneği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30352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834639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918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farklı YZ kaynağı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977639"/>
            <a:ext cx="530352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23359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805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166360"/>
            <a:ext cx="530352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212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669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akustik öznitelik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Literatür Özeti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Alandaki temel çalışmalar ve boşluklar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3749039" cy="49377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00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Ses Deepfake Tespiti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823192" cy="0"/>
          </a:xfrm>
          <a:prstGeom prst="rect">
            <a:avLst/>
          </a:prstGeom>
          <a:ln w="381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21488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AASIST (Jung vd., 2022) — spektro-temporal graf ağı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RawNet2 (Tak vd., 2021) — uçtan uca ham dalga formu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wav2vec 2.0 / WavLM — öz-denetimli temsil öğrenmesi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ASVspoof 2019 — konuşma odaklı 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1554480"/>
            <a:ext cx="3749039" cy="49377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YZ Müzik Tespiti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21488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Afchar vd. (2025) — ICASSP, MFCC tabanlı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Cros Vila vd. (2025) — TISMIR, müzik-spesifik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SONICS (ICLR 2025) — şarkı tespiti, 97k örnek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FakeMusicCaps (2025) — metin→müzik atıf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554480"/>
            <a:ext cx="3749039" cy="4937760"/>
          </a:xfrm>
          <a:prstGeom prst="rect">
            <a:avLst/>
          </a:prstGeom>
          <a:solidFill>
            <a:srgbClr val="FFF3CC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600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Boşluk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1488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Müzik için topluluk (ensemble) yaklaşımı yok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47 boyutlu heterojen öznitelik vektörü yok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Kaynak bazlı performans analizi eksik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SHAP açıklanabilirlik müziğe uygulanmamış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AURIS uçtan uca pipeline — 7 aşama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Aşağıdaki diyagram, ham ses dosyasından nihai tespit kararına uzanan işlem zincirini göstermektedir.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103120"/>
            <a:ext cx="1463040" cy="2560320"/>
          </a:xfrm>
          <a:prstGeom prst="rect">
            <a:avLst/>
          </a:prstGeom>
          <a:solidFill>
            <a:srgbClr val="124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Ham Ses
Girişi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WAV/MP3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2103120"/>
            <a:ext cx="1463040" cy="2560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Ön İşleme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22 050 Hz
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2103120"/>
            <a:ext cx="1463040" cy="25603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Öznitelik
Çıkarma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47 boyut
5 aile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2103120"/>
            <a:ext cx="1463040" cy="2560320"/>
          </a:xfrm>
          <a:prstGeom prst="rect">
            <a:avLst/>
          </a:prstGeom>
          <a:solidFill>
            <a:srgbClr val="00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Normalizasyon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StandardScaler
per-fold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2103120"/>
            <a:ext cx="1463040" cy="25603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Topluluk
Modelleri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11 model
5-fold CV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2103120"/>
            <a:ext cx="1463040" cy="2560320"/>
          </a:xfrm>
          <a:prstGeom prst="rect">
            <a:avLst/>
          </a:prstGeom>
          <a:solidFill>
            <a:srgbClr val="7A3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Eşik
Optim.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Youden J
θ*=0,43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3063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7A87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69880" y="2103120"/>
            <a:ext cx="1463040" cy="2560320"/>
          </a:xfrm>
          <a:prstGeom prst="rect">
            <a:avLst/>
          </a:prstGeom>
          <a:solidFill>
            <a:srgbClr val="6B0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14884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Karar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32461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EEFF"/>
                </a:solidFill>
              </a:rPr>
              <a:t>YZ / İnsan
Olasılık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846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  (bkz. pipeline diyagramı)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Veri Kümesi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Kaynak dağılımı ve sınıf dengesi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92608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600200"/>
            <a:ext cx="256032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79" y="162763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Tür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00200"/>
            <a:ext cx="237744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6276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Örnek Sayısı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600200"/>
            <a:ext cx="182880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276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Oran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57400"/>
            <a:ext cx="2926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103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MusicGen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057400"/>
            <a:ext cx="25603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79" y="2103120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2057400"/>
            <a:ext cx="23774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1031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712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057400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1031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%13,7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32888"/>
            <a:ext cx="2926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7860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AudioLDM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532888"/>
            <a:ext cx="25603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79" y="257860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532888"/>
            <a:ext cx="23774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25786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498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2532888"/>
            <a:ext cx="18288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%9,6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008376"/>
            <a:ext cx="2926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0540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Suno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3008376"/>
            <a:ext cx="25603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79" y="3054096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008376"/>
            <a:ext cx="23774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3054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644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66760" y="3008376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30540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%12,4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83864"/>
            <a:ext cx="2926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52958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Udio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37560" y="3483864"/>
            <a:ext cx="25603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3279" y="3529584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3483864"/>
            <a:ext cx="23774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9320" y="35295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610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3483864"/>
            <a:ext cx="18288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5295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%11,7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959352"/>
            <a:ext cx="2926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00507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MusicCaps (diğer)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37560" y="3959352"/>
            <a:ext cx="25603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79" y="4005072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3959352"/>
            <a:ext cx="23774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9320" y="4005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649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66760" y="3959352"/>
            <a:ext cx="18288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40050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%12,5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434840"/>
            <a:ext cx="292608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4480559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İnsan Kaydı (çeşitli)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337560" y="4434840"/>
            <a:ext cx="256032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83279" y="4480559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Gerçek müzik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0" y="4434840"/>
            <a:ext cx="237744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44805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2.082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66760" y="4434840"/>
            <a:ext cx="182880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448055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%40,1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910328"/>
            <a:ext cx="2926080" cy="438912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495604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6B3A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3337560" y="4910328"/>
            <a:ext cx="2560320" cy="438912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83279" y="4956048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6B3A"/>
                </a:solidFill>
              </a:rPr>
              <a:t>TOPLAM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0" y="4910328"/>
            <a:ext cx="2377440" cy="438912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89320" y="4956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6760" y="4910328"/>
            <a:ext cx="1828800" cy="438912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0" y="4956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6B3A"/>
                </a:solidFill>
              </a:rPr>
              <a:t>%100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623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A87"/>
                </a:solidFill>
              </a:rPr>
              <a:t>Sınıf dağılımı: %59,9 YZ — %40,1 insan  |  class_weight='balanced' ile dengeleme uygulandı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Öznitelik Çıkarma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47 boyutlu heterojen akustik vektör — 5 aile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733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Spektral Öznitelikler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73352"/>
            <a:ext cx="1097280" cy="411480"/>
          </a:xfrm>
          <a:prstGeom prst="rect">
            <a:avLst/>
          </a:prstGeom>
          <a:solidFill>
            <a:srgbClr val="007A87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16 boyut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148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MFCC (13), Spectral Centroid, Bandwidth,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Rolloff, Flatness std — frekans içeriği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6733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Ritmik Öznitelikler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73352"/>
            <a:ext cx="1097280" cy="411480"/>
          </a:xfrm>
          <a:prstGeom prst="rect">
            <a:avLst/>
          </a:prstGeom>
          <a:solidFill>
            <a:srgbClr val="007A87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10 boyut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148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Tempo, Beat strength, Onset density,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Rhythmic regularity — zaman yapısı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6733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Tonal Öznitelikler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1673352"/>
            <a:ext cx="1097280" cy="411480"/>
          </a:xfrm>
          <a:prstGeom prst="rect">
            <a:avLst/>
          </a:prstGeom>
          <a:solidFill>
            <a:srgbClr val="007A87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9 boyut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48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Chroma (12→9), Key confidence,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Harmonic-to-noise ratio — perde/akor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00507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Enerji Öznitelikleri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05072"/>
            <a:ext cx="1097280" cy="411480"/>
          </a:xfrm>
          <a:prstGeom prst="rect">
            <a:avLst/>
          </a:prstGeom>
          <a:solidFill>
            <a:srgbClr val="007A87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8 boyut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480559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RMS, ZCR, Dynamic range,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Crest factor — ses yoğunluğu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400507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Yapısal Öznitelikler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05072"/>
            <a:ext cx="1097280" cy="411480"/>
          </a:xfrm>
          <a:prstGeom prst="rect">
            <a:avLst/>
          </a:prstGeom>
          <a:solidFill>
            <a:srgbClr val="007A87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 boyut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4480559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Segment sınırı yoğunluğu,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Tekrar oranı — müzik formu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977639"/>
            <a:ext cx="393192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4074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Sınıflandırma Modelleri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11 model — makine öğrenmesi + derin öğrenme topluluk yaklaşımı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548640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Makine Öğrenmesi Modelleri (7)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LightGBM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1488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Gradient boosting — ana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5234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5234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Gradient boosting — ikincil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55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Random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5584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Bagging topluluğu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9593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Extra Trees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593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Rastgele kesim ağacı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6285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AdaBoost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562856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Boosting topluluğu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1663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Logistic Reg.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16636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Doğrusal taban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76986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A87"/>
                </a:solidFill>
              </a:rPr>
              <a:t>SVM (RBF)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76986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Çekirdek tabanlı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600200"/>
            <a:ext cx="576072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64592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Derin Öğrenme Modelleri (4)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1488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A800"/>
                </a:solidFill>
              </a:rPr>
              <a:t>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14884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Çok katmanlı algılayıcı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0720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A800"/>
                </a:solidFill>
              </a:rPr>
              <a:t>1D-CNN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807208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Geçici evrişim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46557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A800"/>
                </a:solidFill>
              </a:rPr>
              <a:t>LSTM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465576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Uzun-kısa süreli bellek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12394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A800"/>
                </a:solidFill>
              </a:rPr>
              <a:t>Transformer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123944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Öz-dikkat mekanizması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8348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Topluluk kararı: olasılık ortalaması
(soft voting) — LightGBM lider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Eğitim Protokolü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5-katlı çapraz doğrulama + karar eşiği optimizasyonu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Stratifiye 5-katlı çapraz doğrulama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Sınıf oranı her katta korunur (%59,9 / %40,1)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StandardScaler her katta yalnızca eğitim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verisine fit edilir (data leakage yok)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class_weight='balanced' (ML modeller)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is_unbalance=True (LightGBM)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Karar Eşiği Optimizasyonu (Youden J):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J(θ) = TPR(θ) − FPR(θ)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θ* = 0,4316  (varsayılan 0,5 yerine)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Kalibrasyon: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BS = (1/N) Σᵢ (pᵢ − yᵢ)²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Brier Skoru = 0,083  ✓ iyi kalibre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45920"/>
            <a:ext cx="5852160" cy="10972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4592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3042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±0,0023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880360"/>
            <a:ext cx="5852160" cy="10972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926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F1-Skoru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88036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>
                <a:solidFill>
                  <a:srgbClr val="E0A800"/>
                </a:solidFill>
              </a:rPr>
              <a:t>%92,7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5387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5-fold 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4114800"/>
            <a:ext cx="5852160" cy="10972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160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Brier Skoru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11480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>
                <a:solidFill>
                  <a:srgbClr val="E0A800"/>
                </a:solidFill>
              </a:rPr>
              <a:t>0,083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7731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kalibre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5349240"/>
            <a:ext cx="5852160" cy="10972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5394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Youden θ*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492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>
                <a:solidFill>
                  <a:srgbClr val="E0A800"/>
                </a:solidFill>
              </a:rPr>
              <a:t>0,4316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0076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optimum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5-katlı çapraz doğrulama — tüm modeller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743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5" y="161848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600200"/>
            <a:ext cx="1737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9816" y="16184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600200"/>
            <a:ext cx="15544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7176" y="1618488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17830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3296" y="1618488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Hassasiyet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66376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Duyarlılık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029968"/>
            <a:ext cx="274320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5" y="207568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LightGBM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2029968"/>
            <a:ext cx="173736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20756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95,48%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029968"/>
            <a:ext cx="155448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2075688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92,7%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029968"/>
            <a:ext cx="169164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20756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93,1%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029968"/>
            <a:ext cx="178308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2075688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91,8%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029968"/>
            <a:ext cx="169164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66376" y="20756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93,6%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505456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5" y="255117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XGBoost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505456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2551176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94,21%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2505456"/>
            <a:ext cx="15544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55117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505456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1656" y="255117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505456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3296" y="2551176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90,5%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2505456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66376" y="255117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92,0%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980944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5" y="3026664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Random Forest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980944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99816" y="3026664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93,87%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0600" y="2980944"/>
            <a:ext cx="15544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37176" y="3026664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90,8%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2980944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91656" y="302666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2980944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83296" y="3026664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89,9%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2980944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66376" y="302666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456432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5" y="350215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Extra Trees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456432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99816" y="3502152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92,14%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00600" y="3456432"/>
            <a:ext cx="15544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37176" y="350215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89,3%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3456432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91656" y="350215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89,9%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3456432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83296" y="3502152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29800" y="3456432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66376" y="350215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90,4%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31920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6615" y="3977640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SVM (RBF)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931920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99816" y="3977640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91,05%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0600" y="3931920"/>
            <a:ext cx="15544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37176" y="3977640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88,1%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3931920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91656" y="3977640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88,7%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20" y="3931920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83296" y="3977640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87,4%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29800" y="3931920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66376" y="3977640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407408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6615" y="445312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MLP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407408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99816" y="445312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90,43%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00600" y="4407408"/>
            <a:ext cx="15544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37176" y="4453128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87,6%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4407408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91656" y="445312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88,2%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46720" y="4407408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83296" y="4453128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86,9%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829800" y="4407408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66376" y="445312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882896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6615" y="492861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1D-CNN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882896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99816" y="4928616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89,76%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800600" y="4882896"/>
            <a:ext cx="15544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37176" y="49286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86,8%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4882896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91656" y="492861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87,4%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046720" y="4882896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83296" y="4928616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85,7%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829800" y="4882896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866376" y="492861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87,9%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358384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56615" y="5404104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LSTM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063240" y="5358384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099816" y="5404104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88,32%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00600" y="5358384"/>
            <a:ext cx="15544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37176" y="5404104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85,1%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5358384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91656" y="540410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85,8%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046720" y="5358384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83296" y="5404104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84,3%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829800" y="5358384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66376" y="540410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5833872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56615" y="587959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Transformer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63240" y="5833872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99816" y="5879592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87,91%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00600" y="5833872"/>
            <a:ext cx="15544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37176" y="58795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84,7%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5833872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91656" y="587959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85,3%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46720" y="5833872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83296" y="5879592"/>
            <a:ext cx="1709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83,8%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829800" y="5833872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866376" y="587959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85,4%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309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7A87"/>
                </a:solidFill>
              </a:rPr>
              <a:t>★ LightGBM en yüksek performans — tüm metriklerde lider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Performans Görselleştirmesi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ROC eğrisi ve karmaşıklık matrisi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Şekil 4: Makine öğrenmesi ROC eğrileri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53949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</a:rPr>
              <a:t>[ROC Eğrisi
Görseli]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Şekil 8: LightGBM karmaşıklık matrisi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3949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</a:rPr>
              <a:t>[Karmaşıklık
Matrisi]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</a:rPr>
              <a:t>Not: Sunumda görseller figures/ klasöründen eklenecek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Açıklanabilirlik — SHAP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Hangi öznitelik, neden önemli?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TreeSHAP ile global öznitelik etkisi: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Spectral Flatness Std Dev  ← EN ÖNEMLİ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MFCC-4 ortalama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Tempo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Spectral Centroid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ZCR (Zero Crossing Rate)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YZ müziği spektral açıdan daha 'düz' 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düzenli — insan müziğinin doğal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düzensizliği bu farkı ortaya koyuyor.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Tablo 5: İlk 10 öznitelik SHAP skoru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ile birlikte sunulmaktadır.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600200"/>
            <a:ext cx="61264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Şekil 7: TreeSHAP global etki diyagramı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</a:rPr>
              <a:t>[SHAP
Diyagramı]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Kaynak Bazlı Performans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Her YZ sistemi için ayrı değerlendirme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2004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335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645920"/>
            <a:ext cx="22860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67335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F1-Skoru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45920"/>
            <a:ext cx="22860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67335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645920"/>
            <a:ext cx="22860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Zorluk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75688"/>
            <a:ext cx="32004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4884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MusicGen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07568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14884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97,2%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207568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14884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96,8%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07568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14884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Yüksek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15768"/>
            <a:ext cx="32004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AudioLDM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2715768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278892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95,8%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715768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278892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94,1%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715768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278892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Yüksek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55848"/>
            <a:ext cx="32004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42900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Suno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335584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342900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93,4%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35584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342900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91,7%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35584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342900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İyi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995927"/>
            <a:ext cx="32004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069079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Udio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995927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03320" y="4069079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91,6%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3995927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9320" y="4069079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90,3%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995927"/>
            <a:ext cx="2286000" cy="566928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20" y="4069079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İyi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636008"/>
            <a:ext cx="32004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70916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Diğer YZ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0" y="463600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03320" y="470916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89,3%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63600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9320" y="470916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87,9%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636008"/>
            <a:ext cx="2286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20" y="4709160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</a:rPr>
              <a:t>Orta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Gözlem: MusicGen ve AudioLDM'in spektral özellikleri daha belirgin ayrım sağlarken,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gerçek dünya verilerinde (Suno, Udio) dağılım kayması (distribution shift) nedeniyle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performans görece düşmektedir. Bu, gelecek çalışmalar için temel kısıt olarak not edilmiştir.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İlgili Çalışmalarla Karşılaştırma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Tablo 6 — Literatür karşılaştırması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5" y="1618488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Çalışma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600200"/>
            <a:ext cx="29260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618488"/>
            <a:ext cx="2852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Yöntem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600200"/>
            <a:ext cx="20116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43016" y="1618488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600200"/>
            <a:ext cx="1645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4696" y="161848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64040" y="1600200"/>
            <a:ext cx="1645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161848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Açıkl.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29968"/>
            <a:ext cx="25603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2103120"/>
            <a:ext cx="2487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Afchar vd. (2025)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29968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2103120"/>
            <a:ext cx="2852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MFCC + CNN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029968"/>
            <a:ext cx="20116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210312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029968"/>
            <a:ext cx="16459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54696" y="21031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64040" y="2029968"/>
            <a:ext cx="16459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21031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Hayır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715768"/>
            <a:ext cx="25603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5" y="2788920"/>
            <a:ext cx="2487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Cros Vila vd. (2025)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715768"/>
            <a:ext cx="292608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16936" y="2788920"/>
            <a:ext cx="2852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Müzik öznitelik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715768"/>
            <a:ext cx="201168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43016" y="278892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715768"/>
            <a:ext cx="16459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54696" y="27889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93,7%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4040" y="2715768"/>
            <a:ext cx="16459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0616" y="27889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Hayır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401568"/>
            <a:ext cx="25603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5" y="3474720"/>
            <a:ext cx="2487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SONICS (2025)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80360" y="3401568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6936" y="3474720"/>
            <a:ext cx="2852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End-to-end DL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3401568"/>
            <a:ext cx="20116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3016" y="347472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97k şarkı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18120" y="3401568"/>
            <a:ext cx="16459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54696" y="34747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64040" y="3401568"/>
            <a:ext cx="16459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0616" y="34747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Hayır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087368"/>
            <a:ext cx="25603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4160520"/>
            <a:ext cx="2487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FakeMusicCaps (2025)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80360" y="4087368"/>
            <a:ext cx="292608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6936" y="4160520"/>
            <a:ext cx="2852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Metin→müzik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4087368"/>
            <a:ext cx="201168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416052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FMC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18120" y="4087368"/>
            <a:ext cx="16459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54696" y="41605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64040" y="4087368"/>
            <a:ext cx="1645920" cy="62179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0616" y="41605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Hayır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4773168"/>
            <a:ext cx="2560320" cy="62179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5" y="4846320"/>
            <a:ext cx="24871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AURIS (bu çalışma) 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4773168"/>
            <a:ext cx="2926080" cy="62179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16936" y="4846320"/>
            <a:ext cx="2852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LightGBM topluluk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4773168"/>
            <a:ext cx="2011680" cy="62179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43016" y="484632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4773168"/>
            <a:ext cx="1645920" cy="62179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54696" y="48463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95,48%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40" y="4773168"/>
            <a:ext cx="1645920" cy="62179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0616" y="4846320"/>
            <a:ext cx="15727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SHAP 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55778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A87"/>
                </a:solidFill>
              </a:rPr>
              <a:t>AURIS: literatürdeki en yüksek ROC-AUC + tek açıklanabilir (SHAP) yaklaşım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Kalibrasyon ve Eşik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Güvenilir olasılık çıktısı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Kalibrasyon Eğrisi (Şekil 10):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Brier Skoru = 0,083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Model iyi kalibre — olasılık değerleri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gerçek sıklıkla örtüşüyor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Karar Eşiği Taraması (Şekil 12):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θ = 0,5 → F1: %89,4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θ* = 0,4316 → F1: %92,7  (+3,3 puan)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Kesinlik-Duyarlılık Eğrisi (Şekil 11):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AUC-PR = 0,94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Dengesiz veri için tercih edilen metrik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00200"/>
            <a:ext cx="58521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45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Şekil 12: Karar eşiği taraması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</a:rPr>
              <a:t>[Eşik Tarama
Görseli]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Öznitelik Korelasyonu ve Ablasyon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D8"/>
                </a:solidFill>
              </a:rPr>
              <a:t>47 özniteliğin birbirine bağımlılığı ve etkisi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Korelasyon Isı Haritası (Şekil 15):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Spektral öznitelikler arası yüksek korelasyon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Ritmik ve tonal öznitelikler bağımsız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PCA yapılmadı — bilgi kaybı önlendi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Öznitelik Sayısı vs Doğruluk (Şekil 16):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İlk 10 öznitelik → %88,2 doğruluk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İlk 30 öznitelik → %93,1 doğruluk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Tüm 47 öznitelik → %95,48 ROC-AUC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• Eğri 25. öznitelikten sonra yatıyor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→ 47 iyi dengelenmiş nokta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00200"/>
            <a:ext cx="58521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45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Şekil 15: 47 öznitelik korelasyon ısı haritası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</a:rPr>
              <a:t>[Korelasyon
Isı Haritası]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Kısıtlamalar ve Tartışma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Temel Kısıtlamalar: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Dağılım kayması (distribution shift)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Eğitim dışı YZ sistemlerine genelleme sınırlı.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Özellikle deepfake senaryolarında düşüş gözlemlendi.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Sınıf dengesizliği (%59,9 / %40,1)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class_weight ile kısmen giderildi;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daha büyük insan veri seti faydalı olacaktır.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Gerçek zamanlı uygulama henüz test edilmedi.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İşlem hızı ve düşük gecikmeli çıkarım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gelecek çalışma kapsamındadır.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6002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Güçlü Yönler: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47 boyutlu heterojen öznitelik vektörü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müzik-spesifik bilgiyi kapsamlı örtüyor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SHAP ile açıklanabilirlik — kara kutu değil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Youden J eşik optimizasyonu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dengeli sınıf kararı sağlıyor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5-katlı CV ile güvenilir istatistik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(±0,0023 standart sapma)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Sonuçlar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akustik vektör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öznitelik ailesini (spektral, ritmik, tonal, enerji, yapısal)
tek bir temsilde birleştiriyor.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87752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LightGBM lider performans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08376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%95,48 ROC-AUC, ±0,0023 katlar-arası std — 11 model içinde en kararlı.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75304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63931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210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Spectral Flatness Std Dev kritik öznitelik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YZ müziğinin insan müziğinden en belirgin biçimde ayrıştığı boyut.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62856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2686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0857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eşik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θ* = 0,4316 ile F1 %89,4 → %92,7 (+3,3 puan artış).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50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61441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Açıklanabilir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7103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TreeSHAP ile her karar yorumlanabilir; kara kutu yaklaşımı yok.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Gelecek Çalışmalar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749039" cy="4892040"/>
          </a:xfrm>
          <a:prstGeom prst="rect">
            <a:avLst/>
          </a:prstGeom>
          <a:solidFill>
            <a:srgbClr val="E8F4E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6642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Kısa Vade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Domain adaptation ile dağılım kaymasına dayanıklılık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Gerçek zamanlı düşük gecikmeli çıkarım modülü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5 saniyenin altı klipler için pencere tabanlı yaklaşım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600200"/>
            <a:ext cx="3749039" cy="4892040"/>
          </a:xfrm>
          <a:prstGeom prst="rect">
            <a:avLst/>
          </a:prstGeom>
          <a:solidFill>
            <a:srgbClr val="E8F0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16642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Orta Vade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399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Sosyal medya entegrasyonu (Spotify / YouTube API)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Canlı ses akışı (live audio) tespiti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Çok dilli ve çok kültürlü müzik veri seti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600200"/>
            <a:ext cx="3749039" cy="4892040"/>
          </a:xfrm>
          <a:prstGeom prst="rect">
            <a:avLst/>
          </a:prstGeom>
          <a:solidFill>
            <a:srgbClr val="FFF3CC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6420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Uzun Vade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Öğretici makine öğrenmesi ile az örnekli öğrenme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Ses parmak izi ve watermarking entegrasyonu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Uluslararası telif kuruluşlarıyla işbirliği protokolü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899AA"/>
                </a:solidFill>
              </a:rPr>
              <a:t>Hasan Arthur Altuntaş  |  BM498 Mezuniyet Tezi  |  Düzce Üniversitesi  | 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Dinlediğiniz için teşekkürler.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0A800"/>
                </a:solidFill>
              </a:rPr>
              <a:t>Sorularınızı bekliyorum.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291840"/>
            <a:ext cx="2194560" cy="128016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3756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9136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3291840"/>
            <a:ext cx="2194560" cy="128016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33756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136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91840"/>
            <a:ext cx="2194560" cy="128016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33756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9136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3291840"/>
            <a:ext cx="2194560" cy="128016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9136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Hasan Arthur Altuntaş  |  hasannarthurrr@gmail.com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Bilgisayar Mühendisliği  |  BM498  |  2025-2026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Kaynak kodu: github.com/rtur2003/AURIS  (teslim paketi ile birlikte)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