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2628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1247120" cy="1188720"/>
          </a:xfrm>
          <a:prstGeom prst="rect">
            <a:avLst/>
          </a:prstGeom>
          <a:noFill/>
        </p:spPr>
        <p:txBody>
          <a:bodyPr wrap="square">
            <a:spAutoFit/>
          </a:bodyPr>
          <a:lstStyle/>
          <a:p>
            <a:pPr algn="ctr"/>
            <a:r>
              <a:rPr sz="7600" b="1" i="0">
                <a:solidFill>
                  <a:srgbClr val="E0A800"/>
                </a:solidFill>
              </a:rPr>
              <a:t>AURIS</a:t>
            </a:r>
          </a:p>
        </p:txBody>
      </p:sp>
      <p:sp>
        <p:nvSpPr>
          <p:cNvPr id="5" name="TextBox 4"/>
          <p:cNvSpPr txBox="1"/>
          <p:nvPr/>
        </p:nvSpPr>
        <p:spPr>
          <a:xfrm>
            <a:off x="457200" y="2148840"/>
            <a:ext cx="11247120" cy="640080"/>
          </a:xfrm>
          <a:prstGeom prst="rect">
            <a:avLst/>
          </a:prstGeom>
          <a:noFill/>
        </p:spPr>
        <p:txBody>
          <a:bodyPr wrap="square">
            <a:spAutoFit/>
          </a:bodyPr>
          <a:lstStyle/>
          <a:p>
            <a:pPr algn="ctr"/>
            <a:r>
              <a:rPr sz="2200" b="1" i="0">
                <a:solidFill>
                  <a:srgbClr val="FFFFFF"/>
                </a:solidFill>
              </a:rPr>
              <a:t>Yapay Zekâ Üretimli Müzik Tespitinde Topluluk Öğrenmesi</a:t>
            </a:r>
          </a:p>
        </p:txBody>
      </p:sp>
      <p:sp>
        <p:nvSpPr>
          <p:cNvPr id="6" name="TextBox 5"/>
          <p:cNvSpPr txBox="1"/>
          <p:nvPr/>
        </p:nvSpPr>
        <p:spPr>
          <a:xfrm>
            <a:off x="457200" y="2788920"/>
            <a:ext cx="11247120" cy="457200"/>
          </a:xfrm>
          <a:prstGeom prst="rect">
            <a:avLst/>
          </a:prstGeom>
          <a:noFill/>
        </p:spPr>
        <p:txBody>
          <a:bodyPr wrap="square">
            <a:spAutoFit/>
          </a:bodyPr>
          <a:lstStyle/>
          <a:p>
            <a:pPr algn="ctr"/>
            <a:r>
              <a:rPr sz="1500" b="0" i="0">
                <a:solidFill>
                  <a:srgbClr val="AEC6D6"/>
                </a:solidFill>
              </a:rPr>
              <a:t>Heterojen Akustik Öznitelikler ve LightGBM Tabanlı Bir Yaklaşım</a:t>
            </a:r>
          </a:p>
        </p:txBody>
      </p:sp>
      <p:sp>
        <p:nvSpPr>
          <p:cNvPr id="7" name="TextBox 6"/>
          <p:cNvSpPr txBox="1"/>
          <p:nvPr/>
        </p:nvSpPr>
        <p:spPr>
          <a:xfrm>
            <a:off x="457200" y="3383280"/>
            <a:ext cx="11247120" cy="411480"/>
          </a:xfrm>
          <a:prstGeom prst="rect">
            <a:avLst/>
          </a:prstGeom>
          <a:noFill/>
        </p:spPr>
        <p:txBody>
          <a:bodyPr wrap="square">
            <a:spAutoFit/>
          </a:bodyPr>
          <a:lstStyle/>
          <a:p>
            <a:pPr algn="ctr"/>
            <a:r>
              <a:rPr sz="1400" b="0" i="1">
                <a:solidFill>
                  <a:srgbClr val="88A8C0"/>
                </a:solidFill>
              </a:rPr>
              <a:t>BM498 Mezuniyet Tezi · Final Savunma Sunumu</a:t>
            </a:r>
          </a:p>
        </p:txBody>
      </p:sp>
      <p:sp>
        <p:nvSpPr>
          <p:cNvPr id="8" name="TextBox 7"/>
          <p:cNvSpPr txBox="1"/>
          <p:nvPr/>
        </p:nvSpPr>
        <p:spPr>
          <a:xfrm>
            <a:off x="457200" y="4800600"/>
            <a:ext cx="11247120" cy="411480"/>
          </a:xfrm>
          <a:prstGeom prst="rect">
            <a:avLst/>
          </a:prstGeom>
          <a:noFill/>
        </p:spPr>
        <p:txBody>
          <a:bodyPr wrap="square">
            <a:spAutoFit/>
          </a:bodyPr>
          <a:lstStyle/>
          <a:p>
            <a:pPr algn="ctr"/>
            <a:r>
              <a:rPr sz="1800" b="1" i="0">
                <a:solidFill>
                  <a:srgbClr val="FFFFFF"/>
                </a:solidFill>
              </a:rPr>
              <a:t>Hasan Arthur Altuntaş</a:t>
            </a:r>
          </a:p>
        </p:txBody>
      </p:sp>
      <p:sp>
        <p:nvSpPr>
          <p:cNvPr id="9" name="TextBox 8"/>
          <p:cNvSpPr txBox="1"/>
          <p:nvPr/>
        </p:nvSpPr>
        <p:spPr>
          <a:xfrm>
            <a:off x="457200" y="5257800"/>
            <a:ext cx="11247120" cy="365760"/>
          </a:xfrm>
          <a:prstGeom prst="rect">
            <a:avLst/>
          </a:prstGeom>
          <a:noFill/>
        </p:spPr>
        <p:txBody>
          <a:bodyPr wrap="square">
            <a:spAutoFit/>
          </a:bodyPr>
          <a:lstStyle/>
          <a:p>
            <a:pPr algn="ctr"/>
            <a:r>
              <a:rPr sz="1400" b="0" i="0">
                <a:solidFill>
                  <a:srgbClr val="AEC6D6"/>
                </a:solidFill>
              </a:rPr>
              <a:t>Danışman: ___________________________</a:t>
            </a:r>
          </a:p>
        </p:txBody>
      </p:sp>
      <p:sp>
        <p:nvSpPr>
          <p:cNvPr id="10" name="TextBox 9"/>
          <p:cNvSpPr txBox="1"/>
          <p:nvPr/>
        </p:nvSpPr>
        <p:spPr>
          <a:xfrm>
            <a:off x="457200" y="5852160"/>
            <a:ext cx="11247120" cy="365760"/>
          </a:xfrm>
          <a:prstGeom prst="rect">
            <a:avLst/>
          </a:prstGeom>
          <a:noFill/>
        </p:spPr>
        <p:txBody>
          <a:bodyPr wrap="square">
            <a:spAutoFit/>
          </a:bodyPr>
          <a:lstStyle/>
          <a:p>
            <a:pPr algn="ctr"/>
            <a:r>
              <a:rPr sz="1200" b="0" i="0">
                <a:solidFill>
                  <a:srgbClr val="66829A"/>
                </a:solidFill>
              </a:rPr>
              <a:t>Düzce Üniversitesi · Mühendislik Fakültesi · Bilgisayar Mühendisliği ·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GENEL BAKIŞ</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Sunum Planı</a:t>
            </a:r>
          </a:p>
        </p:txBody>
      </p:sp>
      <p:sp>
        <p:nvSpPr>
          <p:cNvPr id="6" name="Rectangle 5"/>
          <p:cNvSpPr/>
          <p:nvPr/>
        </p:nvSpPr>
        <p:spPr>
          <a:xfrm>
            <a:off x="365760" y="1691640"/>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91640"/>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728216"/>
            <a:ext cx="640080" cy="566928"/>
          </a:xfrm>
          <a:prstGeom prst="rect">
            <a:avLst/>
          </a:prstGeom>
          <a:noFill/>
        </p:spPr>
        <p:txBody>
          <a:bodyPr wrap="square" anchor="ctr">
            <a:spAutoFit/>
          </a:bodyPr>
          <a:lstStyle/>
          <a:p>
            <a:pPr algn="ctr"/>
            <a:r>
              <a:rPr sz="1800" b="1" i="0">
                <a:solidFill>
                  <a:srgbClr val="E0A800"/>
                </a:solidFill>
              </a:rPr>
              <a:t>1</a:t>
            </a:r>
          </a:p>
        </p:txBody>
      </p:sp>
      <p:sp>
        <p:nvSpPr>
          <p:cNvPr id="9" name="TextBox 8"/>
          <p:cNvSpPr txBox="1"/>
          <p:nvPr/>
        </p:nvSpPr>
        <p:spPr>
          <a:xfrm>
            <a:off x="1143000" y="1728216"/>
            <a:ext cx="4663440" cy="566928"/>
          </a:xfrm>
          <a:prstGeom prst="rect">
            <a:avLst/>
          </a:prstGeom>
          <a:noFill/>
        </p:spPr>
        <p:txBody>
          <a:bodyPr wrap="square" anchor="ctr">
            <a:spAutoFit/>
          </a:bodyPr>
          <a:lstStyle/>
          <a:p>
            <a:pPr algn="l"/>
            <a:r>
              <a:rPr sz="1250" b="0" i="0">
                <a:solidFill>
                  <a:srgbClr val="2A2A2A"/>
                </a:solidFill>
              </a:rPr>
              <a:t>Motivasyon ve Problem Tanımı</a:t>
            </a:r>
          </a:p>
        </p:txBody>
      </p:sp>
      <p:sp>
        <p:nvSpPr>
          <p:cNvPr id="10" name="Rectangle 9"/>
          <p:cNvSpPr/>
          <p:nvPr/>
        </p:nvSpPr>
        <p:spPr>
          <a:xfrm>
            <a:off x="365760" y="2441448"/>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441448"/>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478024"/>
            <a:ext cx="640080" cy="566928"/>
          </a:xfrm>
          <a:prstGeom prst="rect">
            <a:avLst/>
          </a:prstGeom>
          <a:noFill/>
        </p:spPr>
        <p:txBody>
          <a:bodyPr wrap="square" anchor="ctr">
            <a:spAutoFit/>
          </a:bodyPr>
          <a:lstStyle/>
          <a:p>
            <a:pPr algn="ctr"/>
            <a:r>
              <a:rPr sz="1800" b="1" i="0">
                <a:solidFill>
                  <a:srgbClr val="E0A800"/>
                </a:solidFill>
              </a:rPr>
              <a:t>2</a:t>
            </a:r>
          </a:p>
        </p:txBody>
      </p:sp>
      <p:sp>
        <p:nvSpPr>
          <p:cNvPr id="13" name="TextBox 12"/>
          <p:cNvSpPr txBox="1"/>
          <p:nvPr/>
        </p:nvSpPr>
        <p:spPr>
          <a:xfrm>
            <a:off x="1143000" y="2478024"/>
            <a:ext cx="4663440" cy="566928"/>
          </a:xfrm>
          <a:prstGeom prst="rect">
            <a:avLst/>
          </a:prstGeom>
          <a:noFill/>
        </p:spPr>
        <p:txBody>
          <a:bodyPr wrap="square" anchor="ctr">
            <a:spAutoFit/>
          </a:bodyPr>
          <a:lstStyle/>
          <a:p>
            <a:pPr algn="l"/>
            <a:r>
              <a:rPr sz="1250" b="0" i="0">
                <a:solidFill>
                  <a:srgbClr val="2A2A2A"/>
                </a:solidFill>
              </a:rPr>
              <a:t>Literatür Özeti ve Boşluk Analizi</a:t>
            </a:r>
          </a:p>
        </p:txBody>
      </p:sp>
      <p:sp>
        <p:nvSpPr>
          <p:cNvPr id="14" name="Rectangle 13"/>
          <p:cNvSpPr/>
          <p:nvPr/>
        </p:nvSpPr>
        <p:spPr>
          <a:xfrm>
            <a:off x="365760" y="3191256"/>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191256"/>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227832"/>
            <a:ext cx="640080" cy="566928"/>
          </a:xfrm>
          <a:prstGeom prst="rect">
            <a:avLst/>
          </a:prstGeom>
          <a:noFill/>
        </p:spPr>
        <p:txBody>
          <a:bodyPr wrap="square" anchor="ctr">
            <a:spAutoFit/>
          </a:bodyPr>
          <a:lstStyle/>
          <a:p>
            <a:pPr algn="ctr"/>
            <a:r>
              <a:rPr sz="1800" b="1" i="0">
                <a:solidFill>
                  <a:srgbClr val="E0A800"/>
                </a:solidFill>
              </a:rPr>
              <a:t>3</a:t>
            </a:r>
          </a:p>
        </p:txBody>
      </p:sp>
      <p:sp>
        <p:nvSpPr>
          <p:cNvPr id="17" name="TextBox 16"/>
          <p:cNvSpPr txBox="1"/>
          <p:nvPr/>
        </p:nvSpPr>
        <p:spPr>
          <a:xfrm>
            <a:off x="1143000" y="3227832"/>
            <a:ext cx="4663440" cy="566928"/>
          </a:xfrm>
          <a:prstGeom prst="rect">
            <a:avLst/>
          </a:prstGeom>
          <a:noFill/>
        </p:spPr>
        <p:txBody>
          <a:bodyPr wrap="square" anchor="ctr">
            <a:spAutoFit/>
          </a:bodyPr>
          <a:lstStyle/>
          <a:p>
            <a:pPr algn="l"/>
            <a:r>
              <a:rPr sz="1250" b="0" i="0">
                <a:solidFill>
                  <a:srgbClr val="2A2A2A"/>
                </a:solidFill>
              </a:rPr>
              <a:t>Sistem Mimarisi (Pipeline)</a:t>
            </a:r>
          </a:p>
        </p:txBody>
      </p:sp>
      <p:sp>
        <p:nvSpPr>
          <p:cNvPr id="18" name="Rectangle 17"/>
          <p:cNvSpPr/>
          <p:nvPr/>
        </p:nvSpPr>
        <p:spPr>
          <a:xfrm>
            <a:off x="365760" y="3941064"/>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941064"/>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977640"/>
            <a:ext cx="640080" cy="566928"/>
          </a:xfrm>
          <a:prstGeom prst="rect">
            <a:avLst/>
          </a:prstGeom>
          <a:noFill/>
        </p:spPr>
        <p:txBody>
          <a:bodyPr wrap="square" anchor="ctr">
            <a:spAutoFit/>
          </a:bodyPr>
          <a:lstStyle/>
          <a:p>
            <a:pPr algn="ctr"/>
            <a:r>
              <a:rPr sz="1800" b="1" i="0">
                <a:solidFill>
                  <a:srgbClr val="E0A800"/>
                </a:solidFill>
              </a:rPr>
              <a:t>4</a:t>
            </a:r>
          </a:p>
        </p:txBody>
      </p:sp>
      <p:sp>
        <p:nvSpPr>
          <p:cNvPr id="21" name="TextBox 20"/>
          <p:cNvSpPr txBox="1"/>
          <p:nvPr/>
        </p:nvSpPr>
        <p:spPr>
          <a:xfrm>
            <a:off x="1143000" y="3977640"/>
            <a:ext cx="4663440" cy="566928"/>
          </a:xfrm>
          <a:prstGeom prst="rect">
            <a:avLst/>
          </a:prstGeom>
          <a:noFill/>
        </p:spPr>
        <p:txBody>
          <a:bodyPr wrap="square" anchor="ctr">
            <a:spAutoFit/>
          </a:bodyPr>
          <a:lstStyle/>
          <a:p>
            <a:pPr algn="l"/>
            <a:r>
              <a:rPr sz="1250" b="0" i="0">
                <a:solidFill>
                  <a:srgbClr val="2A2A2A"/>
                </a:solidFill>
              </a:rPr>
              <a:t>Veri Kümesi</a:t>
            </a:r>
          </a:p>
        </p:txBody>
      </p:sp>
      <p:sp>
        <p:nvSpPr>
          <p:cNvPr id="22" name="Rectangle 21"/>
          <p:cNvSpPr/>
          <p:nvPr/>
        </p:nvSpPr>
        <p:spPr>
          <a:xfrm>
            <a:off x="365760" y="4690872"/>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690872"/>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4727448"/>
            <a:ext cx="640080" cy="566928"/>
          </a:xfrm>
          <a:prstGeom prst="rect">
            <a:avLst/>
          </a:prstGeom>
          <a:noFill/>
        </p:spPr>
        <p:txBody>
          <a:bodyPr wrap="square" anchor="ctr">
            <a:spAutoFit/>
          </a:bodyPr>
          <a:lstStyle/>
          <a:p>
            <a:pPr algn="ctr"/>
            <a:r>
              <a:rPr sz="1800" b="1" i="0">
                <a:solidFill>
                  <a:srgbClr val="E0A800"/>
                </a:solidFill>
              </a:rPr>
              <a:t>5</a:t>
            </a:r>
          </a:p>
        </p:txBody>
      </p:sp>
      <p:sp>
        <p:nvSpPr>
          <p:cNvPr id="25" name="TextBox 24"/>
          <p:cNvSpPr txBox="1"/>
          <p:nvPr/>
        </p:nvSpPr>
        <p:spPr>
          <a:xfrm>
            <a:off x="1143000" y="4727448"/>
            <a:ext cx="4663440" cy="566928"/>
          </a:xfrm>
          <a:prstGeom prst="rect">
            <a:avLst/>
          </a:prstGeom>
          <a:noFill/>
        </p:spPr>
        <p:txBody>
          <a:bodyPr wrap="square" anchor="ctr">
            <a:spAutoFit/>
          </a:bodyPr>
          <a:lstStyle/>
          <a:p>
            <a:pPr algn="l"/>
            <a:r>
              <a:rPr sz="1250" b="0" i="0">
                <a:solidFill>
                  <a:srgbClr val="2A2A2A"/>
                </a:solidFill>
              </a:rPr>
              <a:t>Öznitelik Çıkarma (47 boyut)</a:t>
            </a:r>
          </a:p>
        </p:txBody>
      </p:sp>
      <p:sp>
        <p:nvSpPr>
          <p:cNvPr id="26" name="Rectangle 25"/>
          <p:cNvSpPr/>
          <p:nvPr/>
        </p:nvSpPr>
        <p:spPr>
          <a:xfrm>
            <a:off x="365760" y="5440679"/>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440679"/>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5477255"/>
            <a:ext cx="640080" cy="566928"/>
          </a:xfrm>
          <a:prstGeom prst="rect">
            <a:avLst/>
          </a:prstGeom>
          <a:noFill/>
        </p:spPr>
        <p:txBody>
          <a:bodyPr wrap="square" anchor="ctr">
            <a:spAutoFit/>
          </a:bodyPr>
          <a:lstStyle/>
          <a:p>
            <a:pPr algn="ctr"/>
            <a:r>
              <a:rPr sz="1800" b="1" i="0">
                <a:solidFill>
                  <a:srgbClr val="E0A800"/>
                </a:solidFill>
              </a:rPr>
              <a:t>6</a:t>
            </a:r>
          </a:p>
        </p:txBody>
      </p:sp>
      <p:sp>
        <p:nvSpPr>
          <p:cNvPr id="29" name="TextBox 28"/>
          <p:cNvSpPr txBox="1"/>
          <p:nvPr/>
        </p:nvSpPr>
        <p:spPr>
          <a:xfrm>
            <a:off x="1143000" y="5477255"/>
            <a:ext cx="4663440" cy="566928"/>
          </a:xfrm>
          <a:prstGeom prst="rect">
            <a:avLst/>
          </a:prstGeom>
          <a:noFill/>
        </p:spPr>
        <p:txBody>
          <a:bodyPr wrap="square" anchor="ctr">
            <a:spAutoFit/>
          </a:bodyPr>
          <a:lstStyle/>
          <a:p>
            <a:pPr algn="l"/>
            <a:r>
              <a:rPr sz="1250" b="0" i="0">
                <a:solidFill>
                  <a:srgbClr val="2A2A2A"/>
                </a:solidFill>
              </a:rPr>
              <a:t>Sınıflandırma Modelleri</a:t>
            </a:r>
          </a:p>
        </p:txBody>
      </p:sp>
      <p:sp>
        <p:nvSpPr>
          <p:cNvPr id="30" name="Rectangle 29"/>
          <p:cNvSpPr/>
          <p:nvPr/>
        </p:nvSpPr>
        <p:spPr>
          <a:xfrm>
            <a:off x="6263640" y="1691640"/>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63640" y="1691640"/>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1728216"/>
            <a:ext cx="640080" cy="566928"/>
          </a:xfrm>
          <a:prstGeom prst="rect">
            <a:avLst/>
          </a:prstGeom>
          <a:noFill/>
        </p:spPr>
        <p:txBody>
          <a:bodyPr wrap="square" anchor="ctr">
            <a:spAutoFit/>
          </a:bodyPr>
          <a:lstStyle/>
          <a:p>
            <a:pPr algn="ctr"/>
            <a:r>
              <a:rPr sz="1800" b="1" i="0">
                <a:solidFill>
                  <a:srgbClr val="E0A800"/>
                </a:solidFill>
              </a:rPr>
              <a:t>7</a:t>
            </a:r>
          </a:p>
        </p:txBody>
      </p:sp>
      <p:sp>
        <p:nvSpPr>
          <p:cNvPr id="33" name="TextBox 32"/>
          <p:cNvSpPr txBox="1"/>
          <p:nvPr/>
        </p:nvSpPr>
        <p:spPr>
          <a:xfrm>
            <a:off x="7040879" y="1728216"/>
            <a:ext cx="4663440" cy="566928"/>
          </a:xfrm>
          <a:prstGeom prst="rect">
            <a:avLst/>
          </a:prstGeom>
          <a:noFill/>
        </p:spPr>
        <p:txBody>
          <a:bodyPr wrap="square" anchor="ctr">
            <a:spAutoFit/>
          </a:bodyPr>
          <a:lstStyle/>
          <a:p>
            <a:pPr algn="l"/>
            <a:r>
              <a:rPr sz="1250" b="0" i="0">
                <a:solidFill>
                  <a:srgbClr val="2A2A2A"/>
                </a:solidFill>
              </a:rPr>
              <a:t>Eğitim Protokolü ve Eşik Optimizasyonu</a:t>
            </a:r>
          </a:p>
        </p:txBody>
      </p:sp>
      <p:sp>
        <p:nvSpPr>
          <p:cNvPr id="34" name="Rectangle 33"/>
          <p:cNvSpPr/>
          <p:nvPr/>
        </p:nvSpPr>
        <p:spPr>
          <a:xfrm>
            <a:off x="6263640" y="2441448"/>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2441448"/>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2478024"/>
            <a:ext cx="640080" cy="566928"/>
          </a:xfrm>
          <a:prstGeom prst="rect">
            <a:avLst/>
          </a:prstGeom>
          <a:noFill/>
        </p:spPr>
        <p:txBody>
          <a:bodyPr wrap="square" anchor="ctr">
            <a:spAutoFit/>
          </a:bodyPr>
          <a:lstStyle/>
          <a:p>
            <a:pPr algn="ctr"/>
            <a:r>
              <a:rPr sz="1800" b="1" i="0">
                <a:solidFill>
                  <a:srgbClr val="E0A800"/>
                </a:solidFill>
              </a:rPr>
              <a:t>8</a:t>
            </a:r>
          </a:p>
        </p:txBody>
      </p:sp>
      <p:sp>
        <p:nvSpPr>
          <p:cNvPr id="37" name="TextBox 36"/>
          <p:cNvSpPr txBox="1"/>
          <p:nvPr/>
        </p:nvSpPr>
        <p:spPr>
          <a:xfrm>
            <a:off x="7040879" y="2478024"/>
            <a:ext cx="4663440" cy="566928"/>
          </a:xfrm>
          <a:prstGeom prst="rect">
            <a:avLst/>
          </a:prstGeom>
          <a:noFill/>
        </p:spPr>
        <p:txBody>
          <a:bodyPr wrap="square" anchor="ctr">
            <a:spAutoFit/>
          </a:bodyPr>
          <a:lstStyle/>
          <a:p>
            <a:pPr algn="l"/>
            <a:r>
              <a:rPr sz="1250" b="0" i="0">
                <a:solidFill>
                  <a:srgbClr val="2A2A2A"/>
                </a:solidFill>
              </a:rPr>
              <a:t>Sonuçlar — Model Karşılaştırması</a:t>
            </a:r>
          </a:p>
        </p:txBody>
      </p:sp>
      <p:sp>
        <p:nvSpPr>
          <p:cNvPr id="38" name="Rectangle 37"/>
          <p:cNvSpPr/>
          <p:nvPr/>
        </p:nvSpPr>
        <p:spPr>
          <a:xfrm>
            <a:off x="6263640" y="3191256"/>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63640" y="3191256"/>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3227832"/>
            <a:ext cx="640080" cy="566928"/>
          </a:xfrm>
          <a:prstGeom prst="rect">
            <a:avLst/>
          </a:prstGeom>
          <a:noFill/>
        </p:spPr>
        <p:txBody>
          <a:bodyPr wrap="square" anchor="ctr">
            <a:spAutoFit/>
          </a:bodyPr>
          <a:lstStyle/>
          <a:p>
            <a:pPr algn="ctr"/>
            <a:r>
              <a:rPr sz="1800" b="1" i="0">
                <a:solidFill>
                  <a:srgbClr val="E0A800"/>
                </a:solidFill>
              </a:rPr>
              <a:t>9</a:t>
            </a:r>
          </a:p>
        </p:txBody>
      </p:sp>
      <p:sp>
        <p:nvSpPr>
          <p:cNvPr id="41" name="TextBox 40"/>
          <p:cNvSpPr txBox="1"/>
          <p:nvPr/>
        </p:nvSpPr>
        <p:spPr>
          <a:xfrm>
            <a:off x="7040879" y="3227832"/>
            <a:ext cx="4663440" cy="566928"/>
          </a:xfrm>
          <a:prstGeom prst="rect">
            <a:avLst/>
          </a:prstGeom>
          <a:noFill/>
        </p:spPr>
        <p:txBody>
          <a:bodyPr wrap="square" anchor="ctr">
            <a:spAutoFit/>
          </a:bodyPr>
          <a:lstStyle/>
          <a:p>
            <a:pPr algn="l"/>
            <a:r>
              <a:rPr sz="1250" b="0" i="0">
                <a:solidFill>
                  <a:srgbClr val="2A2A2A"/>
                </a:solidFill>
              </a:rPr>
              <a:t>Açıklanabilirlik (SHAP)</a:t>
            </a:r>
          </a:p>
        </p:txBody>
      </p:sp>
      <p:sp>
        <p:nvSpPr>
          <p:cNvPr id="42" name="Rectangle 41"/>
          <p:cNvSpPr/>
          <p:nvPr/>
        </p:nvSpPr>
        <p:spPr>
          <a:xfrm>
            <a:off x="6263640" y="3941064"/>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63640" y="3941064"/>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3977640"/>
            <a:ext cx="640080" cy="566928"/>
          </a:xfrm>
          <a:prstGeom prst="rect">
            <a:avLst/>
          </a:prstGeom>
          <a:noFill/>
        </p:spPr>
        <p:txBody>
          <a:bodyPr wrap="square" anchor="ctr">
            <a:spAutoFit/>
          </a:bodyPr>
          <a:lstStyle/>
          <a:p>
            <a:pPr algn="ctr"/>
            <a:r>
              <a:rPr sz="1800" b="1" i="0">
                <a:solidFill>
                  <a:srgbClr val="E0A800"/>
                </a:solidFill>
              </a:rPr>
              <a:t>10</a:t>
            </a:r>
          </a:p>
        </p:txBody>
      </p:sp>
      <p:sp>
        <p:nvSpPr>
          <p:cNvPr id="45" name="TextBox 44"/>
          <p:cNvSpPr txBox="1"/>
          <p:nvPr/>
        </p:nvSpPr>
        <p:spPr>
          <a:xfrm>
            <a:off x="7040879" y="3977640"/>
            <a:ext cx="4663440" cy="566928"/>
          </a:xfrm>
          <a:prstGeom prst="rect">
            <a:avLst/>
          </a:prstGeom>
          <a:noFill/>
        </p:spPr>
        <p:txBody>
          <a:bodyPr wrap="square" anchor="ctr">
            <a:spAutoFit/>
          </a:bodyPr>
          <a:lstStyle/>
          <a:p>
            <a:pPr algn="l"/>
            <a:r>
              <a:rPr sz="1250" b="0" i="0">
                <a:solidFill>
                  <a:srgbClr val="2A2A2A"/>
                </a:solidFill>
              </a:rPr>
              <a:t>Tanılayıcı Analizler</a:t>
            </a:r>
          </a:p>
        </p:txBody>
      </p:sp>
      <p:sp>
        <p:nvSpPr>
          <p:cNvPr id="46" name="Rectangle 45"/>
          <p:cNvSpPr/>
          <p:nvPr/>
        </p:nvSpPr>
        <p:spPr>
          <a:xfrm>
            <a:off x="6263640" y="4690872"/>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63640" y="4690872"/>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4727448"/>
            <a:ext cx="640080" cy="566928"/>
          </a:xfrm>
          <a:prstGeom prst="rect">
            <a:avLst/>
          </a:prstGeom>
          <a:noFill/>
        </p:spPr>
        <p:txBody>
          <a:bodyPr wrap="square" anchor="ctr">
            <a:spAutoFit/>
          </a:bodyPr>
          <a:lstStyle/>
          <a:p>
            <a:pPr algn="ctr"/>
            <a:r>
              <a:rPr sz="1800" b="1" i="0">
                <a:solidFill>
                  <a:srgbClr val="E0A800"/>
                </a:solidFill>
              </a:rPr>
              <a:t>11</a:t>
            </a:r>
          </a:p>
        </p:txBody>
      </p:sp>
      <p:sp>
        <p:nvSpPr>
          <p:cNvPr id="49" name="TextBox 48"/>
          <p:cNvSpPr txBox="1"/>
          <p:nvPr/>
        </p:nvSpPr>
        <p:spPr>
          <a:xfrm>
            <a:off x="7040879" y="4727448"/>
            <a:ext cx="4663440" cy="566928"/>
          </a:xfrm>
          <a:prstGeom prst="rect">
            <a:avLst/>
          </a:prstGeom>
          <a:noFill/>
        </p:spPr>
        <p:txBody>
          <a:bodyPr wrap="square" anchor="ctr">
            <a:spAutoFit/>
          </a:bodyPr>
          <a:lstStyle/>
          <a:p>
            <a:pPr algn="l"/>
            <a:r>
              <a:rPr sz="1250" b="0" i="0">
                <a:solidFill>
                  <a:srgbClr val="2A2A2A"/>
                </a:solidFill>
              </a:rPr>
              <a:t>Literatür Karşılaştırması</a:t>
            </a:r>
          </a:p>
        </p:txBody>
      </p:sp>
      <p:sp>
        <p:nvSpPr>
          <p:cNvPr id="50" name="Rectangle 49"/>
          <p:cNvSpPr/>
          <p:nvPr/>
        </p:nvSpPr>
        <p:spPr>
          <a:xfrm>
            <a:off x="6263640" y="5440679"/>
            <a:ext cx="5532120" cy="640080"/>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63640" y="5440679"/>
            <a:ext cx="64008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63640" y="5477255"/>
            <a:ext cx="640080" cy="566928"/>
          </a:xfrm>
          <a:prstGeom prst="rect">
            <a:avLst/>
          </a:prstGeom>
          <a:noFill/>
        </p:spPr>
        <p:txBody>
          <a:bodyPr wrap="square" anchor="ctr">
            <a:spAutoFit/>
          </a:bodyPr>
          <a:lstStyle/>
          <a:p>
            <a:pPr algn="ctr"/>
            <a:r>
              <a:rPr sz="1800" b="1" i="0">
                <a:solidFill>
                  <a:srgbClr val="E0A800"/>
                </a:solidFill>
              </a:rPr>
              <a:t>12</a:t>
            </a:r>
          </a:p>
        </p:txBody>
      </p:sp>
      <p:sp>
        <p:nvSpPr>
          <p:cNvPr id="53" name="TextBox 52"/>
          <p:cNvSpPr txBox="1"/>
          <p:nvPr/>
        </p:nvSpPr>
        <p:spPr>
          <a:xfrm>
            <a:off x="7040879" y="5477255"/>
            <a:ext cx="4663440" cy="566928"/>
          </a:xfrm>
          <a:prstGeom prst="rect">
            <a:avLst/>
          </a:prstGeom>
          <a:noFill/>
        </p:spPr>
        <p:txBody>
          <a:bodyPr wrap="square" anchor="ctr">
            <a:spAutoFit/>
          </a:bodyPr>
          <a:lstStyle/>
          <a:p>
            <a:pPr algn="l"/>
            <a:r>
              <a:rPr sz="1250" b="0" i="0">
                <a:solidFill>
                  <a:srgbClr val="2A2A2A"/>
                </a:solidFill>
              </a:rPr>
              <a:t>Kısıtlamalar, Sonuç ve Gelecek</a:t>
            </a:r>
          </a:p>
        </p:txBody>
      </p:sp>
      <p:sp>
        <p:nvSpPr>
          <p:cNvPr id="54" name="TextBox 53"/>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55" name="TextBox 54"/>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1</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Motivasyon ve Problem Tanımı</a:t>
            </a:r>
          </a:p>
        </p:txBody>
      </p:sp>
      <p:sp>
        <p:nvSpPr>
          <p:cNvPr id="6" name="Rectangle 5"/>
          <p:cNvSpPr/>
          <p:nvPr/>
        </p:nvSpPr>
        <p:spPr>
          <a:xfrm>
            <a:off x="365760" y="1554480"/>
            <a:ext cx="6675120" cy="21945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82296" cy="2194560"/>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64207"/>
            <a:ext cx="6355080" cy="365760"/>
          </a:xfrm>
          <a:prstGeom prst="rect">
            <a:avLst/>
          </a:prstGeom>
          <a:noFill/>
        </p:spPr>
        <p:txBody>
          <a:bodyPr wrap="square">
            <a:spAutoFit/>
          </a:bodyPr>
          <a:lstStyle/>
          <a:p>
            <a:pPr algn="l"/>
            <a:r>
              <a:rPr sz="1300" b="1" i="0">
                <a:solidFill>
                  <a:srgbClr val="0D2B55"/>
                </a:solidFill>
              </a:rPr>
              <a:t>Üretken müzik patlaması</a:t>
            </a:r>
          </a:p>
        </p:txBody>
      </p:sp>
      <p:sp>
        <p:nvSpPr>
          <p:cNvPr id="9" name="TextBox 8"/>
          <p:cNvSpPr txBox="1"/>
          <p:nvPr/>
        </p:nvSpPr>
        <p:spPr>
          <a:xfrm>
            <a:off x="566928" y="2057400"/>
            <a:ext cx="6355080" cy="1600200"/>
          </a:xfrm>
          <a:prstGeom prst="rect">
            <a:avLst/>
          </a:prstGeom>
          <a:noFill/>
        </p:spPr>
        <p:txBody>
          <a:bodyPr wrap="square">
            <a:spAutoFit/>
          </a:bodyPr>
          <a:lstStyle/>
          <a:p>
            <a:pPr algn="l"/>
            <a:r>
              <a:rPr sz="1200" b="0" i="0">
                <a:solidFill>
                  <a:srgbClr val="2A2A2A"/>
                </a:solidFill>
              </a:rPr>
              <a:t>Suno, Udio ve MusicGen gibi sistemler, tek bir metin istemiyle dakikalar içinde deneyimsiz dinleyicilerin insan bestesinden ayırt edemeyeceği tam uzunlukta parçalar üretiyor. Üretim erişilebilirliği telif, özgünlük ve içerik bütünlüğü açısından somut bir tespit problemi doğurdu.</a:t>
            </a:r>
          </a:p>
        </p:txBody>
      </p:sp>
      <p:sp>
        <p:nvSpPr>
          <p:cNvPr id="10" name="TextBox 9"/>
          <p:cNvSpPr txBox="1"/>
          <p:nvPr/>
        </p:nvSpPr>
        <p:spPr>
          <a:xfrm>
            <a:off x="365760" y="3931920"/>
            <a:ext cx="6675120" cy="365760"/>
          </a:xfrm>
          <a:prstGeom prst="rect">
            <a:avLst/>
          </a:prstGeom>
          <a:noFill/>
        </p:spPr>
        <p:txBody>
          <a:bodyPr wrap="square">
            <a:spAutoFit/>
          </a:bodyPr>
          <a:lstStyle/>
          <a:p>
            <a:pPr algn="l"/>
            <a:r>
              <a:rPr sz="1300" b="1" i="0">
                <a:solidFill>
                  <a:srgbClr val="0D2B55"/>
                </a:solidFill>
              </a:rPr>
              <a:t>Tespit ihtiyacının kaynakları</a:t>
            </a:r>
          </a:p>
        </p:txBody>
      </p:sp>
      <p:sp>
        <p:nvSpPr>
          <p:cNvPr id="11" name="TextBox 10"/>
          <p:cNvSpPr txBox="1"/>
          <p:nvPr/>
        </p:nvSpPr>
        <p:spPr>
          <a:xfrm>
            <a:off x="411480" y="4370832"/>
            <a:ext cx="6675120" cy="1920240"/>
          </a:xfrm>
          <a:prstGeom prst="rect">
            <a:avLst/>
          </a:prstGeom>
          <a:noFill/>
        </p:spPr>
        <p:txBody>
          <a:bodyPr wrap="square">
            <a:spAutoFit/>
          </a:bodyPr>
          <a:lstStyle/>
          <a:p>
            <a:pPr>
              <a:spcAft>
                <a:spcPts val="900"/>
              </a:spcAft>
            </a:pPr>
            <a:r>
              <a:rPr sz="1250">
                <a:solidFill>
                  <a:srgbClr val="2A2A2A"/>
                </a:solidFill>
              </a:rPr>
              <a:t>•  Telif hakkı ve içerik sahipliği belirsizliği</a:t>
            </a:r>
          </a:p>
          <a:p>
            <a:pPr>
              <a:spcAft>
                <a:spcPts val="900"/>
              </a:spcAft>
            </a:pPr>
            <a:r>
              <a:rPr sz="1250">
                <a:solidFill>
                  <a:srgbClr val="2A2A2A"/>
                </a:solidFill>
              </a:rPr>
              <a:t>•  Akış platformlarında sahte dinlenme ve gelir manipülasyonu</a:t>
            </a:r>
          </a:p>
          <a:p>
            <a:pPr>
              <a:spcAft>
                <a:spcPts val="900"/>
              </a:spcAft>
            </a:pPr>
            <a:r>
              <a:rPr sz="1250">
                <a:solidFill>
                  <a:srgbClr val="2A2A2A"/>
                </a:solidFill>
              </a:rPr>
              <a:t>•  Dezenformasyon ile kimlik ve üslup taklidi</a:t>
            </a:r>
          </a:p>
          <a:p>
            <a:pPr>
              <a:spcAft>
                <a:spcPts val="900"/>
              </a:spcAft>
            </a:pPr>
            <a:r>
              <a:rPr sz="1250">
                <a:solidFill>
                  <a:srgbClr val="2A2A2A"/>
                </a:solidFill>
              </a:rPr>
              <a:t>•  Mevcut konuşma-odaklı dedektörlerin müziğe genelleyememesi</a:t>
            </a:r>
          </a:p>
        </p:txBody>
      </p:sp>
      <p:sp>
        <p:nvSpPr>
          <p:cNvPr id="12" name="Rectangle 11"/>
          <p:cNvSpPr/>
          <p:nvPr/>
        </p:nvSpPr>
        <p:spPr>
          <a:xfrm>
            <a:off x="7315200" y="1554480"/>
            <a:ext cx="4480560"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732788"/>
            <a:ext cx="4480560" cy="685800"/>
          </a:xfrm>
          <a:prstGeom prst="rect">
            <a:avLst/>
          </a:prstGeom>
          <a:noFill/>
        </p:spPr>
        <p:txBody>
          <a:bodyPr wrap="square">
            <a:spAutoFit/>
          </a:bodyPr>
          <a:lstStyle/>
          <a:p>
            <a:pPr algn="ctr"/>
            <a:r>
              <a:rPr sz="3000" b="1" i="0">
                <a:solidFill>
                  <a:srgbClr val="E0A800"/>
                </a:solidFill>
              </a:rPr>
              <a:t>0,9548</a:t>
            </a:r>
          </a:p>
        </p:txBody>
      </p:sp>
      <p:sp>
        <p:nvSpPr>
          <p:cNvPr id="14" name="TextBox 13"/>
          <p:cNvSpPr txBox="1"/>
          <p:nvPr/>
        </p:nvSpPr>
        <p:spPr>
          <a:xfrm>
            <a:off x="7315200" y="2404872"/>
            <a:ext cx="4480560" cy="438912"/>
          </a:xfrm>
          <a:prstGeom prst="rect">
            <a:avLst/>
          </a:prstGeom>
          <a:noFill/>
        </p:spPr>
        <p:txBody>
          <a:bodyPr wrap="square">
            <a:spAutoFit/>
          </a:bodyPr>
          <a:lstStyle/>
          <a:p>
            <a:pPr algn="ctr"/>
            <a:r>
              <a:rPr sz="1100" b="0" i="0">
                <a:solidFill>
                  <a:srgbClr val="FFFFFF"/>
                </a:solidFill>
              </a:rPr>
              <a:t>AURIS ROC-AUC</a:t>
            </a:r>
          </a:p>
        </p:txBody>
      </p:sp>
      <p:sp>
        <p:nvSpPr>
          <p:cNvPr id="15" name="Rectangle 14"/>
          <p:cNvSpPr/>
          <p:nvPr/>
        </p:nvSpPr>
        <p:spPr>
          <a:xfrm>
            <a:off x="7315200" y="3063240"/>
            <a:ext cx="2148840" cy="13258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3235604"/>
            <a:ext cx="2148840" cy="662940"/>
          </a:xfrm>
          <a:prstGeom prst="rect">
            <a:avLst/>
          </a:prstGeom>
          <a:noFill/>
        </p:spPr>
        <p:txBody>
          <a:bodyPr wrap="square">
            <a:spAutoFit/>
          </a:bodyPr>
          <a:lstStyle/>
          <a:p>
            <a:pPr algn="ctr"/>
            <a:r>
              <a:rPr sz="2400" b="1" i="0">
                <a:solidFill>
                  <a:srgbClr val="E0A800"/>
                </a:solidFill>
              </a:rPr>
              <a:t>5.195</a:t>
            </a:r>
          </a:p>
        </p:txBody>
      </p:sp>
      <p:sp>
        <p:nvSpPr>
          <p:cNvPr id="17" name="TextBox 16"/>
          <p:cNvSpPr txBox="1"/>
          <p:nvPr/>
        </p:nvSpPr>
        <p:spPr>
          <a:xfrm>
            <a:off x="7315200" y="3885285"/>
            <a:ext cx="2148840" cy="424281"/>
          </a:xfrm>
          <a:prstGeom prst="rect">
            <a:avLst/>
          </a:prstGeom>
          <a:noFill/>
        </p:spPr>
        <p:txBody>
          <a:bodyPr wrap="square">
            <a:spAutoFit/>
          </a:bodyPr>
          <a:lstStyle/>
          <a:p>
            <a:pPr algn="ctr"/>
            <a:r>
              <a:rPr sz="1100" b="0" i="0">
                <a:solidFill>
                  <a:srgbClr val="FFFFFF"/>
                </a:solidFill>
              </a:rPr>
              <a:t>Örnek</a:t>
            </a:r>
          </a:p>
        </p:txBody>
      </p:sp>
      <p:sp>
        <p:nvSpPr>
          <p:cNvPr id="18" name="Rectangle 17"/>
          <p:cNvSpPr/>
          <p:nvPr/>
        </p:nvSpPr>
        <p:spPr>
          <a:xfrm>
            <a:off x="9646920" y="3063240"/>
            <a:ext cx="2148840" cy="13258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46920" y="3235604"/>
            <a:ext cx="2148840" cy="662940"/>
          </a:xfrm>
          <a:prstGeom prst="rect">
            <a:avLst/>
          </a:prstGeom>
          <a:noFill/>
        </p:spPr>
        <p:txBody>
          <a:bodyPr wrap="square">
            <a:spAutoFit/>
          </a:bodyPr>
          <a:lstStyle/>
          <a:p>
            <a:pPr algn="ctr"/>
            <a:r>
              <a:rPr sz="2400" b="1" i="0">
                <a:solidFill>
                  <a:srgbClr val="E0A800"/>
                </a:solidFill>
              </a:rPr>
              <a:t>8</a:t>
            </a:r>
          </a:p>
        </p:txBody>
      </p:sp>
      <p:sp>
        <p:nvSpPr>
          <p:cNvPr id="20" name="TextBox 19"/>
          <p:cNvSpPr txBox="1"/>
          <p:nvPr/>
        </p:nvSpPr>
        <p:spPr>
          <a:xfrm>
            <a:off x="9646920" y="3885285"/>
            <a:ext cx="2148840" cy="424281"/>
          </a:xfrm>
          <a:prstGeom prst="rect">
            <a:avLst/>
          </a:prstGeom>
          <a:noFill/>
        </p:spPr>
        <p:txBody>
          <a:bodyPr wrap="square">
            <a:spAutoFit/>
          </a:bodyPr>
          <a:lstStyle/>
          <a:p>
            <a:pPr algn="ctr"/>
            <a:r>
              <a:rPr sz="1100" b="0" i="0">
                <a:solidFill>
                  <a:srgbClr val="FFFFFF"/>
                </a:solidFill>
              </a:rPr>
              <a:t>Kaynak</a:t>
            </a:r>
          </a:p>
        </p:txBody>
      </p:sp>
      <p:sp>
        <p:nvSpPr>
          <p:cNvPr id="21" name="Rectangle 20"/>
          <p:cNvSpPr/>
          <p:nvPr/>
        </p:nvSpPr>
        <p:spPr>
          <a:xfrm>
            <a:off x="7315200" y="4526280"/>
            <a:ext cx="2148840" cy="13258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4698644"/>
            <a:ext cx="2148840" cy="662940"/>
          </a:xfrm>
          <a:prstGeom prst="rect">
            <a:avLst/>
          </a:prstGeom>
          <a:noFill/>
        </p:spPr>
        <p:txBody>
          <a:bodyPr wrap="square">
            <a:spAutoFit/>
          </a:bodyPr>
          <a:lstStyle/>
          <a:p>
            <a:pPr algn="ctr"/>
            <a:r>
              <a:rPr sz="2400" b="1" i="0">
                <a:solidFill>
                  <a:srgbClr val="E0A800"/>
                </a:solidFill>
              </a:rPr>
              <a:t>47</a:t>
            </a:r>
          </a:p>
        </p:txBody>
      </p:sp>
      <p:sp>
        <p:nvSpPr>
          <p:cNvPr id="23" name="TextBox 22"/>
          <p:cNvSpPr txBox="1"/>
          <p:nvPr/>
        </p:nvSpPr>
        <p:spPr>
          <a:xfrm>
            <a:off x="7315200" y="5348325"/>
            <a:ext cx="2148840" cy="424281"/>
          </a:xfrm>
          <a:prstGeom prst="rect">
            <a:avLst/>
          </a:prstGeom>
          <a:noFill/>
        </p:spPr>
        <p:txBody>
          <a:bodyPr wrap="square">
            <a:spAutoFit/>
          </a:bodyPr>
          <a:lstStyle/>
          <a:p>
            <a:pPr algn="ctr"/>
            <a:r>
              <a:rPr sz="1100" b="0" i="0">
                <a:solidFill>
                  <a:srgbClr val="FFFFFF"/>
                </a:solidFill>
              </a:rPr>
              <a:t>Öznitelik</a:t>
            </a:r>
          </a:p>
        </p:txBody>
      </p:sp>
      <p:sp>
        <p:nvSpPr>
          <p:cNvPr id="24" name="Rectangle 23"/>
          <p:cNvSpPr/>
          <p:nvPr/>
        </p:nvSpPr>
        <p:spPr>
          <a:xfrm>
            <a:off x="9646920" y="4526280"/>
            <a:ext cx="2148840" cy="13258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46920" y="4698644"/>
            <a:ext cx="2148840" cy="662940"/>
          </a:xfrm>
          <a:prstGeom prst="rect">
            <a:avLst/>
          </a:prstGeom>
          <a:noFill/>
        </p:spPr>
        <p:txBody>
          <a:bodyPr wrap="square">
            <a:spAutoFit/>
          </a:bodyPr>
          <a:lstStyle/>
          <a:p>
            <a:pPr algn="ctr"/>
            <a:r>
              <a:rPr sz="2400" b="1" i="0">
                <a:solidFill>
                  <a:srgbClr val="E0A800"/>
                </a:solidFill>
              </a:rPr>
              <a:t>11</a:t>
            </a:r>
          </a:p>
        </p:txBody>
      </p:sp>
      <p:sp>
        <p:nvSpPr>
          <p:cNvPr id="26" name="TextBox 25"/>
          <p:cNvSpPr txBox="1"/>
          <p:nvPr/>
        </p:nvSpPr>
        <p:spPr>
          <a:xfrm>
            <a:off x="9646920" y="5348325"/>
            <a:ext cx="2148840" cy="424281"/>
          </a:xfrm>
          <a:prstGeom prst="rect">
            <a:avLst/>
          </a:prstGeom>
          <a:noFill/>
        </p:spPr>
        <p:txBody>
          <a:bodyPr wrap="square">
            <a:spAutoFit/>
          </a:bodyPr>
          <a:lstStyle/>
          <a:p>
            <a:pPr algn="ctr"/>
            <a:r>
              <a:rPr sz="1100" b="0" i="0">
                <a:solidFill>
                  <a:srgbClr val="FFFFFF"/>
                </a:solidFill>
              </a:rPr>
              <a:t>Model</a:t>
            </a:r>
          </a:p>
        </p:txBody>
      </p:sp>
      <p:sp>
        <p:nvSpPr>
          <p:cNvPr id="27" name="TextBox 26"/>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28" name="TextBox 27"/>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2</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Literatür Özeti ve Boşluk Analizi</a:t>
            </a:r>
          </a:p>
        </p:txBody>
      </p:sp>
      <p:sp>
        <p:nvSpPr>
          <p:cNvPr id="6" name="TextBox 5"/>
          <p:cNvSpPr txBox="1"/>
          <p:nvPr/>
        </p:nvSpPr>
        <p:spPr>
          <a:xfrm>
            <a:off x="365760" y="1554480"/>
            <a:ext cx="5669280" cy="365760"/>
          </a:xfrm>
          <a:prstGeom prst="rect">
            <a:avLst/>
          </a:prstGeom>
          <a:noFill/>
        </p:spPr>
        <p:txBody>
          <a:bodyPr wrap="square">
            <a:spAutoFit/>
          </a:bodyPr>
          <a:lstStyle/>
          <a:p>
            <a:pPr algn="l"/>
            <a:r>
              <a:rPr sz="1300" b="1" i="0">
                <a:solidFill>
                  <a:srgbClr val="0D2B55"/>
                </a:solidFill>
              </a:rPr>
              <a:t>Üç araştırma alanı taranmıştır</a:t>
            </a:r>
          </a:p>
        </p:txBody>
      </p:sp>
      <p:sp>
        <p:nvSpPr>
          <p:cNvPr id="7" name="Rectangle 6"/>
          <p:cNvSpPr/>
          <p:nvPr/>
        </p:nvSpPr>
        <p:spPr>
          <a:xfrm>
            <a:off x="365760" y="2011680"/>
            <a:ext cx="5669280" cy="841248"/>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103120"/>
            <a:ext cx="5394960" cy="320040"/>
          </a:xfrm>
          <a:prstGeom prst="rect">
            <a:avLst/>
          </a:prstGeom>
          <a:noFill/>
        </p:spPr>
        <p:txBody>
          <a:bodyPr wrap="square">
            <a:spAutoFit/>
          </a:bodyPr>
          <a:lstStyle/>
          <a:p>
            <a:pPr algn="l"/>
            <a:r>
              <a:rPr sz="1250" b="1" i="0">
                <a:solidFill>
                  <a:srgbClr val="007A87"/>
                </a:solidFill>
              </a:rPr>
              <a:t>Ses Deepfake Tespiti</a:t>
            </a:r>
          </a:p>
        </p:txBody>
      </p:sp>
      <p:sp>
        <p:nvSpPr>
          <p:cNvPr id="9" name="TextBox 8"/>
          <p:cNvSpPr txBox="1"/>
          <p:nvPr/>
        </p:nvSpPr>
        <p:spPr>
          <a:xfrm>
            <a:off x="502920" y="2432304"/>
            <a:ext cx="5394960" cy="384048"/>
          </a:xfrm>
          <a:prstGeom prst="rect">
            <a:avLst/>
          </a:prstGeom>
          <a:noFill/>
        </p:spPr>
        <p:txBody>
          <a:bodyPr wrap="square">
            <a:spAutoFit/>
          </a:bodyPr>
          <a:lstStyle/>
          <a:p>
            <a:pPr algn="l"/>
            <a:r>
              <a:rPr sz="1100" b="0" i="0">
                <a:solidFill>
                  <a:srgbClr val="2A2A2A"/>
                </a:solidFill>
              </a:rPr>
              <a:t>AASIST, RawNet2, wav2vec 2.0, WavLM — konuşma için olgun</a:t>
            </a:r>
          </a:p>
        </p:txBody>
      </p:sp>
      <p:sp>
        <p:nvSpPr>
          <p:cNvPr id="10" name="Rectangle 9"/>
          <p:cNvSpPr/>
          <p:nvPr/>
        </p:nvSpPr>
        <p:spPr>
          <a:xfrm>
            <a:off x="365760" y="2971800"/>
            <a:ext cx="5669280" cy="841248"/>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063240"/>
            <a:ext cx="5394960" cy="320040"/>
          </a:xfrm>
          <a:prstGeom prst="rect">
            <a:avLst/>
          </a:prstGeom>
          <a:noFill/>
        </p:spPr>
        <p:txBody>
          <a:bodyPr wrap="square">
            <a:spAutoFit/>
          </a:bodyPr>
          <a:lstStyle/>
          <a:p>
            <a:pPr algn="l"/>
            <a:r>
              <a:rPr sz="1250" b="1" i="0">
                <a:solidFill>
                  <a:srgbClr val="007A87"/>
                </a:solidFill>
              </a:rPr>
              <a:t>Üretken Müzik Sistemleri</a:t>
            </a:r>
          </a:p>
        </p:txBody>
      </p:sp>
      <p:sp>
        <p:nvSpPr>
          <p:cNvPr id="12" name="TextBox 11"/>
          <p:cNvSpPr txBox="1"/>
          <p:nvPr/>
        </p:nvSpPr>
        <p:spPr>
          <a:xfrm>
            <a:off x="502920" y="3392424"/>
            <a:ext cx="5394960" cy="384048"/>
          </a:xfrm>
          <a:prstGeom prst="rect">
            <a:avLst/>
          </a:prstGeom>
          <a:noFill/>
        </p:spPr>
        <p:txBody>
          <a:bodyPr wrap="square">
            <a:spAutoFit/>
          </a:bodyPr>
          <a:lstStyle/>
          <a:p>
            <a:pPr algn="l"/>
            <a:r>
              <a:rPr sz="1100" b="0" i="0">
                <a:solidFill>
                  <a:srgbClr val="2A2A2A"/>
                </a:solidFill>
              </a:rPr>
              <a:t>MusicGen, AudioLDM2, Suno, Udio — tespit hedefini şekillendirir</a:t>
            </a:r>
          </a:p>
        </p:txBody>
      </p:sp>
      <p:sp>
        <p:nvSpPr>
          <p:cNvPr id="13" name="Rectangle 12"/>
          <p:cNvSpPr/>
          <p:nvPr/>
        </p:nvSpPr>
        <p:spPr>
          <a:xfrm>
            <a:off x="365760" y="3931920"/>
            <a:ext cx="5669280" cy="841248"/>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023360"/>
            <a:ext cx="5394960" cy="320040"/>
          </a:xfrm>
          <a:prstGeom prst="rect">
            <a:avLst/>
          </a:prstGeom>
          <a:noFill/>
        </p:spPr>
        <p:txBody>
          <a:bodyPr wrap="square">
            <a:spAutoFit/>
          </a:bodyPr>
          <a:lstStyle/>
          <a:p>
            <a:pPr algn="l"/>
            <a:r>
              <a:rPr sz="1250" b="1" i="0">
                <a:solidFill>
                  <a:srgbClr val="007A87"/>
                </a:solidFill>
              </a:rPr>
              <a:t>YZ Müzik Tespiti</a:t>
            </a:r>
          </a:p>
        </p:txBody>
      </p:sp>
      <p:sp>
        <p:nvSpPr>
          <p:cNvPr id="15" name="TextBox 14"/>
          <p:cNvSpPr txBox="1"/>
          <p:nvPr/>
        </p:nvSpPr>
        <p:spPr>
          <a:xfrm>
            <a:off x="502920" y="4352544"/>
            <a:ext cx="5394960" cy="384048"/>
          </a:xfrm>
          <a:prstGeom prst="rect">
            <a:avLst/>
          </a:prstGeom>
          <a:noFill/>
        </p:spPr>
        <p:txBody>
          <a:bodyPr wrap="square">
            <a:spAutoFit/>
          </a:bodyPr>
          <a:lstStyle/>
          <a:p>
            <a:pPr algn="l"/>
            <a:r>
              <a:rPr sz="1100" b="0" i="0">
                <a:solidFill>
                  <a:srgbClr val="2A2A2A"/>
                </a:solidFill>
              </a:rPr>
              <a:t>Afchar, Cros Vila, Li, SONICS, FakeMusicCaps — yeni ve dağınık</a:t>
            </a:r>
          </a:p>
        </p:txBody>
      </p:sp>
      <p:sp>
        <p:nvSpPr>
          <p:cNvPr id="16" name="Rectangle 15"/>
          <p:cNvSpPr/>
          <p:nvPr/>
        </p:nvSpPr>
        <p:spPr>
          <a:xfrm>
            <a:off x="6355080" y="1554480"/>
            <a:ext cx="5440680" cy="4572000"/>
          </a:xfrm>
          <a:prstGeom prst="rect">
            <a:avLst/>
          </a:prstGeom>
          <a:solidFill>
            <a:srgbClr val="E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1554480"/>
            <a:ext cx="82296" cy="45720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1664207"/>
            <a:ext cx="5120640" cy="365760"/>
          </a:xfrm>
          <a:prstGeom prst="rect">
            <a:avLst/>
          </a:prstGeom>
          <a:noFill/>
        </p:spPr>
        <p:txBody>
          <a:bodyPr wrap="square">
            <a:spAutoFit/>
          </a:bodyPr>
          <a:lstStyle/>
          <a:p>
            <a:pPr algn="l"/>
            <a:r>
              <a:rPr sz="1300" b="1" i="0">
                <a:solidFill>
                  <a:srgbClr val="0D2B55"/>
                </a:solidFill>
              </a:rPr>
              <a:t>Tespit edilen boşluk</a:t>
            </a:r>
          </a:p>
        </p:txBody>
      </p:sp>
      <p:sp>
        <p:nvSpPr>
          <p:cNvPr id="19" name="TextBox 18"/>
          <p:cNvSpPr txBox="1"/>
          <p:nvPr/>
        </p:nvSpPr>
        <p:spPr>
          <a:xfrm>
            <a:off x="6556248" y="2057400"/>
            <a:ext cx="5120640" cy="3977639"/>
          </a:xfrm>
          <a:prstGeom prst="rect">
            <a:avLst/>
          </a:prstGeom>
          <a:noFill/>
        </p:spPr>
        <p:txBody>
          <a:bodyPr wrap="square">
            <a:spAutoFit/>
          </a:bodyPr>
          <a:lstStyle/>
          <a:p>
            <a:pPr algn="l"/>
            <a:r>
              <a:rPr sz="1200" b="0" i="0">
                <a:solidFill>
                  <a:srgbClr val="2A2A2A"/>
                </a:solidFill>
              </a:rPr>
              <a:t>Literatürde müzik tespiti için:
✗  Topluluk öğrenmesi yetersiz uygulanmış
✗  Çok aileli (47 boyut) öznitelik seti yok
✗  Kaynak bazlı performans analizi eksik
✗  SHAP açıklanabilirliği taşınmamış
✗  Youden J eşik optimizasyonu yok
AURIS bu beş boşluğu birlikte ele alarak hafif, açıklanabilir ve rekabetçi bir sistem sunar.</a:t>
            </a:r>
          </a:p>
        </p:txBody>
      </p:sp>
      <p:sp>
        <p:nvSpPr>
          <p:cNvPr id="20" name="TextBox 19"/>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21" name="TextBox 20"/>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3</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Sistem Mimarisi — Uçtan Uca Pipeline</a:t>
            </a:r>
          </a:p>
        </p:txBody>
      </p:sp>
      <p:pic>
        <p:nvPicPr>
          <p:cNvPr id="6" name="Picture 5" descr="paper_pipeline_diagram.png"/>
          <p:cNvPicPr>
            <a:picLocks noChangeAspect="1"/>
          </p:cNvPicPr>
          <p:nvPr/>
        </p:nvPicPr>
        <p:blipFill>
          <a:blip r:embed="rId2"/>
          <a:stretch>
            <a:fillRect/>
          </a:stretch>
        </p:blipFill>
        <p:spPr>
          <a:xfrm>
            <a:off x="365760" y="1600200"/>
            <a:ext cx="7680960" cy="4297680"/>
          </a:xfrm>
          <a:prstGeom prst="rect">
            <a:avLst/>
          </a:prstGeom>
        </p:spPr>
      </p:pic>
      <p:sp>
        <p:nvSpPr>
          <p:cNvPr id="7" name="TextBox 6"/>
          <p:cNvSpPr txBox="1"/>
          <p:nvPr/>
        </p:nvSpPr>
        <p:spPr>
          <a:xfrm>
            <a:off x="365760" y="5934456"/>
            <a:ext cx="7680960" cy="292608"/>
          </a:xfrm>
          <a:prstGeom prst="rect">
            <a:avLst/>
          </a:prstGeom>
          <a:noFill/>
        </p:spPr>
        <p:txBody>
          <a:bodyPr wrap="square">
            <a:spAutoFit/>
          </a:bodyPr>
          <a:lstStyle/>
          <a:p>
            <a:pPr algn="ctr"/>
            <a:r>
              <a:rPr sz="1000" b="0" i="1">
                <a:solidFill>
                  <a:srgbClr val="66707A"/>
                </a:solidFill>
              </a:rPr>
              <a:t>Şekil 1: AURIS uçtan uca işleyiş şeması</a:t>
            </a:r>
          </a:p>
        </p:txBody>
      </p:sp>
      <p:sp>
        <p:nvSpPr>
          <p:cNvPr id="8" name="Rectangle 7"/>
          <p:cNvSpPr/>
          <p:nvPr/>
        </p:nvSpPr>
        <p:spPr>
          <a:xfrm>
            <a:off x="8229600" y="1600200"/>
            <a:ext cx="3611880" cy="42976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1600200"/>
            <a:ext cx="82296" cy="4297680"/>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30768" y="1709928"/>
            <a:ext cx="3291840" cy="365760"/>
          </a:xfrm>
          <a:prstGeom prst="rect">
            <a:avLst/>
          </a:prstGeom>
          <a:noFill/>
        </p:spPr>
        <p:txBody>
          <a:bodyPr wrap="square">
            <a:spAutoFit/>
          </a:bodyPr>
          <a:lstStyle/>
          <a:p>
            <a:pPr algn="l"/>
            <a:r>
              <a:rPr sz="1300" b="1" i="0">
                <a:solidFill>
                  <a:srgbClr val="E0A800"/>
                </a:solidFill>
              </a:rPr>
              <a:t>Yedi Aşama</a:t>
            </a:r>
          </a:p>
        </p:txBody>
      </p:sp>
      <p:sp>
        <p:nvSpPr>
          <p:cNvPr id="11" name="TextBox 10"/>
          <p:cNvSpPr txBox="1"/>
          <p:nvPr/>
        </p:nvSpPr>
        <p:spPr>
          <a:xfrm>
            <a:off x="8430768" y="2103120"/>
            <a:ext cx="3291840" cy="3703320"/>
          </a:xfrm>
          <a:prstGeom prst="rect">
            <a:avLst/>
          </a:prstGeom>
          <a:noFill/>
        </p:spPr>
        <p:txBody>
          <a:bodyPr wrap="square">
            <a:spAutoFit/>
          </a:bodyPr>
          <a:lstStyle/>
          <a:p>
            <a:pPr algn="l"/>
            <a:r>
              <a:rPr sz="1200" b="0" i="0">
                <a:solidFill>
                  <a:srgbClr val="2A2A2A"/>
                </a:solidFill>
              </a:rPr>
              <a:t>1 · Ham ses girişi
2 · Ön işleme (22.050 Hz, mono)
3 · 47 öznitelik çıkarma
4 · Kat-içi StandardScaler
5 · 11 model / 5-katlı CV
6 · Youden eşik (θ*=0,4316)
7 · Karar + SHAP açıklaması</a:t>
            </a:r>
          </a:p>
        </p:txBody>
      </p:sp>
      <p:sp>
        <p:nvSpPr>
          <p:cNvPr id="12" name="TextBox 11"/>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13" name="TextBox 12"/>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4</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Veri Kümesi</a:t>
            </a:r>
          </a:p>
        </p:txBody>
      </p:sp>
      <p:sp>
        <p:nvSpPr>
          <p:cNvPr id="6" name="TextBox 5"/>
          <p:cNvSpPr txBox="1"/>
          <p:nvPr/>
        </p:nvSpPr>
        <p:spPr>
          <a:xfrm>
            <a:off x="365760" y="987552"/>
            <a:ext cx="11430000" cy="365760"/>
          </a:xfrm>
          <a:prstGeom prst="rect">
            <a:avLst/>
          </a:prstGeom>
          <a:noFill/>
        </p:spPr>
        <p:txBody>
          <a:bodyPr wrap="square">
            <a:spAutoFit/>
          </a:bodyPr>
          <a:lstStyle/>
          <a:p>
            <a:pPr algn="l"/>
            <a:r>
              <a:rPr sz="1250" b="0" i="0">
                <a:solidFill>
                  <a:srgbClr val="AEC6D6"/>
                </a:solidFill>
              </a:rPr>
              <a:t>5.195 örnek · sekiz kaynak · iki sınıf</a:t>
            </a:r>
          </a:p>
        </p:txBody>
      </p:sp>
      <p:sp>
        <p:nvSpPr>
          <p:cNvPr id="7" name="Rectangle 6"/>
          <p:cNvSpPr/>
          <p:nvPr/>
        </p:nvSpPr>
        <p:spPr>
          <a:xfrm>
            <a:off x="365760" y="1554480"/>
            <a:ext cx="393192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1581912"/>
            <a:ext cx="3822191" cy="329184"/>
          </a:xfrm>
          <a:prstGeom prst="rect">
            <a:avLst/>
          </a:prstGeom>
          <a:noFill/>
        </p:spPr>
        <p:txBody>
          <a:bodyPr wrap="square">
            <a:spAutoFit/>
          </a:bodyPr>
          <a:lstStyle/>
          <a:p>
            <a:pPr algn="ctr"/>
            <a:r>
              <a:rPr sz="1200" b="1" i="0">
                <a:solidFill>
                  <a:srgbClr val="FFFFFF"/>
                </a:solidFill>
              </a:rPr>
              <a:t>Kaynak</a:t>
            </a:r>
          </a:p>
        </p:txBody>
      </p:sp>
      <p:sp>
        <p:nvSpPr>
          <p:cNvPr id="9" name="Rectangle 8"/>
          <p:cNvSpPr/>
          <p:nvPr/>
        </p:nvSpPr>
        <p:spPr>
          <a:xfrm>
            <a:off x="4297680" y="1554480"/>
            <a:ext cx="265176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70832" y="1581912"/>
            <a:ext cx="2542032" cy="329184"/>
          </a:xfrm>
          <a:prstGeom prst="rect">
            <a:avLst/>
          </a:prstGeom>
          <a:noFill/>
        </p:spPr>
        <p:txBody>
          <a:bodyPr wrap="square">
            <a:spAutoFit/>
          </a:bodyPr>
          <a:lstStyle/>
          <a:p>
            <a:pPr algn="ctr"/>
            <a:r>
              <a:rPr sz="1200" b="1" i="0">
                <a:solidFill>
                  <a:srgbClr val="FFFFFF"/>
                </a:solidFill>
              </a:rPr>
              <a:t>Tür</a:t>
            </a:r>
          </a:p>
        </p:txBody>
      </p:sp>
      <p:sp>
        <p:nvSpPr>
          <p:cNvPr id="11" name="Rectangle 10"/>
          <p:cNvSpPr/>
          <p:nvPr/>
        </p:nvSpPr>
        <p:spPr>
          <a:xfrm>
            <a:off x="6949440" y="1554480"/>
            <a:ext cx="182880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22592" y="1581912"/>
            <a:ext cx="1719072" cy="329184"/>
          </a:xfrm>
          <a:prstGeom prst="rect">
            <a:avLst/>
          </a:prstGeom>
          <a:noFill/>
        </p:spPr>
        <p:txBody>
          <a:bodyPr wrap="square">
            <a:spAutoFit/>
          </a:bodyPr>
          <a:lstStyle/>
          <a:p>
            <a:pPr algn="ctr"/>
            <a:r>
              <a:rPr sz="1200" b="1" i="0">
                <a:solidFill>
                  <a:srgbClr val="FFFFFF"/>
                </a:solidFill>
              </a:rPr>
              <a:t>Örnek</a:t>
            </a:r>
          </a:p>
        </p:txBody>
      </p:sp>
      <p:sp>
        <p:nvSpPr>
          <p:cNvPr id="13" name="Rectangle 12"/>
          <p:cNvSpPr/>
          <p:nvPr/>
        </p:nvSpPr>
        <p:spPr>
          <a:xfrm>
            <a:off x="8778240" y="1554480"/>
            <a:ext cx="146304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51392" y="1581912"/>
            <a:ext cx="1353312" cy="329184"/>
          </a:xfrm>
          <a:prstGeom prst="rect">
            <a:avLst/>
          </a:prstGeom>
          <a:noFill/>
        </p:spPr>
        <p:txBody>
          <a:bodyPr wrap="square">
            <a:spAutoFit/>
          </a:bodyPr>
          <a:lstStyle/>
          <a:p>
            <a:pPr algn="ctr"/>
            <a:r>
              <a:rPr sz="1200" b="1" i="0">
                <a:solidFill>
                  <a:srgbClr val="FFFFFF"/>
                </a:solidFill>
              </a:rPr>
              <a:t>Etiket</a:t>
            </a:r>
          </a:p>
        </p:txBody>
      </p:sp>
      <p:sp>
        <p:nvSpPr>
          <p:cNvPr id="15" name="Rectangle 14"/>
          <p:cNvSpPr/>
          <p:nvPr/>
        </p:nvSpPr>
        <p:spPr>
          <a:xfrm>
            <a:off x="365760" y="1956816"/>
            <a:ext cx="393192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1993392"/>
            <a:ext cx="3840480" cy="292608"/>
          </a:xfrm>
          <a:prstGeom prst="rect">
            <a:avLst/>
          </a:prstGeom>
          <a:noFill/>
        </p:spPr>
        <p:txBody>
          <a:bodyPr wrap="square" anchor="ctr">
            <a:spAutoFit/>
          </a:bodyPr>
          <a:lstStyle/>
          <a:p>
            <a:pPr algn="ctr"/>
            <a:r>
              <a:rPr sz="1150" b="0" i="0">
                <a:solidFill>
                  <a:srgbClr val="2A2A2A"/>
                </a:solidFill>
              </a:rPr>
              <a:t>GTZAN</a:t>
            </a:r>
          </a:p>
        </p:txBody>
      </p:sp>
      <p:sp>
        <p:nvSpPr>
          <p:cNvPr id="17" name="Rectangle 16"/>
          <p:cNvSpPr/>
          <p:nvPr/>
        </p:nvSpPr>
        <p:spPr>
          <a:xfrm>
            <a:off x="4297680" y="1956816"/>
            <a:ext cx="26517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1993392"/>
            <a:ext cx="2560320" cy="292608"/>
          </a:xfrm>
          <a:prstGeom prst="rect">
            <a:avLst/>
          </a:prstGeom>
          <a:noFill/>
        </p:spPr>
        <p:txBody>
          <a:bodyPr wrap="square" anchor="ctr">
            <a:spAutoFit/>
          </a:bodyPr>
          <a:lstStyle/>
          <a:p>
            <a:pPr algn="ctr"/>
            <a:r>
              <a:rPr sz="1150" b="0" i="0">
                <a:solidFill>
                  <a:srgbClr val="2A2A2A"/>
                </a:solidFill>
              </a:rPr>
              <a:t>İnsan</a:t>
            </a:r>
          </a:p>
        </p:txBody>
      </p:sp>
      <p:sp>
        <p:nvSpPr>
          <p:cNvPr id="19" name="Rectangle 18"/>
          <p:cNvSpPr/>
          <p:nvPr/>
        </p:nvSpPr>
        <p:spPr>
          <a:xfrm>
            <a:off x="6949440" y="1956816"/>
            <a:ext cx="18288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59" y="1993392"/>
            <a:ext cx="1737360" cy="292608"/>
          </a:xfrm>
          <a:prstGeom prst="rect">
            <a:avLst/>
          </a:prstGeom>
          <a:noFill/>
        </p:spPr>
        <p:txBody>
          <a:bodyPr wrap="square" anchor="ctr">
            <a:spAutoFit/>
          </a:bodyPr>
          <a:lstStyle/>
          <a:p>
            <a:pPr algn="ctr"/>
            <a:r>
              <a:rPr sz="1150" b="0" i="0">
                <a:solidFill>
                  <a:srgbClr val="2A2A2A"/>
                </a:solidFill>
              </a:rPr>
              <a:t>899</a:t>
            </a:r>
          </a:p>
        </p:txBody>
      </p:sp>
      <p:sp>
        <p:nvSpPr>
          <p:cNvPr id="21" name="Rectangle 20"/>
          <p:cNvSpPr/>
          <p:nvPr/>
        </p:nvSpPr>
        <p:spPr>
          <a:xfrm>
            <a:off x="8778240" y="1956816"/>
            <a:ext cx="14630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3960" y="1993392"/>
            <a:ext cx="1371600" cy="292608"/>
          </a:xfrm>
          <a:prstGeom prst="rect">
            <a:avLst/>
          </a:prstGeom>
          <a:noFill/>
        </p:spPr>
        <p:txBody>
          <a:bodyPr wrap="square" anchor="ctr">
            <a:spAutoFit/>
          </a:bodyPr>
          <a:lstStyle/>
          <a:p>
            <a:pPr algn="ctr"/>
            <a:r>
              <a:rPr sz="1150" b="0" i="0">
                <a:solidFill>
                  <a:srgbClr val="2A2A2A"/>
                </a:solidFill>
              </a:rPr>
              <a:t>0</a:t>
            </a:r>
          </a:p>
        </p:txBody>
      </p:sp>
      <p:sp>
        <p:nvSpPr>
          <p:cNvPr id="23" name="Rectangle 22"/>
          <p:cNvSpPr/>
          <p:nvPr/>
        </p:nvSpPr>
        <p:spPr>
          <a:xfrm>
            <a:off x="365760" y="2350008"/>
            <a:ext cx="393192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386584"/>
            <a:ext cx="3840480" cy="292608"/>
          </a:xfrm>
          <a:prstGeom prst="rect">
            <a:avLst/>
          </a:prstGeom>
          <a:noFill/>
        </p:spPr>
        <p:txBody>
          <a:bodyPr wrap="square" anchor="ctr">
            <a:spAutoFit/>
          </a:bodyPr>
          <a:lstStyle/>
          <a:p>
            <a:pPr algn="ctr"/>
            <a:r>
              <a:rPr sz="1150" b="0" i="0">
                <a:solidFill>
                  <a:srgbClr val="2A2A2A"/>
                </a:solidFill>
              </a:rPr>
              <a:t>FMA Small</a:t>
            </a:r>
          </a:p>
        </p:txBody>
      </p:sp>
      <p:sp>
        <p:nvSpPr>
          <p:cNvPr id="25" name="Rectangle 24"/>
          <p:cNvSpPr/>
          <p:nvPr/>
        </p:nvSpPr>
        <p:spPr>
          <a:xfrm>
            <a:off x="4297680" y="2350008"/>
            <a:ext cx="26517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2386584"/>
            <a:ext cx="2560320" cy="292608"/>
          </a:xfrm>
          <a:prstGeom prst="rect">
            <a:avLst/>
          </a:prstGeom>
          <a:noFill/>
        </p:spPr>
        <p:txBody>
          <a:bodyPr wrap="square" anchor="ctr">
            <a:spAutoFit/>
          </a:bodyPr>
          <a:lstStyle/>
          <a:p>
            <a:pPr algn="ctr"/>
            <a:r>
              <a:rPr sz="1150" b="0" i="0">
                <a:solidFill>
                  <a:srgbClr val="2A2A2A"/>
                </a:solidFill>
              </a:rPr>
              <a:t>İnsan</a:t>
            </a:r>
          </a:p>
        </p:txBody>
      </p:sp>
      <p:sp>
        <p:nvSpPr>
          <p:cNvPr id="27" name="Rectangle 26"/>
          <p:cNvSpPr/>
          <p:nvPr/>
        </p:nvSpPr>
        <p:spPr>
          <a:xfrm>
            <a:off x="6949440" y="2350008"/>
            <a:ext cx="18288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59" y="2386584"/>
            <a:ext cx="1737360" cy="292608"/>
          </a:xfrm>
          <a:prstGeom prst="rect">
            <a:avLst/>
          </a:prstGeom>
          <a:noFill/>
        </p:spPr>
        <p:txBody>
          <a:bodyPr wrap="square" anchor="ctr">
            <a:spAutoFit/>
          </a:bodyPr>
          <a:lstStyle/>
          <a:p>
            <a:pPr algn="ctr"/>
            <a:r>
              <a:rPr sz="1150" b="0" i="0">
                <a:solidFill>
                  <a:srgbClr val="2A2A2A"/>
                </a:solidFill>
              </a:rPr>
              <a:t>1.000</a:t>
            </a:r>
          </a:p>
        </p:txBody>
      </p:sp>
      <p:sp>
        <p:nvSpPr>
          <p:cNvPr id="29" name="Rectangle 28"/>
          <p:cNvSpPr/>
          <p:nvPr/>
        </p:nvSpPr>
        <p:spPr>
          <a:xfrm>
            <a:off x="8778240" y="2350008"/>
            <a:ext cx="14630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3960" y="2386584"/>
            <a:ext cx="1371600" cy="292608"/>
          </a:xfrm>
          <a:prstGeom prst="rect">
            <a:avLst/>
          </a:prstGeom>
          <a:noFill/>
        </p:spPr>
        <p:txBody>
          <a:bodyPr wrap="square" anchor="ctr">
            <a:spAutoFit/>
          </a:bodyPr>
          <a:lstStyle/>
          <a:p>
            <a:pPr algn="ctr"/>
            <a:r>
              <a:rPr sz="1150" b="0" i="0">
                <a:solidFill>
                  <a:srgbClr val="2A2A2A"/>
                </a:solidFill>
              </a:rPr>
              <a:t>0</a:t>
            </a:r>
          </a:p>
        </p:txBody>
      </p:sp>
      <p:sp>
        <p:nvSpPr>
          <p:cNvPr id="31" name="Rectangle 30"/>
          <p:cNvSpPr/>
          <p:nvPr/>
        </p:nvSpPr>
        <p:spPr>
          <a:xfrm>
            <a:off x="365760" y="2743200"/>
            <a:ext cx="393192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2779776"/>
            <a:ext cx="3840480" cy="292608"/>
          </a:xfrm>
          <a:prstGeom prst="rect">
            <a:avLst/>
          </a:prstGeom>
          <a:noFill/>
        </p:spPr>
        <p:txBody>
          <a:bodyPr wrap="square" anchor="ctr">
            <a:spAutoFit/>
          </a:bodyPr>
          <a:lstStyle/>
          <a:p>
            <a:pPr algn="ctr"/>
            <a:r>
              <a:rPr sz="1150" b="0" i="0">
                <a:solidFill>
                  <a:srgbClr val="2A2A2A"/>
                </a:solidFill>
              </a:rPr>
              <a:t>SleepyJesse (kapak)</a:t>
            </a:r>
          </a:p>
        </p:txBody>
      </p:sp>
      <p:sp>
        <p:nvSpPr>
          <p:cNvPr id="33" name="Rectangle 32"/>
          <p:cNvSpPr/>
          <p:nvPr/>
        </p:nvSpPr>
        <p:spPr>
          <a:xfrm>
            <a:off x="4297680" y="2743200"/>
            <a:ext cx="26517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43400" y="2779776"/>
            <a:ext cx="2560320" cy="292608"/>
          </a:xfrm>
          <a:prstGeom prst="rect">
            <a:avLst/>
          </a:prstGeom>
          <a:noFill/>
        </p:spPr>
        <p:txBody>
          <a:bodyPr wrap="square" anchor="ctr">
            <a:spAutoFit/>
          </a:bodyPr>
          <a:lstStyle/>
          <a:p>
            <a:pPr algn="ctr"/>
            <a:r>
              <a:rPr sz="1150" b="0" i="0">
                <a:solidFill>
                  <a:srgbClr val="2A2A2A"/>
                </a:solidFill>
              </a:rPr>
              <a:t>İnsan</a:t>
            </a:r>
          </a:p>
        </p:txBody>
      </p:sp>
      <p:sp>
        <p:nvSpPr>
          <p:cNvPr id="35" name="Rectangle 34"/>
          <p:cNvSpPr/>
          <p:nvPr/>
        </p:nvSpPr>
        <p:spPr>
          <a:xfrm>
            <a:off x="6949440" y="2743200"/>
            <a:ext cx="18288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95159" y="2779776"/>
            <a:ext cx="1737360" cy="292608"/>
          </a:xfrm>
          <a:prstGeom prst="rect">
            <a:avLst/>
          </a:prstGeom>
          <a:noFill/>
        </p:spPr>
        <p:txBody>
          <a:bodyPr wrap="square" anchor="ctr">
            <a:spAutoFit/>
          </a:bodyPr>
          <a:lstStyle/>
          <a:p>
            <a:pPr algn="ctr"/>
            <a:r>
              <a:rPr sz="1150" b="0" i="0">
                <a:solidFill>
                  <a:srgbClr val="2A2A2A"/>
                </a:solidFill>
              </a:rPr>
              <a:t>854</a:t>
            </a:r>
          </a:p>
        </p:txBody>
      </p:sp>
      <p:sp>
        <p:nvSpPr>
          <p:cNvPr id="37" name="Rectangle 36"/>
          <p:cNvSpPr/>
          <p:nvPr/>
        </p:nvSpPr>
        <p:spPr>
          <a:xfrm>
            <a:off x="8778240" y="2743200"/>
            <a:ext cx="14630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3960" y="2779776"/>
            <a:ext cx="1371600" cy="292608"/>
          </a:xfrm>
          <a:prstGeom prst="rect">
            <a:avLst/>
          </a:prstGeom>
          <a:noFill/>
        </p:spPr>
        <p:txBody>
          <a:bodyPr wrap="square" anchor="ctr">
            <a:spAutoFit/>
          </a:bodyPr>
          <a:lstStyle/>
          <a:p>
            <a:pPr algn="ctr"/>
            <a:r>
              <a:rPr sz="1150" b="0" i="0">
                <a:solidFill>
                  <a:srgbClr val="2A2A2A"/>
                </a:solidFill>
              </a:rPr>
              <a:t>0</a:t>
            </a:r>
          </a:p>
        </p:txBody>
      </p:sp>
      <p:sp>
        <p:nvSpPr>
          <p:cNvPr id="39" name="Rectangle 38"/>
          <p:cNvSpPr/>
          <p:nvPr/>
        </p:nvSpPr>
        <p:spPr>
          <a:xfrm>
            <a:off x="365760" y="3136392"/>
            <a:ext cx="393192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172968"/>
            <a:ext cx="3840480" cy="292608"/>
          </a:xfrm>
          <a:prstGeom prst="rect">
            <a:avLst/>
          </a:prstGeom>
          <a:noFill/>
        </p:spPr>
        <p:txBody>
          <a:bodyPr wrap="square" anchor="ctr">
            <a:spAutoFit/>
          </a:bodyPr>
          <a:lstStyle/>
          <a:p>
            <a:pPr algn="ctr"/>
            <a:r>
              <a:rPr sz="1150" b="0" i="0">
                <a:solidFill>
                  <a:srgbClr val="2A2A2A"/>
                </a:solidFill>
              </a:rPr>
              <a:t>Diğer insan kaynağı</a:t>
            </a:r>
          </a:p>
        </p:txBody>
      </p:sp>
      <p:sp>
        <p:nvSpPr>
          <p:cNvPr id="41" name="Rectangle 40"/>
          <p:cNvSpPr/>
          <p:nvPr/>
        </p:nvSpPr>
        <p:spPr>
          <a:xfrm>
            <a:off x="4297680" y="3136392"/>
            <a:ext cx="26517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43400" y="3172968"/>
            <a:ext cx="2560320" cy="292608"/>
          </a:xfrm>
          <a:prstGeom prst="rect">
            <a:avLst/>
          </a:prstGeom>
          <a:noFill/>
        </p:spPr>
        <p:txBody>
          <a:bodyPr wrap="square" anchor="ctr">
            <a:spAutoFit/>
          </a:bodyPr>
          <a:lstStyle/>
          <a:p>
            <a:pPr algn="ctr"/>
            <a:r>
              <a:rPr sz="1150" b="0" i="0">
                <a:solidFill>
                  <a:srgbClr val="2A2A2A"/>
                </a:solidFill>
              </a:rPr>
              <a:t>İnsan</a:t>
            </a:r>
          </a:p>
        </p:txBody>
      </p:sp>
      <p:sp>
        <p:nvSpPr>
          <p:cNvPr id="43" name="Rectangle 42"/>
          <p:cNvSpPr/>
          <p:nvPr/>
        </p:nvSpPr>
        <p:spPr>
          <a:xfrm>
            <a:off x="6949440" y="3136392"/>
            <a:ext cx="18288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95159" y="3172968"/>
            <a:ext cx="1737360" cy="292608"/>
          </a:xfrm>
          <a:prstGeom prst="rect">
            <a:avLst/>
          </a:prstGeom>
          <a:noFill/>
        </p:spPr>
        <p:txBody>
          <a:bodyPr wrap="square" anchor="ctr">
            <a:spAutoFit/>
          </a:bodyPr>
          <a:lstStyle/>
          <a:p>
            <a:pPr algn="ctr"/>
            <a:r>
              <a:rPr sz="1150" b="0" i="0">
                <a:solidFill>
                  <a:srgbClr val="2A2A2A"/>
                </a:solidFill>
              </a:rPr>
              <a:t>360</a:t>
            </a:r>
          </a:p>
        </p:txBody>
      </p:sp>
      <p:sp>
        <p:nvSpPr>
          <p:cNvPr id="45" name="Rectangle 44"/>
          <p:cNvSpPr/>
          <p:nvPr/>
        </p:nvSpPr>
        <p:spPr>
          <a:xfrm>
            <a:off x="8778240" y="3136392"/>
            <a:ext cx="14630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3960" y="3172968"/>
            <a:ext cx="1371600" cy="292608"/>
          </a:xfrm>
          <a:prstGeom prst="rect">
            <a:avLst/>
          </a:prstGeom>
          <a:noFill/>
        </p:spPr>
        <p:txBody>
          <a:bodyPr wrap="square" anchor="ctr">
            <a:spAutoFit/>
          </a:bodyPr>
          <a:lstStyle/>
          <a:p>
            <a:pPr algn="ctr"/>
            <a:r>
              <a:rPr sz="1150" b="0" i="0">
                <a:solidFill>
                  <a:srgbClr val="2A2A2A"/>
                </a:solidFill>
              </a:rPr>
              <a:t>0</a:t>
            </a:r>
          </a:p>
        </p:txBody>
      </p:sp>
      <p:sp>
        <p:nvSpPr>
          <p:cNvPr id="47" name="Rectangle 46"/>
          <p:cNvSpPr/>
          <p:nvPr/>
        </p:nvSpPr>
        <p:spPr>
          <a:xfrm>
            <a:off x="365760" y="3529584"/>
            <a:ext cx="393192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3566160"/>
            <a:ext cx="3840480" cy="292608"/>
          </a:xfrm>
          <a:prstGeom prst="rect">
            <a:avLst/>
          </a:prstGeom>
          <a:noFill/>
        </p:spPr>
        <p:txBody>
          <a:bodyPr wrap="square" anchor="ctr">
            <a:spAutoFit/>
          </a:bodyPr>
          <a:lstStyle/>
          <a:p>
            <a:pPr algn="ctr"/>
            <a:r>
              <a:rPr sz="1150" b="0" i="0">
                <a:solidFill>
                  <a:srgbClr val="2A2A2A"/>
                </a:solidFill>
              </a:rPr>
              <a:t>Echoes</a:t>
            </a:r>
          </a:p>
        </p:txBody>
      </p:sp>
      <p:sp>
        <p:nvSpPr>
          <p:cNvPr id="49" name="Rectangle 48"/>
          <p:cNvSpPr/>
          <p:nvPr/>
        </p:nvSpPr>
        <p:spPr>
          <a:xfrm>
            <a:off x="4297680" y="3529584"/>
            <a:ext cx="26517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43400" y="3566160"/>
            <a:ext cx="2560320" cy="292608"/>
          </a:xfrm>
          <a:prstGeom prst="rect">
            <a:avLst/>
          </a:prstGeom>
          <a:noFill/>
        </p:spPr>
        <p:txBody>
          <a:bodyPr wrap="square" anchor="ctr">
            <a:spAutoFit/>
          </a:bodyPr>
          <a:lstStyle/>
          <a:p>
            <a:pPr algn="ctr"/>
            <a:r>
              <a:rPr sz="1150" b="0" i="0">
                <a:solidFill>
                  <a:srgbClr val="2A2A2A"/>
                </a:solidFill>
              </a:rPr>
              <a:t>Yapay zekâ</a:t>
            </a:r>
          </a:p>
        </p:txBody>
      </p:sp>
      <p:sp>
        <p:nvSpPr>
          <p:cNvPr id="51" name="Rectangle 50"/>
          <p:cNvSpPr/>
          <p:nvPr/>
        </p:nvSpPr>
        <p:spPr>
          <a:xfrm>
            <a:off x="6949440" y="3529584"/>
            <a:ext cx="18288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95159" y="3566160"/>
            <a:ext cx="1737360" cy="292608"/>
          </a:xfrm>
          <a:prstGeom prst="rect">
            <a:avLst/>
          </a:prstGeom>
          <a:noFill/>
        </p:spPr>
        <p:txBody>
          <a:bodyPr wrap="square" anchor="ctr">
            <a:spAutoFit/>
          </a:bodyPr>
          <a:lstStyle/>
          <a:p>
            <a:pPr algn="ctr"/>
            <a:r>
              <a:rPr sz="1150" b="0" i="0">
                <a:solidFill>
                  <a:srgbClr val="2A2A2A"/>
                </a:solidFill>
              </a:rPr>
              <a:t>1.128</a:t>
            </a:r>
          </a:p>
        </p:txBody>
      </p:sp>
      <p:sp>
        <p:nvSpPr>
          <p:cNvPr id="53" name="Rectangle 52"/>
          <p:cNvSpPr/>
          <p:nvPr/>
        </p:nvSpPr>
        <p:spPr>
          <a:xfrm>
            <a:off x="8778240" y="3529584"/>
            <a:ext cx="14630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23960" y="3566160"/>
            <a:ext cx="1371600" cy="292608"/>
          </a:xfrm>
          <a:prstGeom prst="rect">
            <a:avLst/>
          </a:prstGeom>
          <a:noFill/>
        </p:spPr>
        <p:txBody>
          <a:bodyPr wrap="square" anchor="ctr">
            <a:spAutoFit/>
          </a:bodyPr>
          <a:lstStyle/>
          <a:p>
            <a:pPr algn="ctr"/>
            <a:r>
              <a:rPr sz="1150" b="0" i="0">
                <a:solidFill>
                  <a:srgbClr val="2A2A2A"/>
                </a:solidFill>
              </a:rPr>
              <a:t>1</a:t>
            </a:r>
          </a:p>
        </p:txBody>
      </p:sp>
      <p:sp>
        <p:nvSpPr>
          <p:cNvPr id="55" name="Rectangle 54"/>
          <p:cNvSpPr/>
          <p:nvPr/>
        </p:nvSpPr>
        <p:spPr>
          <a:xfrm>
            <a:off x="365760" y="3922776"/>
            <a:ext cx="393192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480" y="3959352"/>
            <a:ext cx="3840480" cy="292608"/>
          </a:xfrm>
          <a:prstGeom prst="rect">
            <a:avLst/>
          </a:prstGeom>
          <a:noFill/>
        </p:spPr>
        <p:txBody>
          <a:bodyPr wrap="square" anchor="ctr">
            <a:spAutoFit/>
          </a:bodyPr>
          <a:lstStyle/>
          <a:p>
            <a:pPr algn="ctr"/>
            <a:r>
              <a:rPr sz="1150" b="0" i="0">
                <a:solidFill>
                  <a:srgbClr val="2A2A2A"/>
                </a:solidFill>
              </a:rPr>
              <a:t>Suno (v3-v5)</a:t>
            </a:r>
          </a:p>
        </p:txBody>
      </p:sp>
      <p:sp>
        <p:nvSpPr>
          <p:cNvPr id="57" name="Rectangle 56"/>
          <p:cNvSpPr/>
          <p:nvPr/>
        </p:nvSpPr>
        <p:spPr>
          <a:xfrm>
            <a:off x="4297680" y="3922776"/>
            <a:ext cx="26517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43400" y="3959352"/>
            <a:ext cx="2560320" cy="292608"/>
          </a:xfrm>
          <a:prstGeom prst="rect">
            <a:avLst/>
          </a:prstGeom>
          <a:noFill/>
        </p:spPr>
        <p:txBody>
          <a:bodyPr wrap="square" anchor="ctr">
            <a:spAutoFit/>
          </a:bodyPr>
          <a:lstStyle/>
          <a:p>
            <a:pPr algn="ctr"/>
            <a:r>
              <a:rPr sz="1150" b="0" i="0">
                <a:solidFill>
                  <a:srgbClr val="2A2A2A"/>
                </a:solidFill>
              </a:rPr>
              <a:t>Yapay zekâ</a:t>
            </a:r>
          </a:p>
        </p:txBody>
      </p:sp>
      <p:sp>
        <p:nvSpPr>
          <p:cNvPr id="59" name="Rectangle 58"/>
          <p:cNvSpPr/>
          <p:nvPr/>
        </p:nvSpPr>
        <p:spPr>
          <a:xfrm>
            <a:off x="6949440" y="3922776"/>
            <a:ext cx="18288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95159" y="3959352"/>
            <a:ext cx="1737360" cy="292608"/>
          </a:xfrm>
          <a:prstGeom prst="rect">
            <a:avLst/>
          </a:prstGeom>
          <a:noFill/>
        </p:spPr>
        <p:txBody>
          <a:bodyPr wrap="square" anchor="ctr">
            <a:spAutoFit/>
          </a:bodyPr>
          <a:lstStyle/>
          <a:p>
            <a:pPr algn="ctr"/>
            <a:r>
              <a:rPr sz="1150" b="0" i="0">
                <a:solidFill>
                  <a:srgbClr val="2A2A2A"/>
                </a:solidFill>
              </a:rPr>
              <a:t>500</a:t>
            </a:r>
          </a:p>
        </p:txBody>
      </p:sp>
      <p:sp>
        <p:nvSpPr>
          <p:cNvPr id="61" name="Rectangle 60"/>
          <p:cNvSpPr/>
          <p:nvPr/>
        </p:nvSpPr>
        <p:spPr>
          <a:xfrm>
            <a:off x="8778240" y="3922776"/>
            <a:ext cx="14630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3960" y="3959352"/>
            <a:ext cx="1371600" cy="292608"/>
          </a:xfrm>
          <a:prstGeom prst="rect">
            <a:avLst/>
          </a:prstGeom>
          <a:noFill/>
        </p:spPr>
        <p:txBody>
          <a:bodyPr wrap="square" anchor="ctr">
            <a:spAutoFit/>
          </a:bodyPr>
          <a:lstStyle/>
          <a:p>
            <a:pPr algn="ctr"/>
            <a:r>
              <a:rPr sz="1150" b="0" i="0">
                <a:solidFill>
                  <a:srgbClr val="2A2A2A"/>
                </a:solidFill>
              </a:rPr>
              <a:t>1</a:t>
            </a:r>
          </a:p>
        </p:txBody>
      </p:sp>
      <p:sp>
        <p:nvSpPr>
          <p:cNvPr id="63" name="Rectangle 62"/>
          <p:cNvSpPr/>
          <p:nvPr/>
        </p:nvSpPr>
        <p:spPr>
          <a:xfrm>
            <a:off x="365760" y="4315968"/>
            <a:ext cx="393192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1480" y="4352544"/>
            <a:ext cx="3840480" cy="292608"/>
          </a:xfrm>
          <a:prstGeom prst="rect">
            <a:avLst/>
          </a:prstGeom>
          <a:noFill/>
        </p:spPr>
        <p:txBody>
          <a:bodyPr wrap="square" anchor="ctr">
            <a:spAutoFit/>
          </a:bodyPr>
          <a:lstStyle/>
          <a:p>
            <a:pPr algn="ctr"/>
            <a:r>
              <a:rPr sz="1150" b="0" i="0">
                <a:solidFill>
                  <a:srgbClr val="2A2A2A"/>
                </a:solidFill>
              </a:rPr>
              <a:t>Deepfake seti</a:t>
            </a:r>
          </a:p>
        </p:txBody>
      </p:sp>
      <p:sp>
        <p:nvSpPr>
          <p:cNvPr id="65" name="Rectangle 64"/>
          <p:cNvSpPr/>
          <p:nvPr/>
        </p:nvSpPr>
        <p:spPr>
          <a:xfrm>
            <a:off x="4297680" y="4315968"/>
            <a:ext cx="26517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343400" y="4352544"/>
            <a:ext cx="2560320" cy="292608"/>
          </a:xfrm>
          <a:prstGeom prst="rect">
            <a:avLst/>
          </a:prstGeom>
          <a:noFill/>
        </p:spPr>
        <p:txBody>
          <a:bodyPr wrap="square" anchor="ctr">
            <a:spAutoFit/>
          </a:bodyPr>
          <a:lstStyle/>
          <a:p>
            <a:pPr algn="ctr"/>
            <a:r>
              <a:rPr sz="1150" b="0" i="0">
                <a:solidFill>
                  <a:srgbClr val="2A2A2A"/>
                </a:solidFill>
              </a:rPr>
              <a:t>Yapay zekâ</a:t>
            </a:r>
          </a:p>
        </p:txBody>
      </p:sp>
      <p:sp>
        <p:nvSpPr>
          <p:cNvPr id="67" name="Rectangle 66"/>
          <p:cNvSpPr/>
          <p:nvPr/>
        </p:nvSpPr>
        <p:spPr>
          <a:xfrm>
            <a:off x="6949440" y="4315968"/>
            <a:ext cx="18288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995159" y="4352544"/>
            <a:ext cx="1737360" cy="292608"/>
          </a:xfrm>
          <a:prstGeom prst="rect">
            <a:avLst/>
          </a:prstGeom>
          <a:noFill/>
        </p:spPr>
        <p:txBody>
          <a:bodyPr wrap="square" anchor="ctr">
            <a:spAutoFit/>
          </a:bodyPr>
          <a:lstStyle/>
          <a:p>
            <a:pPr algn="ctr"/>
            <a:r>
              <a:rPr sz="1150" b="0" i="0">
                <a:solidFill>
                  <a:srgbClr val="2A2A2A"/>
                </a:solidFill>
              </a:rPr>
              <a:t>492</a:t>
            </a:r>
          </a:p>
        </p:txBody>
      </p:sp>
      <p:sp>
        <p:nvSpPr>
          <p:cNvPr id="69" name="Rectangle 68"/>
          <p:cNvSpPr/>
          <p:nvPr/>
        </p:nvSpPr>
        <p:spPr>
          <a:xfrm>
            <a:off x="8778240" y="4315968"/>
            <a:ext cx="14630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823960" y="4352544"/>
            <a:ext cx="1371600" cy="292608"/>
          </a:xfrm>
          <a:prstGeom prst="rect">
            <a:avLst/>
          </a:prstGeom>
          <a:noFill/>
        </p:spPr>
        <p:txBody>
          <a:bodyPr wrap="square" anchor="ctr">
            <a:spAutoFit/>
          </a:bodyPr>
          <a:lstStyle/>
          <a:p>
            <a:pPr algn="ctr"/>
            <a:r>
              <a:rPr sz="1150" b="0" i="0">
                <a:solidFill>
                  <a:srgbClr val="2A2A2A"/>
                </a:solidFill>
              </a:rPr>
              <a:t>1</a:t>
            </a:r>
          </a:p>
        </p:txBody>
      </p:sp>
      <p:sp>
        <p:nvSpPr>
          <p:cNvPr id="71" name="Rectangle 70"/>
          <p:cNvSpPr/>
          <p:nvPr/>
        </p:nvSpPr>
        <p:spPr>
          <a:xfrm>
            <a:off x="365760" y="4709160"/>
            <a:ext cx="393192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1480" y="4745736"/>
            <a:ext cx="3840480" cy="292608"/>
          </a:xfrm>
          <a:prstGeom prst="rect">
            <a:avLst/>
          </a:prstGeom>
          <a:noFill/>
        </p:spPr>
        <p:txBody>
          <a:bodyPr wrap="square" anchor="ctr">
            <a:spAutoFit/>
          </a:bodyPr>
          <a:lstStyle/>
          <a:p>
            <a:pPr algn="ctr"/>
            <a:r>
              <a:rPr sz="1150" b="0" i="0">
                <a:solidFill>
                  <a:srgbClr val="2A2A2A"/>
                </a:solidFill>
              </a:rPr>
              <a:t>AImE/Mustango/JEN-1</a:t>
            </a:r>
          </a:p>
        </p:txBody>
      </p:sp>
      <p:sp>
        <p:nvSpPr>
          <p:cNvPr id="73" name="Rectangle 72"/>
          <p:cNvSpPr/>
          <p:nvPr/>
        </p:nvSpPr>
        <p:spPr>
          <a:xfrm>
            <a:off x="4297680" y="4709160"/>
            <a:ext cx="26517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343400" y="4745736"/>
            <a:ext cx="2560320" cy="292608"/>
          </a:xfrm>
          <a:prstGeom prst="rect">
            <a:avLst/>
          </a:prstGeom>
          <a:noFill/>
        </p:spPr>
        <p:txBody>
          <a:bodyPr wrap="square" anchor="ctr">
            <a:spAutoFit/>
          </a:bodyPr>
          <a:lstStyle/>
          <a:p>
            <a:pPr algn="ctr"/>
            <a:r>
              <a:rPr sz="1150" b="0" i="0">
                <a:solidFill>
                  <a:srgbClr val="2A2A2A"/>
                </a:solidFill>
              </a:rPr>
              <a:t>Yapay zekâ</a:t>
            </a:r>
          </a:p>
        </p:txBody>
      </p:sp>
      <p:sp>
        <p:nvSpPr>
          <p:cNvPr id="75" name="Rectangle 74"/>
          <p:cNvSpPr/>
          <p:nvPr/>
        </p:nvSpPr>
        <p:spPr>
          <a:xfrm>
            <a:off x="6949440" y="4709160"/>
            <a:ext cx="18288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995159" y="4745736"/>
            <a:ext cx="1737360" cy="292608"/>
          </a:xfrm>
          <a:prstGeom prst="rect">
            <a:avLst/>
          </a:prstGeom>
          <a:noFill/>
        </p:spPr>
        <p:txBody>
          <a:bodyPr wrap="square" anchor="ctr">
            <a:spAutoFit/>
          </a:bodyPr>
          <a:lstStyle/>
          <a:p>
            <a:pPr algn="ctr"/>
            <a:r>
              <a:rPr sz="1150" b="0" i="0">
                <a:solidFill>
                  <a:srgbClr val="2A2A2A"/>
                </a:solidFill>
              </a:rPr>
              <a:t>204</a:t>
            </a:r>
          </a:p>
        </p:txBody>
      </p:sp>
      <p:sp>
        <p:nvSpPr>
          <p:cNvPr id="77" name="Rectangle 76"/>
          <p:cNvSpPr/>
          <p:nvPr/>
        </p:nvSpPr>
        <p:spPr>
          <a:xfrm>
            <a:off x="8778240" y="4709160"/>
            <a:ext cx="14630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823960" y="4745736"/>
            <a:ext cx="1371600" cy="292608"/>
          </a:xfrm>
          <a:prstGeom prst="rect">
            <a:avLst/>
          </a:prstGeom>
          <a:noFill/>
        </p:spPr>
        <p:txBody>
          <a:bodyPr wrap="square" anchor="ctr">
            <a:spAutoFit/>
          </a:bodyPr>
          <a:lstStyle/>
          <a:p>
            <a:pPr algn="ctr"/>
            <a:r>
              <a:rPr sz="1150" b="0" i="0">
                <a:solidFill>
                  <a:srgbClr val="2A2A2A"/>
                </a:solidFill>
              </a:rPr>
              <a:t>1</a:t>
            </a:r>
          </a:p>
        </p:txBody>
      </p:sp>
      <p:sp>
        <p:nvSpPr>
          <p:cNvPr id="79" name="Rectangle 78"/>
          <p:cNvSpPr/>
          <p:nvPr/>
        </p:nvSpPr>
        <p:spPr>
          <a:xfrm>
            <a:off x="365760" y="5102352"/>
            <a:ext cx="3931920" cy="365760"/>
          </a:xfrm>
          <a:prstGeom prst="rect">
            <a:avLst/>
          </a:prstGeom>
          <a:solidFill>
            <a:srgbClr val="E9F6E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11480" y="5138928"/>
            <a:ext cx="3840480" cy="292608"/>
          </a:xfrm>
          <a:prstGeom prst="rect">
            <a:avLst/>
          </a:prstGeom>
          <a:noFill/>
        </p:spPr>
        <p:txBody>
          <a:bodyPr wrap="square" anchor="ctr">
            <a:spAutoFit/>
          </a:bodyPr>
          <a:lstStyle/>
          <a:p>
            <a:pPr algn="ctr"/>
            <a:r>
              <a:rPr sz="1150" b="1" i="0">
                <a:solidFill>
                  <a:srgbClr val="1A6B3A"/>
                </a:solidFill>
              </a:rPr>
              <a:t>TOPLAM</a:t>
            </a:r>
          </a:p>
        </p:txBody>
      </p:sp>
      <p:sp>
        <p:nvSpPr>
          <p:cNvPr id="81" name="Rectangle 80"/>
          <p:cNvSpPr/>
          <p:nvPr/>
        </p:nvSpPr>
        <p:spPr>
          <a:xfrm>
            <a:off x="4297680" y="5102352"/>
            <a:ext cx="2651760" cy="365760"/>
          </a:xfrm>
          <a:prstGeom prst="rect">
            <a:avLst/>
          </a:prstGeom>
          <a:solidFill>
            <a:srgbClr val="E9F6E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43400" y="5138928"/>
            <a:ext cx="2560320" cy="292608"/>
          </a:xfrm>
          <a:prstGeom prst="rect">
            <a:avLst/>
          </a:prstGeom>
          <a:noFill/>
        </p:spPr>
        <p:txBody>
          <a:bodyPr wrap="square" anchor="ctr">
            <a:spAutoFit/>
          </a:bodyPr>
          <a:lstStyle/>
          <a:p>
            <a:pPr algn="ctr"/>
            <a:r>
              <a:rPr sz="1150" b="1" i="0">
                <a:solidFill>
                  <a:srgbClr val="1A6B3A"/>
                </a:solidFill>
              </a:rPr>
              <a:t>—</a:t>
            </a:r>
          </a:p>
        </p:txBody>
      </p:sp>
      <p:sp>
        <p:nvSpPr>
          <p:cNvPr id="83" name="Rectangle 82"/>
          <p:cNvSpPr/>
          <p:nvPr/>
        </p:nvSpPr>
        <p:spPr>
          <a:xfrm>
            <a:off x="6949440" y="5102352"/>
            <a:ext cx="1828800" cy="365760"/>
          </a:xfrm>
          <a:prstGeom prst="rect">
            <a:avLst/>
          </a:prstGeom>
          <a:solidFill>
            <a:srgbClr val="E9F6E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995159" y="5138928"/>
            <a:ext cx="1737360" cy="292608"/>
          </a:xfrm>
          <a:prstGeom prst="rect">
            <a:avLst/>
          </a:prstGeom>
          <a:noFill/>
        </p:spPr>
        <p:txBody>
          <a:bodyPr wrap="square" anchor="ctr">
            <a:spAutoFit/>
          </a:bodyPr>
          <a:lstStyle/>
          <a:p>
            <a:pPr algn="ctr"/>
            <a:r>
              <a:rPr sz="1150" b="1" i="0">
                <a:solidFill>
                  <a:srgbClr val="1A6B3A"/>
                </a:solidFill>
              </a:rPr>
              <a:t>5.195</a:t>
            </a:r>
          </a:p>
        </p:txBody>
      </p:sp>
      <p:sp>
        <p:nvSpPr>
          <p:cNvPr id="85" name="Rectangle 84"/>
          <p:cNvSpPr/>
          <p:nvPr/>
        </p:nvSpPr>
        <p:spPr>
          <a:xfrm>
            <a:off x="8778240" y="5102352"/>
            <a:ext cx="1463040" cy="365760"/>
          </a:xfrm>
          <a:prstGeom prst="rect">
            <a:avLst/>
          </a:prstGeom>
          <a:solidFill>
            <a:srgbClr val="E9F6E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823960" y="5138928"/>
            <a:ext cx="1371600" cy="292608"/>
          </a:xfrm>
          <a:prstGeom prst="rect">
            <a:avLst/>
          </a:prstGeom>
          <a:noFill/>
        </p:spPr>
        <p:txBody>
          <a:bodyPr wrap="square" anchor="ctr">
            <a:spAutoFit/>
          </a:bodyPr>
          <a:lstStyle/>
          <a:p>
            <a:pPr algn="ctr"/>
            <a:r>
              <a:rPr sz="1150" b="1" i="0">
                <a:solidFill>
                  <a:srgbClr val="1A6B3A"/>
                </a:solidFill>
              </a:rPr>
              <a:t/>
            </a:r>
          </a:p>
        </p:txBody>
      </p:sp>
      <p:sp>
        <p:nvSpPr>
          <p:cNvPr id="87" name="Rectangle 86"/>
          <p:cNvSpPr/>
          <p:nvPr/>
        </p:nvSpPr>
        <p:spPr>
          <a:xfrm>
            <a:off x="8229600" y="1554480"/>
            <a:ext cx="3611880" cy="2331720"/>
          </a:xfrm>
          <a:prstGeom prst="rect">
            <a:avLst/>
          </a:prstGeom>
          <a:solidFill>
            <a:srgbClr val="E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229600" y="1554480"/>
            <a:ext cx="82296" cy="23317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430768" y="1664207"/>
            <a:ext cx="3291840" cy="365760"/>
          </a:xfrm>
          <a:prstGeom prst="rect">
            <a:avLst/>
          </a:prstGeom>
          <a:noFill/>
        </p:spPr>
        <p:txBody>
          <a:bodyPr wrap="square">
            <a:spAutoFit/>
          </a:bodyPr>
          <a:lstStyle/>
          <a:p>
            <a:pPr algn="l"/>
            <a:r>
              <a:rPr sz="1300" b="1" i="0">
                <a:solidFill>
                  <a:srgbClr val="0D2B55"/>
                </a:solidFill>
              </a:rPr>
              <a:t>Sınıf Dengesi</a:t>
            </a:r>
          </a:p>
        </p:txBody>
      </p:sp>
      <p:sp>
        <p:nvSpPr>
          <p:cNvPr id="90" name="TextBox 89"/>
          <p:cNvSpPr txBox="1"/>
          <p:nvPr/>
        </p:nvSpPr>
        <p:spPr>
          <a:xfrm>
            <a:off x="8430768" y="2057400"/>
            <a:ext cx="3291840" cy="1737360"/>
          </a:xfrm>
          <a:prstGeom prst="rect">
            <a:avLst/>
          </a:prstGeom>
          <a:noFill/>
        </p:spPr>
        <p:txBody>
          <a:bodyPr wrap="square">
            <a:spAutoFit/>
          </a:bodyPr>
          <a:lstStyle/>
          <a:p>
            <a:pPr algn="l"/>
            <a:r>
              <a:rPr sz="1200" b="0" i="0">
                <a:solidFill>
                  <a:srgbClr val="2A2A2A"/>
                </a:solidFill>
              </a:rPr>
              <a:t>İnsan (0):  3.113 · %59,9
Yapay zekâ (1):  2.082 · %40,1
Dengesizlik giderildi:
class_weight='balanced'
is_unbalance=True
Stratifiye örnekleme</a:t>
            </a:r>
          </a:p>
        </p:txBody>
      </p:sp>
      <p:sp>
        <p:nvSpPr>
          <p:cNvPr id="91" name="Rectangle 90"/>
          <p:cNvSpPr/>
          <p:nvPr/>
        </p:nvSpPr>
        <p:spPr>
          <a:xfrm>
            <a:off x="8229600" y="4023360"/>
            <a:ext cx="3611880" cy="1874519"/>
          </a:xfrm>
          <a:prstGeom prst="rect">
            <a:avLst/>
          </a:prstGeom>
          <a:solidFill>
            <a:srgbClr val="FD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29600" y="4023360"/>
            <a:ext cx="82296" cy="1874519"/>
          </a:xfrm>
          <a:prstGeom prst="rect">
            <a:avLst/>
          </a:prstGeom>
          <a:solidFill>
            <a:srgbClr val="B5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430768" y="4133088"/>
            <a:ext cx="3291840" cy="365760"/>
          </a:xfrm>
          <a:prstGeom prst="rect">
            <a:avLst/>
          </a:prstGeom>
          <a:noFill/>
        </p:spPr>
        <p:txBody>
          <a:bodyPr wrap="square">
            <a:spAutoFit/>
          </a:bodyPr>
          <a:lstStyle/>
          <a:p>
            <a:pPr algn="l"/>
            <a:r>
              <a:rPr sz="1300" b="1" i="0">
                <a:solidFill>
                  <a:srgbClr val="0D2B55"/>
                </a:solidFill>
              </a:rPr>
              <a:t>Veri Sızıntısı Önlemi</a:t>
            </a:r>
          </a:p>
        </p:txBody>
      </p:sp>
      <p:sp>
        <p:nvSpPr>
          <p:cNvPr id="94" name="TextBox 93"/>
          <p:cNvSpPr txBox="1"/>
          <p:nvPr/>
        </p:nvSpPr>
        <p:spPr>
          <a:xfrm>
            <a:off x="8430768" y="4526280"/>
            <a:ext cx="3291840" cy="1280160"/>
          </a:xfrm>
          <a:prstGeom prst="rect">
            <a:avLst/>
          </a:prstGeom>
          <a:noFill/>
        </p:spPr>
        <p:txBody>
          <a:bodyPr wrap="square">
            <a:spAutoFit/>
          </a:bodyPr>
          <a:lstStyle/>
          <a:p>
            <a:pPr algn="l"/>
            <a:r>
              <a:rPr sz="1200" b="0" i="0">
                <a:solidFill>
                  <a:srgbClr val="2A2A2A"/>
                </a:solidFill>
              </a:rPr>
              <a:t>duration_sec ve sample_rate öznitelik kümesinden çıkarıldı.
StandardScaler her katta yalnız eğitim verisine fit edildi.</a:t>
            </a:r>
          </a:p>
        </p:txBody>
      </p:sp>
      <p:sp>
        <p:nvSpPr>
          <p:cNvPr id="95" name="TextBox 94"/>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96" name="TextBox 95"/>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5</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Öznitelik Çıkarma — 47 Boyutlu Vektör</a:t>
            </a:r>
          </a:p>
        </p:txBody>
      </p:sp>
      <p:sp>
        <p:nvSpPr>
          <p:cNvPr id="6" name="TextBox 5"/>
          <p:cNvSpPr txBox="1"/>
          <p:nvPr/>
        </p:nvSpPr>
        <p:spPr>
          <a:xfrm>
            <a:off x="365760" y="987552"/>
            <a:ext cx="11430000" cy="365760"/>
          </a:xfrm>
          <a:prstGeom prst="rect">
            <a:avLst/>
          </a:prstGeom>
          <a:noFill/>
        </p:spPr>
        <p:txBody>
          <a:bodyPr wrap="square">
            <a:spAutoFit/>
          </a:bodyPr>
          <a:lstStyle/>
          <a:p>
            <a:pPr algn="l"/>
            <a:r>
              <a:rPr sz="1250" b="0" i="0">
                <a:solidFill>
                  <a:srgbClr val="AEC6D6"/>
                </a:solidFill>
              </a:rPr>
              <a:t>Beş işlevsel aile · tek temsile aşırı uyumu sınırlamak için</a:t>
            </a:r>
          </a:p>
        </p:txBody>
      </p:sp>
      <p:sp>
        <p:nvSpPr>
          <p:cNvPr id="7" name="Rectangle 6"/>
          <p:cNvSpPr/>
          <p:nvPr/>
        </p:nvSpPr>
        <p:spPr>
          <a:xfrm>
            <a:off x="365760" y="1600200"/>
            <a:ext cx="3657600" cy="2103120"/>
          </a:xfrm>
          <a:prstGeom prst="rect">
            <a:avLst/>
          </a:prstGeom>
          <a:solidFill>
            <a:srgbClr val="FFFFFF"/>
          </a:solidFill>
          <a:ln w="1397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600200"/>
            <a:ext cx="3657600" cy="5029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655064"/>
            <a:ext cx="2377440" cy="384048"/>
          </a:xfrm>
          <a:prstGeom prst="rect">
            <a:avLst/>
          </a:prstGeom>
          <a:noFill/>
        </p:spPr>
        <p:txBody>
          <a:bodyPr wrap="square" anchor="ctr">
            <a:spAutoFit/>
          </a:bodyPr>
          <a:lstStyle/>
          <a:p>
            <a:pPr algn="l"/>
            <a:r>
              <a:rPr sz="1400" b="1" i="0">
                <a:solidFill>
                  <a:srgbClr val="FFFFFF"/>
                </a:solidFill>
              </a:rPr>
              <a:t>Spektral</a:t>
            </a:r>
          </a:p>
        </p:txBody>
      </p:sp>
      <p:sp>
        <p:nvSpPr>
          <p:cNvPr id="10" name="Rectangle 9"/>
          <p:cNvSpPr/>
          <p:nvPr/>
        </p:nvSpPr>
        <p:spPr>
          <a:xfrm>
            <a:off x="3063240" y="1691640"/>
            <a:ext cx="822960" cy="310896"/>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1709928"/>
            <a:ext cx="822960" cy="274320"/>
          </a:xfrm>
          <a:prstGeom prst="rect">
            <a:avLst/>
          </a:prstGeom>
          <a:noFill/>
        </p:spPr>
        <p:txBody>
          <a:bodyPr wrap="square" anchor="ctr">
            <a:spAutoFit/>
          </a:bodyPr>
          <a:lstStyle/>
          <a:p>
            <a:pPr algn="ctr"/>
            <a:r>
              <a:rPr sz="1000" b="1" i="0">
                <a:solidFill>
                  <a:srgbClr val="0D2B55"/>
                </a:solidFill>
              </a:rPr>
              <a:t>16 boyut</a:t>
            </a:r>
          </a:p>
        </p:txBody>
      </p:sp>
      <p:sp>
        <p:nvSpPr>
          <p:cNvPr id="12" name="TextBox 11"/>
          <p:cNvSpPr txBox="1"/>
          <p:nvPr/>
        </p:nvSpPr>
        <p:spPr>
          <a:xfrm>
            <a:off x="475488" y="2194560"/>
            <a:ext cx="3429000" cy="1005840"/>
          </a:xfrm>
          <a:prstGeom prst="rect">
            <a:avLst/>
          </a:prstGeom>
          <a:noFill/>
        </p:spPr>
        <p:txBody>
          <a:bodyPr wrap="square">
            <a:spAutoFit/>
          </a:bodyPr>
          <a:lstStyle/>
          <a:p>
            <a:pPr algn="l"/>
            <a:r>
              <a:rPr sz="1100" b="0" i="0">
                <a:solidFill>
                  <a:srgbClr val="2A2A2A"/>
                </a:solidFill>
              </a:rPr>
              <a:t>MFCC, mel-spektrogram, spectral centroid,
bandwidth, rolloff, flatness ve delta istatistikleri</a:t>
            </a:r>
          </a:p>
        </p:txBody>
      </p:sp>
      <p:sp>
        <p:nvSpPr>
          <p:cNvPr id="13" name="TextBox 12"/>
          <p:cNvSpPr txBox="1"/>
          <p:nvPr/>
        </p:nvSpPr>
        <p:spPr>
          <a:xfrm>
            <a:off x="475488" y="3291840"/>
            <a:ext cx="3429000" cy="365760"/>
          </a:xfrm>
          <a:prstGeom prst="rect">
            <a:avLst/>
          </a:prstGeom>
          <a:noFill/>
        </p:spPr>
        <p:txBody>
          <a:bodyPr wrap="square">
            <a:spAutoFit/>
          </a:bodyPr>
          <a:lstStyle/>
          <a:p>
            <a:pPr algn="l"/>
            <a:r>
              <a:rPr sz="1050" b="0" i="1">
                <a:solidFill>
                  <a:srgbClr val="007A87"/>
                </a:solidFill>
              </a:rPr>
              <a:t>▸ Frekans içeriği ve tını</a:t>
            </a:r>
          </a:p>
        </p:txBody>
      </p:sp>
      <p:sp>
        <p:nvSpPr>
          <p:cNvPr id="14" name="Rectangle 13"/>
          <p:cNvSpPr/>
          <p:nvPr/>
        </p:nvSpPr>
        <p:spPr>
          <a:xfrm>
            <a:off x="4251960" y="1600200"/>
            <a:ext cx="3657600" cy="2103120"/>
          </a:xfrm>
          <a:prstGeom prst="rect">
            <a:avLst/>
          </a:prstGeom>
          <a:solidFill>
            <a:srgbClr val="FFFFFF"/>
          </a:solidFill>
          <a:ln w="1397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60" y="1600200"/>
            <a:ext cx="3657600" cy="5029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61688" y="1655064"/>
            <a:ext cx="2377440" cy="384048"/>
          </a:xfrm>
          <a:prstGeom prst="rect">
            <a:avLst/>
          </a:prstGeom>
          <a:noFill/>
        </p:spPr>
        <p:txBody>
          <a:bodyPr wrap="square" anchor="ctr">
            <a:spAutoFit/>
          </a:bodyPr>
          <a:lstStyle/>
          <a:p>
            <a:pPr algn="l"/>
            <a:r>
              <a:rPr sz="1400" b="1" i="0">
                <a:solidFill>
                  <a:srgbClr val="FFFFFF"/>
                </a:solidFill>
              </a:rPr>
              <a:t>Zamansal</a:t>
            </a:r>
          </a:p>
        </p:txBody>
      </p:sp>
      <p:sp>
        <p:nvSpPr>
          <p:cNvPr id="17" name="Rectangle 16"/>
          <p:cNvSpPr/>
          <p:nvPr/>
        </p:nvSpPr>
        <p:spPr>
          <a:xfrm>
            <a:off x="6949440" y="1691640"/>
            <a:ext cx="822960" cy="310896"/>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709928"/>
            <a:ext cx="822960" cy="274320"/>
          </a:xfrm>
          <a:prstGeom prst="rect">
            <a:avLst/>
          </a:prstGeom>
          <a:noFill/>
        </p:spPr>
        <p:txBody>
          <a:bodyPr wrap="square" anchor="ctr">
            <a:spAutoFit/>
          </a:bodyPr>
          <a:lstStyle/>
          <a:p>
            <a:pPr algn="ctr"/>
            <a:r>
              <a:rPr sz="1000" b="1" i="0">
                <a:solidFill>
                  <a:srgbClr val="0D2B55"/>
                </a:solidFill>
              </a:rPr>
              <a:t>10 boyut</a:t>
            </a:r>
          </a:p>
        </p:txBody>
      </p:sp>
      <p:sp>
        <p:nvSpPr>
          <p:cNvPr id="19" name="TextBox 18"/>
          <p:cNvSpPr txBox="1"/>
          <p:nvPr/>
        </p:nvSpPr>
        <p:spPr>
          <a:xfrm>
            <a:off x="4361688" y="2194560"/>
            <a:ext cx="3429000" cy="1005840"/>
          </a:xfrm>
          <a:prstGeom prst="rect">
            <a:avLst/>
          </a:prstGeom>
          <a:noFill/>
        </p:spPr>
        <p:txBody>
          <a:bodyPr wrap="square">
            <a:spAutoFit/>
          </a:bodyPr>
          <a:lstStyle/>
          <a:p>
            <a:pPr algn="l"/>
            <a:r>
              <a:rPr sz="1100" b="0" i="0">
                <a:solidFill>
                  <a:srgbClr val="2A2A2A"/>
                </a:solidFill>
              </a:rPr>
              <a:t>RMS enerjisi, sıfır geçiş hızı,
dinamik aralık türevleri</a:t>
            </a:r>
          </a:p>
        </p:txBody>
      </p:sp>
      <p:sp>
        <p:nvSpPr>
          <p:cNvPr id="20" name="TextBox 19"/>
          <p:cNvSpPr txBox="1"/>
          <p:nvPr/>
        </p:nvSpPr>
        <p:spPr>
          <a:xfrm>
            <a:off x="4361688" y="3291840"/>
            <a:ext cx="3429000" cy="365760"/>
          </a:xfrm>
          <a:prstGeom prst="rect">
            <a:avLst/>
          </a:prstGeom>
          <a:noFill/>
        </p:spPr>
        <p:txBody>
          <a:bodyPr wrap="square">
            <a:spAutoFit/>
          </a:bodyPr>
          <a:lstStyle/>
          <a:p>
            <a:pPr algn="l"/>
            <a:r>
              <a:rPr sz="1050" b="0" i="1">
                <a:solidFill>
                  <a:srgbClr val="007A87"/>
                </a:solidFill>
              </a:rPr>
              <a:t>▸ Enerji ve zaman yapısı</a:t>
            </a:r>
          </a:p>
        </p:txBody>
      </p:sp>
      <p:sp>
        <p:nvSpPr>
          <p:cNvPr id="21" name="Rectangle 20"/>
          <p:cNvSpPr/>
          <p:nvPr/>
        </p:nvSpPr>
        <p:spPr>
          <a:xfrm>
            <a:off x="8138160" y="1600200"/>
            <a:ext cx="3657600" cy="2103120"/>
          </a:xfrm>
          <a:prstGeom prst="rect">
            <a:avLst/>
          </a:prstGeom>
          <a:solidFill>
            <a:srgbClr val="FFFFFF"/>
          </a:solidFill>
          <a:ln w="1397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38160" y="1600200"/>
            <a:ext cx="3657600" cy="5029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7888" y="1655064"/>
            <a:ext cx="2377440" cy="384048"/>
          </a:xfrm>
          <a:prstGeom prst="rect">
            <a:avLst/>
          </a:prstGeom>
          <a:noFill/>
        </p:spPr>
        <p:txBody>
          <a:bodyPr wrap="square" anchor="ctr">
            <a:spAutoFit/>
          </a:bodyPr>
          <a:lstStyle/>
          <a:p>
            <a:pPr algn="l"/>
            <a:r>
              <a:rPr sz="1400" b="1" i="0">
                <a:solidFill>
                  <a:srgbClr val="FFFFFF"/>
                </a:solidFill>
              </a:rPr>
              <a:t>Ritmik</a:t>
            </a:r>
          </a:p>
        </p:txBody>
      </p:sp>
      <p:sp>
        <p:nvSpPr>
          <p:cNvPr id="24" name="Rectangle 23"/>
          <p:cNvSpPr/>
          <p:nvPr/>
        </p:nvSpPr>
        <p:spPr>
          <a:xfrm>
            <a:off x="10835640" y="1691640"/>
            <a:ext cx="822960" cy="310896"/>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35640" y="1709928"/>
            <a:ext cx="822960" cy="274320"/>
          </a:xfrm>
          <a:prstGeom prst="rect">
            <a:avLst/>
          </a:prstGeom>
          <a:noFill/>
        </p:spPr>
        <p:txBody>
          <a:bodyPr wrap="square" anchor="ctr">
            <a:spAutoFit/>
          </a:bodyPr>
          <a:lstStyle/>
          <a:p>
            <a:pPr algn="ctr"/>
            <a:r>
              <a:rPr sz="1000" b="1" i="0">
                <a:solidFill>
                  <a:srgbClr val="0D2B55"/>
                </a:solidFill>
              </a:rPr>
              <a:t>9 boyut</a:t>
            </a:r>
          </a:p>
        </p:txBody>
      </p:sp>
      <p:sp>
        <p:nvSpPr>
          <p:cNvPr id="26" name="TextBox 25"/>
          <p:cNvSpPr txBox="1"/>
          <p:nvPr/>
        </p:nvSpPr>
        <p:spPr>
          <a:xfrm>
            <a:off x="8247888" y="2194560"/>
            <a:ext cx="3429000" cy="1005840"/>
          </a:xfrm>
          <a:prstGeom prst="rect">
            <a:avLst/>
          </a:prstGeom>
          <a:noFill/>
        </p:spPr>
        <p:txBody>
          <a:bodyPr wrap="square">
            <a:spAutoFit/>
          </a:bodyPr>
          <a:lstStyle/>
          <a:p>
            <a:pPr algn="l"/>
            <a:r>
              <a:rPr sz="1100" b="0" i="0">
                <a:solidFill>
                  <a:srgbClr val="2A2A2A"/>
                </a:solidFill>
              </a:rPr>
              <a:t>Tempo, beat sayısı,
onset gücü istatistikleri</a:t>
            </a:r>
          </a:p>
        </p:txBody>
      </p:sp>
      <p:sp>
        <p:nvSpPr>
          <p:cNvPr id="27" name="TextBox 26"/>
          <p:cNvSpPr txBox="1"/>
          <p:nvPr/>
        </p:nvSpPr>
        <p:spPr>
          <a:xfrm>
            <a:off x="8247888" y="3291840"/>
            <a:ext cx="3429000" cy="365760"/>
          </a:xfrm>
          <a:prstGeom prst="rect">
            <a:avLst/>
          </a:prstGeom>
          <a:noFill/>
        </p:spPr>
        <p:txBody>
          <a:bodyPr wrap="square">
            <a:spAutoFit/>
          </a:bodyPr>
          <a:lstStyle/>
          <a:p>
            <a:pPr algn="l"/>
            <a:r>
              <a:rPr sz="1050" b="0" i="1">
                <a:solidFill>
                  <a:srgbClr val="007A87"/>
                </a:solidFill>
              </a:rPr>
              <a:t>▸ Ritim ve vuruş düzeni</a:t>
            </a:r>
          </a:p>
        </p:txBody>
      </p:sp>
      <p:sp>
        <p:nvSpPr>
          <p:cNvPr id="28" name="Rectangle 27"/>
          <p:cNvSpPr/>
          <p:nvPr/>
        </p:nvSpPr>
        <p:spPr>
          <a:xfrm>
            <a:off x="365760" y="3886200"/>
            <a:ext cx="3657600" cy="2103120"/>
          </a:xfrm>
          <a:prstGeom prst="rect">
            <a:avLst/>
          </a:prstGeom>
          <a:solidFill>
            <a:srgbClr val="FFFFFF"/>
          </a:solidFill>
          <a:ln w="1397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3886200"/>
            <a:ext cx="3657600" cy="5029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3941063"/>
            <a:ext cx="2377440" cy="384048"/>
          </a:xfrm>
          <a:prstGeom prst="rect">
            <a:avLst/>
          </a:prstGeom>
          <a:noFill/>
        </p:spPr>
        <p:txBody>
          <a:bodyPr wrap="square" anchor="ctr">
            <a:spAutoFit/>
          </a:bodyPr>
          <a:lstStyle/>
          <a:p>
            <a:pPr algn="l"/>
            <a:r>
              <a:rPr sz="1400" b="1" i="0">
                <a:solidFill>
                  <a:srgbClr val="FFFFFF"/>
                </a:solidFill>
              </a:rPr>
              <a:t>Harmonik</a:t>
            </a:r>
          </a:p>
        </p:txBody>
      </p:sp>
      <p:sp>
        <p:nvSpPr>
          <p:cNvPr id="31" name="Rectangle 30"/>
          <p:cNvSpPr/>
          <p:nvPr/>
        </p:nvSpPr>
        <p:spPr>
          <a:xfrm>
            <a:off x="3063240" y="3977639"/>
            <a:ext cx="822960" cy="310896"/>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63240" y="3995927"/>
            <a:ext cx="822960" cy="274320"/>
          </a:xfrm>
          <a:prstGeom prst="rect">
            <a:avLst/>
          </a:prstGeom>
          <a:noFill/>
        </p:spPr>
        <p:txBody>
          <a:bodyPr wrap="square" anchor="ctr">
            <a:spAutoFit/>
          </a:bodyPr>
          <a:lstStyle/>
          <a:p>
            <a:pPr algn="ctr"/>
            <a:r>
              <a:rPr sz="1000" b="1" i="0">
                <a:solidFill>
                  <a:srgbClr val="0D2B55"/>
                </a:solidFill>
              </a:rPr>
              <a:t>8 boyut</a:t>
            </a:r>
          </a:p>
        </p:txBody>
      </p:sp>
      <p:sp>
        <p:nvSpPr>
          <p:cNvPr id="33" name="TextBox 32"/>
          <p:cNvSpPr txBox="1"/>
          <p:nvPr/>
        </p:nvSpPr>
        <p:spPr>
          <a:xfrm>
            <a:off x="475488" y="4480560"/>
            <a:ext cx="3429000" cy="1005840"/>
          </a:xfrm>
          <a:prstGeom prst="rect">
            <a:avLst/>
          </a:prstGeom>
          <a:noFill/>
        </p:spPr>
        <p:txBody>
          <a:bodyPr wrap="square">
            <a:spAutoFit/>
          </a:bodyPr>
          <a:lstStyle/>
          <a:p>
            <a:pPr algn="l"/>
            <a:r>
              <a:rPr sz="1100" b="0" i="0">
                <a:solidFill>
                  <a:srgbClr val="2A2A2A"/>
                </a:solidFill>
              </a:rPr>
              <a:t>Chroma vektörü, tonnetz,
harmonik-algısal ayrıştırma</a:t>
            </a:r>
          </a:p>
        </p:txBody>
      </p:sp>
      <p:sp>
        <p:nvSpPr>
          <p:cNvPr id="34" name="TextBox 33"/>
          <p:cNvSpPr txBox="1"/>
          <p:nvPr/>
        </p:nvSpPr>
        <p:spPr>
          <a:xfrm>
            <a:off x="475488" y="5577840"/>
            <a:ext cx="3429000" cy="365760"/>
          </a:xfrm>
          <a:prstGeom prst="rect">
            <a:avLst/>
          </a:prstGeom>
          <a:noFill/>
        </p:spPr>
        <p:txBody>
          <a:bodyPr wrap="square">
            <a:spAutoFit/>
          </a:bodyPr>
          <a:lstStyle/>
          <a:p>
            <a:pPr algn="l"/>
            <a:r>
              <a:rPr sz="1050" b="0" i="1">
                <a:solidFill>
                  <a:srgbClr val="007A87"/>
                </a:solidFill>
              </a:rPr>
              <a:t>▸ Perde ve akor yapısı</a:t>
            </a:r>
          </a:p>
        </p:txBody>
      </p:sp>
      <p:sp>
        <p:nvSpPr>
          <p:cNvPr id="35" name="Rectangle 34"/>
          <p:cNvSpPr/>
          <p:nvPr/>
        </p:nvSpPr>
        <p:spPr>
          <a:xfrm>
            <a:off x="4251960" y="3886200"/>
            <a:ext cx="3657600" cy="2103120"/>
          </a:xfrm>
          <a:prstGeom prst="rect">
            <a:avLst/>
          </a:prstGeom>
          <a:solidFill>
            <a:srgbClr val="FFFFFF"/>
          </a:solidFill>
          <a:ln w="1397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51960" y="3886200"/>
            <a:ext cx="3657600" cy="5029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61688" y="3941063"/>
            <a:ext cx="2377440" cy="384048"/>
          </a:xfrm>
          <a:prstGeom prst="rect">
            <a:avLst/>
          </a:prstGeom>
          <a:noFill/>
        </p:spPr>
        <p:txBody>
          <a:bodyPr wrap="square" anchor="ctr">
            <a:spAutoFit/>
          </a:bodyPr>
          <a:lstStyle/>
          <a:p>
            <a:pPr algn="l"/>
            <a:r>
              <a:rPr sz="1400" b="1" i="0">
                <a:solidFill>
                  <a:srgbClr val="FFFFFF"/>
                </a:solidFill>
              </a:rPr>
              <a:t>Vokal</a:t>
            </a:r>
          </a:p>
        </p:txBody>
      </p:sp>
      <p:sp>
        <p:nvSpPr>
          <p:cNvPr id="38" name="Rectangle 37"/>
          <p:cNvSpPr/>
          <p:nvPr/>
        </p:nvSpPr>
        <p:spPr>
          <a:xfrm>
            <a:off x="6949440" y="3977639"/>
            <a:ext cx="822960" cy="310896"/>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0" y="3995927"/>
            <a:ext cx="822960" cy="274320"/>
          </a:xfrm>
          <a:prstGeom prst="rect">
            <a:avLst/>
          </a:prstGeom>
          <a:noFill/>
        </p:spPr>
        <p:txBody>
          <a:bodyPr wrap="square" anchor="ctr">
            <a:spAutoFit/>
          </a:bodyPr>
          <a:lstStyle/>
          <a:p>
            <a:pPr algn="ctr"/>
            <a:r>
              <a:rPr sz="1000" b="1" i="0">
                <a:solidFill>
                  <a:srgbClr val="0D2B55"/>
                </a:solidFill>
              </a:rPr>
              <a:t>4 boyut</a:t>
            </a:r>
          </a:p>
        </p:txBody>
      </p:sp>
      <p:sp>
        <p:nvSpPr>
          <p:cNvPr id="40" name="TextBox 39"/>
          <p:cNvSpPr txBox="1"/>
          <p:nvPr/>
        </p:nvSpPr>
        <p:spPr>
          <a:xfrm>
            <a:off x="4361688" y="4480560"/>
            <a:ext cx="3429000" cy="1005840"/>
          </a:xfrm>
          <a:prstGeom prst="rect">
            <a:avLst/>
          </a:prstGeom>
          <a:noFill/>
        </p:spPr>
        <p:txBody>
          <a:bodyPr wrap="square">
            <a:spAutoFit/>
          </a:bodyPr>
          <a:lstStyle/>
          <a:p>
            <a:pPr algn="l"/>
            <a:r>
              <a:rPr sz="1100" b="0" i="0">
                <a:solidFill>
                  <a:srgbClr val="2A2A2A"/>
                </a:solidFill>
              </a:rPr>
              <a:t>Temel frekans, vibrato,
formant tutarlılığı</a:t>
            </a:r>
          </a:p>
        </p:txBody>
      </p:sp>
      <p:sp>
        <p:nvSpPr>
          <p:cNvPr id="41" name="TextBox 40"/>
          <p:cNvSpPr txBox="1"/>
          <p:nvPr/>
        </p:nvSpPr>
        <p:spPr>
          <a:xfrm>
            <a:off x="4361688" y="5577840"/>
            <a:ext cx="3429000" cy="365760"/>
          </a:xfrm>
          <a:prstGeom prst="rect">
            <a:avLst/>
          </a:prstGeom>
          <a:noFill/>
        </p:spPr>
        <p:txBody>
          <a:bodyPr wrap="square">
            <a:spAutoFit/>
          </a:bodyPr>
          <a:lstStyle/>
          <a:p>
            <a:pPr algn="l"/>
            <a:r>
              <a:rPr sz="1050" b="0" i="1">
                <a:solidFill>
                  <a:srgbClr val="007A87"/>
                </a:solidFill>
              </a:rPr>
              <a:t>▸ Şarkı sesi davranışı</a:t>
            </a:r>
          </a:p>
        </p:txBody>
      </p:sp>
      <p:sp>
        <p:nvSpPr>
          <p:cNvPr id="42" name="Rectangle 41"/>
          <p:cNvSpPr/>
          <p:nvPr/>
        </p:nvSpPr>
        <p:spPr>
          <a:xfrm>
            <a:off x="7909560" y="3886200"/>
            <a:ext cx="3886200" cy="2103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01000" y="4023360"/>
            <a:ext cx="3703320" cy="457200"/>
          </a:xfrm>
          <a:prstGeom prst="rect">
            <a:avLst/>
          </a:prstGeom>
          <a:noFill/>
        </p:spPr>
        <p:txBody>
          <a:bodyPr wrap="square">
            <a:spAutoFit/>
          </a:bodyPr>
          <a:lstStyle/>
          <a:p>
            <a:pPr algn="ctr"/>
            <a:r>
              <a:rPr sz="1400" b="0" i="0">
                <a:solidFill>
                  <a:srgbClr val="FFFFFF"/>
                </a:solidFill>
              </a:rPr>
              <a:t>Toplam</a:t>
            </a:r>
          </a:p>
        </p:txBody>
      </p:sp>
      <p:sp>
        <p:nvSpPr>
          <p:cNvPr id="44" name="TextBox 43"/>
          <p:cNvSpPr txBox="1"/>
          <p:nvPr/>
        </p:nvSpPr>
        <p:spPr>
          <a:xfrm>
            <a:off x="8001000" y="4389120"/>
            <a:ext cx="3703320" cy="777240"/>
          </a:xfrm>
          <a:prstGeom prst="rect">
            <a:avLst/>
          </a:prstGeom>
          <a:noFill/>
        </p:spPr>
        <p:txBody>
          <a:bodyPr wrap="square">
            <a:spAutoFit/>
          </a:bodyPr>
          <a:lstStyle/>
          <a:p>
            <a:pPr algn="ctr"/>
            <a:r>
              <a:rPr sz="3400" b="1" i="0">
                <a:solidFill>
                  <a:srgbClr val="E0A800"/>
                </a:solidFill>
              </a:rPr>
              <a:t>47 boyut</a:t>
            </a:r>
          </a:p>
        </p:txBody>
      </p:sp>
      <p:sp>
        <p:nvSpPr>
          <p:cNvPr id="45" name="TextBox 44"/>
          <p:cNvSpPr txBox="1"/>
          <p:nvPr/>
        </p:nvSpPr>
        <p:spPr>
          <a:xfrm>
            <a:off x="8001000" y="5212080"/>
            <a:ext cx="3703320" cy="457200"/>
          </a:xfrm>
          <a:prstGeom prst="rect">
            <a:avLst/>
          </a:prstGeom>
          <a:noFill/>
        </p:spPr>
        <p:txBody>
          <a:bodyPr wrap="square">
            <a:spAutoFit/>
          </a:bodyPr>
          <a:lstStyle/>
          <a:p>
            <a:pPr algn="ctr"/>
            <a:r>
              <a:rPr sz="1400" b="0" i="0">
                <a:solidFill>
                  <a:srgbClr val="AEC6D6"/>
                </a:solidFill>
              </a:rPr>
              <a:t>16 + 10 + 9 + 8 + 4</a:t>
            </a:r>
          </a:p>
        </p:txBody>
      </p:sp>
      <p:sp>
        <p:nvSpPr>
          <p:cNvPr id="46" name="TextBox 45"/>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47" name="TextBox 46"/>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6-7</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Modeller ve Eğitim Protokolü</a:t>
            </a:r>
          </a:p>
        </p:txBody>
      </p:sp>
      <p:sp>
        <p:nvSpPr>
          <p:cNvPr id="6" name="TextBox 5"/>
          <p:cNvSpPr txBox="1"/>
          <p:nvPr/>
        </p:nvSpPr>
        <p:spPr>
          <a:xfrm>
            <a:off x="365760" y="1481328"/>
            <a:ext cx="3657600" cy="347472"/>
          </a:xfrm>
          <a:prstGeom prst="rect">
            <a:avLst/>
          </a:prstGeom>
          <a:noFill/>
        </p:spPr>
        <p:txBody>
          <a:bodyPr wrap="square">
            <a:spAutoFit/>
          </a:bodyPr>
          <a:lstStyle/>
          <a:p>
            <a:pPr algn="l"/>
            <a:r>
              <a:rPr sz="1250" b="1" i="0">
                <a:solidFill>
                  <a:srgbClr val="007A87"/>
                </a:solidFill>
              </a:rPr>
              <a:t>Makine Öğrenmesi (7)</a:t>
            </a:r>
          </a:p>
        </p:txBody>
      </p:sp>
      <p:sp>
        <p:nvSpPr>
          <p:cNvPr id="7" name="Rectangle 6"/>
          <p:cNvSpPr/>
          <p:nvPr/>
        </p:nvSpPr>
        <p:spPr>
          <a:xfrm>
            <a:off x="365760" y="1874519"/>
            <a:ext cx="3657600" cy="475488"/>
          </a:xfrm>
          <a:prstGeom prst="rect">
            <a:avLst/>
          </a:prstGeom>
          <a:solidFill>
            <a:srgbClr val="FFFFFF"/>
          </a:solidFill>
          <a:ln w="1016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911095"/>
            <a:ext cx="3474720" cy="402336"/>
          </a:xfrm>
          <a:prstGeom prst="rect">
            <a:avLst/>
          </a:prstGeom>
          <a:noFill/>
        </p:spPr>
        <p:txBody>
          <a:bodyPr wrap="square" anchor="ctr">
            <a:spAutoFit/>
          </a:bodyPr>
          <a:lstStyle/>
          <a:p>
            <a:pPr algn="l"/>
            <a:r>
              <a:rPr sz="1150" b="0" i="0">
                <a:solidFill>
                  <a:srgbClr val="2A2A2A"/>
                </a:solidFill>
              </a:rPr>
              <a:t>LightGBM</a:t>
            </a:r>
          </a:p>
        </p:txBody>
      </p:sp>
      <p:sp>
        <p:nvSpPr>
          <p:cNvPr id="9" name="Rectangle 8"/>
          <p:cNvSpPr/>
          <p:nvPr/>
        </p:nvSpPr>
        <p:spPr>
          <a:xfrm>
            <a:off x="365760" y="2423160"/>
            <a:ext cx="3657600" cy="475488"/>
          </a:xfrm>
          <a:prstGeom prst="rect">
            <a:avLst/>
          </a:prstGeom>
          <a:solidFill>
            <a:srgbClr val="FFFFFF"/>
          </a:solidFill>
          <a:ln w="1016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2459736"/>
            <a:ext cx="3474720" cy="402336"/>
          </a:xfrm>
          <a:prstGeom prst="rect">
            <a:avLst/>
          </a:prstGeom>
          <a:noFill/>
        </p:spPr>
        <p:txBody>
          <a:bodyPr wrap="square" anchor="ctr">
            <a:spAutoFit/>
          </a:bodyPr>
          <a:lstStyle/>
          <a:p>
            <a:pPr algn="l"/>
            <a:r>
              <a:rPr sz="1150" b="0" i="0">
                <a:solidFill>
                  <a:srgbClr val="2A2A2A"/>
                </a:solidFill>
              </a:rPr>
              <a:t>XGBoost</a:t>
            </a:r>
          </a:p>
        </p:txBody>
      </p:sp>
      <p:sp>
        <p:nvSpPr>
          <p:cNvPr id="11" name="Rectangle 10"/>
          <p:cNvSpPr/>
          <p:nvPr/>
        </p:nvSpPr>
        <p:spPr>
          <a:xfrm>
            <a:off x="365760" y="2971800"/>
            <a:ext cx="3657600" cy="475488"/>
          </a:xfrm>
          <a:prstGeom prst="rect">
            <a:avLst/>
          </a:prstGeom>
          <a:solidFill>
            <a:srgbClr val="FFFFFF"/>
          </a:solidFill>
          <a:ln w="1016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3008376"/>
            <a:ext cx="3474720" cy="402336"/>
          </a:xfrm>
          <a:prstGeom prst="rect">
            <a:avLst/>
          </a:prstGeom>
          <a:noFill/>
        </p:spPr>
        <p:txBody>
          <a:bodyPr wrap="square" anchor="ctr">
            <a:spAutoFit/>
          </a:bodyPr>
          <a:lstStyle/>
          <a:p>
            <a:pPr algn="l"/>
            <a:r>
              <a:rPr sz="1150" b="0" i="0">
                <a:solidFill>
                  <a:srgbClr val="2A2A2A"/>
                </a:solidFill>
              </a:rPr>
              <a:t>Gradyan Artırma</a:t>
            </a:r>
          </a:p>
        </p:txBody>
      </p:sp>
      <p:sp>
        <p:nvSpPr>
          <p:cNvPr id="13" name="Rectangle 12"/>
          <p:cNvSpPr/>
          <p:nvPr/>
        </p:nvSpPr>
        <p:spPr>
          <a:xfrm>
            <a:off x="365760" y="3520439"/>
            <a:ext cx="3657600" cy="475488"/>
          </a:xfrm>
          <a:prstGeom prst="rect">
            <a:avLst/>
          </a:prstGeom>
          <a:solidFill>
            <a:srgbClr val="FFFFFF"/>
          </a:solidFill>
          <a:ln w="1016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3557015"/>
            <a:ext cx="3474720" cy="402336"/>
          </a:xfrm>
          <a:prstGeom prst="rect">
            <a:avLst/>
          </a:prstGeom>
          <a:noFill/>
        </p:spPr>
        <p:txBody>
          <a:bodyPr wrap="square" anchor="ctr">
            <a:spAutoFit/>
          </a:bodyPr>
          <a:lstStyle/>
          <a:p>
            <a:pPr algn="l"/>
            <a:r>
              <a:rPr sz="1150" b="0" i="0">
                <a:solidFill>
                  <a:srgbClr val="2A2A2A"/>
                </a:solidFill>
              </a:rPr>
              <a:t>Rastgele Orman</a:t>
            </a:r>
          </a:p>
        </p:txBody>
      </p:sp>
      <p:sp>
        <p:nvSpPr>
          <p:cNvPr id="15" name="Rectangle 14"/>
          <p:cNvSpPr/>
          <p:nvPr/>
        </p:nvSpPr>
        <p:spPr>
          <a:xfrm>
            <a:off x="365760" y="4069079"/>
            <a:ext cx="3657600" cy="475488"/>
          </a:xfrm>
          <a:prstGeom prst="rect">
            <a:avLst/>
          </a:prstGeom>
          <a:solidFill>
            <a:srgbClr val="FFFFFF"/>
          </a:solidFill>
          <a:ln w="1016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4105655"/>
            <a:ext cx="3474720" cy="402336"/>
          </a:xfrm>
          <a:prstGeom prst="rect">
            <a:avLst/>
          </a:prstGeom>
          <a:noFill/>
        </p:spPr>
        <p:txBody>
          <a:bodyPr wrap="square" anchor="ctr">
            <a:spAutoFit/>
          </a:bodyPr>
          <a:lstStyle/>
          <a:p>
            <a:pPr algn="l"/>
            <a:r>
              <a:rPr sz="1150" b="0" i="0">
                <a:solidFill>
                  <a:srgbClr val="2A2A2A"/>
                </a:solidFill>
              </a:rPr>
              <a:t>SVM-RBF</a:t>
            </a:r>
          </a:p>
        </p:txBody>
      </p:sp>
      <p:sp>
        <p:nvSpPr>
          <p:cNvPr id="17" name="Rectangle 16"/>
          <p:cNvSpPr/>
          <p:nvPr/>
        </p:nvSpPr>
        <p:spPr>
          <a:xfrm>
            <a:off x="365760" y="4617720"/>
            <a:ext cx="3657600" cy="475488"/>
          </a:xfrm>
          <a:prstGeom prst="rect">
            <a:avLst/>
          </a:prstGeom>
          <a:solidFill>
            <a:srgbClr val="FFFFFF"/>
          </a:solidFill>
          <a:ln w="1016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4654296"/>
            <a:ext cx="3474720" cy="402336"/>
          </a:xfrm>
          <a:prstGeom prst="rect">
            <a:avLst/>
          </a:prstGeom>
          <a:noFill/>
        </p:spPr>
        <p:txBody>
          <a:bodyPr wrap="square" anchor="ctr">
            <a:spAutoFit/>
          </a:bodyPr>
          <a:lstStyle/>
          <a:p>
            <a:pPr algn="l"/>
            <a:r>
              <a:rPr sz="1150" b="0" i="0">
                <a:solidFill>
                  <a:srgbClr val="2A2A2A"/>
                </a:solidFill>
              </a:rPr>
              <a:t>ÇKA Sinir Ağı</a:t>
            </a:r>
          </a:p>
        </p:txBody>
      </p:sp>
      <p:sp>
        <p:nvSpPr>
          <p:cNvPr id="19" name="Rectangle 18"/>
          <p:cNvSpPr/>
          <p:nvPr/>
        </p:nvSpPr>
        <p:spPr>
          <a:xfrm>
            <a:off x="365760" y="5166359"/>
            <a:ext cx="3657600" cy="475488"/>
          </a:xfrm>
          <a:prstGeom prst="rect">
            <a:avLst/>
          </a:prstGeom>
          <a:solidFill>
            <a:srgbClr val="FFFFFF"/>
          </a:solidFill>
          <a:ln w="1016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5202936"/>
            <a:ext cx="3474720" cy="402336"/>
          </a:xfrm>
          <a:prstGeom prst="rect">
            <a:avLst/>
          </a:prstGeom>
          <a:noFill/>
        </p:spPr>
        <p:txBody>
          <a:bodyPr wrap="square" anchor="ctr">
            <a:spAutoFit/>
          </a:bodyPr>
          <a:lstStyle/>
          <a:p>
            <a:pPr algn="l"/>
            <a:r>
              <a:rPr sz="1150" b="0" i="0">
                <a:solidFill>
                  <a:srgbClr val="2A2A2A"/>
                </a:solidFill>
              </a:rPr>
              <a:t>Lojistik Reg.</a:t>
            </a:r>
          </a:p>
        </p:txBody>
      </p:sp>
      <p:sp>
        <p:nvSpPr>
          <p:cNvPr id="21" name="TextBox 20"/>
          <p:cNvSpPr txBox="1"/>
          <p:nvPr/>
        </p:nvSpPr>
        <p:spPr>
          <a:xfrm>
            <a:off x="4206240" y="1481328"/>
            <a:ext cx="3657600" cy="347472"/>
          </a:xfrm>
          <a:prstGeom prst="rect">
            <a:avLst/>
          </a:prstGeom>
          <a:noFill/>
        </p:spPr>
        <p:txBody>
          <a:bodyPr wrap="square">
            <a:spAutoFit/>
          </a:bodyPr>
          <a:lstStyle/>
          <a:p>
            <a:pPr algn="l"/>
            <a:r>
              <a:rPr sz="1250" b="1" i="0">
                <a:solidFill>
                  <a:srgbClr val="9A7300"/>
                </a:solidFill>
              </a:rPr>
              <a:t>Derin Öğrenme (4)</a:t>
            </a:r>
          </a:p>
        </p:txBody>
      </p:sp>
      <p:sp>
        <p:nvSpPr>
          <p:cNvPr id="22" name="Rectangle 21"/>
          <p:cNvSpPr/>
          <p:nvPr/>
        </p:nvSpPr>
        <p:spPr>
          <a:xfrm>
            <a:off x="4206240" y="1874519"/>
            <a:ext cx="3657600" cy="475488"/>
          </a:xfrm>
          <a:prstGeom prst="rect">
            <a:avLst/>
          </a:prstGeom>
          <a:solidFill>
            <a:srgbClr val="FFFFFF"/>
          </a:solidFill>
          <a:ln w="10160">
            <a:solidFill>
              <a:srgbClr val="E0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15968" y="1911095"/>
            <a:ext cx="3474720" cy="402336"/>
          </a:xfrm>
          <a:prstGeom prst="rect">
            <a:avLst/>
          </a:prstGeom>
          <a:noFill/>
        </p:spPr>
        <p:txBody>
          <a:bodyPr wrap="square" anchor="ctr">
            <a:spAutoFit/>
          </a:bodyPr>
          <a:lstStyle/>
          <a:p>
            <a:pPr algn="l"/>
            <a:r>
              <a:rPr sz="1100" b="0" i="0">
                <a:solidFill>
                  <a:srgbClr val="2A2A2A"/>
                </a:solidFill>
              </a:rPr>
              <a:t>Derin ÇKA (512-256-128-64)</a:t>
            </a:r>
          </a:p>
        </p:txBody>
      </p:sp>
      <p:sp>
        <p:nvSpPr>
          <p:cNvPr id="24" name="Rectangle 23"/>
          <p:cNvSpPr/>
          <p:nvPr/>
        </p:nvSpPr>
        <p:spPr>
          <a:xfrm>
            <a:off x="4206240" y="2423160"/>
            <a:ext cx="3657600" cy="475488"/>
          </a:xfrm>
          <a:prstGeom prst="rect">
            <a:avLst/>
          </a:prstGeom>
          <a:solidFill>
            <a:srgbClr val="FFFFFF"/>
          </a:solidFill>
          <a:ln w="10160">
            <a:solidFill>
              <a:srgbClr val="E0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15968" y="2459736"/>
            <a:ext cx="3474720" cy="402336"/>
          </a:xfrm>
          <a:prstGeom prst="rect">
            <a:avLst/>
          </a:prstGeom>
          <a:noFill/>
        </p:spPr>
        <p:txBody>
          <a:bodyPr wrap="square" anchor="ctr">
            <a:spAutoFit/>
          </a:bodyPr>
          <a:lstStyle/>
          <a:p>
            <a:pPr algn="l"/>
            <a:r>
              <a:rPr sz="1100" b="0" i="0">
                <a:solidFill>
                  <a:srgbClr val="2A2A2A"/>
                </a:solidFill>
              </a:rPr>
              <a:t>Artık ÇKA (3 blok)</a:t>
            </a:r>
          </a:p>
        </p:txBody>
      </p:sp>
      <p:sp>
        <p:nvSpPr>
          <p:cNvPr id="26" name="Rectangle 25"/>
          <p:cNvSpPr/>
          <p:nvPr/>
        </p:nvSpPr>
        <p:spPr>
          <a:xfrm>
            <a:off x="4206240" y="2971800"/>
            <a:ext cx="3657600" cy="475488"/>
          </a:xfrm>
          <a:prstGeom prst="rect">
            <a:avLst/>
          </a:prstGeom>
          <a:solidFill>
            <a:srgbClr val="FFFFFF"/>
          </a:solidFill>
          <a:ln w="10160">
            <a:solidFill>
              <a:srgbClr val="E0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15968" y="3008376"/>
            <a:ext cx="3474720" cy="402336"/>
          </a:xfrm>
          <a:prstGeom prst="rect">
            <a:avLst/>
          </a:prstGeom>
          <a:noFill/>
        </p:spPr>
        <p:txBody>
          <a:bodyPr wrap="square" anchor="ctr">
            <a:spAutoFit/>
          </a:bodyPr>
          <a:lstStyle/>
          <a:p>
            <a:pPr algn="l"/>
            <a:r>
              <a:rPr sz="1100" b="0" i="0">
                <a:solidFill>
                  <a:srgbClr val="2A2A2A"/>
                </a:solidFill>
              </a:rPr>
              <a:t>Dikkat ÇKA (4 baş)</a:t>
            </a:r>
          </a:p>
        </p:txBody>
      </p:sp>
      <p:sp>
        <p:nvSpPr>
          <p:cNvPr id="28" name="Rectangle 27"/>
          <p:cNvSpPr/>
          <p:nvPr/>
        </p:nvSpPr>
        <p:spPr>
          <a:xfrm>
            <a:off x="4206240" y="3520439"/>
            <a:ext cx="3657600" cy="475488"/>
          </a:xfrm>
          <a:prstGeom prst="rect">
            <a:avLst/>
          </a:prstGeom>
          <a:solidFill>
            <a:srgbClr val="FFFFFF"/>
          </a:solidFill>
          <a:ln w="10160">
            <a:solidFill>
              <a:srgbClr val="E0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15968" y="3557015"/>
            <a:ext cx="3474720" cy="402336"/>
          </a:xfrm>
          <a:prstGeom prst="rect">
            <a:avLst/>
          </a:prstGeom>
          <a:noFill/>
        </p:spPr>
        <p:txBody>
          <a:bodyPr wrap="square" anchor="ctr">
            <a:spAutoFit/>
          </a:bodyPr>
          <a:lstStyle/>
          <a:p>
            <a:pPr algn="l"/>
            <a:r>
              <a:rPr sz="1100" b="0" i="0">
                <a:solidFill>
                  <a:srgbClr val="2A2A2A"/>
                </a:solidFill>
              </a:rPr>
              <a:t>1B-ESA (Conv1D)</a:t>
            </a:r>
          </a:p>
        </p:txBody>
      </p:sp>
      <p:sp>
        <p:nvSpPr>
          <p:cNvPr id="30" name="Rectangle 29"/>
          <p:cNvSpPr/>
          <p:nvPr/>
        </p:nvSpPr>
        <p:spPr>
          <a:xfrm>
            <a:off x="8046720" y="1481328"/>
            <a:ext cx="3749039" cy="233172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20" y="1481328"/>
            <a:ext cx="82296" cy="23317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1591056"/>
            <a:ext cx="3428999" cy="365760"/>
          </a:xfrm>
          <a:prstGeom prst="rect">
            <a:avLst/>
          </a:prstGeom>
          <a:noFill/>
        </p:spPr>
        <p:txBody>
          <a:bodyPr wrap="square">
            <a:spAutoFit/>
          </a:bodyPr>
          <a:lstStyle/>
          <a:p>
            <a:pPr algn="l"/>
            <a:r>
              <a:rPr sz="1300" b="1" i="0">
                <a:solidFill>
                  <a:srgbClr val="0D2B55"/>
                </a:solidFill>
              </a:rPr>
              <a:t>Eğitim Protokolü</a:t>
            </a:r>
          </a:p>
        </p:txBody>
      </p:sp>
      <p:sp>
        <p:nvSpPr>
          <p:cNvPr id="33" name="TextBox 32"/>
          <p:cNvSpPr txBox="1"/>
          <p:nvPr/>
        </p:nvSpPr>
        <p:spPr>
          <a:xfrm>
            <a:off x="8247888" y="1984248"/>
            <a:ext cx="3428999" cy="1737360"/>
          </a:xfrm>
          <a:prstGeom prst="rect">
            <a:avLst/>
          </a:prstGeom>
          <a:noFill/>
        </p:spPr>
        <p:txBody>
          <a:bodyPr wrap="square">
            <a:spAutoFit/>
          </a:bodyPr>
          <a:lstStyle/>
          <a:p>
            <a:pPr algn="l"/>
            <a:r>
              <a:rPr sz="1200" b="0" i="0">
                <a:solidFill>
                  <a:srgbClr val="2A2A2A"/>
                </a:solidFill>
              </a:rPr>
              <a:t>•  Stratifiye 5-katlı CV
•  Kat-içi StandardScaler
•  Adam optimize edici (DL)
•  class_weight + is_unbalance
•  TreeSHAP açıklanabilirlik</a:t>
            </a:r>
          </a:p>
        </p:txBody>
      </p:sp>
      <p:sp>
        <p:nvSpPr>
          <p:cNvPr id="34" name="Rectangle 33"/>
          <p:cNvSpPr/>
          <p:nvPr/>
        </p:nvSpPr>
        <p:spPr>
          <a:xfrm>
            <a:off x="8046720" y="3977639"/>
            <a:ext cx="3749039" cy="2057400"/>
          </a:xfrm>
          <a:prstGeom prst="rect">
            <a:avLst/>
          </a:prstGeom>
          <a:solidFill>
            <a:srgbClr val="E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20" y="3977639"/>
            <a:ext cx="82296" cy="2057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7888" y="4087368"/>
            <a:ext cx="3428999" cy="365760"/>
          </a:xfrm>
          <a:prstGeom prst="rect">
            <a:avLst/>
          </a:prstGeom>
          <a:noFill/>
        </p:spPr>
        <p:txBody>
          <a:bodyPr wrap="square">
            <a:spAutoFit/>
          </a:bodyPr>
          <a:lstStyle/>
          <a:p>
            <a:pPr algn="l"/>
            <a:r>
              <a:rPr sz="1300" b="1" i="0">
                <a:solidFill>
                  <a:srgbClr val="0D2B55"/>
                </a:solidFill>
              </a:rPr>
              <a:t>Eşik Optimizasyonu</a:t>
            </a:r>
          </a:p>
        </p:txBody>
      </p:sp>
      <p:sp>
        <p:nvSpPr>
          <p:cNvPr id="37" name="TextBox 36"/>
          <p:cNvSpPr txBox="1"/>
          <p:nvPr/>
        </p:nvSpPr>
        <p:spPr>
          <a:xfrm>
            <a:off x="8247888" y="4480559"/>
            <a:ext cx="3428999" cy="1463040"/>
          </a:xfrm>
          <a:prstGeom prst="rect">
            <a:avLst/>
          </a:prstGeom>
          <a:noFill/>
        </p:spPr>
        <p:txBody>
          <a:bodyPr wrap="square">
            <a:spAutoFit/>
          </a:bodyPr>
          <a:lstStyle/>
          <a:p>
            <a:pPr algn="l"/>
            <a:r>
              <a:rPr sz="1200" b="0" i="0">
                <a:solidFill>
                  <a:srgbClr val="2A2A2A"/>
                </a:solidFill>
              </a:rPr>
              <a:t>J(θ) = TPR(θ) − FPR(θ)
θ* = 0,4316
Brier skoru = 0,083
(iyi kalibre olasılık çıktısı)</a:t>
            </a:r>
          </a:p>
        </p:txBody>
      </p:sp>
      <p:sp>
        <p:nvSpPr>
          <p:cNvPr id="38" name="TextBox 37"/>
          <p:cNvSpPr txBox="1"/>
          <p:nvPr/>
        </p:nvSpPr>
        <p:spPr>
          <a:xfrm>
            <a:off x="365760" y="5029200"/>
            <a:ext cx="7315200" cy="1005840"/>
          </a:xfrm>
          <a:prstGeom prst="rect">
            <a:avLst/>
          </a:prstGeom>
          <a:noFill/>
        </p:spPr>
        <p:txBody>
          <a:bodyPr wrap="square">
            <a:spAutoFit/>
          </a:bodyPr>
          <a:lstStyle/>
          <a:p>
            <a:pPr algn="l"/>
            <a:r>
              <a:rPr sz="1150" b="0" i="0">
                <a:solidFill>
                  <a:srgbClr val="2A2A2A"/>
                </a:solidFill>
              </a:rPr>
              <a:t>Kalibrasyon kalitesi Brier skoru ile ölçülmüş; 0,083 değeri modelin güven düzeylerinin gerçek doğruluğu iyi yansıttığını gösterir. Karar eşiği Youden J kriteriyle 0,5 yerine 0,4316'ya optimize edilmiştir.</a:t>
            </a:r>
          </a:p>
        </p:txBody>
      </p:sp>
      <p:sp>
        <p:nvSpPr>
          <p:cNvPr id="39" name="TextBox 38"/>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40" name="TextBox 39"/>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8</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Sonuçlar — Model Karşılaştırması</a:t>
            </a:r>
          </a:p>
        </p:txBody>
      </p:sp>
      <p:sp>
        <p:nvSpPr>
          <p:cNvPr id="6" name="TextBox 5"/>
          <p:cNvSpPr txBox="1"/>
          <p:nvPr/>
        </p:nvSpPr>
        <p:spPr>
          <a:xfrm>
            <a:off x="365760" y="987552"/>
            <a:ext cx="11430000" cy="365760"/>
          </a:xfrm>
          <a:prstGeom prst="rect">
            <a:avLst/>
          </a:prstGeom>
          <a:noFill/>
        </p:spPr>
        <p:txBody>
          <a:bodyPr wrap="square">
            <a:spAutoFit/>
          </a:bodyPr>
          <a:lstStyle/>
          <a:p>
            <a:pPr algn="l"/>
            <a:r>
              <a:rPr sz="1250" b="0" i="0">
                <a:solidFill>
                  <a:srgbClr val="AEC6D6"/>
                </a:solidFill>
              </a:rPr>
              <a:t>5-katlı çapraz doğrulama · ROC-AUC sırasına göre</a:t>
            </a:r>
          </a:p>
        </p:txBody>
      </p:sp>
      <p:sp>
        <p:nvSpPr>
          <p:cNvPr id="7" name="Rectangle 6"/>
          <p:cNvSpPr/>
          <p:nvPr/>
        </p:nvSpPr>
        <p:spPr>
          <a:xfrm>
            <a:off x="365760" y="1554480"/>
            <a:ext cx="548640"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 y="1572768"/>
            <a:ext cx="493776" cy="329184"/>
          </a:xfrm>
          <a:prstGeom prst="rect">
            <a:avLst/>
          </a:prstGeom>
          <a:noFill/>
        </p:spPr>
        <p:txBody>
          <a:bodyPr wrap="square">
            <a:spAutoFit/>
          </a:bodyPr>
          <a:lstStyle/>
          <a:p>
            <a:pPr algn="ctr"/>
            <a:r>
              <a:rPr sz="1150" b="1" i="0">
                <a:solidFill>
                  <a:srgbClr val="FFFFFF"/>
                </a:solidFill>
              </a:rPr>
              <a:t>#</a:t>
            </a:r>
          </a:p>
        </p:txBody>
      </p:sp>
      <p:sp>
        <p:nvSpPr>
          <p:cNvPr id="9" name="Rectangle 8"/>
          <p:cNvSpPr/>
          <p:nvPr/>
        </p:nvSpPr>
        <p:spPr>
          <a:xfrm>
            <a:off x="914400" y="1554480"/>
            <a:ext cx="2743200"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572768"/>
            <a:ext cx="2688336" cy="329184"/>
          </a:xfrm>
          <a:prstGeom prst="rect">
            <a:avLst/>
          </a:prstGeom>
          <a:noFill/>
        </p:spPr>
        <p:txBody>
          <a:bodyPr wrap="square">
            <a:spAutoFit/>
          </a:bodyPr>
          <a:lstStyle/>
          <a:p>
            <a:pPr algn="ctr"/>
            <a:r>
              <a:rPr sz="1150" b="1" i="0">
                <a:solidFill>
                  <a:srgbClr val="FFFFFF"/>
                </a:solidFill>
              </a:rPr>
              <a:t>Model</a:t>
            </a:r>
          </a:p>
        </p:txBody>
      </p:sp>
      <p:sp>
        <p:nvSpPr>
          <p:cNvPr id="11" name="Rectangle 10"/>
          <p:cNvSpPr/>
          <p:nvPr/>
        </p:nvSpPr>
        <p:spPr>
          <a:xfrm>
            <a:off x="3657600" y="1554480"/>
            <a:ext cx="1005840"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2" y="1572768"/>
            <a:ext cx="950976" cy="329184"/>
          </a:xfrm>
          <a:prstGeom prst="rect">
            <a:avLst/>
          </a:prstGeom>
          <a:noFill/>
        </p:spPr>
        <p:txBody>
          <a:bodyPr wrap="square">
            <a:spAutoFit/>
          </a:bodyPr>
          <a:lstStyle/>
          <a:p>
            <a:pPr algn="ctr"/>
            <a:r>
              <a:rPr sz="1150" b="1" i="0">
                <a:solidFill>
                  <a:srgbClr val="FFFFFF"/>
                </a:solidFill>
              </a:rPr>
              <a:t>Tip</a:t>
            </a:r>
          </a:p>
        </p:txBody>
      </p:sp>
      <p:sp>
        <p:nvSpPr>
          <p:cNvPr id="13" name="Rectangle 12"/>
          <p:cNvSpPr/>
          <p:nvPr/>
        </p:nvSpPr>
        <p:spPr>
          <a:xfrm>
            <a:off x="4663440" y="1554480"/>
            <a:ext cx="1737360"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0872" y="1572768"/>
            <a:ext cx="1682495" cy="329184"/>
          </a:xfrm>
          <a:prstGeom prst="rect">
            <a:avLst/>
          </a:prstGeom>
          <a:noFill/>
        </p:spPr>
        <p:txBody>
          <a:bodyPr wrap="square">
            <a:spAutoFit/>
          </a:bodyPr>
          <a:lstStyle/>
          <a:p>
            <a:pPr algn="ctr"/>
            <a:r>
              <a:rPr sz="1150" b="1" i="0">
                <a:solidFill>
                  <a:srgbClr val="FFFFFF"/>
                </a:solidFill>
              </a:rPr>
              <a:t>Doğruluk</a:t>
            </a:r>
          </a:p>
        </p:txBody>
      </p:sp>
      <p:sp>
        <p:nvSpPr>
          <p:cNvPr id="15" name="Rectangle 14"/>
          <p:cNvSpPr/>
          <p:nvPr/>
        </p:nvSpPr>
        <p:spPr>
          <a:xfrm>
            <a:off x="6400800" y="1554480"/>
            <a:ext cx="1554480"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1572768"/>
            <a:ext cx="1499616" cy="329184"/>
          </a:xfrm>
          <a:prstGeom prst="rect">
            <a:avLst/>
          </a:prstGeom>
          <a:noFill/>
        </p:spPr>
        <p:txBody>
          <a:bodyPr wrap="square">
            <a:spAutoFit/>
          </a:bodyPr>
          <a:lstStyle/>
          <a:p>
            <a:pPr algn="ctr"/>
            <a:r>
              <a:rPr sz="1150" b="1" i="0">
                <a:solidFill>
                  <a:srgbClr val="FFFFFF"/>
                </a:solidFill>
              </a:rPr>
              <a:t>F1</a:t>
            </a:r>
          </a:p>
        </p:txBody>
      </p:sp>
      <p:sp>
        <p:nvSpPr>
          <p:cNvPr id="17" name="Rectangle 16"/>
          <p:cNvSpPr/>
          <p:nvPr/>
        </p:nvSpPr>
        <p:spPr>
          <a:xfrm>
            <a:off x="7955279" y="1554480"/>
            <a:ext cx="1737360"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82711" y="1572768"/>
            <a:ext cx="1682495" cy="329184"/>
          </a:xfrm>
          <a:prstGeom prst="rect">
            <a:avLst/>
          </a:prstGeom>
          <a:noFill/>
        </p:spPr>
        <p:txBody>
          <a:bodyPr wrap="square">
            <a:spAutoFit/>
          </a:bodyPr>
          <a:lstStyle/>
          <a:p>
            <a:pPr algn="ctr"/>
            <a:r>
              <a:rPr sz="1150" b="1" i="0">
                <a:solidFill>
                  <a:srgbClr val="FFFFFF"/>
                </a:solidFill>
              </a:rPr>
              <a:t>ROC-AUC</a:t>
            </a:r>
          </a:p>
        </p:txBody>
      </p:sp>
      <p:sp>
        <p:nvSpPr>
          <p:cNvPr id="19" name="Rectangle 18"/>
          <p:cNvSpPr/>
          <p:nvPr/>
        </p:nvSpPr>
        <p:spPr>
          <a:xfrm>
            <a:off x="9692640" y="1554480"/>
            <a:ext cx="1554480"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0072" y="1572768"/>
            <a:ext cx="1499616" cy="329184"/>
          </a:xfrm>
          <a:prstGeom prst="rect">
            <a:avLst/>
          </a:prstGeom>
          <a:noFill/>
        </p:spPr>
        <p:txBody>
          <a:bodyPr wrap="square">
            <a:spAutoFit/>
          </a:bodyPr>
          <a:lstStyle/>
          <a:p>
            <a:pPr algn="ctr"/>
            <a:r>
              <a:rPr sz="1150" b="1" i="0">
                <a:solidFill>
                  <a:srgbClr val="FFFFFF"/>
                </a:solidFill>
              </a:rPr>
              <a:t>Std</a:t>
            </a:r>
          </a:p>
        </p:txBody>
      </p:sp>
      <p:sp>
        <p:nvSpPr>
          <p:cNvPr id="21" name="Rectangle 20"/>
          <p:cNvSpPr/>
          <p:nvPr/>
        </p:nvSpPr>
        <p:spPr>
          <a:xfrm>
            <a:off x="365760" y="1938528"/>
            <a:ext cx="548640" cy="365760"/>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 y="1965960"/>
            <a:ext cx="493776" cy="310896"/>
          </a:xfrm>
          <a:prstGeom prst="rect">
            <a:avLst/>
          </a:prstGeom>
          <a:noFill/>
        </p:spPr>
        <p:txBody>
          <a:bodyPr wrap="square" anchor="ctr">
            <a:spAutoFit/>
          </a:bodyPr>
          <a:lstStyle/>
          <a:p>
            <a:pPr algn="ctr"/>
            <a:r>
              <a:rPr sz="1100" b="1" i="0">
                <a:solidFill>
                  <a:srgbClr val="1A6B3A"/>
                </a:solidFill>
              </a:rPr>
              <a:t>1</a:t>
            </a:r>
          </a:p>
        </p:txBody>
      </p:sp>
      <p:sp>
        <p:nvSpPr>
          <p:cNvPr id="23" name="Rectangle 22"/>
          <p:cNvSpPr/>
          <p:nvPr/>
        </p:nvSpPr>
        <p:spPr>
          <a:xfrm>
            <a:off x="914400" y="1938528"/>
            <a:ext cx="2743200" cy="365760"/>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 y="1965960"/>
            <a:ext cx="2688336" cy="310896"/>
          </a:xfrm>
          <a:prstGeom prst="rect">
            <a:avLst/>
          </a:prstGeom>
          <a:noFill/>
        </p:spPr>
        <p:txBody>
          <a:bodyPr wrap="square" anchor="ctr">
            <a:spAutoFit/>
          </a:bodyPr>
          <a:lstStyle/>
          <a:p>
            <a:pPr algn="ctr"/>
            <a:r>
              <a:rPr sz="1100" b="1" i="0">
                <a:solidFill>
                  <a:srgbClr val="1A6B3A"/>
                </a:solidFill>
              </a:rPr>
              <a:t>LightGBM</a:t>
            </a:r>
          </a:p>
        </p:txBody>
      </p:sp>
      <p:sp>
        <p:nvSpPr>
          <p:cNvPr id="25" name="Rectangle 24"/>
          <p:cNvSpPr/>
          <p:nvPr/>
        </p:nvSpPr>
        <p:spPr>
          <a:xfrm>
            <a:off x="3657600" y="1938528"/>
            <a:ext cx="1005840" cy="365760"/>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85032" y="1965960"/>
            <a:ext cx="950976" cy="310896"/>
          </a:xfrm>
          <a:prstGeom prst="rect">
            <a:avLst/>
          </a:prstGeom>
          <a:noFill/>
        </p:spPr>
        <p:txBody>
          <a:bodyPr wrap="square" anchor="ctr">
            <a:spAutoFit/>
          </a:bodyPr>
          <a:lstStyle/>
          <a:p>
            <a:pPr algn="ctr"/>
            <a:r>
              <a:rPr sz="1100" b="1" i="0">
                <a:solidFill>
                  <a:srgbClr val="1A6B3A"/>
                </a:solidFill>
              </a:rPr>
              <a:t>ML</a:t>
            </a:r>
          </a:p>
        </p:txBody>
      </p:sp>
      <p:sp>
        <p:nvSpPr>
          <p:cNvPr id="27" name="Rectangle 26"/>
          <p:cNvSpPr/>
          <p:nvPr/>
        </p:nvSpPr>
        <p:spPr>
          <a:xfrm>
            <a:off x="4663440" y="1938528"/>
            <a:ext cx="1737360" cy="365760"/>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90872" y="1965960"/>
            <a:ext cx="1682495" cy="310896"/>
          </a:xfrm>
          <a:prstGeom prst="rect">
            <a:avLst/>
          </a:prstGeom>
          <a:noFill/>
        </p:spPr>
        <p:txBody>
          <a:bodyPr wrap="square" anchor="ctr">
            <a:spAutoFit/>
          </a:bodyPr>
          <a:lstStyle/>
          <a:p>
            <a:pPr algn="ctr"/>
            <a:r>
              <a:rPr sz="1100" b="1" i="0">
                <a:solidFill>
                  <a:srgbClr val="1A6B3A"/>
                </a:solidFill>
              </a:rPr>
              <a:t>0,8839</a:t>
            </a:r>
          </a:p>
        </p:txBody>
      </p:sp>
      <p:sp>
        <p:nvSpPr>
          <p:cNvPr id="29" name="Rectangle 28"/>
          <p:cNvSpPr/>
          <p:nvPr/>
        </p:nvSpPr>
        <p:spPr>
          <a:xfrm>
            <a:off x="6400800" y="1938528"/>
            <a:ext cx="1554480" cy="365760"/>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8232" y="1965960"/>
            <a:ext cx="1499616" cy="310896"/>
          </a:xfrm>
          <a:prstGeom prst="rect">
            <a:avLst/>
          </a:prstGeom>
          <a:noFill/>
        </p:spPr>
        <p:txBody>
          <a:bodyPr wrap="square" anchor="ctr">
            <a:spAutoFit/>
          </a:bodyPr>
          <a:lstStyle/>
          <a:p>
            <a:pPr algn="ctr"/>
            <a:r>
              <a:rPr sz="1100" b="1" i="0">
                <a:solidFill>
                  <a:srgbClr val="1A6B3A"/>
                </a:solidFill>
              </a:rPr>
              <a:t>0,8575</a:t>
            </a:r>
          </a:p>
        </p:txBody>
      </p:sp>
      <p:sp>
        <p:nvSpPr>
          <p:cNvPr id="31" name="Rectangle 30"/>
          <p:cNvSpPr/>
          <p:nvPr/>
        </p:nvSpPr>
        <p:spPr>
          <a:xfrm>
            <a:off x="7955279" y="1938528"/>
            <a:ext cx="1737360" cy="365760"/>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82711" y="1965960"/>
            <a:ext cx="1682495" cy="310896"/>
          </a:xfrm>
          <a:prstGeom prst="rect">
            <a:avLst/>
          </a:prstGeom>
          <a:noFill/>
        </p:spPr>
        <p:txBody>
          <a:bodyPr wrap="square" anchor="ctr">
            <a:spAutoFit/>
          </a:bodyPr>
          <a:lstStyle/>
          <a:p>
            <a:pPr algn="ctr"/>
            <a:r>
              <a:rPr sz="1100" b="1" i="0">
                <a:solidFill>
                  <a:srgbClr val="1A6B3A"/>
                </a:solidFill>
              </a:rPr>
              <a:t>0,9548</a:t>
            </a:r>
          </a:p>
        </p:txBody>
      </p:sp>
      <p:sp>
        <p:nvSpPr>
          <p:cNvPr id="33" name="Rectangle 32"/>
          <p:cNvSpPr/>
          <p:nvPr/>
        </p:nvSpPr>
        <p:spPr>
          <a:xfrm>
            <a:off x="9692640" y="1938528"/>
            <a:ext cx="1554480" cy="365760"/>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20072" y="1965960"/>
            <a:ext cx="1499616" cy="310896"/>
          </a:xfrm>
          <a:prstGeom prst="rect">
            <a:avLst/>
          </a:prstGeom>
          <a:noFill/>
        </p:spPr>
        <p:txBody>
          <a:bodyPr wrap="square" anchor="ctr">
            <a:spAutoFit/>
          </a:bodyPr>
          <a:lstStyle/>
          <a:p>
            <a:pPr algn="ctr"/>
            <a:r>
              <a:rPr sz="1100" b="1" i="0">
                <a:solidFill>
                  <a:srgbClr val="1A6B3A"/>
                </a:solidFill>
              </a:rPr>
              <a:t>±0,0023</a:t>
            </a:r>
          </a:p>
        </p:txBody>
      </p:sp>
      <p:sp>
        <p:nvSpPr>
          <p:cNvPr id="35" name="Rectangle 34"/>
          <p:cNvSpPr/>
          <p:nvPr/>
        </p:nvSpPr>
        <p:spPr>
          <a:xfrm>
            <a:off x="365760" y="2340864"/>
            <a:ext cx="5486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3192" y="2368296"/>
            <a:ext cx="493776" cy="310896"/>
          </a:xfrm>
          <a:prstGeom prst="rect">
            <a:avLst/>
          </a:prstGeom>
          <a:noFill/>
        </p:spPr>
        <p:txBody>
          <a:bodyPr wrap="square" anchor="ctr">
            <a:spAutoFit/>
          </a:bodyPr>
          <a:lstStyle/>
          <a:p>
            <a:pPr algn="ctr"/>
            <a:r>
              <a:rPr sz="1100" b="0" i="0">
                <a:solidFill>
                  <a:srgbClr val="2A2A2A"/>
                </a:solidFill>
              </a:rPr>
              <a:t>2</a:t>
            </a:r>
          </a:p>
        </p:txBody>
      </p:sp>
      <p:sp>
        <p:nvSpPr>
          <p:cNvPr id="37" name="Rectangle 36"/>
          <p:cNvSpPr/>
          <p:nvPr/>
        </p:nvSpPr>
        <p:spPr>
          <a:xfrm>
            <a:off x="914400" y="2340864"/>
            <a:ext cx="27432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2368296"/>
            <a:ext cx="2688336" cy="310896"/>
          </a:xfrm>
          <a:prstGeom prst="rect">
            <a:avLst/>
          </a:prstGeom>
          <a:noFill/>
        </p:spPr>
        <p:txBody>
          <a:bodyPr wrap="square" anchor="ctr">
            <a:spAutoFit/>
          </a:bodyPr>
          <a:lstStyle/>
          <a:p>
            <a:pPr algn="ctr"/>
            <a:r>
              <a:rPr sz="1100" b="0" i="0">
                <a:solidFill>
                  <a:srgbClr val="2A2A2A"/>
                </a:solidFill>
              </a:rPr>
              <a:t>Derin ÇKA</a:t>
            </a:r>
          </a:p>
        </p:txBody>
      </p:sp>
      <p:sp>
        <p:nvSpPr>
          <p:cNvPr id="39" name="Rectangle 38"/>
          <p:cNvSpPr/>
          <p:nvPr/>
        </p:nvSpPr>
        <p:spPr>
          <a:xfrm>
            <a:off x="3657600" y="2340864"/>
            <a:ext cx="10058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85032" y="2368296"/>
            <a:ext cx="950976" cy="310896"/>
          </a:xfrm>
          <a:prstGeom prst="rect">
            <a:avLst/>
          </a:prstGeom>
          <a:noFill/>
        </p:spPr>
        <p:txBody>
          <a:bodyPr wrap="square" anchor="ctr">
            <a:spAutoFit/>
          </a:bodyPr>
          <a:lstStyle/>
          <a:p>
            <a:pPr algn="ctr"/>
            <a:r>
              <a:rPr sz="1100" b="0" i="0">
                <a:solidFill>
                  <a:srgbClr val="2A2A2A"/>
                </a:solidFill>
              </a:rPr>
              <a:t>DL</a:t>
            </a:r>
          </a:p>
        </p:txBody>
      </p:sp>
      <p:sp>
        <p:nvSpPr>
          <p:cNvPr id="41" name="Rectangle 40"/>
          <p:cNvSpPr/>
          <p:nvPr/>
        </p:nvSpPr>
        <p:spPr>
          <a:xfrm>
            <a:off x="4663440" y="2340864"/>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90872" y="2368296"/>
            <a:ext cx="1682495" cy="310896"/>
          </a:xfrm>
          <a:prstGeom prst="rect">
            <a:avLst/>
          </a:prstGeom>
          <a:noFill/>
        </p:spPr>
        <p:txBody>
          <a:bodyPr wrap="square" anchor="ctr">
            <a:spAutoFit/>
          </a:bodyPr>
          <a:lstStyle/>
          <a:p>
            <a:pPr algn="ctr"/>
            <a:r>
              <a:rPr sz="1100" b="0" i="0">
                <a:solidFill>
                  <a:srgbClr val="2A2A2A"/>
                </a:solidFill>
              </a:rPr>
              <a:t>0,8849</a:t>
            </a:r>
          </a:p>
        </p:txBody>
      </p:sp>
      <p:sp>
        <p:nvSpPr>
          <p:cNvPr id="43" name="Rectangle 42"/>
          <p:cNvSpPr/>
          <p:nvPr/>
        </p:nvSpPr>
        <p:spPr>
          <a:xfrm>
            <a:off x="6400800" y="2340864"/>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28232" y="2368296"/>
            <a:ext cx="1499616" cy="310896"/>
          </a:xfrm>
          <a:prstGeom prst="rect">
            <a:avLst/>
          </a:prstGeom>
          <a:noFill/>
        </p:spPr>
        <p:txBody>
          <a:bodyPr wrap="square" anchor="ctr">
            <a:spAutoFit/>
          </a:bodyPr>
          <a:lstStyle/>
          <a:p>
            <a:pPr algn="ctr"/>
            <a:r>
              <a:rPr sz="1100" b="0" i="0">
                <a:solidFill>
                  <a:srgbClr val="2A2A2A"/>
                </a:solidFill>
              </a:rPr>
              <a:t>0,8596</a:t>
            </a:r>
          </a:p>
        </p:txBody>
      </p:sp>
      <p:sp>
        <p:nvSpPr>
          <p:cNvPr id="45" name="Rectangle 44"/>
          <p:cNvSpPr/>
          <p:nvPr/>
        </p:nvSpPr>
        <p:spPr>
          <a:xfrm>
            <a:off x="7955279" y="2340864"/>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82711" y="2368296"/>
            <a:ext cx="1682495" cy="310896"/>
          </a:xfrm>
          <a:prstGeom prst="rect">
            <a:avLst/>
          </a:prstGeom>
          <a:noFill/>
        </p:spPr>
        <p:txBody>
          <a:bodyPr wrap="square" anchor="ctr">
            <a:spAutoFit/>
          </a:bodyPr>
          <a:lstStyle/>
          <a:p>
            <a:pPr algn="ctr"/>
            <a:r>
              <a:rPr sz="1100" b="0" i="0">
                <a:solidFill>
                  <a:srgbClr val="2A2A2A"/>
                </a:solidFill>
              </a:rPr>
              <a:t>0,9542</a:t>
            </a:r>
          </a:p>
        </p:txBody>
      </p:sp>
      <p:sp>
        <p:nvSpPr>
          <p:cNvPr id="47" name="Rectangle 46"/>
          <p:cNvSpPr/>
          <p:nvPr/>
        </p:nvSpPr>
        <p:spPr>
          <a:xfrm>
            <a:off x="9692640" y="2340864"/>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20072" y="2368296"/>
            <a:ext cx="1499616" cy="310896"/>
          </a:xfrm>
          <a:prstGeom prst="rect">
            <a:avLst/>
          </a:prstGeom>
          <a:noFill/>
        </p:spPr>
        <p:txBody>
          <a:bodyPr wrap="square" anchor="ctr">
            <a:spAutoFit/>
          </a:bodyPr>
          <a:lstStyle/>
          <a:p>
            <a:pPr algn="ctr"/>
            <a:r>
              <a:rPr sz="1100" b="0" i="0">
                <a:solidFill>
                  <a:srgbClr val="2A2A2A"/>
                </a:solidFill>
              </a:rPr>
              <a:t>±0,0036</a:t>
            </a:r>
          </a:p>
        </p:txBody>
      </p:sp>
      <p:sp>
        <p:nvSpPr>
          <p:cNvPr id="49" name="Rectangle 48"/>
          <p:cNvSpPr/>
          <p:nvPr/>
        </p:nvSpPr>
        <p:spPr>
          <a:xfrm>
            <a:off x="365760" y="2743200"/>
            <a:ext cx="5486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3192" y="2770632"/>
            <a:ext cx="493776" cy="310896"/>
          </a:xfrm>
          <a:prstGeom prst="rect">
            <a:avLst/>
          </a:prstGeom>
          <a:noFill/>
        </p:spPr>
        <p:txBody>
          <a:bodyPr wrap="square" anchor="ctr">
            <a:spAutoFit/>
          </a:bodyPr>
          <a:lstStyle/>
          <a:p>
            <a:pPr algn="ctr"/>
            <a:r>
              <a:rPr sz="1100" b="0" i="0">
                <a:solidFill>
                  <a:srgbClr val="2A2A2A"/>
                </a:solidFill>
              </a:rPr>
              <a:t>3</a:t>
            </a:r>
          </a:p>
        </p:txBody>
      </p:sp>
      <p:sp>
        <p:nvSpPr>
          <p:cNvPr id="51" name="Rectangle 50"/>
          <p:cNvSpPr/>
          <p:nvPr/>
        </p:nvSpPr>
        <p:spPr>
          <a:xfrm>
            <a:off x="914400" y="2743200"/>
            <a:ext cx="27432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41832" y="2770632"/>
            <a:ext cx="2688336" cy="310896"/>
          </a:xfrm>
          <a:prstGeom prst="rect">
            <a:avLst/>
          </a:prstGeom>
          <a:noFill/>
        </p:spPr>
        <p:txBody>
          <a:bodyPr wrap="square" anchor="ctr">
            <a:spAutoFit/>
          </a:bodyPr>
          <a:lstStyle/>
          <a:p>
            <a:pPr algn="ctr"/>
            <a:r>
              <a:rPr sz="1100" b="0" i="0">
                <a:solidFill>
                  <a:srgbClr val="2A2A2A"/>
                </a:solidFill>
              </a:rPr>
              <a:t>Artık ÇKA</a:t>
            </a:r>
          </a:p>
        </p:txBody>
      </p:sp>
      <p:sp>
        <p:nvSpPr>
          <p:cNvPr id="53" name="Rectangle 52"/>
          <p:cNvSpPr/>
          <p:nvPr/>
        </p:nvSpPr>
        <p:spPr>
          <a:xfrm>
            <a:off x="3657600" y="2743200"/>
            <a:ext cx="10058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85032" y="2770632"/>
            <a:ext cx="950976" cy="310896"/>
          </a:xfrm>
          <a:prstGeom prst="rect">
            <a:avLst/>
          </a:prstGeom>
          <a:noFill/>
        </p:spPr>
        <p:txBody>
          <a:bodyPr wrap="square" anchor="ctr">
            <a:spAutoFit/>
          </a:bodyPr>
          <a:lstStyle/>
          <a:p>
            <a:pPr algn="ctr"/>
            <a:r>
              <a:rPr sz="1100" b="0" i="0">
                <a:solidFill>
                  <a:srgbClr val="2A2A2A"/>
                </a:solidFill>
              </a:rPr>
              <a:t>DL</a:t>
            </a:r>
          </a:p>
        </p:txBody>
      </p:sp>
      <p:sp>
        <p:nvSpPr>
          <p:cNvPr id="55" name="Rectangle 54"/>
          <p:cNvSpPr/>
          <p:nvPr/>
        </p:nvSpPr>
        <p:spPr>
          <a:xfrm>
            <a:off x="4663440" y="2743200"/>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90872" y="2770632"/>
            <a:ext cx="1682495" cy="310896"/>
          </a:xfrm>
          <a:prstGeom prst="rect">
            <a:avLst/>
          </a:prstGeom>
          <a:noFill/>
        </p:spPr>
        <p:txBody>
          <a:bodyPr wrap="square" anchor="ctr">
            <a:spAutoFit/>
          </a:bodyPr>
          <a:lstStyle/>
          <a:p>
            <a:pPr algn="ctr"/>
            <a:r>
              <a:rPr sz="1100" b="0" i="0">
                <a:solidFill>
                  <a:srgbClr val="2A2A2A"/>
                </a:solidFill>
              </a:rPr>
              <a:t>0,8756</a:t>
            </a:r>
          </a:p>
        </p:txBody>
      </p:sp>
      <p:sp>
        <p:nvSpPr>
          <p:cNvPr id="57" name="Rectangle 56"/>
          <p:cNvSpPr/>
          <p:nvPr/>
        </p:nvSpPr>
        <p:spPr>
          <a:xfrm>
            <a:off x="6400800" y="2743200"/>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28232" y="2770632"/>
            <a:ext cx="1499616" cy="310896"/>
          </a:xfrm>
          <a:prstGeom prst="rect">
            <a:avLst/>
          </a:prstGeom>
          <a:noFill/>
        </p:spPr>
        <p:txBody>
          <a:bodyPr wrap="square" anchor="ctr">
            <a:spAutoFit/>
          </a:bodyPr>
          <a:lstStyle/>
          <a:p>
            <a:pPr algn="ctr"/>
            <a:r>
              <a:rPr sz="1100" b="0" i="0">
                <a:solidFill>
                  <a:srgbClr val="2A2A2A"/>
                </a:solidFill>
              </a:rPr>
              <a:t>0,8476</a:t>
            </a:r>
          </a:p>
        </p:txBody>
      </p:sp>
      <p:sp>
        <p:nvSpPr>
          <p:cNvPr id="59" name="Rectangle 58"/>
          <p:cNvSpPr/>
          <p:nvPr/>
        </p:nvSpPr>
        <p:spPr>
          <a:xfrm>
            <a:off x="7955279" y="2743200"/>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82711" y="2770632"/>
            <a:ext cx="1682495" cy="310896"/>
          </a:xfrm>
          <a:prstGeom prst="rect">
            <a:avLst/>
          </a:prstGeom>
          <a:noFill/>
        </p:spPr>
        <p:txBody>
          <a:bodyPr wrap="square" anchor="ctr">
            <a:spAutoFit/>
          </a:bodyPr>
          <a:lstStyle/>
          <a:p>
            <a:pPr algn="ctr"/>
            <a:r>
              <a:rPr sz="1100" b="0" i="0">
                <a:solidFill>
                  <a:srgbClr val="2A2A2A"/>
                </a:solidFill>
              </a:rPr>
              <a:t>0,9485</a:t>
            </a:r>
          </a:p>
        </p:txBody>
      </p:sp>
      <p:sp>
        <p:nvSpPr>
          <p:cNvPr id="61" name="Rectangle 60"/>
          <p:cNvSpPr/>
          <p:nvPr/>
        </p:nvSpPr>
        <p:spPr>
          <a:xfrm>
            <a:off x="9692640" y="2743200"/>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20072" y="2770632"/>
            <a:ext cx="1499616" cy="310896"/>
          </a:xfrm>
          <a:prstGeom prst="rect">
            <a:avLst/>
          </a:prstGeom>
          <a:noFill/>
        </p:spPr>
        <p:txBody>
          <a:bodyPr wrap="square" anchor="ctr">
            <a:spAutoFit/>
          </a:bodyPr>
          <a:lstStyle/>
          <a:p>
            <a:pPr algn="ctr"/>
            <a:r>
              <a:rPr sz="1100" b="0" i="0">
                <a:solidFill>
                  <a:srgbClr val="2A2A2A"/>
                </a:solidFill>
              </a:rPr>
              <a:t>±0,0048</a:t>
            </a:r>
          </a:p>
        </p:txBody>
      </p:sp>
      <p:sp>
        <p:nvSpPr>
          <p:cNvPr id="63" name="Rectangle 62"/>
          <p:cNvSpPr/>
          <p:nvPr/>
        </p:nvSpPr>
        <p:spPr>
          <a:xfrm>
            <a:off x="365760" y="3145536"/>
            <a:ext cx="5486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93192" y="3172968"/>
            <a:ext cx="493776" cy="310896"/>
          </a:xfrm>
          <a:prstGeom prst="rect">
            <a:avLst/>
          </a:prstGeom>
          <a:noFill/>
        </p:spPr>
        <p:txBody>
          <a:bodyPr wrap="square" anchor="ctr">
            <a:spAutoFit/>
          </a:bodyPr>
          <a:lstStyle/>
          <a:p>
            <a:pPr algn="ctr"/>
            <a:r>
              <a:rPr sz="1100" b="0" i="0">
                <a:solidFill>
                  <a:srgbClr val="2A2A2A"/>
                </a:solidFill>
              </a:rPr>
              <a:t>4</a:t>
            </a:r>
          </a:p>
        </p:txBody>
      </p:sp>
      <p:sp>
        <p:nvSpPr>
          <p:cNvPr id="65" name="Rectangle 64"/>
          <p:cNvSpPr/>
          <p:nvPr/>
        </p:nvSpPr>
        <p:spPr>
          <a:xfrm>
            <a:off x="914400" y="3145536"/>
            <a:ext cx="27432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1832" y="3172968"/>
            <a:ext cx="2688336" cy="310896"/>
          </a:xfrm>
          <a:prstGeom prst="rect">
            <a:avLst/>
          </a:prstGeom>
          <a:noFill/>
        </p:spPr>
        <p:txBody>
          <a:bodyPr wrap="square" anchor="ctr">
            <a:spAutoFit/>
          </a:bodyPr>
          <a:lstStyle/>
          <a:p>
            <a:pPr algn="ctr"/>
            <a:r>
              <a:rPr sz="1100" b="0" i="0">
                <a:solidFill>
                  <a:srgbClr val="2A2A2A"/>
                </a:solidFill>
              </a:rPr>
              <a:t>XGBoost</a:t>
            </a:r>
          </a:p>
        </p:txBody>
      </p:sp>
      <p:sp>
        <p:nvSpPr>
          <p:cNvPr id="67" name="Rectangle 66"/>
          <p:cNvSpPr/>
          <p:nvPr/>
        </p:nvSpPr>
        <p:spPr>
          <a:xfrm>
            <a:off x="3657600" y="3145536"/>
            <a:ext cx="10058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85032" y="3172968"/>
            <a:ext cx="950976" cy="310896"/>
          </a:xfrm>
          <a:prstGeom prst="rect">
            <a:avLst/>
          </a:prstGeom>
          <a:noFill/>
        </p:spPr>
        <p:txBody>
          <a:bodyPr wrap="square" anchor="ctr">
            <a:spAutoFit/>
          </a:bodyPr>
          <a:lstStyle/>
          <a:p>
            <a:pPr algn="ctr"/>
            <a:r>
              <a:rPr sz="1100" b="0" i="0">
                <a:solidFill>
                  <a:srgbClr val="2A2A2A"/>
                </a:solidFill>
              </a:rPr>
              <a:t>ML</a:t>
            </a:r>
          </a:p>
        </p:txBody>
      </p:sp>
      <p:sp>
        <p:nvSpPr>
          <p:cNvPr id="69" name="Rectangle 68"/>
          <p:cNvSpPr/>
          <p:nvPr/>
        </p:nvSpPr>
        <p:spPr>
          <a:xfrm>
            <a:off x="4663440" y="3145536"/>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690872" y="3172968"/>
            <a:ext cx="1682495" cy="310896"/>
          </a:xfrm>
          <a:prstGeom prst="rect">
            <a:avLst/>
          </a:prstGeom>
          <a:noFill/>
        </p:spPr>
        <p:txBody>
          <a:bodyPr wrap="square" anchor="ctr">
            <a:spAutoFit/>
          </a:bodyPr>
          <a:lstStyle/>
          <a:p>
            <a:pPr algn="ctr"/>
            <a:r>
              <a:rPr sz="1100" b="0" i="0">
                <a:solidFill>
                  <a:srgbClr val="2A2A2A"/>
                </a:solidFill>
              </a:rPr>
              <a:t>0,8751</a:t>
            </a:r>
          </a:p>
        </p:txBody>
      </p:sp>
      <p:sp>
        <p:nvSpPr>
          <p:cNvPr id="71" name="Rectangle 70"/>
          <p:cNvSpPr/>
          <p:nvPr/>
        </p:nvSpPr>
        <p:spPr>
          <a:xfrm>
            <a:off x="6400800" y="3145536"/>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28232" y="3172968"/>
            <a:ext cx="1499616" cy="310896"/>
          </a:xfrm>
          <a:prstGeom prst="rect">
            <a:avLst/>
          </a:prstGeom>
          <a:noFill/>
        </p:spPr>
        <p:txBody>
          <a:bodyPr wrap="square" anchor="ctr">
            <a:spAutoFit/>
          </a:bodyPr>
          <a:lstStyle/>
          <a:p>
            <a:pPr algn="ctr"/>
            <a:r>
              <a:rPr sz="1100" b="0" i="0">
                <a:solidFill>
                  <a:srgbClr val="2A2A2A"/>
                </a:solidFill>
              </a:rPr>
              <a:t>0,8408</a:t>
            </a:r>
          </a:p>
        </p:txBody>
      </p:sp>
      <p:sp>
        <p:nvSpPr>
          <p:cNvPr id="73" name="Rectangle 72"/>
          <p:cNvSpPr/>
          <p:nvPr/>
        </p:nvSpPr>
        <p:spPr>
          <a:xfrm>
            <a:off x="7955279" y="3145536"/>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982711" y="3172968"/>
            <a:ext cx="1682495" cy="310896"/>
          </a:xfrm>
          <a:prstGeom prst="rect">
            <a:avLst/>
          </a:prstGeom>
          <a:noFill/>
        </p:spPr>
        <p:txBody>
          <a:bodyPr wrap="square" anchor="ctr">
            <a:spAutoFit/>
          </a:bodyPr>
          <a:lstStyle/>
          <a:p>
            <a:pPr algn="ctr"/>
            <a:r>
              <a:rPr sz="1100" b="0" i="0">
                <a:solidFill>
                  <a:srgbClr val="2A2A2A"/>
                </a:solidFill>
              </a:rPr>
              <a:t>0,9465</a:t>
            </a:r>
          </a:p>
        </p:txBody>
      </p:sp>
      <p:sp>
        <p:nvSpPr>
          <p:cNvPr id="75" name="Rectangle 74"/>
          <p:cNvSpPr/>
          <p:nvPr/>
        </p:nvSpPr>
        <p:spPr>
          <a:xfrm>
            <a:off x="9692640" y="3145536"/>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20072" y="3172968"/>
            <a:ext cx="1499616" cy="310896"/>
          </a:xfrm>
          <a:prstGeom prst="rect">
            <a:avLst/>
          </a:prstGeom>
          <a:noFill/>
        </p:spPr>
        <p:txBody>
          <a:bodyPr wrap="square" anchor="ctr">
            <a:spAutoFit/>
          </a:bodyPr>
          <a:lstStyle/>
          <a:p>
            <a:pPr algn="ctr"/>
            <a:r>
              <a:rPr sz="1100" b="0" i="0">
                <a:solidFill>
                  <a:srgbClr val="2A2A2A"/>
                </a:solidFill>
              </a:rPr>
              <a:t>±0,0029</a:t>
            </a:r>
          </a:p>
        </p:txBody>
      </p:sp>
      <p:sp>
        <p:nvSpPr>
          <p:cNvPr id="77" name="Rectangle 76"/>
          <p:cNvSpPr/>
          <p:nvPr/>
        </p:nvSpPr>
        <p:spPr>
          <a:xfrm>
            <a:off x="365760" y="3547872"/>
            <a:ext cx="5486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93192" y="3575303"/>
            <a:ext cx="493776" cy="310896"/>
          </a:xfrm>
          <a:prstGeom prst="rect">
            <a:avLst/>
          </a:prstGeom>
          <a:noFill/>
        </p:spPr>
        <p:txBody>
          <a:bodyPr wrap="square" anchor="ctr">
            <a:spAutoFit/>
          </a:bodyPr>
          <a:lstStyle/>
          <a:p>
            <a:pPr algn="ctr"/>
            <a:r>
              <a:rPr sz="1100" b="0" i="0">
                <a:solidFill>
                  <a:srgbClr val="2A2A2A"/>
                </a:solidFill>
              </a:rPr>
              <a:t>5</a:t>
            </a:r>
          </a:p>
        </p:txBody>
      </p:sp>
      <p:sp>
        <p:nvSpPr>
          <p:cNvPr id="79" name="Rectangle 78"/>
          <p:cNvSpPr/>
          <p:nvPr/>
        </p:nvSpPr>
        <p:spPr>
          <a:xfrm>
            <a:off x="914400" y="3547872"/>
            <a:ext cx="27432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41832" y="3575303"/>
            <a:ext cx="2688336" cy="310896"/>
          </a:xfrm>
          <a:prstGeom prst="rect">
            <a:avLst/>
          </a:prstGeom>
          <a:noFill/>
        </p:spPr>
        <p:txBody>
          <a:bodyPr wrap="square" anchor="ctr">
            <a:spAutoFit/>
          </a:bodyPr>
          <a:lstStyle/>
          <a:p>
            <a:pPr algn="ctr"/>
            <a:r>
              <a:rPr sz="1100" b="0" i="0">
                <a:solidFill>
                  <a:srgbClr val="2A2A2A"/>
                </a:solidFill>
              </a:rPr>
              <a:t>Gradyan Artırma</a:t>
            </a:r>
          </a:p>
        </p:txBody>
      </p:sp>
      <p:sp>
        <p:nvSpPr>
          <p:cNvPr id="81" name="Rectangle 80"/>
          <p:cNvSpPr/>
          <p:nvPr/>
        </p:nvSpPr>
        <p:spPr>
          <a:xfrm>
            <a:off x="3657600" y="3547872"/>
            <a:ext cx="10058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685032" y="3575303"/>
            <a:ext cx="950976" cy="310896"/>
          </a:xfrm>
          <a:prstGeom prst="rect">
            <a:avLst/>
          </a:prstGeom>
          <a:noFill/>
        </p:spPr>
        <p:txBody>
          <a:bodyPr wrap="square" anchor="ctr">
            <a:spAutoFit/>
          </a:bodyPr>
          <a:lstStyle/>
          <a:p>
            <a:pPr algn="ctr"/>
            <a:r>
              <a:rPr sz="1100" b="0" i="0">
                <a:solidFill>
                  <a:srgbClr val="2A2A2A"/>
                </a:solidFill>
              </a:rPr>
              <a:t>ML</a:t>
            </a:r>
          </a:p>
        </p:txBody>
      </p:sp>
      <p:sp>
        <p:nvSpPr>
          <p:cNvPr id="83" name="Rectangle 82"/>
          <p:cNvSpPr/>
          <p:nvPr/>
        </p:nvSpPr>
        <p:spPr>
          <a:xfrm>
            <a:off x="4663440" y="3547872"/>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690872" y="3575303"/>
            <a:ext cx="1682495" cy="310896"/>
          </a:xfrm>
          <a:prstGeom prst="rect">
            <a:avLst/>
          </a:prstGeom>
          <a:noFill/>
        </p:spPr>
        <p:txBody>
          <a:bodyPr wrap="square" anchor="ctr">
            <a:spAutoFit/>
          </a:bodyPr>
          <a:lstStyle/>
          <a:p>
            <a:pPr algn="ctr"/>
            <a:r>
              <a:rPr sz="1100" b="0" i="0">
                <a:solidFill>
                  <a:srgbClr val="2A2A2A"/>
                </a:solidFill>
              </a:rPr>
              <a:t>0,8685</a:t>
            </a:r>
          </a:p>
        </p:txBody>
      </p:sp>
      <p:sp>
        <p:nvSpPr>
          <p:cNvPr id="85" name="Rectangle 84"/>
          <p:cNvSpPr/>
          <p:nvPr/>
        </p:nvSpPr>
        <p:spPr>
          <a:xfrm>
            <a:off x="6400800" y="3547872"/>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428232" y="3575303"/>
            <a:ext cx="1499616" cy="310896"/>
          </a:xfrm>
          <a:prstGeom prst="rect">
            <a:avLst/>
          </a:prstGeom>
          <a:noFill/>
        </p:spPr>
        <p:txBody>
          <a:bodyPr wrap="square" anchor="ctr">
            <a:spAutoFit/>
          </a:bodyPr>
          <a:lstStyle/>
          <a:p>
            <a:pPr algn="ctr"/>
            <a:r>
              <a:rPr sz="1100" b="0" i="0">
                <a:solidFill>
                  <a:srgbClr val="2A2A2A"/>
                </a:solidFill>
              </a:rPr>
              <a:t>0,8337</a:t>
            </a:r>
          </a:p>
        </p:txBody>
      </p:sp>
      <p:sp>
        <p:nvSpPr>
          <p:cNvPr id="87" name="Rectangle 86"/>
          <p:cNvSpPr/>
          <p:nvPr/>
        </p:nvSpPr>
        <p:spPr>
          <a:xfrm>
            <a:off x="7955279" y="3547872"/>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982711" y="3575303"/>
            <a:ext cx="1682495" cy="310896"/>
          </a:xfrm>
          <a:prstGeom prst="rect">
            <a:avLst/>
          </a:prstGeom>
          <a:noFill/>
        </p:spPr>
        <p:txBody>
          <a:bodyPr wrap="square" anchor="ctr">
            <a:spAutoFit/>
          </a:bodyPr>
          <a:lstStyle/>
          <a:p>
            <a:pPr algn="ctr"/>
            <a:r>
              <a:rPr sz="1100" b="0" i="0">
                <a:solidFill>
                  <a:srgbClr val="2A2A2A"/>
                </a:solidFill>
              </a:rPr>
              <a:t>0,9397</a:t>
            </a:r>
          </a:p>
        </p:txBody>
      </p:sp>
      <p:sp>
        <p:nvSpPr>
          <p:cNvPr id="89" name="Rectangle 88"/>
          <p:cNvSpPr/>
          <p:nvPr/>
        </p:nvSpPr>
        <p:spPr>
          <a:xfrm>
            <a:off x="9692640" y="3547872"/>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720072" y="3575303"/>
            <a:ext cx="1499616" cy="310896"/>
          </a:xfrm>
          <a:prstGeom prst="rect">
            <a:avLst/>
          </a:prstGeom>
          <a:noFill/>
        </p:spPr>
        <p:txBody>
          <a:bodyPr wrap="square" anchor="ctr">
            <a:spAutoFit/>
          </a:bodyPr>
          <a:lstStyle/>
          <a:p>
            <a:pPr algn="ctr"/>
            <a:r>
              <a:rPr sz="1100" b="0" i="0">
                <a:solidFill>
                  <a:srgbClr val="2A2A2A"/>
                </a:solidFill>
              </a:rPr>
              <a:t>±0,0038</a:t>
            </a:r>
          </a:p>
        </p:txBody>
      </p:sp>
      <p:sp>
        <p:nvSpPr>
          <p:cNvPr id="91" name="Rectangle 90"/>
          <p:cNvSpPr/>
          <p:nvPr/>
        </p:nvSpPr>
        <p:spPr>
          <a:xfrm>
            <a:off x="365760" y="3950208"/>
            <a:ext cx="5486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93192" y="3977640"/>
            <a:ext cx="493776" cy="310896"/>
          </a:xfrm>
          <a:prstGeom prst="rect">
            <a:avLst/>
          </a:prstGeom>
          <a:noFill/>
        </p:spPr>
        <p:txBody>
          <a:bodyPr wrap="square" anchor="ctr">
            <a:spAutoFit/>
          </a:bodyPr>
          <a:lstStyle/>
          <a:p>
            <a:pPr algn="ctr"/>
            <a:r>
              <a:rPr sz="1100" b="0" i="0">
                <a:solidFill>
                  <a:srgbClr val="2A2A2A"/>
                </a:solidFill>
              </a:rPr>
              <a:t>6</a:t>
            </a:r>
          </a:p>
        </p:txBody>
      </p:sp>
      <p:sp>
        <p:nvSpPr>
          <p:cNvPr id="93" name="Rectangle 92"/>
          <p:cNvSpPr/>
          <p:nvPr/>
        </p:nvSpPr>
        <p:spPr>
          <a:xfrm>
            <a:off x="914400" y="3950208"/>
            <a:ext cx="27432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41832" y="3977640"/>
            <a:ext cx="2688336" cy="310896"/>
          </a:xfrm>
          <a:prstGeom prst="rect">
            <a:avLst/>
          </a:prstGeom>
          <a:noFill/>
        </p:spPr>
        <p:txBody>
          <a:bodyPr wrap="square" anchor="ctr">
            <a:spAutoFit/>
          </a:bodyPr>
          <a:lstStyle/>
          <a:p>
            <a:pPr algn="ctr"/>
            <a:r>
              <a:rPr sz="1100" b="0" i="0">
                <a:solidFill>
                  <a:srgbClr val="2A2A2A"/>
                </a:solidFill>
              </a:rPr>
              <a:t>Rastgele Orman</a:t>
            </a:r>
          </a:p>
        </p:txBody>
      </p:sp>
      <p:sp>
        <p:nvSpPr>
          <p:cNvPr id="95" name="Rectangle 94"/>
          <p:cNvSpPr/>
          <p:nvPr/>
        </p:nvSpPr>
        <p:spPr>
          <a:xfrm>
            <a:off x="3657600" y="3950208"/>
            <a:ext cx="10058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685032" y="3977640"/>
            <a:ext cx="950976" cy="310896"/>
          </a:xfrm>
          <a:prstGeom prst="rect">
            <a:avLst/>
          </a:prstGeom>
          <a:noFill/>
        </p:spPr>
        <p:txBody>
          <a:bodyPr wrap="square" anchor="ctr">
            <a:spAutoFit/>
          </a:bodyPr>
          <a:lstStyle/>
          <a:p>
            <a:pPr algn="ctr"/>
            <a:r>
              <a:rPr sz="1100" b="0" i="0">
                <a:solidFill>
                  <a:srgbClr val="2A2A2A"/>
                </a:solidFill>
              </a:rPr>
              <a:t>ML</a:t>
            </a:r>
          </a:p>
        </p:txBody>
      </p:sp>
      <p:sp>
        <p:nvSpPr>
          <p:cNvPr id="97" name="Rectangle 96"/>
          <p:cNvSpPr/>
          <p:nvPr/>
        </p:nvSpPr>
        <p:spPr>
          <a:xfrm>
            <a:off x="4663440" y="3950208"/>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690872" y="3977640"/>
            <a:ext cx="1682495" cy="310896"/>
          </a:xfrm>
          <a:prstGeom prst="rect">
            <a:avLst/>
          </a:prstGeom>
          <a:noFill/>
        </p:spPr>
        <p:txBody>
          <a:bodyPr wrap="square" anchor="ctr">
            <a:spAutoFit/>
          </a:bodyPr>
          <a:lstStyle/>
          <a:p>
            <a:pPr algn="ctr"/>
            <a:r>
              <a:rPr sz="1100" b="0" i="0">
                <a:solidFill>
                  <a:srgbClr val="2A2A2A"/>
                </a:solidFill>
              </a:rPr>
              <a:t>0,8606</a:t>
            </a:r>
          </a:p>
        </p:txBody>
      </p:sp>
      <p:sp>
        <p:nvSpPr>
          <p:cNvPr id="99" name="Rectangle 98"/>
          <p:cNvSpPr/>
          <p:nvPr/>
        </p:nvSpPr>
        <p:spPr>
          <a:xfrm>
            <a:off x="6400800" y="3950208"/>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428232" y="3977640"/>
            <a:ext cx="1499616" cy="310896"/>
          </a:xfrm>
          <a:prstGeom prst="rect">
            <a:avLst/>
          </a:prstGeom>
          <a:noFill/>
        </p:spPr>
        <p:txBody>
          <a:bodyPr wrap="square" anchor="ctr">
            <a:spAutoFit/>
          </a:bodyPr>
          <a:lstStyle/>
          <a:p>
            <a:pPr algn="ctr"/>
            <a:r>
              <a:rPr sz="1100" b="0" i="0">
                <a:solidFill>
                  <a:srgbClr val="2A2A2A"/>
                </a:solidFill>
              </a:rPr>
              <a:t>0,8183</a:t>
            </a:r>
          </a:p>
        </p:txBody>
      </p:sp>
      <p:sp>
        <p:nvSpPr>
          <p:cNvPr id="101" name="Rectangle 100"/>
          <p:cNvSpPr/>
          <p:nvPr/>
        </p:nvSpPr>
        <p:spPr>
          <a:xfrm>
            <a:off x="7955279" y="3950208"/>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982711" y="3977640"/>
            <a:ext cx="1682495" cy="310896"/>
          </a:xfrm>
          <a:prstGeom prst="rect">
            <a:avLst/>
          </a:prstGeom>
          <a:noFill/>
        </p:spPr>
        <p:txBody>
          <a:bodyPr wrap="square" anchor="ctr">
            <a:spAutoFit/>
          </a:bodyPr>
          <a:lstStyle/>
          <a:p>
            <a:pPr algn="ctr"/>
            <a:r>
              <a:rPr sz="1100" b="0" i="0">
                <a:solidFill>
                  <a:srgbClr val="2A2A2A"/>
                </a:solidFill>
              </a:rPr>
              <a:t>0,9394</a:t>
            </a:r>
          </a:p>
        </p:txBody>
      </p:sp>
      <p:sp>
        <p:nvSpPr>
          <p:cNvPr id="103" name="Rectangle 102"/>
          <p:cNvSpPr/>
          <p:nvPr/>
        </p:nvSpPr>
        <p:spPr>
          <a:xfrm>
            <a:off x="9692640" y="3950208"/>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720072" y="3977640"/>
            <a:ext cx="1499616" cy="310896"/>
          </a:xfrm>
          <a:prstGeom prst="rect">
            <a:avLst/>
          </a:prstGeom>
          <a:noFill/>
        </p:spPr>
        <p:txBody>
          <a:bodyPr wrap="square" anchor="ctr">
            <a:spAutoFit/>
          </a:bodyPr>
          <a:lstStyle/>
          <a:p>
            <a:pPr algn="ctr"/>
            <a:r>
              <a:rPr sz="1100" b="0" i="0">
                <a:solidFill>
                  <a:srgbClr val="2A2A2A"/>
                </a:solidFill>
              </a:rPr>
              <a:t>±0,0051</a:t>
            </a:r>
          </a:p>
        </p:txBody>
      </p:sp>
      <p:sp>
        <p:nvSpPr>
          <p:cNvPr id="105" name="Rectangle 104"/>
          <p:cNvSpPr/>
          <p:nvPr/>
        </p:nvSpPr>
        <p:spPr>
          <a:xfrm>
            <a:off x="365760" y="4352544"/>
            <a:ext cx="5486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93192" y="4379976"/>
            <a:ext cx="493776" cy="310896"/>
          </a:xfrm>
          <a:prstGeom prst="rect">
            <a:avLst/>
          </a:prstGeom>
          <a:noFill/>
        </p:spPr>
        <p:txBody>
          <a:bodyPr wrap="square" anchor="ctr">
            <a:spAutoFit/>
          </a:bodyPr>
          <a:lstStyle/>
          <a:p>
            <a:pPr algn="ctr"/>
            <a:r>
              <a:rPr sz="1100" b="0" i="0">
                <a:solidFill>
                  <a:srgbClr val="2A2A2A"/>
                </a:solidFill>
              </a:rPr>
              <a:t>7</a:t>
            </a:r>
          </a:p>
        </p:txBody>
      </p:sp>
      <p:sp>
        <p:nvSpPr>
          <p:cNvPr id="107" name="Rectangle 106"/>
          <p:cNvSpPr/>
          <p:nvPr/>
        </p:nvSpPr>
        <p:spPr>
          <a:xfrm>
            <a:off x="914400" y="4352544"/>
            <a:ext cx="27432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41832" y="4379976"/>
            <a:ext cx="2688336" cy="310896"/>
          </a:xfrm>
          <a:prstGeom prst="rect">
            <a:avLst/>
          </a:prstGeom>
          <a:noFill/>
        </p:spPr>
        <p:txBody>
          <a:bodyPr wrap="square" anchor="ctr">
            <a:spAutoFit/>
          </a:bodyPr>
          <a:lstStyle/>
          <a:p>
            <a:pPr algn="ctr"/>
            <a:r>
              <a:rPr sz="1100" b="0" i="0">
                <a:solidFill>
                  <a:srgbClr val="2A2A2A"/>
                </a:solidFill>
              </a:rPr>
              <a:t>Dikkat ÇKA</a:t>
            </a:r>
          </a:p>
        </p:txBody>
      </p:sp>
      <p:sp>
        <p:nvSpPr>
          <p:cNvPr id="109" name="Rectangle 108"/>
          <p:cNvSpPr/>
          <p:nvPr/>
        </p:nvSpPr>
        <p:spPr>
          <a:xfrm>
            <a:off x="3657600" y="4352544"/>
            <a:ext cx="10058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685032" y="4379976"/>
            <a:ext cx="950976" cy="310896"/>
          </a:xfrm>
          <a:prstGeom prst="rect">
            <a:avLst/>
          </a:prstGeom>
          <a:noFill/>
        </p:spPr>
        <p:txBody>
          <a:bodyPr wrap="square" anchor="ctr">
            <a:spAutoFit/>
          </a:bodyPr>
          <a:lstStyle/>
          <a:p>
            <a:pPr algn="ctr"/>
            <a:r>
              <a:rPr sz="1100" b="0" i="0">
                <a:solidFill>
                  <a:srgbClr val="2A2A2A"/>
                </a:solidFill>
              </a:rPr>
              <a:t>DL</a:t>
            </a:r>
          </a:p>
        </p:txBody>
      </p:sp>
      <p:sp>
        <p:nvSpPr>
          <p:cNvPr id="111" name="Rectangle 110"/>
          <p:cNvSpPr/>
          <p:nvPr/>
        </p:nvSpPr>
        <p:spPr>
          <a:xfrm>
            <a:off x="4663440" y="4352544"/>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690872" y="4379976"/>
            <a:ext cx="1682495" cy="310896"/>
          </a:xfrm>
          <a:prstGeom prst="rect">
            <a:avLst/>
          </a:prstGeom>
          <a:noFill/>
        </p:spPr>
        <p:txBody>
          <a:bodyPr wrap="square" anchor="ctr">
            <a:spAutoFit/>
          </a:bodyPr>
          <a:lstStyle/>
          <a:p>
            <a:pPr algn="ctr"/>
            <a:r>
              <a:rPr sz="1100" b="0" i="0">
                <a:solidFill>
                  <a:srgbClr val="2A2A2A"/>
                </a:solidFill>
              </a:rPr>
              <a:t>0,8628</a:t>
            </a:r>
          </a:p>
        </p:txBody>
      </p:sp>
      <p:sp>
        <p:nvSpPr>
          <p:cNvPr id="113" name="Rectangle 112"/>
          <p:cNvSpPr/>
          <p:nvPr/>
        </p:nvSpPr>
        <p:spPr>
          <a:xfrm>
            <a:off x="6400800" y="4352544"/>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428232" y="4379976"/>
            <a:ext cx="1499616" cy="310896"/>
          </a:xfrm>
          <a:prstGeom prst="rect">
            <a:avLst/>
          </a:prstGeom>
          <a:noFill/>
        </p:spPr>
        <p:txBody>
          <a:bodyPr wrap="square" anchor="ctr">
            <a:spAutoFit/>
          </a:bodyPr>
          <a:lstStyle/>
          <a:p>
            <a:pPr algn="ctr"/>
            <a:r>
              <a:rPr sz="1100" b="0" i="0">
                <a:solidFill>
                  <a:srgbClr val="2A2A2A"/>
                </a:solidFill>
              </a:rPr>
              <a:t>0,8293</a:t>
            </a:r>
          </a:p>
        </p:txBody>
      </p:sp>
      <p:sp>
        <p:nvSpPr>
          <p:cNvPr id="115" name="Rectangle 114"/>
          <p:cNvSpPr/>
          <p:nvPr/>
        </p:nvSpPr>
        <p:spPr>
          <a:xfrm>
            <a:off x="7955279" y="4352544"/>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982711" y="4379976"/>
            <a:ext cx="1682495" cy="310896"/>
          </a:xfrm>
          <a:prstGeom prst="rect">
            <a:avLst/>
          </a:prstGeom>
          <a:noFill/>
        </p:spPr>
        <p:txBody>
          <a:bodyPr wrap="square" anchor="ctr">
            <a:spAutoFit/>
          </a:bodyPr>
          <a:lstStyle/>
          <a:p>
            <a:pPr algn="ctr"/>
            <a:r>
              <a:rPr sz="1100" b="0" i="0">
                <a:solidFill>
                  <a:srgbClr val="2A2A2A"/>
                </a:solidFill>
              </a:rPr>
              <a:t>0,9359</a:t>
            </a:r>
          </a:p>
        </p:txBody>
      </p:sp>
      <p:sp>
        <p:nvSpPr>
          <p:cNvPr id="117" name="Rectangle 116"/>
          <p:cNvSpPr/>
          <p:nvPr/>
        </p:nvSpPr>
        <p:spPr>
          <a:xfrm>
            <a:off x="9692640" y="4352544"/>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720072" y="4379976"/>
            <a:ext cx="1499616" cy="310896"/>
          </a:xfrm>
          <a:prstGeom prst="rect">
            <a:avLst/>
          </a:prstGeom>
          <a:noFill/>
        </p:spPr>
        <p:txBody>
          <a:bodyPr wrap="square" anchor="ctr">
            <a:spAutoFit/>
          </a:bodyPr>
          <a:lstStyle/>
          <a:p>
            <a:pPr algn="ctr"/>
            <a:r>
              <a:rPr sz="1100" b="0" i="0">
                <a:solidFill>
                  <a:srgbClr val="2A2A2A"/>
                </a:solidFill>
              </a:rPr>
              <a:t>±0,0059</a:t>
            </a:r>
          </a:p>
        </p:txBody>
      </p:sp>
      <p:sp>
        <p:nvSpPr>
          <p:cNvPr id="119" name="Rectangle 118"/>
          <p:cNvSpPr/>
          <p:nvPr/>
        </p:nvSpPr>
        <p:spPr>
          <a:xfrm>
            <a:off x="365760" y="4754880"/>
            <a:ext cx="5486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393192" y="4782312"/>
            <a:ext cx="493776" cy="310896"/>
          </a:xfrm>
          <a:prstGeom prst="rect">
            <a:avLst/>
          </a:prstGeom>
          <a:noFill/>
        </p:spPr>
        <p:txBody>
          <a:bodyPr wrap="square" anchor="ctr">
            <a:spAutoFit/>
          </a:bodyPr>
          <a:lstStyle/>
          <a:p>
            <a:pPr algn="ctr"/>
            <a:r>
              <a:rPr sz="1100" b="0" i="0">
                <a:solidFill>
                  <a:srgbClr val="2A2A2A"/>
                </a:solidFill>
              </a:rPr>
              <a:t>8</a:t>
            </a:r>
          </a:p>
        </p:txBody>
      </p:sp>
      <p:sp>
        <p:nvSpPr>
          <p:cNvPr id="121" name="Rectangle 120"/>
          <p:cNvSpPr/>
          <p:nvPr/>
        </p:nvSpPr>
        <p:spPr>
          <a:xfrm>
            <a:off x="914400" y="4754880"/>
            <a:ext cx="27432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41832" y="4782312"/>
            <a:ext cx="2688336" cy="310896"/>
          </a:xfrm>
          <a:prstGeom prst="rect">
            <a:avLst/>
          </a:prstGeom>
          <a:noFill/>
        </p:spPr>
        <p:txBody>
          <a:bodyPr wrap="square" anchor="ctr">
            <a:spAutoFit/>
          </a:bodyPr>
          <a:lstStyle/>
          <a:p>
            <a:pPr algn="ctr"/>
            <a:r>
              <a:rPr sz="1100" b="0" i="0">
                <a:solidFill>
                  <a:srgbClr val="2A2A2A"/>
                </a:solidFill>
              </a:rPr>
              <a:t>SVM-RBF</a:t>
            </a:r>
          </a:p>
        </p:txBody>
      </p:sp>
      <p:sp>
        <p:nvSpPr>
          <p:cNvPr id="123" name="Rectangle 122"/>
          <p:cNvSpPr/>
          <p:nvPr/>
        </p:nvSpPr>
        <p:spPr>
          <a:xfrm>
            <a:off x="3657600" y="4754880"/>
            <a:ext cx="10058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5032" y="4782312"/>
            <a:ext cx="950976" cy="310896"/>
          </a:xfrm>
          <a:prstGeom prst="rect">
            <a:avLst/>
          </a:prstGeom>
          <a:noFill/>
        </p:spPr>
        <p:txBody>
          <a:bodyPr wrap="square" anchor="ctr">
            <a:spAutoFit/>
          </a:bodyPr>
          <a:lstStyle/>
          <a:p>
            <a:pPr algn="ctr"/>
            <a:r>
              <a:rPr sz="1100" b="0" i="0">
                <a:solidFill>
                  <a:srgbClr val="2A2A2A"/>
                </a:solidFill>
              </a:rPr>
              <a:t>ML</a:t>
            </a:r>
          </a:p>
        </p:txBody>
      </p:sp>
      <p:sp>
        <p:nvSpPr>
          <p:cNvPr id="125" name="Rectangle 124"/>
          <p:cNvSpPr/>
          <p:nvPr/>
        </p:nvSpPr>
        <p:spPr>
          <a:xfrm>
            <a:off x="4663440" y="4754880"/>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690872" y="4782312"/>
            <a:ext cx="1682495" cy="310896"/>
          </a:xfrm>
          <a:prstGeom prst="rect">
            <a:avLst/>
          </a:prstGeom>
          <a:noFill/>
        </p:spPr>
        <p:txBody>
          <a:bodyPr wrap="square" anchor="ctr">
            <a:spAutoFit/>
          </a:bodyPr>
          <a:lstStyle/>
          <a:p>
            <a:pPr algn="ctr"/>
            <a:r>
              <a:rPr sz="1100" b="0" i="0">
                <a:solidFill>
                  <a:srgbClr val="2A2A2A"/>
                </a:solidFill>
              </a:rPr>
              <a:t>0,8612</a:t>
            </a:r>
          </a:p>
        </p:txBody>
      </p:sp>
      <p:sp>
        <p:nvSpPr>
          <p:cNvPr id="127" name="Rectangle 126"/>
          <p:cNvSpPr/>
          <p:nvPr/>
        </p:nvSpPr>
        <p:spPr>
          <a:xfrm>
            <a:off x="6400800" y="4754880"/>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428232" y="4782312"/>
            <a:ext cx="1499616" cy="310896"/>
          </a:xfrm>
          <a:prstGeom prst="rect">
            <a:avLst/>
          </a:prstGeom>
          <a:noFill/>
        </p:spPr>
        <p:txBody>
          <a:bodyPr wrap="square" anchor="ctr">
            <a:spAutoFit/>
          </a:bodyPr>
          <a:lstStyle/>
          <a:p>
            <a:pPr algn="ctr"/>
            <a:r>
              <a:rPr sz="1100" b="0" i="0">
                <a:solidFill>
                  <a:srgbClr val="2A2A2A"/>
                </a:solidFill>
              </a:rPr>
              <a:t>0,8252</a:t>
            </a:r>
          </a:p>
        </p:txBody>
      </p:sp>
      <p:sp>
        <p:nvSpPr>
          <p:cNvPr id="129" name="Rectangle 128"/>
          <p:cNvSpPr/>
          <p:nvPr/>
        </p:nvSpPr>
        <p:spPr>
          <a:xfrm>
            <a:off x="7955279" y="4754880"/>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982711" y="4782312"/>
            <a:ext cx="1682495" cy="310896"/>
          </a:xfrm>
          <a:prstGeom prst="rect">
            <a:avLst/>
          </a:prstGeom>
          <a:noFill/>
        </p:spPr>
        <p:txBody>
          <a:bodyPr wrap="square" anchor="ctr">
            <a:spAutoFit/>
          </a:bodyPr>
          <a:lstStyle/>
          <a:p>
            <a:pPr algn="ctr"/>
            <a:r>
              <a:rPr sz="1100" b="0" i="0">
                <a:solidFill>
                  <a:srgbClr val="2A2A2A"/>
                </a:solidFill>
              </a:rPr>
              <a:t>0,9346</a:t>
            </a:r>
          </a:p>
        </p:txBody>
      </p:sp>
      <p:sp>
        <p:nvSpPr>
          <p:cNvPr id="131" name="Rectangle 130"/>
          <p:cNvSpPr/>
          <p:nvPr/>
        </p:nvSpPr>
        <p:spPr>
          <a:xfrm>
            <a:off x="9692640" y="4754880"/>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720072" y="4782312"/>
            <a:ext cx="1499616" cy="310896"/>
          </a:xfrm>
          <a:prstGeom prst="rect">
            <a:avLst/>
          </a:prstGeom>
          <a:noFill/>
        </p:spPr>
        <p:txBody>
          <a:bodyPr wrap="square" anchor="ctr">
            <a:spAutoFit/>
          </a:bodyPr>
          <a:lstStyle/>
          <a:p>
            <a:pPr algn="ctr"/>
            <a:r>
              <a:rPr sz="1100" b="0" i="0">
                <a:solidFill>
                  <a:srgbClr val="2A2A2A"/>
                </a:solidFill>
              </a:rPr>
              <a:t>±0,0075</a:t>
            </a:r>
          </a:p>
        </p:txBody>
      </p:sp>
      <p:sp>
        <p:nvSpPr>
          <p:cNvPr id="133" name="Rectangle 132"/>
          <p:cNvSpPr/>
          <p:nvPr/>
        </p:nvSpPr>
        <p:spPr>
          <a:xfrm>
            <a:off x="365760" y="5157216"/>
            <a:ext cx="5486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393192" y="5184648"/>
            <a:ext cx="493776" cy="310896"/>
          </a:xfrm>
          <a:prstGeom prst="rect">
            <a:avLst/>
          </a:prstGeom>
          <a:noFill/>
        </p:spPr>
        <p:txBody>
          <a:bodyPr wrap="square" anchor="ctr">
            <a:spAutoFit/>
          </a:bodyPr>
          <a:lstStyle/>
          <a:p>
            <a:pPr algn="ctr"/>
            <a:r>
              <a:rPr sz="1100" b="0" i="0">
                <a:solidFill>
                  <a:srgbClr val="2A2A2A"/>
                </a:solidFill>
              </a:rPr>
              <a:t>9</a:t>
            </a:r>
          </a:p>
        </p:txBody>
      </p:sp>
      <p:sp>
        <p:nvSpPr>
          <p:cNvPr id="135" name="Rectangle 134"/>
          <p:cNvSpPr/>
          <p:nvPr/>
        </p:nvSpPr>
        <p:spPr>
          <a:xfrm>
            <a:off x="914400" y="5157216"/>
            <a:ext cx="27432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941832" y="5184648"/>
            <a:ext cx="2688336" cy="310896"/>
          </a:xfrm>
          <a:prstGeom prst="rect">
            <a:avLst/>
          </a:prstGeom>
          <a:noFill/>
        </p:spPr>
        <p:txBody>
          <a:bodyPr wrap="square" anchor="ctr">
            <a:spAutoFit/>
          </a:bodyPr>
          <a:lstStyle/>
          <a:p>
            <a:pPr algn="ctr"/>
            <a:r>
              <a:rPr sz="1100" b="0" i="0">
                <a:solidFill>
                  <a:srgbClr val="2A2A2A"/>
                </a:solidFill>
              </a:rPr>
              <a:t>ÇKA Sinir Ağı</a:t>
            </a:r>
          </a:p>
        </p:txBody>
      </p:sp>
      <p:sp>
        <p:nvSpPr>
          <p:cNvPr id="137" name="Rectangle 136"/>
          <p:cNvSpPr/>
          <p:nvPr/>
        </p:nvSpPr>
        <p:spPr>
          <a:xfrm>
            <a:off x="3657600" y="5157216"/>
            <a:ext cx="10058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685032" y="5184648"/>
            <a:ext cx="950976" cy="310896"/>
          </a:xfrm>
          <a:prstGeom prst="rect">
            <a:avLst/>
          </a:prstGeom>
          <a:noFill/>
        </p:spPr>
        <p:txBody>
          <a:bodyPr wrap="square" anchor="ctr">
            <a:spAutoFit/>
          </a:bodyPr>
          <a:lstStyle/>
          <a:p>
            <a:pPr algn="ctr"/>
            <a:r>
              <a:rPr sz="1100" b="0" i="0">
                <a:solidFill>
                  <a:srgbClr val="2A2A2A"/>
                </a:solidFill>
              </a:rPr>
              <a:t>ML</a:t>
            </a:r>
          </a:p>
        </p:txBody>
      </p:sp>
      <p:sp>
        <p:nvSpPr>
          <p:cNvPr id="139" name="Rectangle 138"/>
          <p:cNvSpPr/>
          <p:nvPr/>
        </p:nvSpPr>
        <p:spPr>
          <a:xfrm>
            <a:off x="4663440" y="5157216"/>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690872" y="5184648"/>
            <a:ext cx="1682495" cy="310896"/>
          </a:xfrm>
          <a:prstGeom prst="rect">
            <a:avLst/>
          </a:prstGeom>
          <a:noFill/>
        </p:spPr>
        <p:txBody>
          <a:bodyPr wrap="square" anchor="ctr">
            <a:spAutoFit/>
          </a:bodyPr>
          <a:lstStyle/>
          <a:p>
            <a:pPr algn="ctr"/>
            <a:r>
              <a:rPr sz="1100" b="0" i="0">
                <a:solidFill>
                  <a:srgbClr val="2A2A2A"/>
                </a:solidFill>
              </a:rPr>
              <a:t>0,8566</a:t>
            </a:r>
          </a:p>
        </p:txBody>
      </p:sp>
      <p:sp>
        <p:nvSpPr>
          <p:cNvPr id="141" name="Rectangle 140"/>
          <p:cNvSpPr/>
          <p:nvPr/>
        </p:nvSpPr>
        <p:spPr>
          <a:xfrm>
            <a:off x="6400800" y="5157216"/>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428232" y="5184648"/>
            <a:ext cx="1499616" cy="310896"/>
          </a:xfrm>
          <a:prstGeom prst="rect">
            <a:avLst/>
          </a:prstGeom>
          <a:noFill/>
        </p:spPr>
        <p:txBody>
          <a:bodyPr wrap="square" anchor="ctr">
            <a:spAutoFit/>
          </a:bodyPr>
          <a:lstStyle/>
          <a:p>
            <a:pPr algn="ctr"/>
            <a:r>
              <a:rPr sz="1100" b="0" i="0">
                <a:solidFill>
                  <a:srgbClr val="2A2A2A"/>
                </a:solidFill>
              </a:rPr>
              <a:t>0,8189</a:t>
            </a:r>
          </a:p>
        </p:txBody>
      </p:sp>
      <p:sp>
        <p:nvSpPr>
          <p:cNvPr id="143" name="Rectangle 142"/>
          <p:cNvSpPr/>
          <p:nvPr/>
        </p:nvSpPr>
        <p:spPr>
          <a:xfrm>
            <a:off x="7955279" y="5157216"/>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7982711" y="5184648"/>
            <a:ext cx="1682495" cy="310896"/>
          </a:xfrm>
          <a:prstGeom prst="rect">
            <a:avLst/>
          </a:prstGeom>
          <a:noFill/>
        </p:spPr>
        <p:txBody>
          <a:bodyPr wrap="square" anchor="ctr">
            <a:spAutoFit/>
          </a:bodyPr>
          <a:lstStyle/>
          <a:p>
            <a:pPr algn="ctr"/>
            <a:r>
              <a:rPr sz="1100" b="0" i="0">
                <a:solidFill>
                  <a:srgbClr val="2A2A2A"/>
                </a:solidFill>
              </a:rPr>
              <a:t>0,9276</a:t>
            </a:r>
          </a:p>
        </p:txBody>
      </p:sp>
      <p:sp>
        <p:nvSpPr>
          <p:cNvPr id="145" name="Rectangle 144"/>
          <p:cNvSpPr/>
          <p:nvPr/>
        </p:nvSpPr>
        <p:spPr>
          <a:xfrm>
            <a:off x="9692640" y="5157216"/>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720072" y="5184648"/>
            <a:ext cx="1499616" cy="310896"/>
          </a:xfrm>
          <a:prstGeom prst="rect">
            <a:avLst/>
          </a:prstGeom>
          <a:noFill/>
        </p:spPr>
        <p:txBody>
          <a:bodyPr wrap="square" anchor="ctr">
            <a:spAutoFit/>
          </a:bodyPr>
          <a:lstStyle/>
          <a:p>
            <a:pPr algn="ctr"/>
            <a:r>
              <a:rPr sz="1100" b="0" i="0">
                <a:solidFill>
                  <a:srgbClr val="2A2A2A"/>
                </a:solidFill>
              </a:rPr>
              <a:t>±0,0061</a:t>
            </a:r>
          </a:p>
        </p:txBody>
      </p:sp>
      <p:sp>
        <p:nvSpPr>
          <p:cNvPr id="147" name="Rectangle 146"/>
          <p:cNvSpPr/>
          <p:nvPr/>
        </p:nvSpPr>
        <p:spPr>
          <a:xfrm>
            <a:off x="365760" y="5559552"/>
            <a:ext cx="5486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393192" y="5586984"/>
            <a:ext cx="493776" cy="310896"/>
          </a:xfrm>
          <a:prstGeom prst="rect">
            <a:avLst/>
          </a:prstGeom>
          <a:noFill/>
        </p:spPr>
        <p:txBody>
          <a:bodyPr wrap="square" anchor="ctr">
            <a:spAutoFit/>
          </a:bodyPr>
          <a:lstStyle/>
          <a:p>
            <a:pPr algn="ctr"/>
            <a:r>
              <a:rPr sz="1100" b="0" i="0">
                <a:solidFill>
                  <a:srgbClr val="2A2A2A"/>
                </a:solidFill>
              </a:rPr>
              <a:t>10</a:t>
            </a:r>
          </a:p>
        </p:txBody>
      </p:sp>
      <p:sp>
        <p:nvSpPr>
          <p:cNvPr id="149" name="Rectangle 148"/>
          <p:cNvSpPr/>
          <p:nvPr/>
        </p:nvSpPr>
        <p:spPr>
          <a:xfrm>
            <a:off x="914400" y="5559552"/>
            <a:ext cx="274320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941832" y="5586984"/>
            <a:ext cx="2688336" cy="310896"/>
          </a:xfrm>
          <a:prstGeom prst="rect">
            <a:avLst/>
          </a:prstGeom>
          <a:noFill/>
        </p:spPr>
        <p:txBody>
          <a:bodyPr wrap="square" anchor="ctr">
            <a:spAutoFit/>
          </a:bodyPr>
          <a:lstStyle/>
          <a:p>
            <a:pPr algn="ctr"/>
            <a:r>
              <a:rPr sz="1100" b="0" i="0">
                <a:solidFill>
                  <a:srgbClr val="2A2A2A"/>
                </a:solidFill>
              </a:rPr>
              <a:t>1B-ESA</a:t>
            </a:r>
          </a:p>
        </p:txBody>
      </p:sp>
      <p:sp>
        <p:nvSpPr>
          <p:cNvPr id="151" name="Rectangle 150"/>
          <p:cNvSpPr/>
          <p:nvPr/>
        </p:nvSpPr>
        <p:spPr>
          <a:xfrm>
            <a:off x="3657600" y="5559552"/>
            <a:ext cx="100584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3685032" y="5586984"/>
            <a:ext cx="950976" cy="310896"/>
          </a:xfrm>
          <a:prstGeom prst="rect">
            <a:avLst/>
          </a:prstGeom>
          <a:noFill/>
        </p:spPr>
        <p:txBody>
          <a:bodyPr wrap="square" anchor="ctr">
            <a:spAutoFit/>
          </a:bodyPr>
          <a:lstStyle/>
          <a:p>
            <a:pPr algn="ctr"/>
            <a:r>
              <a:rPr sz="1100" b="0" i="0">
                <a:solidFill>
                  <a:srgbClr val="2A2A2A"/>
                </a:solidFill>
              </a:rPr>
              <a:t>DL</a:t>
            </a:r>
          </a:p>
        </p:txBody>
      </p:sp>
      <p:sp>
        <p:nvSpPr>
          <p:cNvPr id="153" name="Rectangle 152"/>
          <p:cNvSpPr/>
          <p:nvPr/>
        </p:nvSpPr>
        <p:spPr>
          <a:xfrm>
            <a:off x="4663440" y="5559552"/>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4690872" y="5586984"/>
            <a:ext cx="1682495" cy="310896"/>
          </a:xfrm>
          <a:prstGeom prst="rect">
            <a:avLst/>
          </a:prstGeom>
          <a:noFill/>
        </p:spPr>
        <p:txBody>
          <a:bodyPr wrap="square" anchor="ctr">
            <a:spAutoFit/>
          </a:bodyPr>
          <a:lstStyle/>
          <a:p>
            <a:pPr algn="ctr"/>
            <a:r>
              <a:rPr sz="1100" b="0" i="0">
                <a:solidFill>
                  <a:srgbClr val="2A2A2A"/>
                </a:solidFill>
              </a:rPr>
              <a:t>0,7665</a:t>
            </a:r>
          </a:p>
        </p:txBody>
      </p:sp>
      <p:sp>
        <p:nvSpPr>
          <p:cNvPr id="155" name="Rectangle 154"/>
          <p:cNvSpPr/>
          <p:nvPr/>
        </p:nvSpPr>
        <p:spPr>
          <a:xfrm>
            <a:off x="6400800" y="5559552"/>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428232" y="5586984"/>
            <a:ext cx="1499616" cy="310896"/>
          </a:xfrm>
          <a:prstGeom prst="rect">
            <a:avLst/>
          </a:prstGeom>
          <a:noFill/>
        </p:spPr>
        <p:txBody>
          <a:bodyPr wrap="square" anchor="ctr">
            <a:spAutoFit/>
          </a:bodyPr>
          <a:lstStyle/>
          <a:p>
            <a:pPr algn="ctr"/>
            <a:r>
              <a:rPr sz="1100" b="0" i="0">
                <a:solidFill>
                  <a:srgbClr val="2A2A2A"/>
                </a:solidFill>
              </a:rPr>
              <a:t>0,7159</a:t>
            </a:r>
          </a:p>
        </p:txBody>
      </p:sp>
      <p:sp>
        <p:nvSpPr>
          <p:cNvPr id="157" name="Rectangle 156"/>
          <p:cNvSpPr/>
          <p:nvPr/>
        </p:nvSpPr>
        <p:spPr>
          <a:xfrm>
            <a:off x="7955279" y="5559552"/>
            <a:ext cx="173736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7982711" y="5586984"/>
            <a:ext cx="1682495" cy="310896"/>
          </a:xfrm>
          <a:prstGeom prst="rect">
            <a:avLst/>
          </a:prstGeom>
          <a:noFill/>
        </p:spPr>
        <p:txBody>
          <a:bodyPr wrap="square" anchor="ctr">
            <a:spAutoFit/>
          </a:bodyPr>
          <a:lstStyle/>
          <a:p>
            <a:pPr algn="ctr"/>
            <a:r>
              <a:rPr sz="1100" b="0" i="0">
                <a:solidFill>
                  <a:srgbClr val="2A2A2A"/>
                </a:solidFill>
              </a:rPr>
              <a:t>0,8543</a:t>
            </a:r>
          </a:p>
        </p:txBody>
      </p:sp>
      <p:sp>
        <p:nvSpPr>
          <p:cNvPr id="159" name="Rectangle 158"/>
          <p:cNvSpPr/>
          <p:nvPr/>
        </p:nvSpPr>
        <p:spPr>
          <a:xfrm>
            <a:off x="9692640" y="5559552"/>
            <a:ext cx="1554480" cy="365760"/>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720072" y="5586984"/>
            <a:ext cx="1499616" cy="310896"/>
          </a:xfrm>
          <a:prstGeom prst="rect">
            <a:avLst/>
          </a:prstGeom>
          <a:noFill/>
        </p:spPr>
        <p:txBody>
          <a:bodyPr wrap="square" anchor="ctr">
            <a:spAutoFit/>
          </a:bodyPr>
          <a:lstStyle/>
          <a:p>
            <a:pPr algn="ctr"/>
            <a:r>
              <a:rPr sz="1100" b="0" i="0">
                <a:solidFill>
                  <a:srgbClr val="2A2A2A"/>
                </a:solidFill>
              </a:rPr>
              <a:t>±0,0087</a:t>
            </a:r>
          </a:p>
        </p:txBody>
      </p:sp>
      <p:sp>
        <p:nvSpPr>
          <p:cNvPr id="161" name="Rectangle 160"/>
          <p:cNvSpPr/>
          <p:nvPr/>
        </p:nvSpPr>
        <p:spPr>
          <a:xfrm>
            <a:off x="365760" y="5961888"/>
            <a:ext cx="5486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393192" y="5989320"/>
            <a:ext cx="493776" cy="310896"/>
          </a:xfrm>
          <a:prstGeom prst="rect">
            <a:avLst/>
          </a:prstGeom>
          <a:noFill/>
        </p:spPr>
        <p:txBody>
          <a:bodyPr wrap="square" anchor="ctr">
            <a:spAutoFit/>
          </a:bodyPr>
          <a:lstStyle/>
          <a:p>
            <a:pPr algn="ctr"/>
            <a:r>
              <a:rPr sz="1100" b="0" i="0">
                <a:solidFill>
                  <a:srgbClr val="2A2A2A"/>
                </a:solidFill>
              </a:rPr>
              <a:t>11</a:t>
            </a:r>
          </a:p>
        </p:txBody>
      </p:sp>
      <p:sp>
        <p:nvSpPr>
          <p:cNvPr id="163" name="Rectangle 162"/>
          <p:cNvSpPr/>
          <p:nvPr/>
        </p:nvSpPr>
        <p:spPr>
          <a:xfrm>
            <a:off x="914400" y="5961888"/>
            <a:ext cx="274320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941832" y="5989320"/>
            <a:ext cx="2688336" cy="310896"/>
          </a:xfrm>
          <a:prstGeom prst="rect">
            <a:avLst/>
          </a:prstGeom>
          <a:noFill/>
        </p:spPr>
        <p:txBody>
          <a:bodyPr wrap="square" anchor="ctr">
            <a:spAutoFit/>
          </a:bodyPr>
          <a:lstStyle/>
          <a:p>
            <a:pPr algn="ctr"/>
            <a:r>
              <a:rPr sz="1100" b="0" i="0">
                <a:solidFill>
                  <a:srgbClr val="2A2A2A"/>
                </a:solidFill>
              </a:rPr>
              <a:t>Lojistik Reg.</a:t>
            </a:r>
          </a:p>
        </p:txBody>
      </p:sp>
      <p:sp>
        <p:nvSpPr>
          <p:cNvPr id="165" name="Rectangle 164"/>
          <p:cNvSpPr/>
          <p:nvPr/>
        </p:nvSpPr>
        <p:spPr>
          <a:xfrm>
            <a:off x="3657600" y="5961888"/>
            <a:ext cx="100584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685032" y="5989320"/>
            <a:ext cx="950976" cy="310896"/>
          </a:xfrm>
          <a:prstGeom prst="rect">
            <a:avLst/>
          </a:prstGeom>
          <a:noFill/>
        </p:spPr>
        <p:txBody>
          <a:bodyPr wrap="square" anchor="ctr">
            <a:spAutoFit/>
          </a:bodyPr>
          <a:lstStyle/>
          <a:p>
            <a:pPr algn="ctr"/>
            <a:r>
              <a:rPr sz="1100" b="0" i="0">
                <a:solidFill>
                  <a:srgbClr val="2A2A2A"/>
                </a:solidFill>
              </a:rPr>
              <a:t>ML</a:t>
            </a:r>
          </a:p>
        </p:txBody>
      </p:sp>
      <p:sp>
        <p:nvSpPr>
          <p:cNvPr id="167" name="Rectangle 166"/>
          <p:cNvSpPr/>
          <p:nvPr/>
        </p:nvSpPr>
        <p:spPr>
          <a:xfrm>
            <a:off x="4663440" y="5961888"/>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690872" y="5989320"/>
            <a:ext cx="1682495" cy="310896"/>
          </a:xfrm>
          <a:prstGeom prst="rect">
            <a:avLst/>
          </a:prstGeom>
          <a:noFill/>
        </p:spPr>
        <p:txBody>
          <a:bodyPr wrap="square" anchor="ctr">
            <a:spAutoFit/>
          </a:bodyPr>
          <a:lstStyle/>
          <a:p>
            <a:pPr algn="ctr"/>
            <a:r>
              <a:rPr sz="1100" b="0" i="0">
                <a:solidFill>
                  <a:srgbClr val="2A2A2A"/>
                </a:solidFill>
              </a:rPr>
              <a:t>0,7779</a:t>
            </a:r>
          </a:p>
        </p:txBody>
      </p:sp>
      <p:sp>
        <p:nvSpPr>
          <p:cNvPr id="169" name="Rectangle 168"/>
          <p:cNvSpPr/>
          <p:nvPr/>
        </p:nvSpPr>
        <p:spPr>
          <a:xfrm>
            <a:off x="6400800" y="5961888"/>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6428232" y="5989320"/>
            <a:ext cx="1499616" cy="310896"/>
          </a:xfrm>
          <a:prstGeom prst="rect">
            <a:avLst/>
          </a:prstGeom>
          <a:noFill/>
        </p:spPr>
        <p:txBody>
          <a:bodyPr wrap="square" anchor="ctr">
            <a:spAutoFit/>
          </a:bodyPr>
          <a:lstStyle/>
          <a:p>
            <a:pPr algn="ctr"/>
            <a:r>
              <a:rPr sz="1100" b="0" i="0">
                <a:solidFill>
                  <a:srgbClr val="2A2A2A"/>
                </a:solidFill>
              </a:rPr>
              <a:t>0,7390</a:t>
            </a:r>
          </a:p>
        </p:txBody>
      </p:sp>
      <p:sp>
        <p:nvSpPr>
          <p:cNvPr id="171" name="Rectangle 170"/>
          <p:cNvSpPr/>
          <p:nvPr/>
        </p:nvSpPr>
        <p:spPr>
          <a:xfrm>
            <a:off x="7955279" y="5961888"/>
            <a:ext cx="173736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7982711" y="5989320"/>
            <a:ext cx="1682495" cy="310896"/>
          </a:xfrm>
          <a:prstGeom prst="rect">
            <a:avLst/>
          </a:prstGeom>
          <a:noFill/>
        </p:spPr>
        <p:txBody>
          <a:bodyPr wrap="square" anchor="ctr">
            <a:spAutoFit/>
          </a:bodyPr>
          <a:lstStyle/>
          <a:p>
            <a:pPr algn="ctr"/>
            <a:r>
              <a:rPr sz="1100" b="0" i="0">
                <a:solidFill>
                  <a:srgbClr val="2A2A2A"/>
                </a:solidFill>
              </a:rPr>
              <a:t>0,8515</a:t>
            </a:r>
          </a:p>
        </p:txBody>
      </p:sp>
      <p:sp>
        <p:nvSpPr>
          <p:cNvPr id="173" name="Rectangle 172"/>
          <p:cNvSpPr/>
          <p:nvPr/>
        </p:nvSpPr>
        <p:spPr>
          <a:xfrm>
            <a:off x="9692640" y="5961888"/>
            <a:ext cx="1554480" cy="365760"/>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9720072" y="5989320"/>
            <a:ext cx="1499616" cy="310896"/>
          </a:xfrm>
          <a:prstGeom prst="rect">
            <a:avLst/>
          </a:prstGeom>
          <a:noFill/>
        </p:spPr>
        <p:txBody>
          <a:bodyPr wrap="square" anchor="ctr">
            <a:spAutoFit/>
          </a:bodyPr>
          <a:lstStyle/>
          <a:p>
            <a:pPr algn="ctr"/>
            <a:r>
              <a:rPr sz="1100" b="0" i="0">
                <a:solidFill>
                  <a:srgbClr val="2A2A2A"/>
                </a:solidFill>
              </a:rPr>
              <a:t>±0,0042</a:t>
            </a:r>
          </a:p>
        </p:txBody>
      </p:sp>
      <p:sp>
        <p:nvSpPr>
          <p:cNvPr id="175" name="TextBox 174"/>
          <p:cNvSpPr txBox="1"/>
          <p:nvPr/>
        </p:nvSpPr>
        <p:spPr>
          <a:xfrm>
            <a:off x="365760" y="6400800"/>
            <a:ext cx="11430000" cy="310896"/>
          </a:xfrm>
          <a:prstGeom prst="rect">
            <a:avLst/>
          </a:prstGeom>
          <a:noFill/>
        </p:spPr>
        <p:txBody>
          <a:bodyPr wrap="square">
            <a:spAutoFit/>
          </a:bodyPr>
          <a:lstStyle/>
          <a:p>
            <a:pPr algn="l"/>
            <a:r>
              <a:rPr sz="1050" b="0" i="1">
                <a:solidFill>
                  <a:srgbClr val="66707A"/>
                </a:solidFill>
              </a:rPr>
              <a:t>LightGBM en yüksek ROC-AUC (0,9548) ve en düşük varyans (±0,0023) — yüksek performans istikrarsız optimumlardan değil, sağlam öznitelik temsilinden geliyor.</a:t>
            </a:r>
          </a:p>
        </p:txBody>
      </p:sp>
      <p:sp>
        <p:nvSpPr>
          <p:cNvPr id="176" name="TextBox 175"/>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177" name="TextBox 176"/>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8</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ROC Eğrileri ve Karmaşıklık Matrisi</a:t>
            </a:r>
          </a:p>
        </p:txBody>
      </p:sp>
      <p:pic>
        <p:nvPicPr>
          <p:cNvPr id="6" name="Picture 5" descr="paper_roc_curves.png"/>
          <p:cNvPicPr>
            <a:picLocks noChangeAspect="1"/>
          </p:cNvPicPr>
          <p:nvPr/>
        </p:nvPicPr>
        <p:blipFill>
          <a:blip r:embed="rId2"/>
          <a:stretch>
            <a:fillRect/>
          </a:stretch>
        </p:blipFill>
        <p:spPr>
          <a:xfrm>
            <a:off x="365760" y="1600200"/>
            <a:ext cx="5349240" cy="4114800"/>
          </a:xfrm>
          <a:prstGeom prst="rect">
            <a:avLst/>
          </a:prstGeom>
        </p:spPr>
      </p:pic>
      <p:sp>
        <p:nvSpPr>
          <p:cNvPr id="7" name="TextBox 6"/>
          <p:cNvSpPr txBox="1"/>
          <p:nvPr/>
        </p:nvSpPr>
        <p:spPr>
          <a:xfrm>
            <a:off x="365760" y="5751576"/>
            <a:ext cx="5349240" cy="292608"/>
          </a:xfrm>
          <a:prstGeom prst="rect">
            <a:avLst/>
          </a:prstGeom>
          <a:noFill/>
        </p:spPr>
        <p:txBody>
          <a:bodyPr wrap="square">
            <a:spAutoFit/>
          </a:bodyPr>
          <a:lstStyle/>
          <a:p>
            <a:pPr algn="ctr"/>
            <a:r>
              <a:rPr sz="1000" b="0" i="1">
                <a:solidFill>
                  <a:srgbClr val="66707A"/>
                </a:solidFill>
              </a:rPr>
              <a:t>Şekil 4: Makine öğrenmesi ROC eğrileri</a:t>
            </a:r>
          </a:p>
        </p:txBody>
      </p:sp>
      <p:pic>
        <p:nvPicPr>
          <p:cNvPr id="8" name="Picture 7" descr="paper_confusion_matrix_lightgbm.png"/>
          <p:cNvPicPr>
            <a:picLocks noChangeAspect="1"/>
          </p:cNvPicPr>
          <p:nvPr/>
        </p:nvPicPr>
        <p:blipFill>
          <a:blip r:embed="rId3"/>
          <a:stretch>
            <a:fillRect/>
          </a:stretch>
        </p:blipFill>
        <p:spPr>
          <a:xfrm>
            <a:off x="5943600" y="1600200"/>
            <a:ext cx="4572000" cy="4114800"/>
          </a:xfrm>
          <a:prstGeom prst="rect">
            <a:avLst/>
          </a:prstGeom>
        </p:spPr>
      </p:pic>
      <p:sp>
        <p:nvSpPr>
          <p:cNvPr id="9" name="TextBox 8"/>
          <p:cNvSpPr txBox="1"/>
          <p:nvPr/>
        </p:nvSpPr>
        <p:spPr>
          <a:xfrm>
            <a:off x="5943600" y="5751576"/>
            <a:ext cx="4572000" cy="292608"/>
          </a:xfrm>
          <a:prstGeom prst="rect">
            <a:avLst/>
          </a:prstGeom>
          <a:noFill/>
        </p:spPr>
        <p:txBody>
          <a:bodyPr wrap="square">
            <a:spAutoFit/>
          </a:bodyPr>
          <a:lstStyle/>
          <a:p>
            <a:pPr algn="ctr"/>
            <a:r>
              <a:rPr sz="1000" b="0" i="1">
                <a:solidFill>
                  <a:srgbClr val="66707A"/>
                </a:solidFill>
              </a:rPr>
              <a:t>Şekil 8: LightGBM karmaşıklık matrisi (θ*=0,4316)</a:t>
            </a:r>
          </a:p>
        </p:txBody>
      </p:sp>
      <p:sp>
        <p:nvSpPr>
          <p:cNvPr id="10" name="TextBox 9"/>
          <p:cNvSpPr txBox="1"/>
          <p:nvPr/>
        </p:nvSpPr>
        <p:spPr>
          <a:xfrm>
            <a:off x="10607040" y="1691640"/>
            <a:ext cx="1371600" cy="4023360"/>
          </a:xfrm>
          <a:prstGeom prst="rect">
            <a:avLst/>
          </a:prstGeom>
          <a:noFill/>
        </p:spPr>
        <p:txBody>
          <a:bodyPr wrap="square">
            <a:spAutoFit/>
          </a:bodyPr>
          <a:lstStyle/>
          <a:p>
            <a:pPr algn="l"/>
            <a:r>
              <a:rPr sz="1000" b="0" i="0">
                <a:solidFill>
                  <a:srgbClr val="FFFFFF"/>
                </a:solidFill>
              </a:rPr>
              <a:t/>
            </a:r>
          </a:p>
        </p:txBody>
      </p:sp>
      <p:sp>
        <p:nvSpPr>
          <p:cNvPr id="11" name="Rectangle 10"/>
          <p:cNvSpPr/>
          <p:nvPr/>
        </p:nvSpPr>
        <p:spPr>
          <a:xfrm>
            <a:off x="5943600" y="5806440"/>
            <a:ext cx="5852160" cy="77724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0" y="5806440"/>
            <a:ext cx="82296" cy="7772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44768" y="5916168"/>
            <a:ext cx="5532120" cy="365760"/>
          </a:xfrm>
          <a:prstGeom prst="rect">
            <a:avLst/>
          </a:prstGeom>
          <a:noFill/>
        </p:spPr>
        <p:txBody>
          <a:bodyPr wrap="square">
            <a:spAutoFit/>
          </a:bodyPr>
          <a:lstStyle/>
          <a:p>
            <a:pPr algn="l"/>
            <a:r>
              <a:rPr sz="1300" b="1" i="0">
                <a:solidFill>
                  <a:srgbClr val="0D2B55"/>
                </a:solidFill>
              </a:rPr>
              <a:t>Karmaşıklık matrisi</a:t>
            </a:r>
          </a:p>
        </p:txBody>
      </p:sp>
      <p:sp>
        <p:nvSpPr>
          <p:cNvPr id="14" name="TextBox 13"/>
          <p:cNvSpPr txBox="1"/>
          <p:nvPr/>
        </p:nvSpPr>
        <p:spPr>
          <a:xfrm>
            <a:off x="6144768" y="6309359"/>
            <a:ext cx="5532120" cy="182879"/>
          </a:xfrm>
          <a:prstGeom prst="rect">
            <a:avLst/>
          </a:prstGeom>
          <a:noFill/>
        </p:spPr>
        <p:txBody>
          <a:bodyPr wrap="square">
            <a:spAutoFit/>
          </a:bodyPr>
          <a:lstStyle/>
          <a:p>
            <a:pPr algn="l"/>
            <a:r>
              <a:rPr sz="1200" b="0" i="0">
                <a:solidFill>
                  <a:srgbClr val="2A2A2A"/>
                </a:solidFill>
              </a:rPr>
              <a:t>2.721 DN (%87,4) · 1.862 DP (%89,4) · 392 YP (%12,6) · 220 YN (%10,6)</a:t>
            </a:r>
          </a:p>
        </p:txBody>
      </p:sp>
      <p:sp>
        <p:nvSpPr>
          <p:cNvPr id="15" name="TextBox 14"/>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16" name="TextBox 15"/>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9</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Açıklanabilirlik — SHAP / TreeSHAP</a:t>
            </a:r>
          </a:p>
        </p:txBody>
      </p:sp>
      <p:sp>
        <p:nvSpPr>
          <p:cNvPr id="6" name="TextBox 5"/>
          <p:cNvSpPr txBox="1"/>
          <p:nvPr/>
        </p:nvSpPr>
        <p:spPr>
          <a:xfrm>
            <a:off x="365760" y="987552"/>
            <a:ext cx="11430000" cy="365760"/>
          </a:xfrm>
          <a:prstGeom prst="rect">
            <a:avLst/>
          </a:prstGeom>
          <a:noFill/>
        </p:spPr>
        <p:txBody>
          <a:bodyPr wrap="square">
            <a:spAutoFit/>
          </a:bodyPr>
          <a:lstStyle/>
          <a:p>
            <a:pPr algn="l"/>
            <a:r>
              <a:rPr sz="1250" b="0" i="0">
                <a:solidFill>
                  <a:srgbClr val="AEC6D6"/>
                </a:solidFill>
              </a:rPr>
              <a:t>En belirleyici öznitelik: spectral_flatness_std</a:t>
            </a:r>
          </a:p>
        </p:txBody>
      </p:sp>
      <p:pic>
        <p:nvPicPr>
          <p:cNvPr id="7" name="Picture 6" descr="shap_summary.png"/>
          <p:cNvPicPr>
            <a:picLocks noChangeAspect="1"/>
          </p:cNvPicPr>
          <p:nvPr/>
        </p:nvPicPr>
        <p:blipFill>
          <a:blip r:embed="rId2"/>
          <a:stretch>
            <a:fillRect/>
          </a:stretch>
        </p:blipFill>
        <p:spPr>
          <a:xfrm>
            <a:off x="365760" y="1600200"/>
            <a:ext cx="5486400" cy="4434840"/>
          </a:xfrm>
          <a:prstGeom prst="rect">
            <a:avLst/>
          </a:prstGeom>
        </p:spPr>
      </p:pic>
      <p:sp>
        <p:nvSpPr>
          <p:cNvPr id="8" name="TextBox 7"/>
          <p:cNvSpPr txBox="1"/>
          <p:nvPr/>
        </p:nvSpPr>
        <p:spPr>
          <a:xfrm>
            <a:off x="365760" y="6071616"/>
            <a:ext cx="5486400" cy="292608"/>
          </a:xfrm>
          <a:prstGeom prst="rect">
            <a:avLst/>
          </a:prstGeom>
          <a:noFill/>
        </p:spPr>
        <p:txBody>
          <a:bodyPr wrap="square">
            <a:spAutoFit/>
          </a:bodyPr>
          <a:lstStyle/>
          <a:p>
            <a:pPr algn="ctr"/>
            <a:r>
              <a:rPr sz="1000" b="0" i="1">
                <a:solidFill>
                  <a:srgbClr val="66707A"/>
                </a:solidFill>
              </a:rPr>
              <a:t>Şekil 7: TreeSHAP global etki diyagramı</a:t>
            </a:r>
          </a:p>
        </p:txBody>
      </p:sp>
      <p:sp>
        <p:nvSpPr>
          <p:cNvPr id="9" name="TextBox 8"/>
          <p:cNvSpPr txBox="1"/>
          <p:nvPr/>
        </p:nvSpPr>
        <p:spPr>
          <a:xfrm>
            <a:off x="6080760" y="1554480"/>
            <a:ext cx="5760720" cy="365760"/>
          </a:xfrm>
          <a:prstGeom prst="rect">
            <a:avLst/>
          </a:prstGeom>
          <a:noFill/>
        </p:spPr>
        <p:txBody>
          <a:bodyPr wrap="square">
            <a:spAutoFit/>
          </a:bodyPr>
          <a:lstStyle/>
          <a:p>
            <a:pPr algn="l"/>
            <a:r>
              <a:rPr sz="1300" b="1" i="0">
                <a:solidFill>
                  <a:srgbClr val="0D2B55"/>
                </a:solidFill>
              </a:rPr>
              <a:t>İlk 10 Öznitelik (Tablo 6)</a:t>
            </a:r>
          </a:p>
        </p:txBody>
      </p:sp>
      <p:sp>
        <p:nvSpPr>
          <p:cNvPr id="10" name="Rectangle 9"/>
          <p:cNvSpPr/>
          <p:nvPr/>
        </p:nvSpPr>
        <p:spPr>
          <a:xfrm>
            <a:off x="6080760" y="1965960"/>
            <a:ext cx="502920" cy="32918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17336" y="1984248"/>
            <a:ext cx="429768" cy="292608"/>
          </a:xfrm>
          <a:prstGeom prst="rect">
            <a:avLst/>
          </a:prstGeom>
          <a:noFill/>
        </p:spPr>
        <p:txBody>
          <a:bodyPr wrap="square">
            <a:spAutoFit/>
          </a:bodyPr>
          <a:lstStyle/>
          <a:p>
            <a:pPr algn="ctr"/>
            <a:r>
              <a:rPr sz="1050" b="1" i="0">
                <a:solidFill>
                  <a:srgbClr val="FFFFFF"/>
                </a:solidFill>
              </a:rPr>
              <a:t>#</a:t>
            </a:r>
          </a:p>
        </p:txBody>
      </p:sp>
      <p:sp>
        <p:nvSpPr>
          <p:cNvPr id="12" name="Rectangle 11"/>
          <p:cNvSpPr/>
          <p:nvPr/>
        </p:nvSpPr>
        <p:spPr>
          <a:xfrm>
            <a:off x="6583680" y="1965960"/>
            <a:ext cx="3017520" cy="32918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0256" y="1984248"/>
            <a:ext cx="2944368" cy="292608"/>
          </a:xfrm>
          <a:prstGeom prst="rect">
            <a:avLst/>
          </a:prstGeom>
          <a:noFill/>
        </p:spPr>
        <p:txBody>
          <a:bodyPr wrap="square">
            <a:spAutoFit/>
          </a:bodyPr>
          <a:lstStyle/>
          <a:p>
            <a:pPr algn="ctr"/>
            <a:r>
              <a:rPr sz="1050" b="1" i="0">
                <a:solidFill>
                  <a:srgbClr val="FFFFFF"/>
                </a:solidFill>
              </a:rPr>
              <a:t>Öznitelik</a:t>
            </a:r>
          </a:p>
        </p:txBody>
      </p:sp>
      <p:sp>
        <p:nvSpPr>
          <p:cNvPr id="14" name="Rectangle 13"/>
          <p:cNvSpPr/>
          <p:nvPr/>
        </p:nvSpPr>
        <p:spPr>
          <a:xfrm>
            <a:off x="9601200" y="1965960"/>
            <a:ext cx="1188720" cy="32918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7776" y="1984248"/>
            <a:ext cx="1115568" cy="292608"/>
          </a:xfrm>
          <a:prstGeom prst="rect">
            <a:avLst/>
          </a:prstGeom>
          <a:noFill/>
        </p:spPr>
        <p:txBody>
          <a:bodyPr wrap="square">
            <a:spAutoFit/>
          </a:bodyPr>
          <a:lstStyle/>
          <a:p>
            <a:pPr algn="ctr"/>
            <a:r>
              <a:rPr sz="1050" b="1" i="0">
                <a:solidFill>
                  <a:srgbClr val="FFFFFF"/>
                </a:solidFill>
              </a:rPr>
              <a:t>Önem</a:t>
            </a:r>
          </a:p>
        </p:txBody>
      </p:sp>
      <p:sp>
        <p:nvSpPr>
          <p:cNvPr id="16" name="Rectangle 15"/>
          <p:cNvSpPr/>
          <p:nvPr/>
        </p:nvSpPr>
        <p:spPr>
          <a:xfrm>
            <a:off x="10789920" y="1965960"/>
            <a:ext cx="1051560" cy="32918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26496" y="1984248"/>
            <a:ext cx="978407" cy="292608"/>
          </a:xfrm>
          <a:prstGeom prst="rect">
            <a:avLst/>
          </a:prstGeom>
          <a:noFill/>
        </p:spPr>
        <p:txBody>
          <a:bodyPr wrap="square">
            <a:spAutoFit/>
          </a:bodyPr>
          <a:lstStyle/>
          <a:p>
            <a:pPr algn="ctr"/>
            <a:r>
              <a:rPr sz="1050" b="1" i="0">
                <a:solidFill>
                  <a:srgbClr val="FFFFFF"/>
                </a:solidFill>
              </a:rPr>
              <a:t>Aile</a:t>
            </a:r>
          </a:p>
        </p:txBody>
      </p:sp>
      <p:sp>
        <p:nvSpPr>
          <p:cNvPr id="18" name="Rectangle 17"/>
          <p:cNvSpPr/>
          <p:nvPr/>
        </p:nvSpPr>
        <p:spPr>
          <a:xfrm>
            <a:off x="6080760" y="2295144"/>
            <a:ext cx="502920" cy="338328"/>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35624" y="2313432"/>
            <a:ext cx="411480" cy="292608"/>
          </a:xfrm>
          <a:prstGeom prst="rect">
            <a:avLst/>
          </a:prstGeom>
          <a:noFill/>
        </p:spPr>
        <p:txBody>
          <a:bodyPr wrap="square" anchor="ctr">
            <a:spAutoFit/>
          </a:bodyPr>
          <a:lstStyle/>
          <a:p>
            <a:pPr algn="ctr"/>
            <a:r>
              <a:rPr sz="1000" b="1" i="0">
                <a:solidFill>
                  <a:srgbClr val="1A6B3A"/>
                </a:solidFill>
              </a:rPr>
              <a:t>1</a:t>
            </a:r>
          </a:p>
        </p:txBody>
      </p:sp>
      <p:sp>
        <p:nvSpPr>
          <p:cNvPr id="20" name="Rectangle 19"/>
          <p:cNvSpPr/>
          <p:nvPr/>
        </p:nvSpPr>
        <p:spPr>
          <a:xfrm>
            <a:off x="6583680" y="2295144"/>
            <a:ext cx="3017520" cy="338328"/>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38544" y="2313432"/>
            <a:ext cx="2926079" cy="292608"/>
          </a:xfrm>
          <a:prstGeom prst="rect">
            <a:avLst/>
          </a:prstGeom>
          <a:noFill/>
        </p:spPr>
        <p:txBody>
          <a:bodyPr wrap="square" anchor="ctr">
            <a:spAutoFit/>
          </a:bodyPr>
          <a:lstStyle/>
          <a:p>
            <a:pPr algn="l"/>
            <a:r>
              <a:rPr sz="1000" b="1" i="0">
                <a:solidFill>
                  <a:srgbClr val="1A6B3A"/>
                </a:solidFill>
              </a:rPr>
              <a:t>spectral_flatness_std</a:t>
            </a:r>
          </a:p>
        </p:txBody>
      </p:sp>
      <p:sp>
        <p:nvSpPr>
          <p:cNvPr id="22" name="Rectangle 21"/>
          <p:cNvSpPr/>
          <p:nvPr/>
        </p:nvSpPr>
        <p:spPr>
          <a:xfrm>
            <a:off x="9601200" y="2295144"/>
            <a:ext cx="1188720" cy="338328"/>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56064" y="2313432"/>
            <a:ext cx="1097280" cy="292608"/>
          </a:xfrm>
          <a:prstGeom prst="rect">
            <a:avLst/>
          </a:prstGeom>
          <a:noFill/>
        </p:spPr>
        <p:txBody>
          <a:bodyPr wrap="square" anchor="ctr">
            <a:spAutoFit/>
          </a:bodyPr>
          <a:lstStyle/>
          <a:p>
            <a:pPr algn="ctr"/>
            <a:r>
              <a:rPr sz="1000" b="0" i="0">
                <a:solidFill>
                  <a:srgbClr val="1A6B3A"/>
                </a:solidFill>
              </a:rPr>
              <a:t>0,0619</a:t>
            </a:r>
          </a:p>
        </p:txBody>
      </p:sp>
      <p:sp>
        <p:nvSpPr>
          <p:cNvPr id="24" name="Rectangle 23"/>
          <p:cNvSpPr/>
          <p:nvPr/>
        </p:nvSpPr>
        <p:spPr>
          <a:xfrm>
            <a:off x="10789920" y="2295144"/>
            <a:ext cx="1051560" cy="338328"/>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44784" y="2313432"/>
            <a:ext cx="960119" cy="292608"/>
          </a:xfrm>
          <a:prstGeom prst="rect">
            <a:avLst/>
          </a:prstGeom>
          <a:noFill/>
        </p:spPr>
        <p:txBody>
          <a:bodyPr wrap="square" anchor="ctr">
            <a:spAutoFit/>
          </a:bodyPr>
          <a:lstStyle/>
          <a:p>
            <a:pPr algn="ctr"/>
            <a:r>
              <a:rPr sz="1000" b="0" i="0">
                <a:solidFill>
                  <a:srgbClr val="1A6B3A"/>
                </a:solidFill>
              </a:rPr>
              <a:t>Spektral</a:t>
            </a:r>
          </a:p>
        </p:txBody>
      </p:sp>
      <p:sp>
        <p:nvSpPr>
          <p:cNvPr id="26" name="Rectangle 25"/>
          <p:cNvSpPr/>
          <p:nvPr/>
        </p:nvSpPr>
        <p:spPr>
          <a:xfrm>
            <a:off x="6080760" y="2660903"/>
            <a:ext cx="5029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35624" y="2679191"/>
            <a:ext cx="411480" cy="292608"/>
          </a:xfrm>
          <a:prstGeom prst="rect">
            <a:avLst/>
          </a:prstGeom>
          <a:noFill/>
        </p:spPr>
        <p:txBody>
          <a:bodyPr wrap="square" anchor="ctr">
            <a:spAutoFit/>
          </a:bodyPr>
          <a:lstStyle/>
          <a:p>
            <a:pPr algn="ctr"/>
            <a:r>
              <a:rPr sz="1000" b="0" i="0">
                <a:solidFill>
                  <a:srgbClr val="2A2A2A"/>
                </a:solidFill>
              </a:rPr>
              <a:t>2</a:t>
            </a:r>
          </a:p>
        </p:txBody>
      </p:sp>
      <p:sp>
        <p:nvSpPr>
          <p:cNvPr id="28" name="Rectangle 27"/>
          <p:cNvSpPr/>
          <p:nvPr/>
        </p:nvSpPr>
        <p:spPr>
          <a:xfrm>
            <a:off x="6583680" y="2660903"/>
            <a:ext cx="30175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38544" y="2679191"/>
            <a:ext cx="2926079" cy="292608"/>
          </a:xfrm>
          <a:prstGeom prst="rect">
            <a:avLst/>
          </a:prstGeom>
          <a:noFill/>
        </p:spPr>
        <p:txBody>
          <a:bodyPr wrap="square" anchor="ctr">
            <a:spAutoFit/>
          </a:bodyPr>
          <a:lstStyle/>
          <a:p>
            <a:pPr algn="l"/>
            <a:r>
              <a:rPr sz="1000" b="0" i="0">
                <a:solidFill>
                  <a:srgbClr val="2A2A2A"/>
                </a:solidFill>
              </a:rPr>
              <a:t>spectral_contrast_mean</a:t>
            </a:r>
          </a:p>
        </p:txBody>
      </p:sp>
      <p:sp>
        <p:nvSpPr>
          <p:cNvPr id="30" name="Rectangle 29"/>
          <p:cNvSpPr/>
          <p:nvPr/>
        </p:nvSpPr>
        <p:spPr>
          <a:xfrm>
            <a:off x="9601200" y="2660903"/>
            <a:ext cx="11887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56064" y="2679191"/>
            <a:ext cx="1097280" cy="292608"/>
          </a:xfrm>
          <a:prstGeom prst="rect">
            <a:avLst/>
          </a:prstGeom>
          <a:noFill/>
        </p:spPr>
        <p:txBody>
          <a:bodyPr wrap="square" anchor="ctr">
            <a:spAutoFit/>
          </a:bodyPr>
          <a:lstStyle/>
          <a:p>
            <a:pPr algn="ctr"/>
            <a:r>
              <a:rPr sz="1000" b="0" i="0">
                <a:solidFill>
                  <a:srgbClr val="2A2A2A"/>
                </a:solidFill>
              </a:rPr>
              <a:t>0,0467</a:t>
            </a:r>
          </a:p>
        </p:txBody>
      </p:sp>
      <p:sp>
        <p:nvSpPr>
          <p:cNvPr id="32" name="Rectangle 31"/>
          <p:cNvSpPr/>
          <p:nvPr/>
        </p:nvSpPr>
        <p:spPr>
          <a:xfrm>
            <a:off x="10789920" y="2660903"/>
            <a:ext cx="105156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44784" y="2679191"/>
            <a:ext cx="960119" cy="292608"/>
          </a:xfrm>
          <a:prstGeom prst="rect">
            <a:avLst/>
          </a:prstGeom>
          <a:noFill/>
        </p:spPr>
        <p:txBody>
          <a:bodyPr wrap="square" anchor="ctr">
            <a:spAutoFit/>
          </a:bodyPr>
          <a:lstStyle/>
          <a:p>
            <a:pPr algn="ctr"/>
            <a:r>
              <a:rPr sz="1000" b="0" i="0">
                <a:solidFill>
                  <a:srgbClr val="2A2A2A"/>
                </a:solidFill>
              </a:rPr>
              <a:t>Spektral</a:t>
            </a:r>
          </a:p>
        </p:txBody>
      </p:sp>
      <p:sp>
        <p:nvSpPr>
          <p:cNvPr id="34" name="Rectangle 33"/>
          <p:cNvSpPr/>
          <p:nvPr/>
        </p:nvSpPr>
        <p:spPr>
          <a:xfrm>
            <a:off x="6080760" y="3026663"/>
            <a:ext cx="5029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35624" y="3044951"/>
            <a:ext cx="411480" cy="292608"/>
          </a:xfrm>
          <a:prstGeom prst="rect">
            <a:avLst/>
          </a:prstGeom>
          <a:noFill/>
        </p:spPr>
        <p:txBody>
          <a:bodyPr wrap="square" anchor="ctr">
            <a:spAutoFit/>
          </a:bodyPr>
          <a:lstStyle/>
          <a:p>
            <a:pPr algn="ctr"/>
            <a:r>
              <a:rPr sz="1000" b="0" i="0">
                <a:solidFill>
                  <a:srgbClr val="2A2A2A"/>
                </a:solidFill>
              </a:rPr>
              <a:t>3</a:t>
            </a:r>
          </a:p>
        </p:txBody>
      </p:sp>
      <p:sp>
        <p:nvSpPr>
          <p:cNvPr id="36" name="Rectangle 35"/>
          <p:cNvSpPr/>
          <p:nvPr/>
        </p:nvSpPr>
        <p:spPr>
          <a:xfrm>
            <a:off x="6583680" y="3026663"/>
            <a:ext cx="30175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38544" y="3044951"/>
            <a:ext cx="2926079" cy="292608"/>
          </a:xfrm>
          <a:prstGeom prst="rect">
            <a:avLst/>
          </a:prstGeom>
          <a:noFill/>
        </p:spPr>
        <p:txBody>
          <a:bodyPr wrap="square" anchor="ctr">
            <a:spAutoFit/>
          </a:bodyPr>
          <a:lstStyle/>
          <a:p>
            <a:pPr algn="l"/>
            <a:r>
              <a:rPr sz="1000" b="0" i="0">
                <a:solidFill>
                  <a:srgbClr val="2A2A2A"/>
                </a:solidFill>
              </a:rPr>
              <a:t>rms_energy</a:t>
            </a:r>
          </a:p>
        </p:txBody>
      </p:sp>
      <p:sp>
        <p:nvSpPr>
          <p:cNvPr id="38" name="Rectangle 37"/>
          <p:cNvSpPr/>
          <p:nvPr/>
        </p:nvSpPr>
        <p:spPr>
          <a:xfrm>
            <a:off x="9601200" y="3026663"/>
            <a:ext cx="11887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56064" y="3044951"/>
            <a:ext cx="1097280" cy="292608"/>
          </a:xfrm>
          <a:prstGeom prst="rect">
            <a:avLst/>
          </a:prstGeom>
          <a:noFill/>
        </p:spPr>
        <p:txBody>
          <a:bodyPr wrap="square" anchor="ctr">
            <a:spAutoFit/>
          </a:bodyPr>
          <a:lstStyle/>
          <a:p>
            <a:pPr algn="ctr"/>
            <a:r>
              <a:rPr sz="1000" b="0" i="0">
                <a:solidFill>
                  <a:srgbClr val="2A2A2A"/>
                </a:solidFill>
              </a:rPr>
              <a:t>0,0456</a:t>
            </a:r>
          </a:p>
        </p:txBody>
      </p:sp>
      <p:sp>
        <p:nvSpPr>
          <p:cNvPr id="40" name="Rectangle 39"/>
          <p:cNvSpPr/>
          <p:nvPr/>
        </p:nvSpPr>
        <p:spPr>
          <a:xfrm>
            <a:off x="10789920" y="3026663"/>
            <a:ext cx="105156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44784" y="3044951"/>
            <a:ext cx="960119" cy="292608"/>
          </a:xfrm>
          <a:prstGeom prst="rect">
            <a:avLst/>
          </a:prstGeom>
          <a:noFill/>
        </p:spPr>
        <p:txBody>
          <a:bodyPr wrap="square" anchor="ctr">
            <a:spAutoFit/>
          </a:bodyPr>
          <a:lstStyle/>
          <a:p>
            <a:pPr algn="ctr"/>
            <a:r>
              <a:rPr sz="1000" b="0" i="0">
                <a:solidFill>
                  <a:srgbClr val="2A2A2A"/>
                </a:solidFill>
              </a:rPr>
              <a:t>Zamansal</a:t>
            </a:r>
          </a:p>
        </p:txBody>
      </p:sp>
      <p:sp>
        <p:nvSpPr>
          <p:cNvPr id="42" name="Rectangle 41"/>
          <p:cNvSpPr/>
          <p:nvPr/>
        </p:nvSpPr>
        <p:spPr>
          <a:xfrm>
            <a:off x="6080760" y="3392424"/>
            <a:ext cx="5029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35624" y="3410712"/>
            <a:ext cx="411480" cy="292608"/>
          </a:xfrm>
          <a:prstGeom prst="rect">
            <a:avLst/>
          </a:prstGeom>
          <a:noFill/>
        </p:spPr>
        <p:txBody>
          <a:bodyPr wrap="square" anchor="ctr">
            <a:spAutoFit/>
          </a:bodyPr>
          <a:lstStyle/>
          <a:p>
            <a:pPr algn="ctr"/>
            <a:r>
              <a:rPr sz="1000" b="0" i="0">
                <a:solidFill>
                  <a:srgbClr val="2A2A2A"/>
                </a:solidFill>
              </a:rPr>
              <a:t>4</a:t>
            </a:r>
          </a:p>
        </p:txBody>
      </p:sp>
      <p:sp>
        <p:nvSpPr>
          <p:cNvPr id="44" name="Rectangle 43"/>
          <p:cNvSpPr/>
          <p:nvPr/>
        </p:nvSpPr>
        <p:spPr>
          <a:xfrm>
            <a:off x="6583680" y="3392424"/>
            <a:ext cx="30175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38544" y="3410712"/>
            <a:ext cx="2926079" cy="292608"/>
          </a:xfrm>
          <a:prstGeom prst="rect">
            <a:avLst/>
          </a:prstGeom>
          <a:noFill/>
        </p:spPr>
        <p:txBody>
          <a:bodyPr wrap="square" anchor="ctr">
            <a:spAutoFit/>
          </a:bodyPr>
          <a:lstStyle/>
          <a:p>
            <a:pPr algn="l"/>
            <a:r>
              <a:rPr sz="1000" b="0" i="0">
                <a:solidFill>
                  <a:srgbClr val="2A2A2A"/>
                </a:solidFill>
              </a:rPr>
              <a:t>onset_strength_std</a:t>
            </a:r>
          </a:p>
        </p:txBody>
      </p:sp>
      <p:sp>
        <p:nvSpPr>
          <p:cNvPr id="46" name="Rectangle 45"/>
          <p:cNvSpPr/>
          <p:nvPr/>
        </p:nvSpPr>
        <p:spPr>
          <a:xfrm>
            <a:off x="9601200" y="3392424"/>
            <a:ext cx="11887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56064" y="3410712"/>
            <a:ext cx="1097280" cy="292608"/>
          </a:xfrm>
          <a:prstGeom prst="rect">
            <a:avLst/>
          </a:prstGeom>
          <a:noFill/>
        </p:spPr>
        <p:txBody>
          <a:bodyPr wrap="square" anchor="ctr">
            <a:spAutoFit/>
          </a:bodyPr>
          <a:lstStyle/>
          <a:p>
            <a:pPr algn="ctr"/>
            <a:r>
              <a:rPr sz="1000" b="0" i="0">
                <a:solidFill>
                  <a:srgbClr val="2A2A2A"/>
                </a:solidFill>
              </a:rPr>
              <a:t>0,0388</a:t>
            </a:r>
          </a:p>
        </p:txBody>
      </p:sp>
      <p:sp>
        <p:nvSpPr>
          <p:cNvPr id="48" name="Rectangle 47"/>
          <p:cNvSpPr/>
          <p:nvPr/>
        </p:nvSpPr>
        <p:spPr>
          <a:xfrm>
            <a:off x="10789920" y="3392424"/>
            <a:ext cx="105156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44784" y="3410712"/>
            <a:ext cx="960119" cy="292608"/>
          </a:xfrm>
          <a:prstGeom prst="rect">
            <a:avLst/>
          </a:prstGeom>
          <a:noFill/>
        </p:spPr>
        <p:txBody>
          <a:bodyPr wrap="square" anchor="ctr">
            <a:spAutoFit/>
          </a:bodyPr>
          <a:lstStyle/>
          <a:p>
            <a:pPr algn="ctr"/>
            <a:r>
              <a:rPr sz="1000" b="0" i="0">
                <a:solidFill>
                  <a:srgbClr val="2A2A2A"/>
                </a:solidFill>
              </a:rPr>
              <a:t>Ritmik</a:t>
            </a:r>
          </a:p>
        </p:txBody>
      </p:sp>
      <p:sp>
        <p:nvSpPr>
          <p:cNvPr id="50" name="Rectangle 49"/>
          <p:cNvSpPr/>
          <p:nvPr/>
        </p:nvSpPr>
        <p:spPr>
          <a:xfrm>
            <a:off x="6080760" y="3758183"/>
            <a:ext cx="5029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35624" y="3776471"/>
            <a:ext cx="411480" cy="292608"/>
          </a:xfrm>
          <a:prstGeom prst="rect">
            <a:avLst/>
          </a:prstGeom>
          <a:noFill/>
        </p:spPr>
        <p:txBody>
          <a:bodyPr wrap="square" anchor="ctr">
            <a:spAutoFit/>
          </a:bodyPr>
          <a:lstStyle/>
          <a:p>
            <a:pPr algn="ctr"/>
            <a:r>
              <a:rPr sz="1000" b="0" i="0">
                <a:solidFill>
                  <a:srgbClr val="2A2A2A"/>
                </a:solidFill>
              </a:rPr>
              <a:t>5</a:t>
            </a:r>
          </a:p>
        </p:txBody>
      </p:sp>
      <p:sp>
        <p:nvSpPr>
          <p:cNvPr id="52" name="Rectangle 51"/>
          <p:cNvSpPr/>
          <p:nvPr/>
        </p:nvSpPr>
        <p:spPr>
          <a:xfrm>
            <a:off x="6583680" y="3758183"/>
            <a:ext cx="30175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38544" y="3776471"/>
            <a:ext cx="2926079" cy="292608"/>
          </a:xfrm>
          <a:prstGeom prst="rect">
            <a:avLst/>
          </a:prstGeom>
          <a:noFill/>
        </p:spPr>
        <p:txBody>
          <a:bodyPr wrap="square" anchor="ctr">
            <a:spAutoFit/>
          </a:bodyPr>
          <a:lstStyle/>
          <a:p>
            <a:pPr algn="l"/>
            <a:r>
              <a:rPr sz="1000" b="0" i="0">
                <a:solidFill>
                  <a:srgbClr val="2A2A2A"/>
                </a:solidFill>
              </a:rPr>
              <a:t>spectral_flatness_mean</a:t>
            </a:r>
          </a:p>
        </p:txBody>
      </p:sp>
      <p:sp>
        <p:nvSpPr>
          <p:cNvPr id="54" name="Rectangle 53"/>
          <p:cNvSpPr/>
          <p:nvPr/>
        </p:nvSpPr>
        <p:spPr>
          <a:xfrm>
            <a:off x="9601200" y="3758183"/>
            <a:ext cx="11887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56064" y="3776471"/>
            <a:ext cx="1097280" cy="292608"/>
          </a:xfrm>
          <a:prstGeom prst="rect">
            <a:avLst/>
          </a:prstGeom>
          <a:noFill/>
        </p:spPr>
        <p:txBody>
          <a:bodyPr wrap="square" anchor="ctr">
            <a:spAutoFit/>
          </a:bodyPr>
          <a:lstStyle/>
          <a:p>
            <a:pPr algn="ctr"/>
            <a:r>
              <a:rPr sz="1000" b="0" i="0">
                <a:solidFill>
                  <a:srgbClr val="2A2A2A"/>
                </a:solidFill>
              </a:rPr>
              <a:t>0,0370</a:t>
            </a:r>
          </a:p>
        </p:txBody>
      </p:sp>
      <p:sp>
        <p:nvSpPr>
          <p:cNvPr id="56" name="Rectangle 55"/>
          <p:cNvSpPr/>
          <p:nvPr/>
        </p:nvSpPr>
        <p:spPr>
          <a:xfrm>
            <a:off x="10789920" y="3758183"/>
            <a:ext cx="105156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844784" y="3776471"/>
            <a:ext cx="960119" cy="292608"/>
          </a:xfrm>
          <a:prstGeom prst="rect">
            <a:avLst/>
          </a:prstGeom>
          <a:noFill/>
        </p:spPr>
        <p:txBody>
          <a:bodyPr wrap="square" anchor="ctr">
            <a:spAutoFit/>
          </a:bodyPr>
          <a:lstStyle/>
          <a:p>
            <a:pPr algn="ctr"/>
            <a:r>
              <a:rPr sz="1000" b="0" i="0">
                <a:solidFill>
                  <a:srgbClr val="2A2A2A"/>
                </a:solidFill>
              </a:rPr>
              <a:t>Spektral</a:t>
            </a:r>
          </a:p>
        </p:txBody>
      </p:sp>
      <p:sp>
        <p:nvSpPr>
          <p:cNvPr id="58" name="Rectangle 57"/>
          <p:cNvSpPr/>
          <p:nvPr/>
        </p:nvSpPr>
        <p:spPr>
          <a:xfrm>
            <a:off x="6080760" y="4123944"/>
            <a:ext cx="5029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35624" y="4142231"/>
            <a:ext cx="411480" cy="292608"/>
          </a:xfrm>
          <a:prstGeom prst="rect">
            <a:avLst/>
          </a:prstGeom>
          <a:noFill/>
        </p:spPr>
        <p:txBody>
          <a:bodyPr wrap="square" anchor="ctr">
            <a:spAutoFit/>
          </a:bodyPr>
          <a:lstStyle/>
          <a:p>
            <a:pPr algn="ctr"/>
            <a:r>
              <a:rPr sz="1000" b="0" i="0">
                <a:solidFill>
                  <a:srgbClr val="2A2A2A"/>
                </a:solidFill>
              </a:rPr>
              <a:t>6</a:t>
            </a:r>
          </a:p>
        </p:txBody>
      </p:sp>
      <p:sp>
        <p:nvSpPr>
          <p:cNvPr id="60" name="Rectangle 59"/>
          <p:cNvSpPr/>
          <p:nvPr/>
        </p:nvSpPr>
        <p:spPr>
          <a:xfrm>
            <a:off x="6583680" y="4123944"/>
            <a:ext cx="30175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38544" y="4142231"/>
            <a:ext cx="2926079" cy="292608"/>
          </a:xfrm>
          <a:prstGeom prst="rect">
            <a:avLst/>
          </a:prstGeom>
          <a:noFill/>
        </p:spPr>
        <p:txBody>
          <a:bodyPr wrap="square" anchor="ctr">
            <a:spAutoFit/>
          </a:bodyPr>
          <a:lstStyle/>
          <a:p>
            <a:pPr algn="l"/>
            <a:r>
              <a:rPr sz="1000" b="0" i="0">
                <a:solidFill>
                  <a:srgbClr val="2A2A2A"/>
                </a:solidFill>
              </a:rPr>
              <a:t>rms_dynamic_range</a:t>
            </a:r>
          </a:p>
        </p:txBody>
      </p:sp>
      <p:sp>
        <p:nvSpPr>
          <p:cNvPr id="62" name="Rectangle 61"/>
          <p:cNvSpPr/>
          <p:nvPr/>
        </p:nvSpPr>
        <p:spPr>
          <a:xfrm>
            <a:off x="9601200" y="4123944"/>
            <a:ext cx="11887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656064" y="4142231"/>
            <a:ext cx="1097280" cy="292608"/>
          </a:xfrm>
          <a:prstGeom prst="rect">
            <a:avLst/>
          </a:prstGeom>
          <a:noFill/>
        </p:spPr>
        <p:txBody>
          <a:bodyPr wrap="square" anchor="ctr">
            <a:spAutoFit/>
          </a:bodyPr>
          <a:lstStyle/>
          <a:p>
            <a:pPr algn="ctr"/>
            <a:r>
              <a:rPr sz="1000" b="0" i="0">
                <a:solidFill>
                  <a:srgbClr val="2A2A2A"/>
                </a:solidFill>
              </a:rPr>
              <a:t>0,0346</a:t>
            </a:r>
          </a:p>
        </p:txBody>
      </p:sp>
      <p:sp>
        <p:nvSpPr>
          <p:cNvPr id="64" name="Rectangle 63"/>
          <p:cNvSpPr/>
          <p:nvPr/>
        </p:nvSpPr>
        <p:spPr>
          <a:xfrm>
            <a:off x="10789920" y="4123944"/>
            <a:ext cx="105156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844784" y="4142231"/>
            <a:ext cx="960119" cy="292608"/>
          </a:xfrm>
          <a:prstGeom prst="rect">
            <a:avLst/>
          </a:prstGeom>
          <a:noFill/>
        </p:spPr>
        <p:txBody>
          <a:bodyPr wrap="square" anchor="ctr">
            <a:spAutoFit/>
          </a:bodyPr>
          <a:lstStyle/>
          <a:p>
            <a:pPr algn="ctr"/>
            <a:r>
              <a:rPr sz="1000" b="0" i="0">
                <a:solidFill>
                  <a:srgbClr val="2A2A2A"/>
                </a:solidFill>
              </a:rPr>
              <a:t>Zamansal</a:t>
            </a:r>
          </a:p>
        </p:txBody>
      </p:sp>
      <p:sp>
        <p:nvSpPr>
          <p:cNvPr id="66" name="Rectangle 65"/>
          <p:cNvSpPr/>
          <p:nvPr/>
        </p:nvSpPr>
        <p:spPr>
          <a:xfrm>
            <a:off x="6080760" y="4489704"/>
            <a:ext cx="5029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135624" y="4507992"/>
            <a:ext cx="411480" cy="292608"/>
          </a:xfrm>
          <a:prstGeom prst="rect">
            <a:avLst/>
          </a:prstGeom>
          <a:noFill/>
        </p:spPr>
        <p:txBody>
          <a:bodyPr wrap="square" anchor="ctr">
            <a:spAutoFit/>
          </a:bodyPr>
          <a:lstStyle/>
          <a:p>
            <a:pPr algn="ctr"/>
            <a:r>
              <a:rPr sz="1000" b="0" i="0">
                <a:solidFill>
                  <a:srgbClr val="2A2A2A"/>
                </a:solidFill>
              </a:rPr>
              <a:t>7</a:t>
            </a:r>
          </a:p>
        </p:txBody>
      </p:sp>
      <p:sp>
        <p:nvSpPr>
          <p:cNvPr id="68" name="Rectangle 67"/>
          <p:cNvSpPr/>
          <p:nvPr/>
        </p:nvSpPr>
        <p:spPr>
          <a:xfrm>
            <a:off x="6583680" y="4489704"/>
            <a:ext cx="30175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38544" y="4507992"/>
            <a:ext cx="2926079" cy="292608"/>
          </a:xfrm>
          <a:prstGeom prst="rect">
            <a:avLst/>
          </a:prstGeom>
          <a:noFill/>
        </p:spPr>
        <p:txBody>
          <a:bodyPr wrap="square" anchor="ctr">
            <a:spAutoFit/>
          </a:bodyPr>
          <a:lstStyle/>
          <a:p>
            <a:pPr algn="l"/>
            <a:r>
              <a:rPr sz="1000" b="0" i="0">
                <a:solidFill>
                  <a:srgbClr val="2A2A2A"/>
                </a:solidFill>
              </a:rPr>
              <a:t>onset_strength_mean</a:t>
            </a:r>
          </a:p>
        </p:txBody>
      </p:sp>
      <p:sp>
        <p:nvSpPr>
          <p:cNvPr id="70" name="Rectangle 69"/>
          <p:cNvSpPr/>
          <p:nvPr/>
        </p:nvSpPr>
        <p:spPr>
          <a:xfrm>
            <a:off x="9601200" y="4489704"/>
            <a:ext cx="11887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56064" y="4507992"/>
            <a:ext cx="1097280" cy="292608"/>
          </a:xfrm>
          <a:prstGeom prst="rect">
            <a:avLst/>
          </a:prstGeom>
          <a:noFill/>
        </p:spPr>
        <p:txBody>
          <a:bodyPr wrap="square" anchor="ctr">
            <a:spAutoFit/>
          </a:bodyPr>
          <a:lstStyle/>
          <a:p>
            <a:pPr algn="ctr"/>
            <a:r>
              <a:rPr sz="1000" b="0" i="0">
                <a:solidFill>
                  <a:srgbClr val="2A2A2A"/>
                </a:solidFill>
              </a:rPr>
              <a:t>0,0332</a:t>
            </a:r>
          </a:p>
        </p:txBody>
      </p:sp>
      <p:sp>
        <p:nvSpPr>
          <p:cNvPr id="72" name="Rectangle 71"/>
          <p:cNvSpPr/>
          <p:nvPr/>
        </p:nvSpPr>
        <p:spPr>
          <a:xfrm>
            <a:off x="10789920" y="4489704"/>
            <a:ext cx="105156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844784" y="4507992"/>
            <a:ext cx="960119" cy="292608"/>
          </a:xfrm>
          <a:prstGeom prst="rect">
            <a:avLst/>
          </a:prstGeom>
          <a:noFill/>
        </p:spPr>
        <p:txBody>
          <a:bodyPr wrap="square" anchor="ctr">
            <a:spAutoFit/>
          </a:bodyPr>
          <a:lstStyle/>
          <a:p>
            <a:pPr algn="ctr"/>
            <a:r>
              <a:rPr sz="1000" b="0" i="0">
                <a:solidFill>
                  <a:srgbClr val="2A2A2A"/>
                </a:solidFill>
              </a:rPr>
              <a:t>Ritmik</a:t>
            </a:r>
          </a:p>
        </p:txBody>
      </p:sp>
      <p:sp>
        <p:nvSpPr>
          <p:cNvPr id="74" name="Rectangle 73"/>
          <p:cNvSpPr/>
          <p:nvPr/>
        </p:nvSpPr>
        <p:spPr>
          <a:xfrm>
            <a:off x="6080760" y="4855464"/>
            <a:ext cx="5029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135624" y="4873752"/>
            <a:ext cx="411480" cy="292608"/>
          </a:xfrm>
          <a:prstGeom prst="rect">
            <a:avLst/>
          </a:prstGeom>
          <a:noFill/>
        </p:spPr>
        <p:txBody>
          <a:bodyPr wrap="square" anchor="ctr">
            <a:spAutoFit/>
          </a:bodyPr>
          <a:lstStyle/>
          <a:p>
            <a:pPr algn="ctr"/>
            <a:r>
              <a:rPr sz="1000" b="0" i="0">
                <a:solidFill>
                  <a:srgbClr val="2A2A2A"/>
                </a:solidFill>
              </a:rPr>
              <a:t>8</a:t>
            </a:r>
          </a:p>
        </p:txBody>
      </p:sp>
      <p:sp>
        <p:nvSpPr>
          <p:cNvPr id="76" name="Rectangle 75"/>
          <p:cNvSpPr/>
          <p:nvPr/>
        </p:nvSpPr>
        <p:spPr>
          <a:xfrm>
            <a:off x="6583680" y="4855464"/>
            <a:ext cx="30175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638544" y="4873752"/>
            <a:ext cx="2926079" cy="292608"/>
          </a:xfrm>
          <a:prstGeom prst="rect">
            <a:avLst/>
          </a:prstGeom>
          <a:noFill/>
        </p:spPr>
        <p:txBody>
          <a:bodyPr wrap="square" anchor="ctr">
            <a:spAutoFit/>
          </a:bodyPr>
          <a:lstStyle/>
          <a:p>
            <a:pPr algn="l"/>
            <a:r>
              <a:rPr sz="1000" b="0" i="0">
                <a:solidFill>
                  <a:srgbClr val="2A2A2A"/>
                </a:solidFill>
              </a:rPr>
              <a:t>rms_std</a:t>
            </a:r>
          </a:p>
        </p:txBody>
      </p:sp>
      <p:sp>
        <p:nvSpPr>
          <p:cNvPr id="78" name="Rectangle 77"/>
          <p:cNvSpPr/>
          <p:nvPr/>
        </p:nvSpPr>
        <p:spPr>
          <a:xfrm>
            <a:off x="9601200" y="4855464"/>
            <a:ext cx="11887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656064" y="4873752"/>
            <a:ext cx="1097280" cy="292608"/>
          </a:xfrm>
          <a:prstGeom prst="rect">
            <a:avLst/>
          </a:prstGeom>
          <a:noFill/>
        </p:spPr>
        <p:txBody>
          <a:bodyPr wrap="square" anchor="ctr">
            <a:spAutoFit/>
          </a:bodyPr>
          <a:lstStyle/>
          <a:p>
            <a:pPr algn="ctr"/>
            <a:r>
              <a:rPr sz="1000" b="0" i="0">
                <a:solidFill>
                  <a:srgbClr val="2A2A2A"/>
                </a:solidFill>
              </a:rPr>
              <a:t>0,0298</a:t>
            </a:r>
          </a:p>
        </p:txBody>
      </p:sp>
      <p:sp>
        <p:nvSpPr>
          <p:cNvPr id="80" name="Rectangle 79"/>
          <p:cNvSpPr/>
          <p:nvPr/>
        </p:nvSpPr>
        <p:spPr>
          <a:xfrm>
            <a:off x="10789920" y="4855464"/>
            <a:ext cx="105156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844784" y="4873752"/>
            <a:ext cx="960119" cy="292608"/>
          </a:xfrm>
          <a:prstGeom prst="rect">
            <a:avLst/>
          </a:prstGeom>
          <a:noFill/>
        </p:spPr>
        <p:txBody>
          <a:bodyPr wrap="square" anchor="ctr">
            <a:spAutoFit/>
          </a:bodyPr>
          <a:lstStyle/>
          <a:p>
            <a:pPr algn="ctr"/>
            <a:r>
              <a:rPr sz="1000" b="0" i="0">
                <a:solidFill>
                  <a:srgbClr val="2A2A2A"/>
                </a:solidFill>
              </a:rPr>
              <a:t>Zamansal</a:t>
            </a:r>
          </a:p>
        </p:txBody>
      </p:sp>
      <p:sp>
        <p:nvSpPr>
          <p:cNvPr id="82" name="Rectangle 81"/>
          <p:cNvSpPr/>
          <p:nvPr/>
        </p:nvSpPr>
        <p:spPr>
          <a:xfrm>
            <a:off x="6080760" y="5221224"/>
            <a:ext cx="5029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135624" y="5239512"/>
            <a:ext cx="411480" cy="292608"/>
          </a:xfrm>
          <a:prstGeom prst="rect">
            <a:avLst/>
          </a:prstGeom>
          <a:noFill/>
        </p:spPr>
        <p:txBody>
          <a:bodyPr wrap="square" anchor="ctr">
            <a:spAutoFit/>
          </a:bodyPr>
          <a:lstStyle/>
          <a:p>
            <a:pPr algn="ctr"/>
            <a:r>
              <a:rPr sz="1000" b="0" i="0">
                <a:solidFill>
                  <a:srgbClr val="2A2A2A"/>
                </a:solidFill>
              </a:rPr>
              <a:t>9</a:t>
            </a:r>
          </a:p>
        </p:txBody>
      </p:sp>
      <p:sp>
        <p:nvSpPr>
          <p:cNvPr id="84" name="Rectangle 83"/>
          <p:cNvSpPr/>
          <p:nvPr/>
        </p:nvSpPr>
        <p:spPr>
          <a:xfrm>
            <a:off x="6583680" y="5221224"/>
            <a:ext cx="30175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38544" y="5239512"/>
            <a:ext cx="2926079" cy="292608"/>
          </a:xfrm>
          <a:prstGeom prst="rect">
            <a:avLst/>
          </a:prstGeom>
          <a:noFill/>
        </p:spPr>
        <p:txBody>
          <a:bodyPr wrap="square" anchor="ctr">
            <a:spAutoFit/>
          </a:bodyPr>
          <a:lstStyle/>
          <a:p>
            <a:pPr algn="l"/>
            <a:r>
              <a:rPr sz="1000" b="0" i="0">
                <a:solidFill>
                  <a:srgbClr val="2A2A2A"/>
                </a:solidFill>
              </a:rPr>
              <a:t>beat_count</a:t>
            </a:r>
          </a:p>
        </p:txBody>
      </p:sp>
      <p:sp>
        <p:nvSpPr>
          <p:cNvPr id="86" name="Rectangle 85"/>
          <p:cNvSpPr/>
          <p:nvPr/>
        </p:nvSpPr>
        <p:spPr>
          <a:xfrm>
            <a:off x="9601200" y="5221224"/>
            <a:ext cx="118872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656064" y="5239512"/>
            <a:ext cx="1097280" cy="292608"/>
          </a:xfrm>
          <a:prstGeom prst="rect">
            <a:avLst/>
          </a:prstGeom>
          <a:noFill/>
        </p:spPr>
        <p:txBody>
          <a:bodyPr wrap="square" anchor="ctr">
            <a:spAutoFit/>
          </a:bodyPr>
          <a:lstStyle/>
          <a:p>
            <a:pPr algn="ctr"/>
            <a:r>
              <a:rPr sz="1000" b="0" i="0">
                <a:solidFill>
                  <a:srgbClr val="2A2A2A"/>
                </a:solidFill>
              </a:rPr>
              <a:t>0,0298</a:t>
            </a:r>
          </a:p>
        </p:txBody>
      </p:sp>
      <p:sp>
        <p:nvSpPr>
          <p:cNvPr id="88" name="Rectangle 87"/>
          <p:cNvSpPr/>
          <p:nvPr/>
        </p:nvSpPr>
        <p:spPr>
          <a:xfrm>
            <a:off x="10789920" y="5221224"/>
            <a:ext cx="1051560" cy="338328"/>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844784" y="5239512"/>
            <a:ext cx="960119" cy="292608"/>
          </a:xfrm>
          <a:prstGeom prst="rect">
            <a:avLst/>
          </a:prstGeom>
          <a:noFill/>
        </p:spPr>
        <p:txBody>
          <a:bodyPr wrap="square" anchor="ctr">
            <a:spAutoFit/>
          </a:bodyPr>
          <a:lstStyle/>
          <a:p>
            <a:pPr algn="ctr"/>
            <a:r>
              <a:rPr sz="1000" b="0" i="0">
                <a:solidFill>
                  <a:srgbClr val="2A2A2A"/>
                </a:solidFill>
              </a:rPr>
              <a:t>Ritmik</a:t>
            </a:r>
          </a:p>
        </p:txBody>
      </p:sp>
      <p:sp>
        <p:nvSpPr>
          <p:cNvPr id="90" name="Rectangle 89"/>
          <p:cNvSpPr/>
          <p:nvPr/>
        </p:nvSpPr>
        <p:spPr>
          <a:xfrm>
            <a:off x="6080760" y="5586983"/>
            <a:ext cx="5029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135624" y="5605271"/>
            <a:ext cx="411480" cy="292608"/>
          </a:xfrm>
          <a:prstGeom prst="rect">
            <a:avLst/>
          </a:prstGeom>
          <a:noFill/>
        </p:spPr>
        <p:txBody>
          <a:bodyPr wrap="square" anchor="ctr">
            <a:spAutoFit/>
          </a:bodyPr>
          <a:lstStyle/>
          <a:p>
            <a:pPr algn="ctr"/>
            <a:r>
              <a:rPr sz="1000" b="0" i="0">
                <a:solidFill>
                  <a:srgbClr val="2A2A2A"/>
                </a:solidFill>
              </a:rPr>
              <a:t>10</a:t>
            </a:r>
          </a:p>
        </p:txBody>
      </p:sp>
      <p:sp>
        <p:nvSpPr>
          <p:cNvPr id="92" name="Rectangle 91"/>
          <p:cNvSpPr/>
          <p:nvPr/>
        </p:nvSpPr>
        <p:spPr>
          <a:xfrm>
            <a:off x="6583680" y="5586983"/>
            <a:ext cx="30175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638544" y="5605271"/>
            <a:ext cx="2926079" cy="292608"/>
          </a:xfrm>
          <a:prstGeom prst="rect">
            <a:avLst/>
          </a:prstGeom>
          <a:noFill/>
        </p:spPr>
        <p:txBody>
          <a:bodyPr wrap="square" anchor="ctr">
            <a:spAutoFit/>
          </a:bodyPr>
          <a:lstStyle/>
          <a:p>
            <a:pPr algn="l"/>
            <a:r>
              <a:rPr sz="1000" b="0" i="0">
                <a:solidFill>
                  <a:srgbClr val="2A2A2A"/>
                </a:solidFill>
              </a:rPr>
              <a:t>mfcc_delta_var</a:t>
            </a:r>
          </a:p>
        </p:txBody>
      </p:sp>
      <p:sp>
        <p:nvSpPr>
          <p:cNvPr id="94" name="Rectangle 93"/>
          <p:cNvSpPr/>
          <p:nvPr/>
        </p:nvSpPr>
        <p:spPr>
          <a:xfrm>
            <a:off x="9601200" y="5586983"/>
            <a:ext cx="118872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656064" y="5605271"/>
            <a:ext cx="1097280" cy="292608"/>
          </a:xfrm>
          <a:prstGeom prst="rect">
            <a:avLst/>
          </a:prstGeom>
          <a:noFill/>
        </p:spPr>
        <p:txBody>
          <a:bodyPr wrap="square" anchor="ctr">
            <a:spAutoFit/>
          </a:bodyPr>
          <a:lstStyle/>
          <a:p>
            <a:pPr algn="ctr"/>
            <a:r>
              <a:rPr sz="1000" b="0" i="0">
                <a:solidFill>
                  <a:srgbClr val="2A2A2A"/>
                </a:solidFill>
              </a:rPr>
              <a:t>0,0289</a:t>
            </a:r>
          </a:p>
        </p:txBody>
      </p:sp>
      <p:sp>
        <p:nvSpPr>
          <p:cNvPr id="96" name="Rectangle 95"/>
          <p:cNvSpPr/>
          <p:nvPr/>
        </p:nvSpPr>
        <p:spPr>
          <a:xfrm>
            <a:off x="10789920" y="5586983"/>
            <a:ext cx="1051560" cy="338328"/>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844784" y="5605271"/>
            <a:ext cx="960119" cy="292608"/>
          </a:xfrm>
          <a:prstGeom prst="rect">
            <a:avLst/>
          </a:prstGeom>
          <a:noFill/>
        </p:spPr>
        <p:txBody>
          <a:bodyPr wrap="square" anchor="ctr">
            <a:spAutoFit/>
          </a:bodyPr>
          <a:lstStyle/>
          <a:p>
            <a:pPr algn="ctr"/>
            <a:r>
              <a:rPr sz="1000" b="0" i="0">
                <a:solidFill>
                  <a:srgbClr val="2A2A2A"/>
                </a:solidFill>
              </a:rPr>
              <a:t>Spektral</a:t>
            </a:r>
          </a:p>
        </p:txBody>
      </p:sp>
      <p:sp>
        <p:nvSpPr>
          <p:cNvPr id="98" name="TextBox 97"/>
          <p:cNvSpPr txBox="1"/>
          <p:nvPr/>
        </p:nvSpPr>
        <p:spPr>
          <a:xfrm>
            <a:off x="6080760" y="6080760"/>
            <a:ext cx="5760720" cy="502920"/>
          </a:xfrm>
          <a:prstGeom prst="rect">
            <a:avLst/>
          </a:prstGeom>
          <a:noFill/>
        </p:spPr>
        <p:txBody>
          <a:bodyPr wrap="square">
            <a:spAutoFit/>
          </a:bodyPr>
          <a:lstStyle/>
          <a:p>
            <a:pPr algn="l"/>
            <a:r>
              <a:rPr sz="1050" b="0" i="1">
                <a:solidFill>
                  <a:srgbClr val="66707A"/>
                </a:solidFill>
              </a:rPr>
              <a:t>Yüksek spectral_flatness_std değerleri modeli YZ sınıfına yönlendiriyor — bağımsız ses deepfake literatürüyle [16] örtüşüyor.</a:t>
            </a:r>
          </a:p>
        </p:txBody>
      </p:sp>
      <p:sp>
        <p:nvSpPr>
          <p:cNvPr id="99" name="TextBox 98"/>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100" name="TextBox 99"/>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10</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Tanılayıcı Analizler</a:t>
            </a:r>
          </a:p>
        </p:txBody>
      </p:sp>
      <p:sp>
        <p:nvSpPr>
          <p:cNvPr id="6" name="Rectangle 5"/>
          <p:cNvSpPr/>
          <p:nvPr/>
        </p:nvSpPr>
        <p:spPr>
          <a:xfrm>
            <a:off x="365760" y="1554480"/>
            <a:ext cx="5623560" cy="214884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82296" cy="2148840"/>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64207"/>
            <a:ext cx="5303520" cy="365760"/>
          </a:xfrm>
          <a:prstGeom prst="rect">
            <a:avLst/>
          </a:prstGeom>
          <a:noFill/>
        </p:spPr>
        <p:txBody>
          <a:bodyPr wrap="square">
            <a:spAutoFit/>
          </a:bodyPr>
          <a:lstStyle/>
          <a:p>
            <a:pPr algn="l"/>
            <a:r>
              <a:rPr sz="1300" b="1" i="0">
                <a:solidFill>
                  <a:srgbClr val="0D2B55"/>
                </a:solidFill>
              </a:rPr>
              <a:t>Kaynak Bazlı Performans (Şekil 13)</a:t>
            </a:r>
          </a:p>
        </p:txBody>
      </p:sp>
      <p:sp>
        <p:nvSpPr>
          <p:cNvPr id="9" name="TextBox 8"/>
          <p:cNvSpPr txBox="1"/>
          <p:nvPr/>
        </p:nvSpPr>
        <p:spPr>
          <a:xfrm>
            <a:off x="566928" y="2057400"/>
            <a:ext cx="5303520" cy="1554480"/>
          </a:xfrm>
          <a:prstGeom prst="rect">
            <a:avLst/>
          </a:prstGeom>
          <a:noFill/>
        </p:spPr>
        <p:txBody>
          <a:bodyPr wrap="square">
            <a:spAutoFit/>
          </a:bodyPr>
          <a:lstStyle/>
          <a:p>
            <a:pPr algn="l"/>
            <a:r>
              <a:rPr sz="1200" b="0" i="0">
                <a:solidFill>
                  <a:srgbClr val="2A2A2A"/>
                </a:solidFill>
              </a:rPr>
              <a:t>•  Suno parçaları:  %93,0 duyarlılık
•  Echoes alt kümesi:  %88,6 duyarlılık
•  Deepfake alt kümesi:  %50,0 duyarlılık
Deepfake setindeki düşüş genel bir başarısızlık değil; bu küme konuşma deepfake'inden türetilmiş olup müzik üretim imzalarını taşımıyor (dağılım kayması).</a:t>
            </a:r>
          </a:p>
        </p:txBody>
      </p:sp>
      <p:sp>
        <p:nvSpPr>
          <p:cNvPr id="10" name="Rectangle 9"/>
          <p:cNvSpPr/>
          <p:nvPr/>
        </p:nvSpPr>
        <p:spPr>
          <a:xfrm>
            <a:off x="365760" y="3840480"/>
            <a:ext cx="5623560" cy="2286000"/>
          </a:xfrm>
          <a:prstGeom prst="rect">
            <a:avLst/>
          </a:prstGeom>
          <a:solidFill>
            <a:srgbClr val="FD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3840480"/>
            <a:ext cx="82296" cy="2286000"/>
          </a:xfrm>
          <a:prstGeom prst="rect">
            <a:avLst/>
          </a:prstGeom>
          <a:solidFill>
            <a:srgbClr val="B5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950208"/>
            <a:ext cx="5303520" cy="365760"/>
          </a:xfrm>
          <a:prstGeom prst="rect">
            <a:avLst/>
          </a:prstGeom>
          <a:noFill/>
        </p:spPr>
        <p:txBody>
          <a:bodyPr wrap="square">
            <a:spAutoFit/>
          </a:bodyPr>
          <a:lstStyle/>
          <a:p>
            <a:pPr algn="l"/>
            <a:r>
              <a:rPr sz="1300" b="1" i="0">
                <a:solidFill>
                  <a:srgbClr val="0D2B55"/>
                </a:solidFill>
              </a:rPr>
              <a:t>Aşırı Uyum Tanısı (Şekil 14)</a:t>
            </a:r>
          </a:p>
        </p:txBody>
      </p:sp>
      <p:sp>
        <p:nvSpPr>
          <p:cNvPr id="13" name="TextBox 12"/>
          <p:cNvSpPr txBox="1"/>
          <p:nvPr/>
        </p:nvSpPr>
        <p:spPr>
          <a:xfrm>
            <a:off x="566928" y="4343400"/>
            <a:ext cx="5303520" cy="1691640"/>
          </a:xfrm>
          <a:prstGeom prst="rect">
            <a:avLst/>
          </a:prstGeom>
          <a:noFill/>
        </p:spPr>
        <p:txBody>
          <a:bodyPr wrap="square">
            <a:spAutoFit/>
          </a:bodyPr>
          <a:lstStyle/>
          <a:p>
            <a:pPr algn="l"/>
            <a:r>
              <a:rPr sz="1200" b="0" i="0">
                <a:solidFill>
                  <a:srgbClr val="2A2A2A"/>
                </a:solidFill>
              </a:rPr>
              <a:t>Ağaç tabanlı modellerde eğitim ile çapraz doğrulama doğruluğu arasında 8–14 puanlık tutarlı açık var.
Rastgele Orman uç örnek: eğitim %100 → CV %86,1.
Lojistik Regresyon en dengeli (0,6 puan) ama düşük kapasiteli.</a:t>
            </a:r>
          </a:p>
        </p:txBody>
      </p:sp>
      <p:pic>
        <p:nvPicPr>
          <p:cNvPr id="14" name="Picture 13" descr="threshold_sweep.png"/>
          <p:cNvPicPr>
            <a:picLocks noChangeAspect="1"/>
          </p:cNvPicPr>
          <p:nvPr/>
        </p:nvPicPr>
        <p:blipFill>
          <a:blip r:embed="rId2"/>
          <a:stretch>
            <a:fillRect/>
          </a:stretch>
        </p:blipFill>
        <p:spPr>
          <a:xfrm>
            <a:off x="6172200" y="1600200"/>
            <a:ext cx="5623560" cy="2788920"/>
          </a:xfrm>
          <a:prstGeom prst="rect">
            <a:avLst/>
          </a:prstGeom>
        </p:spPr>
      </p:pic>
      <p:sp>
        <p:nvSpPr>
          <p:cNvPr id="15" name="TextBox 14"/>
          <p:cNvSpPr txBox="1"/>
          <p:nvPr/>
        </p:nvSpPr>
        <p:spPr>
          <a:xfrm>
            <a:off x="6172200" y="4425696"/>
            <a:ext cx="5623560" cy="292608"/>
          </a:xfrm>
          <a:prstGeom prst="rect">
            <a:avLst/>
          </a:prstGeom>
          <a:noFill/>
        </p:spPr>
        <p:txBody>
          <a:bodyPr wrap="square">
            <a:spAutoFit/>
          </a:bodyPr>
          <a:lstStyle/>
          <a:p>
            <a:pPr algn="ctr"/>
            <a:r>
              <a:rPr sz="1000" b="0" i="1">
                <a:solidFill>
                  <a:srgbClr val="66707A"/>
                </a:solidFill>
              </a:rPr>
              <a:t>Şekil 12: Karar eşiği taraması (0,40–0,50 platosu)</a:t>
            </a:r>
          </a:p>
        </p:txBody>
      </p:sp>
      <p:sp>
        <p:nvSpPr>
          <p:cNvPr id="16" name="Rectangle 15"/>
          <p:cNvSpPr/>
          <p:nvPr/>
        </p:nvSpPr>
        <p:spPr>
          <a:xfrm>
            <a:off x="6172200" y="4709160"/>
            <a:ext cx="5623560" cy="141732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4709160"/>
            <a:ext cx="82296" cy="14173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4818888"/>
            <a:ext cx="5303520" cy="365760"/>
          </a:xfrm>
          <a:prstGeom prst="rect">
            <a:avLst/>
          </a:prstGeom>
          <a:noFill/>
        </p:spPr>
        <p:txBody>
          <a:bodyPr wrap="square">
            <a:spAutoFit/>
          </a:bodyPr>
          <a:lstStyle/>
          <a:p>
            <a:pPr algn="l"/>
            <a:r>
              <a:rPr sz="1300" b="1" i="0">
                <a:solidFill>
                  <a:srgbClr val="0D2B55"/>
                </a:solidFill>
              </a:rPr>
              <a:t>Öznitelik Sayısı Analizi (Şekil 16)</a:t>
            </a:r>
          </a:p>
        </p:txBody>
      </p:sp>
      <p:sp>
        <p:nvSpPr>
          <p:cNvPr id="19" name="TextBox 18"/>
          <p:cNvSpPr txBox="1"/>
          <p:nvPr/>
        </p:nvSpPr>
        <p:spPr>
          <a:xfrm>
            <a:off x="6373368" y="5212080"/>
            <a:ext cx="5303520" cy="822960"/>
          </a:xfrm>
          <a:prstGeom prst="rect">
            <a:avLst/>
          </a:prstGeom>
          <a:noFill/>
        </p:spPr>
        <p:txBody>
          <a:bodyPr wrap="square">
            <a:spAutoFit/>
          </a:bodyPr>
          <a:lstStyle/>
          <a:p>
            <a:pPr algn="l"/>
            <a:r>
              <a:rPr sz="1200" b="0" i="0">
                <a:solidFill>
                  <a:srgbClr val="2A2A2A"/>
                </a:solidFill>
              </a:rPr>
              <a:t>Doğruluk N=30'da platoya ulaşıyor; son 17 özniteliğin ölçülebilir katkısı yok. Gelecek yinelemede ~30 öznitelikle benzer doğruluk elde edilebilir.</a:t>
            </a:r>
          </a:p>
        </p:txBody>
      </p:sp>
      <p:sp>
        <p:nvSpPr>
          <p:cNvPr id="20" name="TextBox 19"/>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21" name="TextBox 20"/>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11</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İlgili Çalışmalarla Karşılaştırma (Tablo 7)</a:t>
            </a:r>
          </a:p>
        </p:txBody>
      </p:sp>
      <p:sp>
        <p:nvSpPr>
          <p:cNvPr id="6" name="Rectangle 5"/>
          <p:cNvSpPr/>
          <p:nvPr/>
        </p:nvSpPr>
        <p:spPr>
          <a:xfrm>
            <a:off x="365760" y="1600200"/>
            <a:ext cx="265176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1627632"/>
            <a:ext cx="2560320" cy="347472"/>
          </a:xfrm>
          <a:prstGeom prst="rect">
            <a:avLst/>
          </a:prstGeom>
          <a:noFill/>
        </p:spPr>
        <p:txBody>
          <a:bodyPr wrap="square">
            <a:spAutoFit/>
          </a:bodyPr>
          <a:lstStyle/>
          <a:p>
            <a:pPr algn="ctr"/>
            <a:r>
              <a:rPr sz="1150" b="1" i="0">
                <a:solidFill>
                  <a:srgbClr val="FFFFFF"/>
                </a:solidFill>
              </a:rPr>
              <a:t>Çalışma</a:t>
            </a:r>
          </a:p>
        </p:txBody>
      </p:sp>
      <p:sp>
        <p:nvSpPr>
          <p:cNvPr id="8" name="Rectangle 7"/>
          <p:cNvSpPr/>
          <p:nvPr/>
        </p:nvSpPr>
        <p:spPr>
          <a:xfrm>
            <a:off x="3017520" y="1600200"/>
            <a:ext cx="329184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72384" y="1627632"/>
            <a:ext cx="3200400" cy="347472"/>
          </a:xfrm>
          <a:prstGeom prst="rect">
            <a:avLst/>
          </a:prstGeom>
          <a:noFill/>
        </p:spPr>
        <p:txBody>
          <a:bodyPr wrap="square">
            <a:spAutoFit/>
          </a:bodyPr>
          <a:lstStyle/>
          <a:p>
            <a:pPr algn="ctr"/>
            <a:r>
              <a:rPr sz="1150" b="1" i="0">
                <a:solidFill>
                  <a:srgbClr val="FFFFFF"/>
                </a:solidFill>
              </a:rPr>
              <a:t>Yaklaşım</a:t>
            </a:r>
          </a:p>
        </p:txBody>
      </p:sp>
      <p:sp>
        <p:nvSpPr>
          <p:cNvPr id="10" name="Rectangle 9"/>
          <p:cNvSpPr/>
          <p:nvPr/>
        </p:nvSpPr>
        <p:spPr>
          <a:xfrm>
            <a:off x="6309360" y="1600200"/>
            <a:ext cx="182880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627632"/>
            <a:ext cx="1737360" cy="347472"/>
          </a:xfrm>
          <a:prstGeom prst="rect">
            <a:avLst/>
          </a:prstGeom>
          <a:noFill/>
        </p:spPr>
        <p:txBody>
          <a:bodyPr wrap="square">
            <a:spAutoFit/>
          </a:bodyPr>
          <a:lstStyle/>
          <a:p>
            <a:pPr algn="ctr"/>
            <a:r>
              <a:rPr sz="1150" b="1" i="0">
                <a:solidFill>
                  <a:srgbClr val="FFFFFF"/>
                </a:solidFill>
              </a:rPr>
              <a:t>Veri Kümesi</a:t>
            </a:r>
          </a:p>
        </p:txBody>
      </p:sp>
      <p:sp>
        <p:nvSpPr>
          <p:cNvPr id="12" name="Rectangle 11"/>
          <p:cNvSpPr/>
          <p:nvPr/>
        </p:nvSpPr>
        <p:spPr>
          <a:xfrm>
            <a:off x="8138160" y="1600200"/>
            <a:ext cx="169164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627632"/>
            <a:ext cx="1600200" cy="347472"/>
          </a:xfrm>
          <a:prstGeom prst="rect">
            <a:avLst/>
          </a:prstGeom>
          <a:noFill/>
        </p:spPr>
        <p:txBody>
          <a:bodyPr wrap="square">
            <a:spAutoFit/>
          </a:bodyPr>
          <a:lstStyle/>
          <a:p>
            <a:pPr algn="ctr"/>
            <a:r>
              <a:rPr sz="1150" b="1" i="0">
                <a:solidFill>
                  <a:srgbClr val="FFFFFF"/>
                </a:solidFill>
              </a:rPr>
              <a:t>ROC-AUC</a:t>
            </a:r>
          </a:p>
        </p:txBody>
      </p:sp>
      <p:sp>
        <p:nvSpPr>
          <p:cNvPr id="14" name="Rectangle 13"/>
          <p:cNvSpPr/>
          <p:nvPr/>
        </p:nvSpPr>
        <p:spPr>
          <a:xfrm>
            <a:off x="9829800" y="1600200"/>
            <a:ext cx="169164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84664" y="1627632"/>
            <a:ext cx="1600200" cy="347472"/>
          </a:xfrm>
          <a:prstGeom prst="rect">
            <a:avLst/>
          </a:prstGeom>
          <a:noFill/>
        </p:spPr>
        <p:txBody>
          <a:bodyPr wrap="square">
            <a:spAutoFit/>
          </a:bodyPr>
          <a:lstStyle/>
          <a:p>
            <a:pPr algn="ctr"/>
            <a:r>
              <a:rPr sz="1150" b="1" i="0">
                <a:solidFill>
                  <a:srgbClr val="FFFFFF"/>
                </a:solidFill>
              </a:rPr>
              <a:t>F1</a:t>
            </a:r>
          </a:p>
        </p:txBody>
      </p:sp>
      <p:sp>
        <p:nvSpPr>
          <p:cNvPr id="16" name="Rectangle 15"/>
          <p:cNvSpPr/>
          <p:nvPr/>
        </p:nvSpPr>
        <p:spPr>
          <a:xfrm>
            <a:off x="365760" y="2029968"/>
            <a:ext cx="265176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2066544"/>
            <a:ext cx="2523744" cy="530352"/>
          </a:xfrm>
          <a:prstGeom prst="rect">
            <a:avLst/>
          </a:prstGeom>
          <a:noFill/>
        </p:spPr>
        <p:txBody>
          <a:bodyPr wrap="square" anchor="ctr">
            <a:spAutoFit/>
          </a:bodyPr>
          <a:lstStyle/>
          <a:p>
            <a:pPr algn="l"/>
            <a:r>
              <a:rPr sz="1050" b="0" i="0">
                <a:solidFill>
                  <a:srgbClr val="2A2A2A"/>
                </a:solidFill>
              </a:rPr>
              <a:t>Afchar vd. [5]</a:t>
            </a:r>
          </a:p>
        </p:txBody>
      </p:sp>
      <p:sp>
        <p:nvSpPr>
          <p:cNvPr id="18" name="Rectangle 17"/>
          <p:cNvSpPr/>
          <p:nvPr/>
        </p:nvSpPr>
        <p:spPr>
          <a:xfrm>
            <a:off x="3017520" y="2029968"/>
            <a:ext cx="32918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90672" y="2066544"/>
            <a:ext cx="3163824" cy="530352"/>
          </a:xfrm>
          <a:prstGeom prst="rect">
            <a:avLst/>
          </a:prstGeom>
          <a:noFill/>
        </p:spPr>
        <p:txBody>
          <a:bodyPr wrap="square" anchor="ctr">
            <a:spAutoFit/>
          </a:bodyPr>
          <a:lstStyle/>
          <a:p>
            <a:pPr algn="l"/>
            <a:r>
              <a:rPr sz="1050" b="0" i="0">
                <a:solidFill>
                  <a:srgbClr val="2A2A2A"/>
                </a:solidFill>
              </a:rPr>
              <a:t>Oto-kodlayıcı artefakt</a:t>
            </a:r>
          </a:p>
        </p:txBody>
      </p:sp>
      <p:sp>
        <p:nvSpPr>
          <p:cNvPr id="20" name="Rectangle 19"/>
          <p:cNvSpPr/>
          <p:nvPr/>
        </p:nvSpPr>
        <p:spPr>
          <a:xfrm>
            <a:off x="6309360" y="2029968"/>
            <a:ext cx="182880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2066544"/>
            <a:ext cx="1700784" cy="530352"/>
          </a:xfrm>
          <a:prstGeom prst="rect">
            <a:avLst/>
          </a:prstGeom>
          <a:noFill/>
        </p:spPr>
        <p:txBody>
          <a:bodyPr wrap="square" anchor="ctr">
            <a:spAutoFit/>
          </a:bodyPr>
          <a:lstStyle/>
          <a:p>
            <a:pPr algn="ctr"/>
            <a:r>
              <a:rPr sz="1050" b="0" i="0">
                <a:solidFill>
                  <a:srgbClr val="2A2A2A"/>
                </a:solidFill>
              </a:rPr>
              <a:t>Özel</a:t>
            </a:r>
          </a:p>
        </p:txBody>
      </p:sp>
      <p:sp>
        <p:nvSpPr>
          <p:cNvPr id="22" name="Rectangle 21"/>
          <p:cNvSpPr/>
          <p:nvPr/>
        </p:nvSpPr>
        <p:spPr>
          <a:xfrm>
            <a:off x="8138160" y="2029968"/>
            <a:ext cx="16916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2066544"/>
            <a:ext cx="1563624" cy="530352"/>
          </a:xfrm>
          <a:prstGeom prst="rect">
            <a:avLst/>
          </a:prstGeom>
          <a:noFill/>
        </p:spPr>
        <p:txBody>
          <a:bodyPr wrap="square" anchor="ctr">
            <a:spAutoFit/>
          </a:bodyPr>
          <a:lstStyle/>
          <a:p>
            <a:pPr algn="ctr"/>
            <a:r>
              <a:rPr sz="1050" b="0" i="0">
                <a:solidFill>
                  <a:srgbClr val="2A2A2A"/>
                </a:solidFill>
              </a:rPr>
              <a:t>—</a:t>
            </a:r>
          </a:p>
        </p:txBody>
      </p:sp>
      <p:sp>
        <p:nvSpPr>
          <p:cNvPr id="24" name="Rectangle 23"/>
          <p:cNvSpPr/>
          <p:nvPr/>
        </p:nvSpPr>
        <p:spPr>
          <a:xfrm>
            <a:off x="9829800" y="2029968"/>
            <a:ext cx="16916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02952" y="2066544"/>
            <a:ext cx="1563624" cy="530352"/>
          </a:xfrm>
          <a:prstGeom prst="rect">
            <a:avLst/>
          </a:prstGeom>
          <a:noFill/>
        </p:spPr>
        <p:txBody>
          <a:bodyPr wrap="square" anchor="ctr">
            <a:spAutoFit/>
          </a:bodyPr>
          <a:lstStyle/>
          <a:p>
            <a:pPr algn="ctr"/>
            <a:r>
              <a:rPr sz="1050" b="0" i="0">
                <a:solidFill>
                  <a:srgbClr val="2A2A2A"/>
                </a:solidFill>
              </a:rPr>
              <a:t>0,872</a:t>
            </a:r>
          </a:p>
        </p:txBody>
      </p:sp>
      <p:sp>
        <p:nvSpPr>
          <p:cNvPr id="26" name="Rectangle 25"/>
          <p:cNvSpPr/>
          <p:nvPr/>
        </p:nvSpPr>
        <p:spPr>
          <a:xfrm>
            <a:off x="365760" y="2688336"/>
            <a:ext cx="265176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 y="2724912"/>
            <a:ext cx="2523744" cy="530352"/>
          </a:xfrm>
          <a:prstGeom prst="rect">
            <a:avLst/>
          </a:prstGeom>
          <a:noFill/>
        </p:spPr>
        <p:txBody>
          <a:bodyPr wrap="square" anchor="ctr">
            <a:spAutoFit/>
          </a:bodyPr>
          <a:lstStyle/>
          <a:p>
            <a:pPr algn="l"/>
            <a:r>
              <a:rPr sz="1050" b="0" i="0">
                <a:solidFill>
                  <a:srgbClr val="2A2A2A"/>
                </a:solidFill>
              </a:rPr>
              <a:t>Li vd. [22]</a:t>
            </a:r>
          </a:p>
        </p:txBody>
      </p:sp>
      <p:sp>
        <p:nvSpPr>
          <p:cNvPr id="28" name="Rectangle 27"/>
          <p:cNvSpPr/>
          <p:nvPr/>
        </p:nvSpPr>
        <p:spPr>
          <a:xfrm>
            <a:off x="3017520" y="2688336"/>
            <a:ext cx="329184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90672" y="2724912"/>
            <a:ext cx="3163824" cy="530352"/>
          </a:xfrm>
          <a:prstGeom prst="rect">
            <a:avLst/>
          </a:prstGeom>
          <a:noFill/>
        </p:spPr>
        <p:txBody>
          <a:bodyPr wrap="square" anchor="ctr">
            <a:spAutoFit/>
          </a:bodyPr>
          <a:lstStyle/>
          <a:p>
            <a:pPr algn="l"/>
            <a:r>
              <a:rPr sz="1050" b="0" i="0">
                <a:solidFill>
                  <a:srgbClr val="2A2A2A"/>
                </a:solidFill>
              </a:rPr>
              <a:t>Açıklanabilir öznitelik + ML</a:t>
            </a:r>
          </a:p>
        </p:txBody>
      </p:sp>
      <p:sp>
        <p:nvSpPr>
          <p:cNvPr id="30" name="Rectangle 29"/>
          <p:cNvSpPr/>
          <p:nvPr/>
        </p:nvSpPr>
        <p:spPr>
          <a:xfrm>
            <a:off x="6309360" y="2688336"/>
            <a:ext cx="182880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2724912"/>
            <a:ext cx="1700784" cy="530352"/>
          </a:xfrm>
          <a:prstGeom prst="rect">
            <a:avLst/>
          </a:prstGeom>
          <a:noFill/>
        </p:spPr>
        <p:txBody>
          <a:bodyPr wrap="square" anchor="ctr">
            <a:spAutoFit/>
          </a:bodyPr>
          <a:lstStyle/>
          <a:p>
            <a:pPr algn="ctr"/>
            <a:r>
              <a:rPr sz="1050" b="0" i="0">
                <a:solidFill>
                  <a:srgbClr val="2A2A2A"/>
                </a:solidFill>
              </a:rPr>
              <a:t>Özel</a:t>
            </a:r>
          </a:p>
        </p:txBody>
      </p:sp>
      <p:sp>
        <p:nvSpPr>
          <p:cNvPr id="32" name="Rectangle 31"/>
          <p:cNvSpPr/>
          <p:nvPr/>
        </p:nvSpPr>
        <p:spPr>
          <a:xfrm>
            <a:off x="8138160" y="2688336"/>
            <a:ext cx="169164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12" y="2724912"/>
            <a:ext cx="1563624" cy="530352"/>
          </a:xfrm>
          <a:prstGeom prst="rect">
            <a:avLst/>
          </a:prstGeom>
          <a:noFill/>
        </p:spPr>
        <p:txBody>
          <a:bodyPr wrap="square" anchor="ctr">
            <a:spAutoFit/>
          </a:bodyPr>
          <a:lstStyle/>
          <a:p>
            <a:pPr algn="ctr"/>
            <a:r>
              <a:rPr sz="1050" b="0" i="0">
                <a:solidFill>
                  <a:srgbClr val="2A2A2A"/>
                </a:solidFill>
              </a:rPr>
              <a:t>0,931</a:t>
            </a:r>
          </a:p>
        </p:txBody>
      </p:sp>
      <p:sp>
        <p:nvSpPr>
          <p:cNvPr id="34" name="Rectangle 33"/>
          <p:cNvSpPr/>
          <p:nvPr/>
        </p:nvSpPr>
        <p:spPr>
          <a:xfrm>
            <a:off x="9829800" y="2688336"/>
            <a:ext cx="169164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02952" y="2724912"/>
            <a:ext cx="1563624" cy="530352"/>
          </a:xfrm>
          <a:prstGeom prst="rect">
            <a:avLst/>
          </a:prstGeom>
          <a:noFill/>
        </p:spPr>
        <p:txBody>
          <a:bodyPr wrap="square" anchor="ctr">
            <a:spAutoFit/>
          </a:bodyPr>
          <a:lstStyle/>
          <a:p>
            <a:pPr algn="ctr"/>
            <a:r>
              <a:rPr sz="1050" b="0" i="0">
                <a:solidFill>
                  <a:srgbClr val="2A2A2A"/>
                </a:solidFill>
              </a:rPr>
              <a:t>0,884</a:t>
            </a:r>
          </a:p>
        </p:txBody>
      </p:sp>
      <p:sp>
        <p:nvSpPr>
          <p:cNvPr id="36" name="Rectangle 35"/>
          <p:cNvSpPr/>
          <p:nvPr/>
        </p:nvSpPr>
        <p:spPr>
          <a:xfrm>
            <a:off x="365760" y="3346704"/>
            <a:ext cx="265176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383280"/>
            <a:ext cx="2523744" cy="530352"/>
          </a:xfrm>
          <a:prstGeom prst="rect">
            <a:avLst/>
          </a:prstGeom>
          <a:noFill/>
        </p:spPr>
        <p:txBody>
          <a:bodyPr wrap="square" anchor="ctr">
            <a:spAutoFit/>
          </a:bodyPr>
          <a:lstStyle/>
          <a:p>
            <a:pPr algn="l"/>
            <a:r>
              <a:rPr sz="1050" b="0" i="0">
                <a:solidFill>
                  <a:srgbClr val="2A2A2A"/>
                </a:solidFill>
              </a:rPr>
              <a:t>Cros Vila vd. [33]</a:t>
            </a:r>
          </a:p>
        </p:txBody>
      </p:sp>
      <p:sp>
        <p:nvSpPr>
          <p:cNvPr id="38" name="Rectangle 37"/>
          <p:cNvSpPr/>
          <p:nvPr/>
        </p:nvSpPr>
        <p:spPr>
          <a:xfrm>
            <a:off x="3017520" y="3346704"/>
            <a:ext cx="32918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90672" y="3383280"/>
            <a:ext cx="3163824" cy="530352"/>
          </a:xfrm>
          <a:prstGeom prst="rect">
            <a:avLst/>
          </a:prstGeom>
          <a:noFill/>
        </p:spPr>
        <p:txBody>
          <a:bodyPr wrap="square" anchor="ctr">
            <a:spAutoFit/>
          </a:bodyPr>
          <a:lstStyle/>
          <a:p>
            <a:pPr algn="l"/>
            <a:r>
              <a:rPr sz="1050" b="0" i="0">
                <a:solidFill>
                  <a:srgbClr val="2A2A2A"/>
                </a:solidFill>
              </a:rPr>
              <a:t>Spektral + ritmik + SVM</a:t>
            </a:r>
          </a:p>
        </p:txBody>
      </p:sp>
      <p:sp>
        <p:nvSpPr>
          <p:cNvPr id="40" name="Rectangle 39"/>
          <p:cNvSpPr/>
          <p:nvPr/>
        </p:nvSpPr>
        <p:spPr>
          <a:xfrm>
            <a:off x="6309360" y="3346704"/>
            <a:ext cx="182880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82512" y="3383280"/>
            <a:ext cx="1700784" cy="530352"/>
          </a:xfrm>
          <a:prstGeom prst="rect">
            <a:avLst/>
          </a:prstGeom>
          <a:noFill/>
        </p:spPr>
        <p:txBody>
          <a:bodyPr wrap="square" anchor="ctr">
            <a:spAutoFit/>
          </a:bodyPr>
          <a:lstStyle/>
          <a:p>
            <a:pPr algn="ctr"/>
            <a:r>
              <a:rPr sz="1050" b="0" i="0">
                <a:solidFill>
                  <a:srgbClr val="2A2A2A"/>
                </a:solidFill>
              </a:rPr>
              <a:t>Özel</a:t>
            </a:r>
          </a:p>
        </p:txBody>
      </p:sp>
      <p:sp>
        <p:nvSpPr>
          <p:cNvPr id="42" name="Rectangle 41"/>
          <p:cNvSpPr/>
          <p:nvPr/>
        </p:nvSpPr>
        <p:spPr>
          <a:xfrm>
            <a:off x="8138160" y="3346704"/>
            <a:ext cx="16916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11312" y="3383280"/>
            <a:ext cx="1563624" cy="530352"/>
          </a:xfrm>
          <a:prstGeom prst="rect">
            <a:avLst/>
          </a:prstGeom>
          <a:noFill/>
        </p:spPr>
        <p:txBody>
          <a:bodyPr wrap="square" anchor="ctr">
            <a:spAutoFit/>
          </a:bodyPr>
          <a:lstStyle/>
          <a:p>
            <a:pPr algn="ctr"/>
            <a:r>
              <a:rPr sz="1050" b="0" i="0">
                <a:solidFill>
                  <a:srgbClr val="2A2A2A"/>
                </a:solidFill>
              </a:rPr>
              <a:t>0,941</a:t>
            </a:r>
          </a:p>
        </p:txBody>
      </p:sp>
      <p:sp>
        <p:nvSpPr>
          <p:cNvPr id="44" name="Rectangle 43"/>
          <p:cNvSpPr/>
          <p:nvPr/>
        </p:nvSpPr>
        <p:spPr>
          <a:xfrm>
            <a:off x="9829800" y="3346704"/>
            <a:ext cx="16916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02952" y="3383280"/>
            <a:ext cx="1563624" cy="530352"/>
          </a:xfrm>
          <a:prstGeom prst="rect">
            <a:avLst/>
          </a:prstGeom>
          <a:noFill/>
        </p:spPr>
        <p:txBody>
          <a:bodyPr wrap="square" anchor="ctr">
            <a:spAutoFit/>
          </a:bodyPr>
          <a:lstStyle/>
          <a:p>
            <a:pPr algn="ctr"/>
            <a:r>
              <a:rPr sz="1050" b="0" i="0">
                <a:solidFill>
                  <a:srgbClr val="2A2A2A"/>
                </a:solidFill>
              </a:rPr>
              <a:t>—</a:t>
            </a:r>
          </a:p>
        </p:txBody>
      </p:sp>
      <p:sp>
        <p:nvSpPr>
          <p:cNvPr id="46" name="Rectangle 45"/>
          <p:cNvSpPr/>
          <p:nvPr/>
        </p:nvSpPr>
        <p:spPr>
          <a:xfrm>
            <a:off x="365760" y="4005072"/>
            <a:ext cx="265176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8912" y="4041648"/>
            <a:ext cx="2523744" cy="530352"/>
          </a:xfrm>
          <a:prstGeom prst="rect">
            <a:avLst/>
          </a:prstGeom>
          <a:noFill/>
        </p:spPr>
        <p:txBody>
          <a:bodyPr wrap="square" anchor="ctr">
            <a:spAutoFit/>
          </a:bodyPr>
          <a:lstStyle/>
          <a:p>
            <a:pPr algn="l"/>
            <a:r>
              <a:rPr sz="1050" b="0" i="0">
                <a:solidFill>
                  <a:srgbClr val="2A2A2A"/>
                </a:solidFill>
              </a:rPr>
              <a:t>SONICS [34]</a:t>
            </a:r>
          </a:p>
        </p:txBody>
      </p:sp>
      <p:sp>
        <p:nvSpPr>
          <p:cNvPr id="48" name="Rectangle 47"/>
          <p:cNvSpPr/>
          <p:nvPr/>
        </p:nvSpPr>
        <p:spPr>
          <a:xfrm>
            <a:off x="3017520" y="4005072"/>
            <a:ext cx="329184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090672" y="4041648"/>
            <a:ext cx="3163824" cy="530352"/>
          </a:xfrm>
          <a:prstGeom prst="rect">
            <a:avLst/>
          </a:prstGeom>
          <a:noFill/>
        </p:spPr>
        <p:txBody>
          <a:bodyPr wrap="square" anchor="ctr">
            <a:spAutoFit/>
          </a:bodyPr>
          <a:lstStyle/>
          <a:p>
            <a:pPr algn="l"/>
            <a:r>
              <a:rPr sz="1050" b="0" i="0">
                <a:solidFill>
                  <a:srgbClr val="2A2A2A"/>
                </a:solidFill>
              </a:rPr>
              <a:t>Transformer tabanlı DL</a:t>
            </a:r>
          </a:p>
        </p:txBody>
      </p:sp>
      <p:sp>
        <p:nvSpPr>
          <p:cNvPr id="50" name="Rectangle 49"/>
          <p:cNvSpPr/>
          <p:nvPr/>
        </p:nvSpPr>
        <p:spPr>
          <a:xfrm>
            <a:off x="6309360" y="4005072"/>
            <a:ext cx="182880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82512" y="4041648"/>
            <a:ext cx="1700784" cy="530352"/>
          </a:xfrm>
          <a:prstGeom prst="rect">
            <a:avLst/>
          </a:prstGeom>
          <a:noFill/>
        </p:spPr>
        <p:txBody>
          <a:bodyPr wrap="square" anchor="ctr">
            <a:spAutoFit/>
          </a:bodyPr>
          <a:lstStyle/>
          <a:p>
            <a:pPr algn="ctr"/>
            <a:r>
              <a:rPr sz="1050" b="0" i="0">
                <a:solidFill>
                  <a:srgbClr val="2A2A2A"/>
                </a:solidFill>
              </a:rPr>
              <a:t>SONICS</a:t>
            </a:r>
          </a:p>
        </p:txBody>
      </p:sp>
      <p:sp>
        <p:nvSpPr>
          <p:cNvPr id="52" name="Rectangle 51"/>
          <p:cNvSpPr/>
          <p:nvPr/>
        </p:nvSpPr>
        <p:spPr>
          <a:xfrm>
            <a:off x="8138160" y="4005072"/>
            <a:ext cx="169164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11312" y="4041648"/>
            <a:ext cx="1563624" cy="530352"/>
          </a:xfrm>
          <a:prstGeom prst="rect">
            <a:avLst/>
          </a:prstGeom>
          <a:noFill/>
        </p:spPr>
        <p:txBody>
          <a:bodyPr wrap="square" anchor="ctr">
            <a:spAutoFit/>
          </a:bodyPr>
          <a:lstStyle/>
          <a:p>
            <a:pPr algn="ctr"/>
            <a:r>
              <a:rPr sz="1050" b="0" i="0">
                <a:solidFill>
                  <a:srgbClr val="2A2A2A"/>
                </a:solidFill>
              </a:rPr>
              <a:t>0,960</a:t>
            </a:r>
          </a:p>
        </p:txBody>
      </p:sp>
      <p:sp>
        <p:nvSpPr>
          <p:cNvPr id="54" name="Rectangle 53"/>
          <p:cNvSpPr/>
          <p:nvPr/>
        </p:nvSpPr>
        <p:spPr>
          <a:xfrm>
            <a:off x="9829800" y="4005072"/>
            <a:ext cx="1691640" cy="603504"/>
          </a:xfrm>
          <a:prstGeom prst="rect">
            <a:avLst/>
          </a:prstGeom>
          <a:solidFill>
            <a:srgbClr val="E8ECF0"/>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02952" y="4041648"/>
            <a:ext cx="1563624" cy="530352"/>
          </a:xfrm>
          <a:prstGeom prst="rect">
            <a:avLst/>
          </a:prstGeom>
          <a:noFill/>
        </p:spPr>
        <p:txBody>
          <a:bodyPr wrap="square" anchor="ctr">
            <a:spAutoFit/>
          </a:bodyPr>
          <a:lstStyle/>
          <a:p>
            <a:pPr algn="ctr"/>
            <a:r>
              <a:rPr sz="1050" b="0" i="0">
                <a:solidFill>
                  <a:srgbClr val="2A2A2A"/>
                </a:solidFill>
              </a:rPr>
              <a:t>0,921</a:t>
            </a:r>
          </a:p>
        </p:txBody>
      </p:sp>
      <p:sp>
        <p:nvSpPr>
          <p:cNvPr id="56" name="Rectangle 55"/>
          <p:cNvSpPr/>
          <p:nvPr/>
        </p:nvSpPr>
        <p:spPr>
          <a:xfrm>
            <a:off x="365760" y="4663440"/>
            <a:ext cx="265176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38912" y="4700016"/>
            <a:ext cx="2523744" cy="530352"/>
          </a:xfrm>
          <a:prstGeom prst="rect">
            <a:avLst/>
          </a:prstGeom>
          <a:noFill/>
        </p:spPr>
        <p:txBody>
          <a:bodyPr wrap="square" anchor="ctr">
            <a:spAutoFit/>
          </a:bodyPr>
          <a:lstStyle/>
          <a:p>
            <a:pPr algn="l"/>
            <a:r>
              <a:rPr sz="1050" b="0" i="0">
                <a:solidFill>
                  <a:srgbClr val="2A2A2A"/>
                </a:solidFill>
              </a:rPr>
              <a:t>FakeMusicCaps [35]</a:t>
            </a:r>
          </a:p>
        </p:txBody>
      </p:sp>
      <p:sp>
        <p:nvSpPr>
          <p:cNvPr id="58" name="Rectangle 57"/>
          <p:cNvSpPr/>
          <p:nvPr/>
        </p:nvSpPr>
        <p:spPr>
          <a:xfrm>
            <a:off x="3017520" y="4663440"/>
            <a:ext cx="32918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90672" y="4700016"/>
            <a:ext cx="3163824" cy="530352"/>
          </a:xfrm>
          <a:prstGeom prst="rect">
            <a:avLst/>
          </a:prstGeom>
          <a:noFill/>
        </p:spPr>
        <p:txBody>
          <a:bodyPr wrap="square" anchor="ctr">
            <a:spAutoFit/>
          </a:bodyPr>
          <a:lstStyle/>
          <a:p>
            <a:pPr algn="l"/>
            <a:r>
              <a:rPr sz="1050" b="0" i="0">
                <a:solidFill>
                  <a:srgbClr val="2A2A2A"/>
                </a:solidFill>
              </a:rPr>
              <a:t>Çok modlu MusicCaps</a:t>
            </a:r>
          </a:p>
        </p:txBody>
      </p:sp>
      <p:sp>
        <p:nvSpPr>
          <p:cNvPr id="60" name="Rectangle 59"/>
          <p:cNvSpPr/>
          <p:nvPr/>
        </p:nvSpPr>
        <p:spPr>
          <a:xfrm>
            <a:off x="6309360" y="4663440"/>
            <a:ext cx="182880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82512" y="4700016"/>
            <a:ext cx="1700784" cy="530352"/>
          </a:xfrm>
          <a:prstGeom prst="rect">
            <a:avLst/>
          </a:prstGeom>
          <a:noFill/>
        </p:spPr>
        <p:txBody>
          <a:bodyPr wrap="square" anchor="ctr">
            <a:spAutoFit/>
          </a:bodyPr>
          <a:lstStyle/>
          <a:p>
            <a:pPr algn="ctr"/>
            <a:r>
              <a:rPr sz="1050" b="0" i="0">
                <a:solidFill>
                  <a:srgbClr val="2A2A2A"/>
                </a:solidFill>
              </a:rPr>
              <a:t>FMC</a:t>
            </a:r>
          </a:p>
        </p:txBody>
      </p:sp>
      <p:sp>
        <p:nvSpPr>
          <p:cNvPr id="62" name="Rectangle 61"/>
          <p:cNvSpPr/>
          <p:nvPr/>
        </p:nvSpPr>
        <p:spPr>
          <a:xfrm>
            <a:off x="8138160" y="4663440"/>
            <a:ext cx="16916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11312" y="4700016"/>
            <a:ext cx="1563624" cy="530352"/>
          </a:xfrm>
          <a:prstGeom prst="rect">
            <a:avLst/>
          </a:prstGeom>
          <a:noFill/>
        </p:spPr>
        <p:txBody>
          <a:bodyPr wrap="square" anchor="ctr">
            <a:spAutoFit/>
          </a:bodyPr>
          <a:lstStyle/>
          <a:p>
            <a:pPr algn="ctr"/>
            <a:r>
              <a:rPr sz="1050" b="0" i="0">
                <a:solidFill>
                  <a:srgbClr val="2A2A2A"/>
                </a:solidFill>
              </a:rPr>
              <a:t>0,943</a:t>
            </a:r>
          </a:p>
        </p:txBody>
      </p:sp>
      <p:sp>
        <p:nvSpPr>
          <p:cNvPr id="64" name="Rectangle 63"/>
          <p:cNvSpPr/>
          <p:nvPr/>
        </p:nvSpPr>
        <p:spPr>
          <a:xfrm>
            <a:off x="9829800" y="4663440"/>
            <a:ext cx="1691640" cy="603504"/>
          </a:xfrm>
          <a:prstGeom prst="rect">
            <a:avLst/>
          </a:prstGeom>
          <a:solidFill>
            <a:srgbClr val="FFFFFF"/>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02952" y="4700016"/>
            <a:ext cx="1563624" cy="530352"/>
          </a:xfrm>
          <a:prstGeom prst="rect">
            <a:avLst/>
          </a:prstGeom>
          <a:noFill/>
        </p:spPr>
        <p:txBody>
          <a:bodyPr wrap="square" anchor="ctr">
            <a:spAutoFit/>
          </a:bodyPr>
          <a:lstStyle/>
          <a:p>
            <a:pPr algn="ctr"/>
            <a:r>
              <a:rPr sz="1050" b="0" i="0">
                <a:solidFill>
                  <a:srgbClr val="2A2A2A"/>
                </a:solidFill>
              </a:rPr>
              <a:t>0,906</a:t>
            </a:r>
          </a:p>
        </p:txBody>
      </p:sp>
      <p:sp>
        <p:nvSpPr>
          <p:cNvPr id="66" name="Rectangle 65"/>
          <p:cNvSpPr/>
          <p:nvPr/>
        </p:nvSpPr>
        <p:spPr>
          <a:xfrm>
            <a:off x="365760" y="5321808"/>
            <a:ext cx="2651760" cy="603504"/>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8912" y="5358384"/>
            <a:ext cx="2523744" cy="530352"/>
          </a:xfrm>
          <a:prstGeom prst="rect">
            <a:avLst/>
          </a:prstGeom>
          <a:noFill/>
        </p:spPr>
        <p:txBody>
          <a:bodyPr wrap="square" anchor="ctr">
            <a:spAutoFit/>
          </a:bodyPr>
          <a:lstStyle/>
          <a:p>
            <a:pPr algn="l"/>
            <a:r>
              <a:rPr sz="1050" b="1" i="0">
                <a:solidFill>
                  <a:srgbClr val="1A6B3A"/>
                </a:solidFill>
              </a:rPr>
              <a:t>AURIS (bu çalışma)</a:t>
            </a:r>
          </a:p>
        </p:txBody>
      </p:sp>
      <p:sp>
        <p:nvSpPr>
          <p:cNvPr id="68" name="Rectangle 67"/>
          <p:cNvSpPr/>
          <p:nvPr/>
        </p:nvSpPr>
        <p:spPr>
          <a:xfrm>
            <a:off x="3017520" y="5321808"/>
            <a:ext cx="3291840" cy="603504"/>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090672" y="5358384"/>
            <a:ext cx="3163824" cy="530352"/>
          </a:xfrm>
          <a:prstGeom prst="rect">
            <a:avLst/>
          </a:prstGeom>
          <a:noFill/>
        </p:spPr>
        <p:txBody>
          <a:bodyPr wrap="square" anchor="ctr">
            <a:spAutoFit/>
          </a:bodyPr>
          <a:lstStyle/>
          <a:p>
            <a:pPr algn="l"/>
            <a:r>
              <a:rPr sz="1050" b="1" i="0">
                <a:solidFill>
                  <a:srgbClr val="1A6B3A"/>
                </a:solidFill>
              </a:rPr>
              <a:t>47 öznitelik + 11 model topluluk</a:t>
            </a:r>
          </a:p>
        </p:txBody>
      </p:sp>
      <p:sp>
        <p:nvSpPr>
          <p:cNvPr id="70" name="Rectangle 69"/>
          <p:cNvSpPr/>
          <p:nvPr/>
        </p:nvSpPr>
        <p:spPr>
          <a:xfrm>
            <a:off x="6309360" y="5321808"/>
            <a:ext cx="1828800" cy="603504"/>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82512" y="5358384"/>
            <a:ext cx="1700784" cy="530352"/>
          </a:xfrm>
          <a:prstGeom prst="rect">
            <a:avLst/>
          </a:prstGeom>
          <a:noFill/>
        </p:spPr>
        <p:txBody>
          <a:bodyPr wrap="square" anchor="ctr">
            <a:spAutoFit/>
          </a:bodyPr>
          <a:lstStyle/>
          <a:p>
            <a:pPr algn="ctr"/>
            <a:r>
              <a:rPr sz="1050" b="1" i="0">
                <a:solidFill>
                  <a:srgbClr val="1A6B3A"/>
                </a:solidFill>
              </a:rPr>
              <a:t>5.195</a:t>
            </a:r>
          </a:p>
        </p:txBody>
      </p:sp>
      <p:sp>
        <p:nvSpPr>
          <p:cNvPr id="72" name="Rectangle 71"/>
          <p:cNvSpPr/>
          <p:nvPr/>
        </p:nvSpPr>
        <p:spPr>
          <a:xfrm>
            <a:off x="8138160" y="5321808"/>
            <a:ext cx="1691640" cy="603504"/>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11312" y="5358384"/>
            <a:ext cx="1563624" cy="530352"/>
          </a:xfrm>
          <a:prstGeom prst="rect">
            <a:avLst/>
          </a:prstGeom>
          <a:noFill/>
        </p:spPr>
        <p:txBody>
          <a:bodyPr wrap="square" anchor="ctr">
            <a:spAutoFit/>
          </a:bodyPr>
          <a:lstStyle/>
          <a:p>
            <a:pPr algn="ctr"/>
            <a:r>
              <a:rPr sz="1050" b="1" i="0">
                <a:solidFill>
                  <a:srgbClr val="1A6B3A"/>
                </a:solidFill>
              </a:rPr>
              <a:t>0,9548</a:t>
            </a:r>
          </a:p>
        </p:txBody>
      </p:sp>
      <p:sp>
        <p:nvSpPr>
          <p:cNvPr id="74" name="Rectangle 73"/>
          <p:cNvSpPr/>
          <p:nvPr/>
        </p:nvSpPr>
        <p:spPr>
          <a:xfrm>
            <a:off x="9829800" y="5321808"/>
            <a:ext cx="1691640" cy="603504"/>
          </a:xfrm>
          <a:prstGeom prst="rect">
            <a:avLst/>
          </a:prstGeom>
          <a:solidFill>
            <a:srgbClr val="FFF3CC"/>
          </a:solidFill>
          <a:ln w="12700">
            <a:solidFill>
              <a:srgbClr val="D5D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902952" y="5358384"/>
            <a:ext cx="1563624" cy="530352"/>
          </a:xfrm>
          <a:prstGeom prst="rect">
            <a:avLst/>
          </a:prstGeom>
          <a:noFill/>
        </p:spPr>
        <p:txBody>
          <a:bodyPr wrap="square" anchor="ctr">
            <a:spAutoFit/>
          </a:bodyPr>
          <a:lstStyle/>
          <a:p>
            <a:pPr algn="ctr"/>
            <a:r>
              <a:rPr sz="1050" b="1" i="0">
                <a:solidFill>
                  <a:srgbClr val="1A6B3A"/>
                </a:solidFill>
              </a:rPr>
              <a:t>0,8731</a:t>
            </a:r>
          </a:p>
        </p:txBody>
      </p:sp>
      <p:sp>
        <p:nvSpPr>
          <p:cNvPr id="76" name="Rectangle 75"/>
          <p:cNvSpPr/>
          <p:nvPr/>
        </p:nvSpPr>
        <p:spPr>
          <a:xfrm>
            <a:off x="365760" y="5669280"/>
            <a:ext cx="11430000" cy="868680"/>
          </a:xfrm>
          <a:prstGeom prst="rect">
            <a:avLst/>
          </a:prstGeom>
          <a:solidFill>
            <a:srgbClr val="E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65760" y="5669280"/>
            <a:ext cx="82296" cy="86868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5779008"/>
            <a:ext cx="11109960" cy="365760"/>
          </a:xfrm>
          <a:prstGeom prst="rect">
            <a:avLst/>
          </a:prstGeom>
          <a:noFill/>
        </p:spPr>
        <p:txBody>
          <a:bodyPr wrap="square">
            <a:spAutoFit/>
          </a:bodyPr>
          <a:lstStyle/>
          <a:p>
            <a:pPr algn="l"/>
            <a:r>
              <a:rPr sz="1300" b="1" i="0">
                <a:solidFill>
                  <a:srgbClr val="0D2B55"/>
                </a:solidFill>
              </a:rPr>
              <a:t>Konumlandırma</a:t>
            </a:r>
          </a:p>
        </p:txBody>
      </p:sp>
      <p:sp>
        <p:nvSpPr>
          <p:cNvPr id="79" name="TextBox 78"/>
          <p:cNvSpPr txBox="1"/>
          <p:nvPr/>
        </p:nvSpPr>
        <p:spPr>
          <a:xfrm>
            <a:off x="566928" y="6172200"/>
            <a:ext cx="11109960" cy="274319"/>
          </a:xfrm>
          <a:prstGeom prst="rect">
            <a:avLst/>
          </a:prstGeom>
          <a:noFill/>
        </p:spPr>
        <p:txBody>
          <a:bodyPr wrap="square">
            <a:spAutoFit/>
          </a:bodyPr>
          <a:lstStyle/>
          <a:p>
            <a:pPr algn="l"/>
            <a:r>
              <a:rPr sz="1200" b="0" i="0">
                <a:solidFill>
                  <a:srgbClr val="2A2A2A"/>
                </a:solidFill>
              </a:rPr>
              <a:t>AURIS (0,9548), Transformer tabanlı SONICS (0,960) ile Li vd. (0,931) arasında yer alıyor — üstelik derin öğrenme altyapısı gerektirmeden ve katlar arası en düşük varyansla (±0,0023). Hafif bir sistemin ne ölçüde rekabetçi kalabileceğini gösteriyor.</a:t>
            </a:r>
          </a:p>
        </p:txBody>
      </p:sp>
      <p:sp>
        <p:nvSpPr>
          <p:cNvPr id="80" name="TextBox 79"/>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81" name="TextBox 80"/>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11</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Kısıtlamalar ve Güçlü Yönler</a:t>
            </a:r>
          </a:p>
        </p:txBody>
      </p:sp>
      <p:sp>
        <p:nvSpPr>
          <p:cNvPr id="6" name="TextBox 5"/>
          <p:cNvSpPr txBox="1"/>
          <p:nvPr/>
        </p:nvSpPr>
        <p:spPr>
          <a:xfrm>
            <a:off x="365760" y="1554480"/>
            <a:ext cx="5669280" cy="365760"/>
          </a:xfrm>
          <a:prstGeom prst="rect">
            <a:avLst/>
          </a:prstGeom>
          <a:noFill/>
        </p:spPr>
        <p:txBody>
          <a:bodyPr wrap="square">
            <a:spAutoFit/>
          </a:bodyPr>
          <a:lstStyle/>
          <a:p>
            <a:pPr algn="l"/>
            <a:r>
              <a:rPr sz="1400" b="1" i="0">
                <a:solidFill>
                  <a:srgbClr val="B52A2A"/>
                </a:solidFill>
              </a:rPr>
              <a:t>Kısıtlamalar</a:t>
            </a:r>
          </a:p>
        </p:txBody>
      </p:sp>
      <p:sp>
        <p:nvSpPr>
          <p:cNvPr id="7" name="Rectangle 6"/>
          <p:cNvSpPr/>
          <p:nvPr/>
        </p:nvSpPr>
        <p:spPr>
          <a:xfrm>
            <a:off x="365760" y="1993392"/>
            <a:ext cx="5669280" cy="960120"/>
          </a:xfrm>
          <a:prstGeom prst="rect">
            <a:avLst/>
          </a:prstGeom>
          <a:solidFill>
            <a:srgbClr val="FDECEC"/>
          </a:solidFill>
          <a:ln w="12700">
            <a:solidFill>
              <a:srgbClr val="B5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84832"/>
            <a:ext cx="5394960" cy="320040"/>
          </a:xfrm>
          <a:prstGeom prst="rect">
            <a:avLst/>
          </a:prstGeom>
          <a:noFill/>
        </p:spPr>
        <p:txBody>
          <a:bodyPr wrap="square">
            <a:spAutoFit/>
          </a:bodyPr>
          <a:lstStyle/>
          <a:p>
            <a:pPr algn="l"/>
            <a:r>
              <a:rPr sz="1200" b="1" i="0">
                <a:solidFill>
                  <a:srgbClr val="B52A2A"/>
                </a:solidFill>
              </a:rPr>
              <a:t>⚠  Dağılım kayması</a:t>
            </a:r>
          </a:p>
        </p:txBody>
      </p:sp>
      <p:sp>
        <p:nvSpPr>
          <p:cNvPr id="9" name="TextBox 8"/>
          <p:cNvSpPr txBox="1"/>
          <p:nvPr/>
        </p:nvSpPr>
        <p:spPr>
          <a:xfrm>
            <a:off x="502920" y="2423160"/>
            <a:ext cx="5394960" cy="457200"/>
          </a:xfrm>
          <a:prstGeom prst="rect">
            <a:avLst/>
          </a:prstGeom>
          <a:noFill/>
        </p:spPr>
        <p:txBody>
          <a:bodyPr wrap="square">
            <a:spAutoFit/>
          </a:bodyPr>
          <a:lstStyle/>
          <a:p>
            <a:pPr algn="l"/>
            <a:r>
              <a:rPr sz="1050" b="0" i="0">
                <a:solidFill>
                  <a:srgbClr val="2A2A2A"/>
                </a:solidFill>
              </a:rPr>
              <a:t>Eğitim dışı YZ sistemlerine ve deepfake setine (%50 duyarlılık) sınırlı genelleme.</a:t>
            </a:r>
          </a:p>
        </p:txBody>
      </p:sp>
      <p:sp>
        <p:nvSpPr>
          <p:cNvPr id="10" name="Rectangle 9"/>
          <p:cNvSpPr/>
          <p:nvPr/>
        </p:nvSpPr>
        <p:spPr>
          <a:xfrm>
            <a:off x="365760" y="3072384"/>
            <a:ext cx="5669280" cy="960120"/>
          </a:xfrm>
          <a:prstGeom prst="rect">
            <a:avLst/>
          </a:prstGeom>
          <a:solidFill>
            <a:srgbClr val="FDECEC"/>
          </a:solidFill>
          <a:ln w="12700">
            <a:solidFill>
              <a:srgbClr val="B5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163824"/>
            <a:ext cx="5394960" cy="320040"/>
          </a:xfrm>
          <a:prstGeom prst="rect">
            <a:avLst/>
          </a:prstGeom>
          <a:noFill/>
        </p:spPr>
        <p:txBody>
          <a:bodyPr wrap="square">
            <a:spAutoFit/>
          </a:bodyPr>
          <a:lstStyle/>
          <a:p>
            <a:pPr algn="l"/>
            <a:r>
              <a:rPr sz="1200" b="1" i="0">
                <a:solidFill>
                  <a:srgbClr val="B52A2A"/>
                </a:solidFill>
              </a:rPr>
              <a:t>⚠  Aşırı uyum eğilimi</a:t>
            </a:r>
          </a:p>
        </p:txBody>
      </p:sp>
      <p:sp>
        <p:nvSpPr>
          <p:cNvPr id="12" name="TextBox 11"/>
          <p:cNvSpPr txBox="1"/>
          <p:nvPr/>
        </p:nvSpPr>
        <p:spPr>
          <a:xfrm>
            <a:off x="502920" y="3502152"/>
            <a:ext cx="5394960" cy="457200"/>
          </a:xfrm>
          <a:prstGeom prst="rect">
            <a:avLst/>
          </a:prstGeom>
          <a:noFill/>
        </p:spPr>
        <p:txBody>
          <a:bodyPr wrap="square">
            <a:spAutoFit/>
          </a:bodyPr>
          <a:lstStyle/>
          <a:p>
            <a:pPr algn="l"/>
            <a:r>
              <a:rPr sz="1050" b="0" i="0">
                <a:solidFill>
                  <a:srgbClr val="2A2A2A"/>
                </a:solidFill>
              </a:rPr>
              <a:t>Ağaç modellerinde 8–14 puanlık eğitim-CV açığı.</a:t>
            </a:r>
          </a:p>
        </p:txBody>
      </p:sp>
      <p:sp>
        <p:nvSpPr>
          <p:cNvPr id="13" name="Rectangle 12"/>
          <p:cNvSpPr/>
          <p:nvPr/>
        </p:nvSpPr>
        <p:spPr>
          <a:xfrm>
            <a:off x="365760" y="4151376"/>
            <a:ext cx="5669280" cy="960120"/>
          </a:xfrm>
          <a:prstGeom prst="rect">
            <a:avLst/>
          </a:prstGeom>
          <a:solidFill>
            <a:srgbClr val="FDECEC"/>
          </a:solidFill>
          <a:ln w="12700">
            <a:solidFill>
              <a:srgbClr val="B5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242816"/>
            <a:ext cx="5394960" cy="320040"/>
          </a:xfrm>
          <a:prstGeom prst="rect">
            <a:avLst/>
          </a:prstGeom>
          <a:noFill/>
        </p:spPr>
        <p:txBody>
          <a:bodyPr wrap="square">
            <a:spAutoFit/>
          </a:bodyPr>
          <a:lstStyle/>
          <a:p>
            <a:pPr algn="l"/>
            <a:r>
              <a:rPr sz="1200" b="1" i="0">
                <a:solidFill>
                  <a:srgbClr val="B52A2A"/>
                </a:solidFill>
              </a:rPr>
              <a:t>⚠  Öznitelik fazlalığı</a:t>
            </a:r>
          </a:p>
        </p:txBody>
      </p:sp>
      <p:sp>
        <p:nvSpPr>
          <p:cNvPr id="15" name="TextBox 14"/>
          <p:cNvSpPr txBox="1"/>
          <p:nvPr/>
        </p:nvSpPr>
        <p:spPr>
          <a:xfrm>
            <a:off x="502920" y="4581144"/>
            <a:ext cx="5394960" cy="457200"/>
          </a:xfrm>
          <a:prstGeom prst="rect">
            <a:avLst/>
          </a:prstGeom>
          <a:noFill/>
        </p:spPr>
        <p:txBody>
          <a:bodyPr wrap="square">
            <a:spAutoFit/>
          </a:bodyPr>
          <a:lstStyle/>
          <a:p>
            <a:pPr algn="l"/>
            <a:r>
              <a:rPr sz="1050" b="0" i="0">
                <a:solidFill>
                  <a:srgbClr val="2A2A2A"/>
                </a:solidFill>
              </a:rPr>
              <a:t>Son 17 özniteliğin doğruluğa ölçülebilir katkısı yok.</a:t>
            </a:r>
          </a:p>
        </p:txBody>
      </p:sp>
      <p:sp>
        <p:nvSpPr>
          <p:cNvPr id="16" name="Rectangle 15"/>
          <p:cNvSpPr/>
          <p:nvPr/>
        </p:nvSpPr>
        <p:spPr>
          <a:xfrm>
            <a:off x="365760" y="5230368"/>
            <a:ext cx="5669280" cy="960120"/>
          </a:xfrm>
          <a:prstGeom prst="rect">
            <a:avLst/>
          </a:prstGeom>
          <a:solidFill>
            <a:srgbClr val="FDECEC"/>
          </a:solidFill>
          <a:ln w="12700">
            <a:solidFill>
              <a:srgbClr val="B5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5321808"/>
            <a:ext cx="5394960" cy="320040"/>
          </a:xfrm>
          <a:prstGeom prst="rect">
            <a:avLst/>
          </a:prstGeom>
          <a:noFill/>
        </p:spPr>
        <p:txBody>
          <a:bodyPr wrap="square">
            <a:spAutoFit/>
          </a:bodyPr>
          <a:lstStyle/>
          <a:p>
            <a:pPr algn="l"/>
            <a:r>
              <a:rPr sz="1200" b="1" i="0">
                <a:solidFill>
                  <a:srgbClr val="B52A2A"/>
                </a:solidFill>
              </a:rPr>
              <a:t>⚠  Gerçek zamanlı kullanım</a:t>
            </a:r>
          </a:p>
        </p:txBody>
      </p:sp>
      <p:sp>
        <p:nvSpPr>
          <p:cNvPr id="18" name="TextBox 17"/>
          <p:cNvSpPr txBox="1"/>
          <p:nvPr/>
        </p:nvSpPr>
        <p:spPr>
          <a:xfrm>
            <a:off x="502920" y="5660136"/>
            <a:ext cx="5394960" cy="457200"/>
          </a:xfrm>
          <a:prstGeom prst="rect">
            <a:avLst/>
          </a:prstGeom>
          <a:noFill/>
        </p:spPr>
        <p:txBody>
          <a:bodyPr wrap="square">
            <a:spAutoFit/>
          </a:bodyPr>
          <a:lstStyle/>
          <a:p>
            <a:pPr algn="l"/>
            <a:r>
              <a:rPr sz="1050" b="0" i="0">
                <a:solidFill>
                  <a:srgbClr val="2A2A2A"/>
                </a:solidFill>
              </a:rPr>
              <a:t>Düşük gecikmeli çıkarım henüz test edilmedi.</a:t>
            </a:r>
          </a:p>
        </p:txBody>
      </p:sp>
      <p:sp>
        <p:nvSpPr>
          <p:cNvPr id="19" name="TextBox 18"/>
          <p:cNvSpPr txBox="1"/>
          <p:nvPr/>
        </p:nvSpPr>
        <p:spPr>
          <a:xfrm>
            <a:off x="6355080" y="1554480"/>
            <a:ext cx="5486400" cy="365760"/>
          </a:xfrm>
          <a:prstGeom prst="rect">
            <a:avLst/>
          </a:prstGeom>
          <a:noFill/>
        </p:spPr>
        <p:txBody>
          <a:bodyPr wrap="square">
            <a:spAutoFit/>
          </a:bodyPr>
          <a:lstStyle/>
          <a:p>
            <a:pPr algn="l"/>
            <a:r>
              <a:rPr sz="1400" b="1" i="0">
                <a:solidFill>
                  <a:srgbClr val="1A6B3A"/>
                </a:solidFill>
              </a:rPr>
              <a:t>Güçlü Yönler</a:t>
            </a:r>
          </a:p>
        </p:txBody>
      </p:sp>
      <p:sp>
        <p:nvSpPr>
          <p:cNvPr id="20" name="Rectangle 19"/>
          <p:cNvSpPr/>
          <p:nvPr/>
        </p:nvSpPr>
        <p:spPr>
          <a:xfrm>
            <a:off x="6355080" y="1993392"/>
            <a:ext cx="5486400" cy="960120"/>
          </a:xfrm>
          <a:prstGeom prst="rect">
            <a:avLst/>
          </a:prstGeom>
          <a:solidFill>
            <a:srgbClr val="E9F6EC"/>
          </a:solidFill>
          <a:ln w="12700">
            <a:solidFill>
              <a:srgbClr val="1A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084832"/>
            <a:ext cx="5212080" cy="320040"/>
          </a:xfrm>
          <a:prstGeom prst="rect">
            <a:avLst/>
          </a:prstGeom>
          <a:noFill/>
        </p:spPr>
        <p:txBody>
          <a:bodyPr wrap="square">
            <a:spAutoFit/>
          </a:bodyPr>
          <a:lstStyle/>
          <a:p>
            <a:pPr algn="l"/>
            <a:r>
              <a:rPr sz="1200" b="1" i="0">
                <a:solidFill>
                  <a:srgbClr val="1A6B3A"/>
                </a:solidFill>
              </a:rPr>
              <a:t>✓  Heterojen öznitelik</a:t>
            </a:r>
          </a:p>
        </p:txBody>
      </p:sp>
      <p:sp>
        <p:nvSpPr>
          <p:cNvPr id="22" name="TextBox 21"/>
          <p:cNvSpPr txBox="1"/>
          <p:nvPr/>
        </p:nvSpPr>
        <p:spPr>
          <a:xfrm>
            <a:off x="6492240" y="2423160"/>
            <a:ext cx="5212080" cy="457200"/>
          </a:xfrm>
          <a:prstGeom prst="rect">
            <a:avLst/>
          </a:prstGeom>
          <a:noFill/>
        </p:spPr>
        <p:txBody>
          <a:bodyPr wrap="square">
            <a:spAutoFit/>
          </a:bodyPr>
          <a:lstStyle/>
          <a:p>
            <a:pPr algn="l"/>
            <a:r>
              <a:rPr sz="1050" b="0" i="0">
                <a:solidFill>
                  <a:srgbClr val="2A2A2A"/>
                </a:solidFill>
              </a:rPr>
              <a:t>5 aile / 47 boyut — tek temsile aşırı uyumu sınırlar.</a:t>
            </a:r>
          </a:p>
        </p:txBody>
      </p:sp>
      <p:sp>
        <p:nvSpPr>
          <p:cNvPr id="23" name="Rectangle 22"/>
          <p:cNvSpPr/>
          <p:nvPr/>
        </p:nvSpPr>
        <p:spPr>
          <a:xfrm>
            <a:off x="6355080" y="3072384"/>
            <a:ext cx="5486400" cy="960120"/>
          </a:xfrm>
          <a:prstGeom prst="rect">
            <a:avLst/>
          </a:prstGeom>
          <a:solidFill>
            <a:srgbClr val="E9F6EC"/>
          </a:solidFill>
          <a:ln w="12700">
            <a:solidFill>
              <a:srgbClr val="1A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163824"/>
            <a:ext cx="5212080" cy="320040"/>
          </a:xfrm>
          <a:prstGeom prst="rect">
            <a:avLst/>
          </a:prstGeom>
          <a:noFill/>
        </p:spPr>
        <p:txBody>
          <a:bodyPr wrap="square">
            <a:spAutoFit/>
          </a:bodyPr>
          <a:lstStyle/>
          <a:p>
            <a:pPr algn="l"/>
            <a:r>
              <a:rPr sz="1200" b="1" i="0">
                <a:solidFill>
                  <a:srgbClr val="1A6B3A"/>
                </a:solidFill>
              </a:rPr>
              <a:t>✓  Açıklanabilirlik</a:t>
            </a:r>
          </a:p>
        </p:txBody>
      </p:sp>
      <p:sp>
        <p:nvSpPr>
          <p:cNvPr id="25" name="TextBox 24"/>
          <p:cNvSpPr txBox="1"/>
          <p:nvPr/>
        </p:nvSpPr>
        <p:spPr>
          <a:xfrm>
            <a:off x="6492240" y="3502152"/>
            <a:ext cx="5212080" cy="457200"/>
          </a:xfrm>
          <a:prstGeom prst="rect">
            <a:avLst/>
          </a:prstGeom>
          <a:noFill/>
        </p:spPr>
        <p:txBody>
          <a:bodyPr wrap="square">
            <a:spAutoFit/>
          </a:bodyPr>
          <a:lstStyle/>
          <a:p>
            <a:pPr algn="l"/>
            <a:r>
              <a:rPr sz="1050" b="0" i="0">
                <a:solidFill>
                  <a:srgbClr val="2A2A2A"/>
                </a:solidFill>
              </a:rPr>
              <a:t>TreeSHAP ile global ve yerel karar gerekçesi.</a:t>
            </a:r>
          </a:p>
        </p:txBody>
      </p:sp>
      <p:sp>
        <p:nvSpPr>
          <p:cNvPr id="26" name="Rectangle 25"/>
          <p:cNvSpPr/>
          <p:nvPr/>
        </p:nvSpPr>
        <p:spPr>
          <a:xfrm>
            <a:off x="6355080" y="4151376"/>
            <a:ext cx="5486400" cy="960120"/>
          </a:xfrm>
          <a:prstGeom prst="rect">
            <a:avLst/>
          </a:prstGeom>
          <a:solidFill>
            <a:srgbClr val="E9F6EC"/>
          </a:solidFill>
          <a:ln w="12700">
            <a:solidFill>
              <a:srgbClr val="1A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4242816"/>
            <a:ext cx="5212080" cy="320040"/>
          </a:xfrm>
          <a:prstGeom prst="rect">
            <a:avLst/>
          </a:prstGeom>
          <a:noFill/>
        </p:spPr>
        <p:txBody>
          <a:bodyPr wrap="square">
            <a:spAutoFit/>
          </a:bodyPr>
          <a:lstStyle/>
          <a:p>
            <a:pPr algn="l"/>
            <a:r>
              <a:rPr sz="1200" b="1" i="0">
                <a:solidFill>
                  <a:srgbClr val="1A6B3A"/>
                </a:solidFill>
              </a:rPr>
              <a:t>✓  Eşik optimizasyonu</a:t>
            </a:r>
          </a:p>
        </p:txBody>
      </p:sp>
      <p:sp>
        <p:nvSpPr>
          <p:cNvPr id="28" name="TextBox 27"/>
          <p:cNvSpPr txBox="1"/>
          <p:nvPr/>
        </p:nvSpPr>
        <p:spPr>
          <a:xfrm>
            <a:off x="6492240" y="4581144"/>
            <a:ext cx="5212080" cy="457200"/>
          </a:xfrm>
          <a:prstGeom prst="rect">
            <a:avLst/>
          </a:prstGeom>
          <a:noFill/>
        </p:spPr>
        <p:txBody>
          <a:bodyPr wrap="square">
            <a:spAutoFit/>
          </a:bodyPr>
          <a:lstStyle/>
          <a:p>
            <a:pPr algn="l"/>
            <a:r>
              <a:rPr sz="1050" b="0" i="0">
                <a:solidFill>
                  <a:srgbClr val="2A2A2A"/>
                </a:solidFill>
              </a:rPr>
              <a:t>Youden J ile dengeli karar (θ*=0,4316).</a:t>
            </a:r>
          </a:p>
        </p:txBody>
      </p:sp>
      <p:sp>
        <p:nvSpPr>
          <p:cNvPr id="29" name="Rectangle 28"/>
          <p:cNvSpPr/>
          <p:nvPr/>
        </p:nvSpPr>
        <p:spPr>
          <a:xfrm>
            <a:off x="6355080" y="5230368"/>
            <a:ext cx="5486400" cy="960120"/>
          </a:xfrm>
          <a:prstGeom prst="rect">
            <a:avLst/>
          </a:prstGeom>
          <a:solidFill>
            <a:srgbClr val="E9F6EC"/>
          </a:solidFill>
          <a:ln w="12700">
            <a:solidFill>
              <a:srgbClr val="1A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5321808"/>
            <a:ext cx="5212080" cy="320040"/>
          </a:xfrm>
          <a:prstGeom prst="rect">
            <a:avLst/>
          </a:prstGeom>
          <a:noFill/>
        </p:spPr>
        <p:txBody>
          <a:bodyPr wrap="square">
            <a:spAutoFit/>
          </a:bodyPr>
          <a:lstStyle/>
          <a:p>
            <a:pPr algn="l"/>
            <a:r>
              <a:rPr sz="1200" b="1" i="0">
                <a:solidFill>
                  <a:srgbClr val="1A6B3A"/>
                </a:solidFill>
              </a:rPr>
              <a:t>✓  Düşük varyans</a:t>
            </a:r>
          </a:p>
        </p:txBody>
      </p:sp>
      <p:sp>
        <p:nvSpPr>
          <p:cNvPr id="31" name="TextBox 30"/>
          <p:cNvSpPr txBox="1"/>
          <p:nvPr/>
        </p:nvSpPr>
        <p:spPr>
          <a:xfrm>
            <a:off x="6492240" y="5660136"/>
            <a:ext cx="5212080" cy="457200"/>
          </a:xfrm>
          <a:prstGeom prst="rect">
            <a:avLst/>
          </a:prstGeom>
          <a:noFill/>
        </p:spPr>
        <p:txBody>
          <a:bodyPr wrap="square">
            <a:spAutoFit/>
          </a:bodyPr>
          <a:lstStyle/>
          <a:p>
            <a:pPr algn="l"/>
            <a:r>
              <a:rPr sz="1050" b="0" i="0">
                <a:solidFill>
                  <a:srgbClr val="2A2A2A"/>
                </a:solidFill>
              </a:rPr>
              <a:t>±0,0023 katlar arası std — en kararlı model.</a:t>
            </a:r>
          </a:p>
        </p:txBody>
      </p:sp>
      <p:sp>
        <p:nvSpPr>
          <p:cNvPr id="32" name="TextBox 31"/>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33" name="TextBox 32"/>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11</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Sonuçlar</a:t>
            </a:r>
          </a:p>
        </p:txBody>
      </p:sp>
      <p:sp>
        <p:nvSpPr>
          <p:cNvPr id="6" name="Rectangle 5"/>
          <p:cNvSpPr/>
          <p:nvPr/>
        </p:nvSpPr>
        <p:spPr>
          <a:xfrm>
            <a:off x="365760" y="1600200"/>
            <a:ext cx="11430000" cy="841248"/>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00200"/>
            <a:ext cx="640080" cy="8412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645920"/>
            <a:ext cx="640080" cy="749808"/>
          </a:xfrm>
          <a:prstGeom prst="rect">
            <a:avLst/>
          </a:prstGeom>
          <a:noFill/>
        </p:spPr>
        <p:txBody>
          <a:bodyPr wrap="square" anchor="ctr">
            <a:spAutoFit/>
          </a:bodyPr>
          <a:lstStyle/>
          <a:p>
            <a:pPr algn="ctr"/>
            <a:r>
              <a:rPr sz="2200" b="1" i="0">
                <a:solidFill>
                  <a:srgbClr val="E0A800"/>
                </a:solidFill>
              </a:rPr>
              <a:t>1</a:t>
            </a:r>
          </a:p>
        </p:txBody>
      </p:sp>
      <p:sp>
        <p:nvSpPr>
          <p:cNvPr id="9" name="TextBox 8"/>
          <p:cNvSpPr txBox="1"/>
          <p:nvPr/>
        </p:nvSpPr>
        <p:spPr>
          <a:xfrm>
            <a:off x="1188720" y="1691640"/>
            <a:ext cx="4206240" cy="658368"/>
          </a:xfrm>
          <a:prstGeom prst="rect">
            <a:avLst/>
          </a:prstGeom>
          <a:noFill/>
        </p:spPr>
        <p:txBody>
          <a:bodyPr wrap="square" anchor="ctr">
            <a:spAutoFit/>
          </a:bodyPr>
          <a:lstStyle/>
          <a:p>
            <a:pPr algn="l"/>
            <a:r>
              <a:rPr sz="1300" b="1" i="0">
                <a:solidFill>
                  <a:srgbClr val="0D2B55"/>
                </a:solidFill>
              </a:rPr>
              <a:t>Uçtan uca tespit sistemi</a:t>
            </a:r>
          </a:p>
        </p:txBody>
      </p:sp>
      <p:sp>
        <p:nvSpPr>
          <p:cNvPr id="10" name="TextBox 9"/>
          <p:cNvSpPr txBox="1"/>
          <p:nvPr/>
        </p:nvSpPr>
        <p:spPr>
          <a:xfrm>
            <a:off x="5486400" y="1691640"/>
            <a:ext cx="6126480" cy="658368"/>
          </a:xfrm>
          <a:prstGeom prst="rect">
            <a:avLst/>
          </a:prstGeom>
          <a:noFill/>
        </p:spPr>
        <p:txBody>
          <a:bodyPr wrap="square" anchor="ctr">
            <a:spAutoFit/>
          </a:bodyPr>
          <a:lstStyle/>
          <a:p>
            <a:pPr algn="l"/>
            <a:r>
              <a:rPr sz="1150" b="0" i="0">
                <a:solidFill>
                  <a:srgbClr val="2A2A2A"/>
                </a:solidFill>
              </a:rPr>
              <a:t>47 boyutlu vektör + 11 modelli topluluk, 5.195 örnekte eğitildi.</a:t>
            </a:r>
          </a:p>
        </p:txBody>
      </p:sp>
      <p:sp>
        <p:nvSpPr>
          <p:cNvPr id="11" name="Rectangle 10"/>
          <p:cNvSpPr/>
          <p:nvPr/>
        </p:nvSpPr>
        <p:spPr>
          <a:xfrm>
            <a:off x="365760" y="2560320"/>
            <a:ext cx="11430000" cy="841248"/>
          </a:xfrm>
          <a:prstGeom prst="rect">
            <a:avLst/>
          </a:prstGeom>
          <a:solidFill>
            <a:srgbClr val="E8ECF0"/>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560320"/>
            <a:ext cx="640080" cy="8412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606039"/>
            <a:ext cx="640080" cy="749808"/>
          </a:xfrm>
          <a:prstGeom prst="rect">
            <a:avLst/>
          </a:prstGeom>
          <a:noFill/>
        </p:spPr>
        <p:txBody>
          <a:bodyPr wrap="square" anchor="ctr">
            <a:spAutoFit/>
          </a:bodyPr>
          <a:lstStyle/>
          <a:p>
            <a:pPr algn="ctr"/>
            <a:r>
              <a:rPr sz="2200" b="1" i="0">
                <a:solidFill>
                  <a:srgbClr val="E0A800"/>
                </a:solidFill>
              </a:rPr>
              <a:t>2</a:t>
            </a:r>
          </a:p>
        </p:txBody>
      </p:sp>
      <p:sp>
        <p:nvSpPr>
          <p:cNvPr id="14" name="TextBox 13"/>
          <p:cNvSpPr txBox="1"/>
          <p:nvPr/>
        </p:nvSpPr>
        <p:spPr>
          <a:xfrm>
            <a:off x="1188720" y="2651760"/>
            <a:ext cx="4206240" cy="658368"/>
          </a:xfrm>
          <a:prstGeom prst="rect">
            <a:avLst/>
          </a:prstGeom>
          <a:noFill/>
        </p:spPr>
        <p:txBody>
          <a:bodyPr wrap="square" anchor="ctr">
            <a:spAutoFit/>
          </a:bodyPr>
          <a:lstStyle/>
          <a:p>
            <a:pPr algn="l"/>
            <a:r>
              <a:rPr sz="1300" b="1" i="0">
                <a:solidFill>
                  <a:srgbClr val="0D2B55"/>
                </a:solidFill>
              </a:rPr>
              <a:t>LightGBM lider</a:t>
            </a:r>
          </a:p>
        </p:txBody>
      </p:sp>
      <p:sp>
        <p:nvSpPr>
          <p:cNvPr id="15" name="TextBox 14"/>
          <p:cNvSpPr txBox="1"/>
          <p:nvPr/>
        </p:nvSpPr>
        <p:spPr>
          <a:xfrm>
            <a:off x="5486400" y="2651760"/>
            <a:ext cx="6126480" cy="658368"/>
          </a:xfrm>
          <a:prstGeom prst="rect">
            <a:avLst/>
          </a:prstGeom>
          <a:noFill/>
        </p:spPr>
        <p:txBody>
          <a:bodyPr wrap="square" anchor="ctr">
            <a:spAutoFit/>
          </a:bodyPr>
          <a:lstStyle/>
          <a:p>
            <a:pPr algn="l"/>
            <a:r>
              <a:rPr sz="1150" b="0" i="0">
                <a:solidFill>
                  <a:srgbClr val="2A2A2A"/>
                </a:solidFill>
              </a:rPr>
              <a:t>ROC-AUC 0,9548 ve en düşük varyans (±0,0023); Derin ÇKA 0,9542 ile ikinci.</a:t>
            </a:r>
          </a:p>
        </p:txBody>
      </p:sp>
      <p:sp>
        <p:nvSpPr>
          <p:cNvPr id="16" name="Rectangle 15"/>
          <p:cNvSpPr/>
          <p:nvPr/>
        </p:nvSpPr>
        <p:spPr>
          <a:xfrm>
            <a:off x="365760" y="3520440"/>
            <a:ext cx="11430000" cy="841248"/>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520440"/>
            <a:ext cx="640080" cy="8412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566160"/>
            <a:ext cx="640080" cy="749808"/>
          </a:xfrm>
          <a:prstGeom prst="rect">
            <a:avLst/>
          </a:prstGeom>
          <a:noFill/>
        </p:spPr>
        <p:txBody>
          <a:bodyPr wrap="square" anchor="ctr">
            <a:spAutoFit/>
          </a:bodyPr>
          <a:lstStyle/>
          <a:p>
            <a:pPr algn="ctr"/>
            <a:r>
              <a:rPr sz="2200" b="1" i="0">
                <a:solidFill>
                  <a:srgbClr val="E0A800"/>
                </a:solidFill>
              </a:rPr>
              <a:t>3</a:t>
            </a:r>
          </a:p>
        </p:txBody>
      </p:sp>
      <p:sp>
        <p:nvSpPr>
          <p:cNvPr id="19" name="TextBox 18"/>
          <p:cNvSpPr txBox="1"/>
          <p:nvPr/>
        </p:nvSpPr>
        <p:spPr>
          <a:xfrm>
            <a:off x="1188720" y="3611880"/>
            <a:ext cx="4206240" cy="658368"/>
          </a:xfrm>
          <a:prstGeom prst="rect">
            <a:avLst/>
          </a:prstGeom>
          <a:noFill/>
        </p:spPr>
        <p:txBody>
          <a:bodyPr wrap="square" anchor="ctr">
            <a:spAutoFit/>
          </a:bodyPr>
          <a:lstStyle/>
          <a:p>
            <a:pPr algn="l"/>
            <a:r>
              <a:rPr sz="1300" b="1" i="0">
                <a:solidFill>
                  <a:srgbClr val="0D2B55"/>
                </a:solidFill>
              </a:rPr>
              <a:t>spectral_flatness_std belirleyici</a:t>
            </a:r>
          </a:p>
        </p:txBody>
      </p:sp>
      <p:sp>
        <p:nvSpPr>
          <p:cNvPr id="20" name="TextBox 19"/>
          <p:cNvSpPr txBox="1"/>
          <p:nvPr/>
        </p:nvSpPr>
        <p:spPr>
          <a:xfrm>
            <a:off x="5486400" y="3611880"/>
            <a:ext cx="6126480" cy="658368"/>
          </a:xfrm>
          <a:prstGeom prst="rect">
            <a:avLst/>
          </a:prstGeom>
          <a:noFill/>
        </p:spPr>
        <p:txBody>
          <a:bodyPr wrap="square" anchor="ctr">
            <a:spAutoFit/>
          </a:bodyPr>
          <a:lstStyle/>
          <a:p>
            <a:pPr algn="l"/>
            <a:r>
              <a:rPr sz="1150" b="0" i="0">
                <a:solidFill>
                  <a:srgbClr val="2A2A2A"/>
                </a:solidFill>
              </a:rPr>
              <a:t>YZ-insan ayrımındaki en güçlü öznitelik; literatürle [16] tutarlı.</a:t>
            </a:r>
          </a:p>
        </p:txBody>
      </p:sp>
      <p:sp>
        <p:nvSpPr>
          <p:cNvPr id="21" name="Rectangle 20"/>
          <p:cNvSpPr/>
          <p:nvPr/>
        </p:nvSpPr>
        <p:spPr>
          <a:xfrm>
            <a:off x="365760" y="4480560"/>
            <a:ext cx="11430000" cy="841248"/>
          </a:xfrm>
          <a:prstGeom prst="rect">
            <a:avLst/>
          </a:prstGeom>
          <a:solidFill>
            <a:srgbClr val="E8ECF0"/>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480560"/>
            <a:ext cx="640080" cy="8412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526280"/>
            <a:ext cx="640080" cy="749808"/>
          </a:xfrm>
          <a:prstGeom prst="rect">
            <a:avLst/>
          </a:prstGeom>
          <a:noFill/>
        </p:spPr>
        <p:txBody>
          <a:bodyPr wrap="square" anchor="ctr">
            <a:spAutoFit/>
          </a:bodyPr>
          <a:lstStyle/>
          <a:p>
            <a:pPr algn="ctr"/>
            <a:r>
              <a:rPr sz="2200" b="1" i="0">
                <a:solidFill>
                  <a:srgbClr val="E0A800"/>
                </a:solidFill>
              </a:rPr>
              <a:t>4</a:t>
            </a:r>
          </a:p>
        </p:txBody>
      </p:sp>
      <p:sp>
        <p:nvSpPr>
          <p:cNvPr id="24" name="TextBox 23"/>
          <p:cNvSpPr txBox="1"/>
          <p:nvPr/>
        </p:nvSpPr>
        <p:spPr>
          <a:xfrm>
            <a:off x="1188720" y="4572000"/>
            <a:ext cx="4206240" cy="658368"/>
          </a:xfrm>
          <a:prstGeom prst="rect">
            <a:avLst/>
          </a:prstGeom>
          <a:noFill/>
        </p:spPr>
        <p:txBody>
          <a:bodyPr wrap="square" anchor="ctr">
            <a:spAutoFit/>
          </a:bodyPr>
          <a:lstStyle/>
          <a:p>
            <a:pPr algn="l"/>
            <a:r>
              <a:rPr sz="1300" b="1" i="0">
                <a:solidFill>
                  <a:srgbClr val="0D2B55"/>
                </a:solidFill>
              </a:rPr>
              <a:t>Hafif ama rekabetçi</a:t>
            </a:r>
          </a:p>
        </p:txBody>
      </p:sp>
      <p:sp>
        <p:nvSpPr>
          <p:cNvPr id="25" name="TextBox 24"/>
          <p:cNvSpPr txBox="1"/>
          <p:nvPr/>
        </p:nvSpPr>
        <p:spPr>
          <a:xfrm>
            <a:off x="5486400" y="4572000"/>
            <a:ext cx="6126480" cy="658368"/>
          </a:xfrm>
          <a:prstGeom prst="rect">
            <a:avLst/>
          </a:prstGeom>
          <a:noFill/>
        </p:spPr>
        <p:txBody>
          <a:bodyPr wrap="square" anchor="ctr">
            <a:spAutoFit/>
          </a:bodyPr>
          <a:lstStyle/>
          <a:p>
            <a:pPr algn="l"/>
            <a:r>
              <a:rPr sz="1150" b="0" i="0">
                <a:solidFill>
                  <a:srgbClr val="2A2A2A"/>
                </a:solidFill>
              </a:rPr>
              <a:t>Derin öğrenme altyapısı olmadan SONICS'e yakın AUC.</a:t>
            </a:r>
          </a:p>
        </p:txBody>
      </p:sp>
      <p:sp>
        <p:nvSpPr>
          <p:cNvPr id="26" name="Rectangle 25"/>
          <p:cNvSpPr/>
          <p:nvPr/>
        </p:nvSpPr>
        <p:spPr>
          <a:xfrm>
            <a:off x="365760" y="5440680"/>
            <a:ext cx="11430000" cy="841248"/>
          </a:xfrm>
          <a:prstGeom prst="rect">
            <a:avLst/>
          </a:prstGeom>
          <a:solidFill>
            <a:srgbClr val="FFFFFF"/>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440680"/>
            <a:ext cx="640080" cy="8412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5486400"/>
            <a:ext cx="640080" cy="749808"/>
          </a:xfrm>
          <a:prstGeom prst="rect">
            <a:avLst/>
          </a:prstGeom>
          <a:noFill/>
        </p:spPr>
        <p:txBody>
          <a:bodyPr wrap="square" anchor="ctr">
            <a:spAutoFit/>
          </a:bodyPr>
          <a:lstStyle/>
          <a:p>
            <a:pPr algn="ctr"/>
            <a:r>
              <a:rPr sz="2200" b="1" i="0">
                <a:solidFill>
                  <a:srgbClr val="E0A800"/>
                </a:solidFill>
              </a:rPr>
              <a:t>5</a:t>
            </a:r>
          </a:p>
        </p:txBody>
      </p:sp>
      <p:sp>
        <p:nvSpPr>
          <p:cNvPr id="29" name="TextBox 28"/>
          <p:cNvSpPr txBox="1"/>
          <p:nvPr/>
        </p:nvSpPr>
        <p:spPr>
          <a:xfrm>
            <a:off x="1188720" y="5532120"/>
            <a:ext cx="4206240" cy="658368"/>
          </a:xfrm>
          <a:prstGeom prst="rect">
            <a:avLst/>
          </a:prstGeom>
          <a:noFill/>
        </p:spPr>
        <p:txBody>
          <a:bodyPr wrap="square" anchor="ctr">
            <a:spAutoFit/>
          </a:bodyPr>
          <a:lstStyle/>
          <a:p>
            <a:pPr algn="l"/>
            <a:r>
              <a:rPr sz="1300" b="1" i="0">
                <a:solidFill>
                  <a:srgbClr val="0D2B55"/>
                </a:solidFill>
              </a:rPr>
              <a:t>Tanılanan sınırlar</a:t>
            </a:r>
          </a:p>
        </p:txBody>
      </p:sp>
      <p:sp>
        <p:nvSpPr>
          <p:cNvPr id="30" name="TextBox 29"/>
          <p:cNvSpPr txBox="1"/>
          <p:nvPr/>
        </p:nvSpPr>
        <p:spPr>
          <a:xfrm>
            <a:off x="5486400" y="5532120"/>
            <a:ext cx="6126480" cy="658368"/>
          </a:xfrm>
          <a:prstGeom prst="rect">
            <a:avLst/>
          </a:prstGeom>
          <a:noFill/>
        </p:spPr>
        <p:txBody>
          <a:bodyPr wrap="square" anchor="ctr">
            <a:spAutoFit/>
          </a:bodyPr>
          <a:lstStyle/>
          <a:p>
            <a:pPr algn="l"/>
            <a:r>
              <a:rPr sz="1150" b="0" i="0">
                <a:solidFill>
                  <a:srgbClr val="2A2A2A"/>
                </a:solidFill>
              </a:rPr>
              <a:t>Aşırı uyum açığı, öznitelik fazlalığı ve deepfake setinde dağılım kayması.</a:t>
            </a:r>
          </a:p>
        </p:txBody>
      </p:sp>
      <p:sp>
        <p:nvSpPr>
          <p:cNvPr id="31" name="TextBox 30"/>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32" name="TextBox 31"/>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30000" cy="320040"/>
          </a:xfrm>
          <a:prstGeom prst="rect">
            <a:avLst/>
          </a:prstGeom>
          <a:noFill/>
        </p:spPr>
        <p:txBody>
          <a:bodyPr wrap="square">
            <a:spAutoFit/>
          </a:bodyPr>
          <a:lstStyle/>
          <a:p>
            <a:pPr algn="l"/>
            <a:r>
              <a:rPr sz="1100" b="1" i="0">
                <a:solidFill>
                  <a:srgbClr val="E0A800"/>
                </a:solidFill>
              </a:rPr>
              <a:t>BÖLÜM 11</a:t>
            </a:r>
          </a:p>
        </p:txBody>
      </p:sp>
      <p:sp>
        <p:nvSpPr>
          <p:cNvPr id="5" name="TextBox 4"/>
          <p:cNvSpPr txBox="1"/>
          <p:nvPr/>
        </p:nvSpPr>
        <p:spPr>
          <a:xfrm>
            <a:off x="365760" y="402336"/>
            <a:ext cx="11430000" cy="640080"/>
          </a:xfrm>
          <a:prstGeom prst="rect">
            <a:avLst/>
          </a:prstGeom>
          <a:noFill/>
        </p:spPr>
        <p:txBody>
          <a:bodyPr wrap="square">
            <a:spAutoFit/>
          </a:bodyPr>
          <a:lstStyle/>
          <a:p>
            <a:pPr algn="l"/>
            <a:r>
              <a:rPr sz="2400" b="1" i="0">
                <a:solidFill>
                  <a:srgbClr val="FFFFFF"/>
                </a:solidFill>
              </a:rPr>
              <a:t>Gelecek Çalışmalar</a:t>
            </a:r>
          </a:p>
        </p:txBody>
      </p:sp>
      <p:sp>
        <p:nvSpPr>
          <p:cNvPr id="6" name="Rectangle 5"/>
          <p:cNvSpPr/>
          <p:nvPr/>
        </p:nvSpPr>
        <p:spPr>
          <a:xfrm>
            <a:off x="365760" y="1600200"/>
            <a:ext cx="3657600" cy="4572000"/>
          </a:xfrm>
          <a:prstGeom prst="rect">
            <a:avLst/>
          </a:prstGeom>
          <a:solidFill>
            <a:srgbClr val="E9F6EC"/>
          </a:solidFill>
          <a:ln w="15240">
            <a:solidFill>
              <a:srgbClr val="1A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00200"/>
            <a:ext cx="3657600" cy="548640"/>
          </a:xfrm>
          <a:prstGeom prst="rect">
            <a:avLst/>
          </a:prstGeom>
          <a:solidFill>
            <a:srgbClr val="1A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64208"/>
            <a:ext cx="3383280" cy="420624"/>
          </a:xfrm>
          <a:prstGeom prst="rect">
            <a:avLst/>
          </a:prstGeom>
          <a:noFill/>
        </p:spPr>
        <p:txBody>
          <a:bodyPr wrap="square" anchor="ctr">
            <a:spAutoFit/>
          </a:bodyPr>
          <a:lstStyle/>
          <a:p>
            <a:pPr algn="l"/>
            <a:r>
              <a:rPr sz="1500" b="1" i="0">
                <a:solidFill>
                  <a:srgbClr val="FFFFFF"/>
                </a:solidFill>
              </a:rPr>
              <a:t>Kısa Vade</a:t>
            </a:r>
          </a:p>
        </p:txBody>
      </p:sp>
      <p:sp>
        <p:nvSpPr>
          <p:cNvPr id="9" name="TextBox 8"/>
          <p:cNvSpPr txBox="1"/>
          <p:nvPr/>
        </p:nvSpPr>
        <p:spPr>
          <a:xfrm>
            <a:off x="530352" y="2331720"/>
            <a:ext cx="3337560" cy="3657600"/>
          </a:xfrm>
          <a:prstGeom prst="rect">
            <a:avLst/>
          </a:prstGeom>
          <a:noFill/>
        </p:spPr>
        <p:txBody>
          <a:bodyPr wrap="square">
            <a:spAutoFit/>
          </a:bodyPr>
          <a:lstStyle/>
          <a:p>
            <a:pPr>
              <a:spcAft>
                <a:spcPts val="1400"/>
              </a:spcAft>
            </a:pPr>
            <a:r>
              <a:rPr sz="1200">
                <a:solidFill>
                  <a:srgbClr val="2A2A2A"/>
                </a:solidFill>
              </a:rPr>
              <a:t>•  SONICS / FakeMusicCaps üzerinde üretici-bağımsız değerlendirme</a:t>
            </a:r>
          </a:p>
          <a:p>
            <a:pPr>
              <a:spcAft>
                <a:spcPts val="1400"/>
              </a:spcAft>
            </a:pPr>
            <a:r>
              <a:rPr sz="1200">
                <a:solidFill>
                  <a:srgbClr val="2A2A2A"/>
                </a:solidFill>
              </a:rPr>
              <a:t>•  wav2vec2 ince ayarı ile doğrudan karşılaştırma</a:t>
            </a:r>
          </a:p>
          <a:p>
            <a:pPr>
              <a:spcAft>
                <a:spcPts val="1400"/>
              </a:spcAft>
            </a:pPr>
            <a:r>
              <a:rPr sz="1200">
                <a:solidFill>
                  <a:srgbClr val="2A2A2A"/>
                </a:solidFill>
              </a:rPr>
              <a:t>•  MP3 sıkıştırma, perde kaydırma, zaman gerdirme sağlamlık testleri</a:t>
            </a:r>
          </a:p>
        </p:txBody>
      </p:sp>
      <p:sp>
        <p:nvSpPr>
          <p:cNvPr id="10" name="Rectangle 9"/>
          <p:cNvSpPr/>
          <p:nvPr/>
        </p:nvSpPr>
        <p:spPr>
          <a:xfrm>
            <a:off x="4251960" y="1600200"/>
            <a:ext cx="3657600" cy="4572000"/>
          </a:xfrm>
          <a:prstGeom prst="rect">
            <a:avLst/>
          </a:prstGeom>
          <a:solidFill>
            <a:srgbClr val="E8F0FF"/>
          </a:solidFill>
          <a:ln w="15240">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600200"/>
            <a:ext cx="3657600" cy="5486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664208"/>
            <a:ext cx="3383280" cy="420624"/>
          </a:xfrm>
          <a:prstGeom prst="rect">
            <a:avLst/>
          </a:prstGeom>
          <a:noFill/>
        </p:spPr>
        <p:txBody>
          <a:bodyPr wrap="square" anchor="ctr">
            <a:spAutoFit/>
          </a:bodyPr>
          <a:lstStyle/>
          <a:p>
            <a:pPr algn="l"/>
            <a:r>
              <a:rPr sz="1500" b="1" i="0">
                <a:solidFill>
                  <a:srgbClr val="FFFFFF"/>
                </a:solidFill>
              </a:rPr>
              <a:t>Orta Vade</a:t>
            </a:r>
          </a:p>
        </p:txBody>
      </p:sp>
      <p:sp>
        <p:nvSpPr>
          <p:cNvPr id="13" name="TextBox 12"/>
          <p:cNvSpPr txBox="1"/>
          <p:nvPr/>
        </p:nvSpPr>
        <p:spPr>
          <a:xfrm>
            <a:off x="4416552" y="2331720"/>
            <a:ext cx="3337560" cy="3657600"/>
          </a:xfrm>
          <a:prstGeom prst="rect">
            <a:avLst/>
          </a:prstGeom>
          <a:noFill/>
        </p:spPr>
        <p:txBody>
          <a:bodyPr wrap="square">
            <a:spAutoFit/>
          </a:bodyPr>
          <a:lstStyle/>
          <a:p>
            <a:pPr>
              <a:spcAft>
                <a:spcPts val="1400"/>
              </a:spcAft>
            </a:pPr>
            <a:r>
              <a:rPr sz="1200">
                <a:solidFill>
                  <a:srgbClr val="2A2A2A"/>
                </a:solidFill>
              </a:rPr>
              <a:t>•  Alan uyarlama (domain adaptation) ile genelleme</a:t>
            </a:r>
          </a:p>
          <a:p>
            <a:pPr>
              <a:spcAft>
                <a:spcPts val="1400"/>
              </a:spcAft>
            </a:pPr>
            <a:r>
              <a:rPr sz="1200">
                <a:solidFill>
                  <a:srgbClr val="2A2A2A"/>
                </a:solidFill>
              </a:rPr>
              <a:t>•  Gerçek zamanlı düşük gecikmeli çıkarım</a:t>
            </a:r>
          </a:p>
          <a:p>
            <a:pPr>
              <a:spcAft>
                <a:spcPts val="1400"/>
              </a:spcAft>
            </a:pPr>
            <a:r>
              <a:rPr sz="1200">
                <a:solidFill>
                  <a:srgbClr val="2A2A2A"/>
                </a:solidFill>
              </a:rPr>
              <a:t>•  Veri kümesini 10.000 örneğe genişletme</a:t>
            </a:r>
          </a:p>
        </p:txBody>
      </p:sp>
      <p:sp>
        <p:nvSpPr>
          <p:cNvPr id="14" name="Rectangle 13"/>
          <p:cNvSpPr/>
          <p:nvPr/>
        </p:nvSpPr>
        <p:spPr>
          <a:xfrm>
            <a:off x="8138160" y="1600200"/>
            <a:ext cx="3657600" cy="4572000"/>
          </a:xfrm>
          <a:prstGeom prst="rect">
            <a:avLst/>
          </a:prstGeom>
          <a:solidFill>
            <a:srgbClr val="FFF3CC"/>
          </a:solidFill>
          <a:ln w="15240">
            <a:solidFill>
              <a:srgbClr val="9A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600200"/>
            <a:ext cx="3657600" cy="548640"/>
          </a:xfrm>
          <a:prstGeom prst="rect">
            <a:avLst/>
          </a:prstGeom>
          <a:solidFill>
            <a:srgbClr val="9A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664208"/>
            <a:ext cx="3383280" cy="420624"/>
          </a:xfrm>
          <a:prstGeom prst="rect">
            <a:avLst/>
          </a:prstGeom>
          <a:noFill/>
        </p:spPr>
        <p:txBody>
          <a:bodyPr wrap="square" anchor="ctr">
            <a:spAutoFit/>
          </a:bodyPr>
          <a:lstStyle/>
          <a:p>
            <a:pPr algn="l"/>
            <a:r>
              <a:rPr sz="1500" b="1" i="0">
                <a:solidFill>
                  <a:srgbClr val="FFFFFF"/>
                </a:solidFill>
              </a:rPr>
              <a:t>Uzun Vade</a:t>
            </a:r>
          </a:p>
        </p:txBody>
      </p:sp>
      <p:sp>
        <p:nvSpPr>
          <p:cNvPr id="17" name="TextBox 16"/>
          <p:cNvSpPr txBox="1"/>
          <p:nvPr/>
        </p:nvSpPr>
        <p:spPr>
          <a:xfrm>
            <a:off x="8302752" y="2331720"/>
            <a:ext cx="3337560" cy="3657600"/>
          </a:xfrm>
          <a:prstGeom prst="rect">
            <a:avLst/>
          </a:prstGeom>
          <a:noFill/>
        </p:spPr>
        <p:txBody>
          <a:bodyPr wrap="square">
            <a:spAutoFit/>
          </a:bodyPr>
          <a:lstStyle/>
          <a:p>
            <a:pPr>
              <a:spcAft>
                <a:spcPts val="1400"/>
              </a:spcAft>
            </a:pPr>
            <a:r>
              <a:rPr sz="1200">
                <a:solidFill>
                  <a:srgbClr val="2A2A2A"/>
                </a:solidFill>
              </a:rPr>
              <a:t>•  Yeni nesil üretici sistemlerin kapsanması</a:t>
            </a:r>
          </a:p>
          <a:p>
            <a:pPr>
              <a:spcAft>
                <a:spcPts val="1400"/>
              </a:spcAft>
            </a:pPr>
            <a:r>
              <a:rPr sz="1200">
                <a:solidFill>
                  <a:srgbClr val="2A2A2A"/>
                </a:solidFill>
              </a:rPr>
              <a:t>•  Watermarking ve ses parmak izi entegrasyonu</a:t>
            </a:r>
          </a:p>
          <a:p>
            <a:pPr>
              <a:spcAft>
                <a:spcPts val="1400"/>
              </a:spcAft>
            </a:pPr>
            <a:r>
              <a:rPr sz="1200">
                <a:solidFill>
                  <a:srgbClr val="2A2A2A"/>
                </a:solidFill>
              </a:rPr>
              <a:t>•  Sosyal medya ve canlı akış entegrasyonu</a:t>
            </a:r>
          </a:p>
        </p:txBody>
      </p:sp>
      <p:sp>
        <p:nvSpPr>
          <p:cNvPr id="18" name="TextBox 17"/>
          <p:cNvSpPr txBox="1"/>
          <p:nvPr/>
        </p:nvSpPr>
        <p:spPr>
          <a:xfrm>
            <a:off x="365760" y="6510528"/>
            <a:ext cx="8229600" cy="301752"/>
          </a:xfrm>
          <a:prstGeom prst="rect">
            <a:avLst/>
          </a:prstGeom>
          <a:noFill/>
        </p:spPr>
        <p:txBody>
          <a:bodyPr wrap="square">
            <a:spAutoFit/>
          </a:bodyPr>
          <a:lstStyle/>
          <a:p>
            <a:pPr algn="l"/>
            <a:r>
              <a:rPr sz="900" b="0" i="0">
                <a:solidFill>
                  <a:srgbClr val="66707A"/>
                </a:solidFill>
              </a:rPr>
              <a:t>AURIS  ·  Hasan Arthur Altuntaş  ·  BM498 Mezuniyet Tezi</a:t>
            </a:r>
          </a:p>
        </p:txBody>
      </p:sp>
      <p:sp>
        <p:nvSpPr>
          <p:cNvPr id="19" name="TextBox 18"/>
          <p:cNvSpPr txBox="1"/>
          <p:nvPr/>
        </p:nvSpPr>
        <p:spPr>
          <a:xfrm>
            <a:off x="8595360" y="6510528"/>
            <a:ext cx="3200400" cy="301752"/>
          </a:xfrm>
          <a:prstGeom prst="rect">
            <a:avLst/>
          </a:prstGeom>
          <a:noFill/>
        </p:spPr>
        <p:txBody>
          <a:bodyPr wrap="square">
            <a:spAutoFit/>
          </a:bodyPr>
          <a:lstStyle/>
          <a:p>
            <a:pPr algn="r"/>
            <a:r>
              <a:rPr sz="900" b="0" i="0">
                <a:solidFill>
                  <a:srgbClr val="66707A"/>
                </a:solidFill>
              </a:rPr>
              <a:t>Düzce Üniversitesi · 2025-2026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9748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51560"/>
            <a:ext cx="11247120" cy="1005840"/>
          </a:xfrm>
          <a:prstGeom prst="rect">
            <a:avLst/>
          </a:prstGeom>
          <a:noFill/>
        </p:spPr>
        <p:txBody>
          <a:bodyPr wrap="square">
            <a:spAutoFit/>
          </a:bodyPr>
          <a:lstStyle/>
          <a:p>
            <a:pPr algn="ctr"/>
            <a:r>
              <a:rPr sz="3600" b="1" i="0">
                <a:solidFill>
                  <a:srgbClr val="FFFFFF"/>
                </a:solidFill>
              </a:rPr>
              <a:t>Dinlediğiniz için teşekkürler.</a:t>
            </a:r>
          </a:p>
        </p:txBody>
      </p:sp>
      <p:sp>
        <p:nvSpPr>
          <p:cNvPr id="5" name="TextBox 4"/>
          <p:cNvSpPr txBox="1"/>
          <p:nvPr/>
        </p:nvSpPr>
        <p:spPr>
          <a:xfrm>
            <a:off x="457200" y="2103120"/>
            <a:ext cx="11247120" cy="548640"/>
          </a:xfrm>
          <a:prstGeom prst="rect">
            <a:avLst/>
          </a:prstGeom>
          <a:noFill/>
        </p:spPr>
        <p:txBody>
          <a:bodyPr wrap="square">
            <a:spAutoFit/>
          </a:bodyPr>
          <a:lstStyle/>
          <a:p>
            <a:pPr algn="ctr"/>
            <a:r>
              <a:rPr sz="2200" b="0" i="0">
                <a:solidFill>
                  <a:srgbClr val="E0A800"/>
                </a:solidFill>
              </a:rPr>
              <a:t>Sorularınızı bekliyorum.</a:t>
            </a:r>
          </a:p>
        </p:txBody>
      </p:sp>
      <p:sp>
        <p:nvSpPr>
          <p:cNvPr id="6" name="Rectangle 5"/>
          <p:cNvSpPr/>
          <p:nvPr/>
        </p:nvSpPr>
        <p:spPr>
          <a:xfrm>
            <a:off x="1051560" y="3154680"/>
            <a:ext cx="2240280" cy="1280160"/>
          </a:xfrm>
          <a:prstGeom prst="rect">
            <a:avLst/>
          </a:prstGeom>
          <a:solidFill>
            <a:srgbClr val="061A35"/>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218688"/>
            <a:ext cx="2148840" cy="640080"/>
          </a:xfrm>
          <a:prstGeom prst="rect">
            <a:avLst/>
          </a:prstGeom>
          <a:noFill/>
        </p:spPr>
        <p:txBody>
          <a:bodyPr wrap="square">
            <a:spAutoFit/>
          </a:bodyPr>
          <a:lstStyle/>
          <a:p>
            <a:pPr algn="ctr"/>
            <a:r>
              <a:rPr sz="2600" b="1" i="0">
                <a:solidFill>
                  <a:srgbClr val="E0A800"/>
                </a:solidFill>
              </a:rPr>
              <a:t>0,9548</a:t>
            </a:r>
          </a:p>
        </p:txBody>
      </p:sp>
      <p:sp>
        <p:nvSpPr>
          <p:cNvPr id="8" name="TextBox 7"/>
          <p:cNvSpPr txBox="1"/>
          <p:nvPr/>
        </p:nvSpPr>
        <p:spPr>
          <a:xfrm>
            <a:off x="1097280" y="3840480"/>
            <a:ext cx="2148840" cy="457200"/>
          </a:xfrm>
          <a:prstGeom prst="rect">
            <a:avLst/>
          </a:prstGeom>
          <a:noFill/>
        </p:spPr>
        <p:txBody>
          <a:bodyPr wrap="square">
            <a:spAutoFit/>
          </a:bodyPr>
          <a:lstStyle/>
          <a:p>
            <a:pPr algn="ctr"/>
            <a:r>
              <a:rPr sz="1200" b="0" i="0">
                <a:solidFill>
                  <a:srgbClr val="FFFFFF"/>
                </a:solidFill>
              </a:rPr>
              <a:t>ROC-AUC</a:t>
            </a:r>
          </a:p>
        </p:txBody>
      </p:sp>
      <p:sp>
        <p:nvSpPr>
          <p:cNvPr id="9" name="Rectangle 8"/>
          <p:cNvSpPr/>
          <p:nvPr/>
        </p:nvSpPr>
        <p:spPr>
          <a:xfrm>
            <a:off x="3593591" y="3154680"/>
            <a:ext cx="2240280" cy="1280160"/>
          </a:xfrm>
          <a:prstGeom prst="rect">
            <a:avLst/>
          </a:prstGeom>
          <a:solidFill>
            <a:srgbClr val="061A35"/>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9311" y="3218688"/>
            <a:ext cx="2148840" cy="640080"/>
          </a:xfrm>
          <a:prstGeom prst="rect">
            <a:avLst/>
          </a:prstGeom>
          <a:noFill/>
        </p:spPr>
        <p:txBody>
          <a:bodyPr wrap="square">
            <a:spAutoFit/>
          </a:bodyPr>
          <a:lstStyle/>
          <a:p>
            <a:pPr algn="ctr"/>
            <a:r>
              <a:rPr sz="2600" b="1" i="0">
                <a:solidFill>
                  <a:srgbClr val="E0A800"/>
                </a:solidFill>
              </a:rPr>
              <a:t>47</a:t>
            </a:r>
          </a:p>
        </p:txBody>
      </p:sp>
      <p:sp>
        <p:nvSpPr>
          <p:cNvPr id="11" name="TextBox 10"/>
          <p:cNvSpPr txBox="1"/>
          <p:nvPr/>
        </p:nvSpPr>
        <p:spPr>
          <a:xfrm>
            <a:off x="3639311" y="3840480"/>
            <a:ext cx="2148840" cy="457200"/>
          </a:xfrm>
          <a:prstGeom prst="rect">
            <a:avLst/>
          </a:prstGeom>
          <a:noFill/>
        </p:spPr>
        <p:txBody>
          <a:bodyPr wrap="square">
            <a:spAutoFit/>
          </a:bodyPr>
          <a:lstStyle/>
          <a:p>
            <a:pPr algn="ctr"/>
            <a:r>
              <a:rPr sz="1200" b="0" i="0">
                <a:solidFill>
                  <a:srgbClr val="FFFFFF"/>
                </a:solidFill>
              </a:rPr>
              <a:t>Öznitelik</a:t>
            </a:r>
          </a:p>
        </p:txBody>
      </p:sp>
      <p:sp>
        <p:nvSpPr>
          <p:cNvPr id="12" name="Rectangle 11"/>
          <p:cNvSpPr/>
          <p:nvPr/>
        </p:nvSpPr>
        <p:spPr>
          <a:xfrm>
            <a:off x="6135623" y="3154680"/>
            <a:ext cx="2240280" cy="1280160"/>
          </a:xfrm>
          <a:prstGeom prst="rect">
            <a:avLst/>
          </a:prstGeom>
          <a:solidFill>
            <a:srgbClr val="061A35"/>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3" y="3218688"/>
            <a:ext cx="2148840" cy="640080"/>
          </a:xfrm>
          <a:prstGeom prst="rect">
            <a:avLst/>
          </a:prstGeom>
          <a:noFill/>
        </p:spPr>
        <p:txBody>
          <a:bodyPr wrap="square">
            <a:spAutoFit/>
          </a:bodyPr>
          <a:lstStyle/>
          <a:p>
            <a:pPr algn="ctr"/>
            <a:r>
              <a:rPr sz="2600" b="1" i="0">
                <a:solidFill>
                  <a:srgbClr val="E0A800"/>
                </a:solidFill>
              </a:rPr>
              <a:t>11</a:t>
            </a:r>
          </a:p>
        </p:txBody>
      </p:sp>
      <p:sp>
        <p:nvSpPr>
          <p:cNvPr id="14" name="TextBox 13"/>
          <p:cNvSpPr txBox="1"/>
          <p:nvPr/>
        </p:nvSpPr>
        <p:spPr>
          <a:xfrm>
            <a:off x="6181343" y="3840480"/>
            <a:ext cx="2148840" cy="457200"/>
          </a:xfrm>
          <a:prstGeom prst="rect">
            <a:avLst/>
          </a:prstGeom>
          <a:noFill/>
        </p:spPr>
        <p:txBody>
          <a:bodyPr wrap="square">
            <a:spAutoFit/>
          </a:bodyPr>
          <a:lstStyle/>
          <a:p>
            <a:pPr algn="ctr"/>
            <a:r>
              <a:rPr sz="1200" b="0" i="0">
                <a:solidFill>
                  <a:srgbClr val="FFFFFF"/>
                </a:solidFill>
              </a:rPr>
              <a:t>Model</a:t>
            </a:r>
          </a:p>
        </p:txBody>
      </p:sp>
      <p:sp>
        <p:nvSpPr>
          <p:cNvPr id="15" name="Rectangle 14"/>
          <p:cNvSpPr/>
          <p:nvPr/>
        </p:nvSpPr>
        <p:spPr>
          <a:xfrm>
            <a:off x="8677656" y="3154680"/>
            <a:ext cx="2240280" cy="1280160"/>
          </a:xfrm>
          <a:prstGeom prst="rect">
            <a:avLst/>
          </a:prstGeom>
          <a:solidFill>
            <a:srgbClr val="061A35"/>
          </a:solidFill>
          <a:ln w="127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23376" y="3218688"/>
            <a:ext cx="2148840" cy="640080"/>
          </a:xfrm>
          <a:prstGeom prst="rect">
            <a:avLst/>
          </a:prstGeom>
          <a:noFill/>
        </p:spPr>
        <p:txBody>
          <a:bodyPr wrap="square">
            <a:spAutoFit/>
          </a:bodyPr>
          <a:lstStyle/>
          <a:p>
            <a:pPr algn="ctr"/>
            <a:r>
              <a:rPr sz="2600" b="1" i="0">
                <a:solidFill>
                  <a:srgbClr val="E0A800"/>
                </a:solidFill>
              </a:rPr>
              <a:t>5.195</a:t>
            </a:r>
          </a:p>
        </p:txBody>
      </p:sp>
      <p:sp>
        <p:nvSpPr>
          <p:cNvPr id="17" name="TextBox 16"/>
          <p:cNvSpPr txBox="1"/>
          <p:nvPr/>
        </p:nvSpPr>
        <p:spPr>
          <a:xfrm>
            <a:off x="8723376" y="3840480"/>
            <a:ext cx="2148840" cy="457200"/>
          </a:xfrm>
          <a:prstGeom prst="rect">
            <a:avLst/>
          </a:prstGeom>
          <a:noFill/>
        </p:spPr>
        <p:txBody>
          <a:bodyPr wrap="square">
            <a:spAutoFit/>
          </a:bodyPr>
          <a:lstStyle/>
          <a:p>
            <a:pPr algn="ctr"/>
            <a:r>
              <a:rPr sz="1200" b="0" i="0">
                <a:solidFill>
                  <a:srgbClr val="FFFFFF"/>
                </a:solidFill>
              </a:rPr>
              <a:t>Örnek</a:t>
            </a:r>
          </a:p>
        </p:txBody>
      </p:sp>
      <p:sp>
        <p:nvSpPr>
          <p:cNvPr id="18" name="TextBox 17"/>
          <p:cNvSpPr txBox="1"/>
          <p:nvPr/>
        </p:nvSpPr>
        <p:spPr>
          <a:xfrm>
            <a:off x="457200" y="4800600"/>
            <a:ext cx="11247120" cy="384048"/>
          </a:xfrm>
          <a:prstGeom prst="rect">
            <a:avLst/>
          </a:prstGeom>
          <a:noFill/>
        </p:spPr>
        <p:txBody>
          <a:bodyPr wrap="square">
            <a:spAutoFit/>
          </a:bodyPr>
          <a:lstStyle/>
          <a:p>
            <a:pPr algn="ctr"/>
            <a:r>
              <a:rPr sz="1400" b="0" i="0">
                <a:solidFill>
                  <a:srgbClr val="AEC6D6"/>
                </a:solidFill>
              </a:rPr>
              <a:t>Hasan Arthur Altuntaş  ·  hasannarthurrr@gmail.com</a:t>
            </a:r>
          </a:p>
        </p:txBody>
      </p:sp>
      <p:sp>
        <p:nvSpPr>
          <p:cNvPr id="19" name="TextBox 18"/>
          <p:cNvSpPr txBox="1"/>
          <p:nvPr/>
        </p:nvSpPr>
        <p:spPr>
          <a:xfrm>
            <a:off x="457200" y="5212080"/>
            <a:ext cx="11247120" cy="347472"/>
          </a:xfrm>
          <a:prstGeom prst="rect">
            <a:avLst/>
          </a:prstGeom>
          <a:noFill/>
        </p:spPr>
        <p:txBody>
          <a:bodyPr wrap="square">
            <a:spAutoFit/>
          </a:bodyPr>
          <a:lstStyle/>
          <a:p>
            <a:pPr algn="ctr"/>
            <a:r>
              <a:rPr sz="1200" b="0" i="0">
                <a:solidFill>
                  <a:srgbClr val="66829A"/>
                </a:solidFill>
              </a:rPr>
              <a:t>Düzce Üniversitesi · Bilgisayar Mühendisliği · BM498 · 2025-2026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88952" cy="4572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11521440" cy="347472"/>
          </a:xfrm>
          <a:prstGeom prst="rect">
            <a:avLst/>
          </a:prstGeom>
          <a:noFill/>
        </p:spPr>
        <p:txBody>
          <a:bodyPr wrap="square">
            <a:spAutoFit/>
          </a:bodyPr>
          <a:lstStyle/>
          <a:p>
            <a:pPr algn="l"/>
            <a:r>
              <a:rPr sz="1100" b="0" i="0">
                <a:solidFill>
                  <a:srgbClr val="FFFFFF"/>
                </a:solidFill>
              </a:rPr>
              <a:t>BM498 — 05: Final Savunma Sunumu</a:t>
            </a:r>
          </a:p>
        </p:txBody>
      </p:sp>
      <p:sp>
        <p:nvSpPr>
          <p:cNvPr id="4" name="Rectangle 3"/>
          <p:cNvSpPr/>
          <p:nvPr/>
        </p:nvSpPr>
        <p:spPr>
          <a:xfrm>
            <a:off x="2286000" y="960120"/>
            <a:ext cx="7589520" cy="5440680"/>
          </a:xfrm>
          <a:prstGeom prst="rect">
            <a:avLst/>
          </a:prstGeom>
          <a:solidFill>
            <a:srgbClr val="FFFFFF"/>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77440" y="1078992"/>
            <a:ext cx="7406640" cy="502920"/>
          </a:xfrm>
          <a:prstGeom prst="rect">
            <a:avLst/>
          </a:prstGeom>
          <a:noFill/>
        </p:spPr>
        <p:txBody>
          <a:bodyPr wrap="square">
            <a:spAutoFit/>
          </a:bodyPr>
          <a:lstStyle/>
          <a:p>
            <a:pPr algn="ctr"/>
            <a:r>
              <a:rPr sz="1700" b="1" i="0">
                <a:solidFill>
                  <a:srgbClr val="0D2B55"/>
                </a:solidFill>
              </a:rPr>
              <a:t>ÖĞRENCİ İMZA SAYFASI</a:t>
            </a:r>
          </a:p>
        </p:txBody>
      </p:sp>
      <p:sp>
        <p:nvSpPr>
          <p:cNvPr id="6" name="Rectangle 5"/>
          <p:cNvSpPr/>
          <p:nvPr/>
        </p:nvSpPr>
        <p:spPr>
          <a:xfrm>
            <a:off x="2377440" y="1627632"/>
            <a:ext cx="7406640" cy="0"/>
          </a:xfrm>
          <a:prstGeom prst="rect">
            <a:avLst/>
          </a:prstGeom>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1810512"/>
            <a:ext cx="2834640" cy="320040"/>
          </a:xfrm>
          <a:prstGeom prst="rect">
            <a:avLst/>
          </a:prstGeom>
          <a:noFill/>
        </p:spPr>
        <p:txBody>
          <a:bodyPr wrap="square">
            <a:spAutoFit/>
          </a:bodyPr>
          <a:lstStyle/>
          <a:p>
            <a:pPr algn="l"/>
            <a:r>
              <a:rPr sz="1200" b="1" i="0">
                <a:solidFill>
                  <a:srgbClr val="0D2B55"/>
                </a:solidFill>
              </a:rPr>
              <a:t>Öğrenci Adı Soyadı:</a:t>
            </a:r>
          </a:p>
        </p:txBody>
      </p:sp>
      <p:sp>
        <p:nvSpPr>
          <p:cNvPr id="8" name="TextBox 7"/>
          <p:cNvSpPr txBox="1"/>
          <p:nvPr/>
        </p:nvSpPr>
        <p:spPr>
          <a:xfrm>
            <a:off x="5394960" y="1810512"/>
            <a:ext cx="4297680" cy="320040"/>
          </a:xfrm>
          <a:prstGeom prst="rect">
            <a:avLst/>
          </a:prstGeom>
          <a:noFill/>
        </p:spPr>
        <p:txBody>
          <a:bodyPr wrap="square">
            <a:spAutoFit/>
          </a:bodyPr>
          <a:lstStyle/>
          <a:p>
            <a:pPr algn="l"/>
            <a:r>
              <a:rPr sz="1200" b="0" i="0">
                <a:solidFill>
                  <a:srgbClr val="2A2A2A"/>
                </a:solidFill>
              </a:rPr>
              <a:t>Hasan Arthur Altuntaş</a:t>
            </a:r>
          </a:p>
        </p:txBody>
      </p:sp>
      <p:sp>
        <p:nvSpPr>
          <p:cNvPr id="9" name="Rectangle 8"/>
          <p:cNvSpPr/>
          <p:nvPr/>
        </p:nvSpPr>
        <p:spPr>
          <a:xfrm>
            <a:off x="5349240" y="2148840"/>
            <a:ext cx="4343400" cy="0"/>
          </a:xfrm>
          <a:prstGeom prst="rect">
            <a:avLst/>
          </a:prstGeom>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377440"/>
            <a:ext cx="2834640" cy="320040"/>
          </a:xfrm>
          <a:prstGeom prst="rect">
            <a:avLst/>
          </a:prstGeom>
          <a:noFill/>
        </p:spPr>
        <p:txBody>
          <a:bodyPr wrap="square">
            <a:spAutoFit/>
          </a:bodyPr>
          <a:lstStyle/>
          <a:p>
            <a:pPr algn="l"/>
            <a:r>
              <a:rPr sz="1200" b="1" i="0">
                <a:solidFill>
                  <a:srgbClr val="0D2B55"/>
                </a:solidFill>
              </a:rPr>
              <a:t>Öğrenci Numarası:</a:t>
            </a:r>
          </a:p>
        </p:txBody>
      </p:sp>
      <p:sp>
        <p:nvSpPr>
          <p:cNvPr id="11" name="TextBox 10"/>
          <p:cNvSpPr txBox="1"/>
          <p:nvPr/>
        </p:nvSpPr>
        <p:spPr>
          <a:xfrm>
            <a:off x="5394960" y="2377440"/>
            <a:ext cx="4297680" cy="320040"/>
          </a:xfrm>
          <a:prstGeom prst="rect">
            <a:avLst/>
          </a:prstGeom>
          <a:noFill/>
        </p:spPr>
        <p:txBody>
          <a:bodyPr wrap="square">
            <a:spAutoFit/>
          </a:bodyPr>
          <a:lstStyle/>
          <a:p>
            <a:pPr algn="l"/>
            <a:r>
              <a:rPr sz="1200" b="0" i="0">
                <a:solidFill>
                  <a:srgbClr val="2A2A2A"/>
                </a:solidFill>
              </a:rPr>
              <a:t/>
            </a:r>
          </a:p>
        </p:txBody>
      </p:sp>
      <p:sp>
        <p:nvSpPr>
          <p:cNvPr id="12" name="Rectangle 11"/>
          <p:cNvSpPr/>
          <p:nvPr/>
        </p:nvSpPr>
        <p:spPr>
          <a:xfrm>
            <a:off x="5349240" y="2715768"/>
            <a:ext cx="4343400" cy="0"/>
          </a:xfrm>
          <a:prstGeom prst="rect">
            <a:avLst/>
          </a:prstGeom>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2944368"/>
            <a:ext cx="2834640" cy="320040"/>
          </a:xfrm>
          <a:prstGeom prst="rect">
            <a:avLst/>
          </a:prstGeom>
          <a:noFill/>
        </p:spPr>
        <p:txBody>
          <a:bodyPr wrap="square">
            <a:spAutoFit/>
          </a:bodyPr>
          <a:lstStyle/>
          <a:p>
            <a:pPr algn="l"/>
            <a:r>
              <a:rPr sz="1200" b="1" i="0">
                <a:solidFill>
                  <a:srgbClr val="0D2B55"/>
                </a:solidFill>
              </a:rPr>
              <a:t>Bölüm:</a:t>
            </a:r>
          </a:p>
        </p:txBody>
      </p:sp>
      <p:sp>
        <p:nvSpPr>
          <p:cNvPr id="14" name="TextBox 13"/>
          <p:cNvSpPr txBox="1"/>
          <p:nvPr/>
        </p:nvSpPr>
        <p:spPr>
          <a:xfrm>
            <a:off x="5394960" y="2944368"/>
            <a:ext cx="4297680" cy="320040"/>
          </a:xfrm>
          <a:prstGeom prst="rect">
            <a:avLst/>
          </a:prstGeom>
          <a:noFill/>
        </p:spPr>
        <p:txBody>
          <a:bodyPr wrap="square">
            <a:spAutoFit/>
          </a:bodyPr>
          <a:lstStyle/>
          <a:p>
            <a:pPr algn="l"/>
            <a:r>
              <a:rPr sz="1200" b="0" i="0">
                <a:solidFill>
                  <a:srgbClr val="2A2A2A"/>
                </a:solidFill>
              </a:rPr>
              <a:t>Bilgisayar Mühendisliği</a:t>
            </a:r>
          </a:p>
        </p:txBody>
      </p:sp>
      <p:sp>
        <p:nvSpPr>
          <p:cNvPr id="15" name="Rectangle 14"/>
          <p:cNvSpPr/>
          <p:nvPr/>
        </p:nvSpPr>
        <p:spPr>
          <a:xfrm>
            <a:off x="5349240" y="3282696"/>
            <a:ext cx="4343400" cy="0"/>
          </a:xfrm>
          <a:prstGeom prst="rect">
            <a:avLst/>
          </a:prstGeom>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3511296"/>
            <a:ext cx="2834640" cy="320040"/>
          </a:xfrm>
          <a:prstGeom prst="rect">
            <a:avLst/>
          </a:prstGeom>
          <a:noFill/>
        </p:spPr>
        <p:txBody>
          <a:bodyPr wrap="square">
            <a:spAutoFit/>
          </a:bodyPr>
          <a:lstStyle/>
          <a:p>
            <a:pPr algn="l"/>
            <a:r>
              <a:rPr sz="1200" b="1" i="0">
                <a:solidFill>
                  <a:srgbClr val="0D2B55"/>
                </a:solidFill>
              </a:rPr>
              <a:t>Danışman:</a:t>
            </a:r>
          </a:p>
        </p:txBody>
      </p:sp>
      <p:sp>
        <p:nvSpPr>
          <p:cNvPr id="17" name="TextBox 16"/>
          <p:cNvSpPr txBox="1"/>
          <p:nvPr/>
        </p:nvSpPr>
        <p:spPr>
          <a:xfrm>
            <a:off x="5394960" y="3511296"/>
            <a:ext cx="4297680" cy="320040"/>
          </a:xfrm>
          <a:prstGeom prst="rect">
            <a:avLst/>
          </a:prstGeom>
          <a:noFill/>
        </p:spPr>
        <p:txBody>
          <a:bodyPr wrap="square">
            <a:spAutoFit/>
          </a:bodyPr>
          <a:lstStyle/>
          <a:p>
            <a:pPr algn="l"/>
            <a:r>
              <a:rPr sz="1200" b="0" i="0">
                <a:solidFill>
                  <a:srgbClr val="2A2A2A"/>
                </a:solidFill>
              </a:rPr>
              <a:t/>
            </a:r>
          </a:p>
        </p:txBody>
      </p:sp>
      <p:sp>
        <p:nvSpPr>
          <p:cNvPr id="18" name="Rectangle 17"/>
          <p:cNvSpPr/>
          <p:nvPr/>
        </p:nvSpPr>
        <p:spPr>
          <a:xfrm>
            <a:off x="5349240" y="3849624"/>
            <a:ext cx="4343400" cy="0"/>
          </a:xfrm>
          <a:prstGeom prst="rect">
            <a:avLst/>
          </a:prstGeom>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80" y="4078224"/>
            <a:ext cx="2834640" cy="320040"/>
          </a:xfrm>
          <a:prstGeom prst="rect">
            <a:avLst/>
          </a:prstGeom>
          <a:noFill/>
        </p:spPr>
        <p:txBody>
          <a:bodyPr wrap="square">
            <a:spAutoFit/>
          </a:bodyPr>
          <a:lstStyle/>
          <a:p>
            <a:pPr algn="l"/>
            <a:r>
              <a:rPr sz="1200" b="1" i="0">
                <a:solidFill>
                  <a:srgbClr val="0D2B55"/>
                </a:solidFill>
              </a:rPr>
              <a:t>Sunum Tarihi:</a:t>
            </a:r>
          </a:p>
        </p:txBody>
      </p:sp>
      <p:sp>
        <p:nvSpPr>
          <p:cNvPr id="20" name="TextBox 19"/>
          <p:cNvSpPr txBox="1"/>
          <p:nvPr/>
        </p:nvSpPr>
        <p:spPr>
          <a:xfrm>
            <a:off x="5394960" y="4078224"/>
            <a:ext cx="4297680" cy="320040"/>
          </a:xfrm>
          <a:prstGeom prst="rect">
            <a:avLst/>
          </a:prstGeom>
          <a:noFill/>
        </p:spPr>
        <p:txBody>
          <a:bodyPr wrap="square">
            <a:spAutoFit/>
          </a:bodyPr>
          <a:lstStyle/>
          <a:p>
            <a:pPr algn="l"/>
            <a:r>
              <a:rPr sz="1200" b="0" i="0">
                <a:solidFill>
                  <a:srgbClr val="2A2A2A"/>
                </a:solidFill>
              </a:rPr>
              <a:t/>
            </a:r>
          </a:p>
        </p:txBody>
      </p:sp>
      <p:sp>
        <p:nvSpPr>
          <p:cNvPr id="21" name="Rectangle 20"/>
          <p:cNvSpPr/>
          <p:nvPr/>
        </p:nvSpPr>
        <p:spPr>
          <a:xfrm>
            <a:off x="5349240" y="4416552"/>
            <a:ext cx="4343400" cy="0"/>
          </a:xfrm>
          <a:prstGeom prst="rect">
            <a:avLst/>
          </a:prstGeom>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68880" y="4645152"/>
            <a:ext cx="2834640" cy="320040"/>
          </a:xfrm>
          <a:prstGeom prst="rect">
            <a:avLst/>
          </a:prstGeom>
          <a:noFill/>
        </p:spPr>
        <p:txBody>
          <a:bodyPr wrap="square">
            <a:spAutoFit/>
          </a:bodyPr>
          <a:lstStyle/>
          <a:p>
            <a:pPr algn="l"/>
            <a:r>
              <a:rPr sz="1200" b="1" i="0">
                <a:solidFill>
                  <a:srgbClr val="0D2B55"/>
                </a:solidFill>
              </a:rPr>
              <a:t>Sunum Adı:</a:t>
            </a:r>
          </a:p>
        </p:txBody>
      </p:sp>
      <p:sp>
        <p:nvSpPr>
          <p:cNvPr id="23" name="TextBox 22"/>
          <p:cNvSpPr txBox="1"/>
          <p:nvPr/>
        </p:nvSpPr>
        <p:spPr>
          <a:xfrm>
            <a:off x="5394960" y="4645152"/>
            <a:ext cx="4297680" cy="320040"/>
          </a:xfrm>
          <a:prstGeom prst="rect">
            <a:avLst/>
          </a:prstGeom>
          <a:noFill/>
        </p:spPr>
        <p:txBody>
          <a:bodyPr wrap="square">
            <a:spAutoFit/>
          </a:bodyPr>
          <a:lstStyle/>
          <a:p>
            <a:pPr algn="l"/>
            <a:r>
              <a:rPr sz="1200" b="0" i="0">
                <a:solidFill>
                  <a:srgbClr val="2A2A2A"/>
                </a:solidFill>
              </a:rPr>
              <a:t>Final Savunma Sunumu</a:t>
            </a:r>
          </a:p>
        </p:txBody>
      </p:sp>
      <p:sp>
        <p:nvSpPr>
          <p:cNvPr id="24" name="Rectangle 23"/>
          <p:cNvSpPr/>
          <p:nvPr/>
        </p:nvSpPr>
        <p:spPr>
          <a:xfrm>
            <a:off x="5349240" y="4983480"/>
            <a:ext cx="4343400" cy="0"/>
          </a:xfrm>
          <a:prstGeom prst="rect">
            <a:avLst/>
          </a:prstGeom>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68880" y="5440680"/>
            <a:ext cx="2926080" cy="347472"/>
          </a:xfrm>
          <a:prstGeom prst="rect">
            <a:avLst/>
          </a:prstGeom>
          <a:noFill/>
        </p:spPr>
        <p:txBody>
          <a:bodyPr wrap="square">
            <a:spAutoFit/>
          </a:bodyPr>
          <a:lstStyle/>
          <a:p>
            <a:pPr algn="l"/>
            <a:r>
              <a:rPr sz="1300" b="1" i="0">
                <a:solidFill>
                  <a:srgbClr val="0D2B55"/>
                </a:solidFill>
              </a:rPr>
              <a:t>İmza:</a:t>
            </a:r>
          </a:p>
        </p:txBody>
      </p:sp>
      <p:sp>
        <p:nvSpPr>
          <p:cNvPr id="26" name="Rectangle 25"/>
          <p:cNvSpPr/>
          <p:nvPr/>
        </p:nvSpPr>
        <p:spPr>
          <a:xfrm>
            <a:off x="3246120" y="5788152"/>
            <a:ext cx="6080760" cy="0"/>
          </a:xfrm>
          <a:prstGeom prst="rect">
            <a:avLst/>
          </a:prstGeom>
          <a:ln w="190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46120" y="5843016"/>
            <a:ext cx="6080760" cy="274320"/>
          </a:xfrm>
          <a:prstGeom prst="rect">
            <a:avLst/>
          </a:prstGeom>
          <a:noFill/>
        </p:spPr>
        <p:txBody>
          <a:bodyPr wrap="square">
            <a:spAutoFit/>
          </a:bodyPr>
          <a:lstStyle/>
          <a:p>
            <a:pPr algn="ctr"/>
            <a:r>
              <a:rPr sz="900" b="0" i="0">
                <a:solidFill>
                  <a:srgbClr val="66707A"/>
                </a:solidFill>
              </a:rPr>
              <a:t>(Öğrenci bu alanı imzalayarak sunumun kendisine ait olduğunu onaylar.)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