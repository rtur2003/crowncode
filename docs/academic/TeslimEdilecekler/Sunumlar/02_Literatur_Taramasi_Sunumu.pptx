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4688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88952" cy="64008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0A800"/>
                </a:solidFill>
              </a:rPr>
              <a:t>02 — LİTERATÜR TARAMASI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İlgili Çalışmalar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C6D6"/>
                </a:solidFill>
              </a:rPr>
              <a:t>39 kaynak · üç araştırma alanı · sistematik boşluk analizi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71800"/>
            <a:ext cx="352044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108502"/>
            <a:ext cx="3520440" cy="525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0A800"/>
                </a:solidFill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23767"/>
            <a:ext cx="3520440" cy="336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Taranan kaynak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971800"/>
            <a:ext cx="352044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3108502"/>
            <a:ext cx="3520440" cy="525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6B3A"/>
                </a:solidFill>
              </a:rPr>
              <a:t>%74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623767"/>
            <a:ext cx="3520440" cy="336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Son 5 yıl (2021+)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971800"/>
            <a:ext cx="352044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3108502"/>
            <a:ext cx="3520440" cy="525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0A80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623767"/>
            <a:ext cx="3520440" cy="336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Araştırma alanı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8912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2A2A2A"/>
                </a:solidFill>
              </a:rPr>
              <a:t>—  GUJSA kuralı referansların en az %30'unun güncel olmasını şart koşar — AURIS %74 ile bu eşiği fazlasıyla aşar.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2A2A2A"/>
                </a:solidFill>
              </a:rPr>
              <a:t>—  Tarama üç eksende yürütüldü: ses deepfake tespiti, üretken müzik sistemleri ve YZ müzik tespiti.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2A2A2A"/>
                </a:solidFill>
              </a:rPr>
              <a:t>—  Temel bulgu: müzik için topluluk öğrenmesi + SHAP açıklanabilirliğini birleştiren çalışma literatürde eksik.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10528"/>
            <a:ext cx="8229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07A"/>
                </a:solidFill>
              </a:rPr>
              <a:t>AURIS  ·  Hasan Arthur Altuntaş  ·  BM498 Mezuniyet Tezi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65105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707A"/>
                </a:solidFill>
              </a:rPr>
              <a:t>Düzce Üniversitesi ·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4864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A800"/>
                </a:solidFill>
              </a:rPr>
              <a:t>ALAN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Ses Derin Sahte Tespiti (Audio Deepfake Detection)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875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AEC6D6"/>
                </a:solidFill>
              </a:rPr>
              <a:t>GenAI müzik tespiti için en olgun komşu alan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2286000" cy="4114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636776"/>
            <a:ext cx="21762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Model / Çalışma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600200"/>
            <a:ext cx="2011680" cy="4114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4912" y="163677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Yazarlar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600200"/>
            <a:ext cx="822960" cy="4114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36592" y="1636776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Yıl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1600200"/>
            <a:ext cx="6309360" cy="4114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59552" y="1636776"/>
            <a:ext cx="6199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Yaklaşım ve Katkı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057400"/>
            <a:ext cx="22860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130552"/>
            <a:ext cx="212140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2A2A2A"/>
                </a:solidFill>
              </a:rPr>
              <a:t>AASIST [10]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2057400"/>
            <a:ext cx="20116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2130552"/>
            <a:ext cx="184708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2A2A2A"/>
                </a:solidFill>
              </a:rPr>
              <a:t>Jung vd.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2057400"/>
            <a:ext cx="8229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79" y="2130552"/>
            <a:ext cx="65836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2A2A2A"/>
                </a:solidFill>
              </a:rPr>
              <a:t>2022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2057400"/>
            <a:ext cx="6309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0" y="2130552"/>
            <a:ext cx="614476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Bütünleşik spektro-temporal graf dikkat ağı; ASVspoof 2019'da güçlü sonuç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734056"/>
            <a:ext cx="2286000" cy="621792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807208"/>
            <a:ext cx="212140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2A2A2A"/>
                </a:solidFill>
              </a:rPr>
              <a:t>RawNet2 [11]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0" y="2734056"/>
            <a:ext cx="2011680" cy="621792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2807208"/>
            <a:ext cx="184708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2A2A2A"/>
                </a:solidFill>
              </a:rPr>
              <a:t>Tak vd.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2734056"/>
            <a:ext cx="822960" cy="621792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79" y="2807208"/>
            <a:ext cx="65836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2A2A2A"/>
                </a:solidFill>
              </a:rPr>
              <a:t>2021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2734056"/>
            <a:ext cx="6309360" cy="621792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2807208"/>
            <a:ext cx="614476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Ham dalga formundan uçtan uca öğrenme; öznitelik mühendisliği gerektirmez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410712"/>
            <a:ext cx="22860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483864"/>
            <a:ext cx="212140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2A2A2A"/>
                </a:solidFill>
              </a:rPr>
              <a:t>wav2vec 2.0 [13]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51760" y="3410712"/>
            <a:ext cx="20116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0" y="3483864"/>
            <a:ext cx="184708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2A2A2A"/>
                </a:solidFill>
              </a:rPr>
              <a:t>Baevski vd.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3410712"/>
            <a:ext cx="8229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3483864"/>
            <a:ext cx="65836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2A2A2A"/>
                </a:solidFill>
              </a:rPr>
              <a:t>2020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3410712"/>
            <a:ext cx="6309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77840" y="3483864"/>
            <a:ext cx="614476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Öz-denetimli ses temsili; transfer öğrenme için güçlü taban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087368"/>
            <a:ext cx="2286000" cy="621792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160520"/>
            <a:ext cx="212140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2A2A2A"/>
                </a:solidFill>
              </a:rPr>
              <a:t>WavLM [15]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51760" y="4087368"/>
            <a:ext cx="2011680" cy="621792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0" y="4160520"/>
            <a:ext cx="184708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2A2A2A"/>
                </a:solidFill>
              </a:rPr>
              <a:t>Chen vd.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4087368"/>
            <a:ext cx="822960" cy="621792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79" y="4160520"/>
            <a:ext cx="65836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2A2A2A"/>
                </a:solidFill>
              </a:rPr>
              <a:t>2022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4087368"/>
            <a:ext cx="6309360" cy="621792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77840" y="4160520"/>
            <a:ext cx="614476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Maskelenmiş öngörü ile büyük ölçekli ön eğitim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764024"/>
            <a:ext cx="22860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4837176"/>
            <a:ext cx="212140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2A2A2A"/>
                </a:solidFill>
              </a:rPr>
              <a:t>ADD 2022 [3]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51760" y="4764024"/>
            <a:ext cx="20116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0" y="4837176"/>
            <a:ext cx="184708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2A2A2A"/>
                </a:solidFill>
              </a:rPr>
              <a:t>Yi vd.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63440" y="4764024"/>
            <a:ext cx="8229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54879" y="4837176"/>
            <a:ext cx="65836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2A2A2A"/>
                </a:solidFill>
              </a:rPr>
              <a:t>2022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0" y="4764024"/>
            <a:ext cx="6309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77840" y="4837176"/>
            <a:ext cx="614476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İlk YZ ses sentezi tespit yarışması; alanı standartlaştırdı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440680"/>
            <a:ext cx="2286000" cy="621792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513832"/>
            <a:ext cx="212140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2A2A2A"/>
                </a:solidFill>
              </a:rPr>
              <a:t>ASVspoof 2019 [17]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51760" y="5440680"/>
            <a:ext cx="2011680" cy="621792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0" y="5513832"/>
            <a:ext cx="184708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2A2A2A"/>
                </a:solidFill>
              </a:rPr>
              <a:t>Wang vd.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63440" y="5440680"/>
            <a:ext cx="822960" cy="621792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54879" y="5513832"/>
            <a:ext cx="65836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2A2A2A"/>
                </a:solidFill>
              </a:rPr>
              <a:t>2020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0" y="5440680"/>
            <a:ext cx="6309360" cy="621792"/>
          </a:xfrm>
          <a:prstGeom prst="rect">
            <a:avLst/>
          </a:prstGeom>
          <a:solidFill>
            <a:srgbClr val="E8ECF0"/>
          </a:solidFill>
          <a:ln w="12700">
            <a:solidFill>
              <a:srgbClr val="D5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577840" y="5513832"/>
            <a:ext cx="6144768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64k örnekli kıyaslama veri kümesi; sahte ses araştırmasının omurgası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6707A"/>
                </a:solidFill>
              </a:rPr>
              <a:t>Çıkarım: Bu yöntemler konuşma için olgun; ancak müziğin ritmik ve harmonik yapısını hedeflemiyor.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6510528"/>
            <a:ext cx="8229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07A"/>
                </a:solidFill>
              </a:rPr>
              <a:t>AURIS  ·  Hasan Arthur Altuntaş  ·  BM498 Mezuniyet Tezi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95360" y="65105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707A"/>
                </a:solidFill>
              </a:rPr>
              <a:t>Düzce Üniversitesi ·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4864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A800"/>
                </a:solidFill>
              </a:rPr>
              <a:t>ALAN 2 &amp;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Üretken Müzik Sistemleri ve YZ Müzik Tespiti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</a:rPr>
              <a:t>Üretici Sistemler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65960"/>
            <a:ext cx="5577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7"/>
                </a:solidFill>
              </a:rPr>
              <a:t>MusicGen 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8658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Copet vd., 2023 — Meta; metne koşullu, tek aşamalı transformer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926080"/>
            <a:ext cx="5577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0175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7"/>
                </a:solidFill>
              </a:rPr>
              <a:t>AudioLDM2 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4670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Liu vd., 2023; latent difüzyon tabanlı üretim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86200"/>
            <a:ext cx="5577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97763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7"/>
                </a:solidFill>
              </a:rPr>
              <a:t>Suno / Udio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0682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Ticari sistemler, 2024; yüksek kaliteli şarkı üretimi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846320"/>
            <a:ext cx="5577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937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7"/>
                </a:solidFill>
              </a:rPr>
              <a:t>Stable Audio / Riffusion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26694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Difüzyon tabanlı açık sistemler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08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</a:rPr>
              <a:t>Doğrudan İlgili Tespit Çalışmaları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65960"/>
            <a:ext cx="54864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029967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9A7300"/>
                </a:solidFill>
              </a:rPr>
              <a:t>Afchar vd. [5] (2025)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1343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A2A2A"/>
                </a:solidFill>
              </a:rPr>
              <a:t>Oto-kodlayıcı artefaktı; aynı üreticiye %99,8, farklı üreticide ciddi düşüş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724912"/>
            <a:ext cx="54864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78892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9A7300"/>
                </a:solidFill>
              </a:rPr>
              <a:t>Cros Vila vd. [33] (2025)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72384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A2A2A"/>
                </a:solidFill>
              </a:rPr>
              <a:t>Spektral + ritmik öznitelik + SVM; müzik-spesifik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483863"/>
            <a:ext cx="54864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547871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9A7300"/>
                </a:solidFill>
              </a:rPr>
              <a:t>Li vd. [22]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831335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A2A2A"/>
                </a:solidFill>
              </a:rPr>
              <a:t>Açıklanabilir öznitelik tabanlı erken sistematik değerlendirme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242816"/>
            <a:ext cx="54864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30682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9A7300"/>
                </a:solidFill>
              </a:rPr>
              <a:t>SONICS [34] (2025)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028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A2A2A"/>
                </a:solidFill>
              </a:rPr>
              <a:t>Transformer DL; 97k şarkılık büyük veri kümesi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5001768"/>
            <a:ext cx="54864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5065776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9A7300"/>
                </a:solidFill>
              </a:rPr>
              <a:t>FakeMusicCaps [35] (2025)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34924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A2A2A"/>
                </a:solidFill>
              </a:rPr>
              <a:t>Metin→müzik tespiti ve atıf veri kümesi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510528"/>
            <a:ext cx="8229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07A"/>
                </a:solidFill>
              </a:rPr>
              <a:t>AURIS  ·  Hasan Arthur Altuntaş  ·  BM498 Mezuniyet Tezi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65105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707A"/>
                </a:solidFill>
              </a:rPr>
              <a:t>Düzce Üniversitesi ·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4864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A800"/>
                </a:solidFill>
              </a:rPr>
              <a:t>SENTEZ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Literatür Boşluğu ve AURIS'in Konumu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52A2A"/>
                </a:solidFill>
              </a:rPr>
              <a:t>Tespit Edilen Boşluklar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11680"/>
            <a:ext cx="5669280" cy="713232"/>
          </a:xfrm>
          <a:prstGeom prst="rect">
            <a:avLst/>
          </a:prstGeom>
          <a:solidFill>
            <a:srgbClr val="FDECEC"/>
          </a:solidFill>
          <a:ln w="12700">
            <a:solidFill>
              <a:srgbClr val="B5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66544"/>
            <a:ext cx="457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B52A2A"/>
                </a:solidFill>
              </a:rPr>
              <a:t>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66544"/>
            <a:ext cx="49377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A2A2A"/>
                </a:solidFill>
              </a:rPr>
              <a:t>Müzik için topluluk (ensemble) yaklaşımı yetersiz uygulanmış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816352"/>
            <a:ext cx="5669280" cy="713232"/>
          </a:xfrm>
          <a:prstGeom prst="rect">
            <a:avLst/>
          </a:prstGeom>
          <a:solidFill>
            <a:srgbClr val="FDECEC"/>
          </a:solidFill>
          <a:ln w="12700">
            <a:solidFill>
              <a:srgbClr val="B5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71216"/>
            <a:ext cx="457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B52A2A"/>
                </a:solidFill>
              </a:rPr>
              <a:t>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71216"/>
            <a:ext cx="49377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A2A2A"/>
                </a:solidFill>
              </a:rPr>
              <a:t>47 boyutlu, beş aileli heterojen öznitelik vektörü kullanılmamış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621024"/>
            <a:ext cx="5669280" cy="713232"/>
          </a:xfrm>
          <a:prstGeom prst="rect">
            <a:avLst/>
          </a:prstGeom>
          <a:solidFill>
            <a:srgbClr val="FDECEC"/>
          </a:solidFill>
          <a:ln w="12700">
            <a:solidFill>
              <a:srgbClr val="B5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675887"/>
            <a:ext cx="457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B52A2A"/>
                </a:solidFill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675887"/>
            <a:ext cx="49377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A2A2A"/>
                </a:solidFill>
              </a:rPr>
              <a:t>Üretici/kaynak bazlı ayrıntılı performans analizi eksik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425696"/>
            <a:ext cx="5669280" cy="713232"/>
          </a:xfrm>
          <a:prstGeom prst="rect">
            <a:avLst/>
          </a:prstGeom>
          <a:solidFill>
            <a:srgbClr val="FDECEC"/>
          </a:solidFill>
          <a:ln w="12700">
            <a:solidFill>
              <a:srgbClr val="B5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480559"/>
            <a:ext cx="457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B52A2A"/>
                </a:solidFill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80559"/>
            <a:ext cx="49377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A2A2A"/>
                </a:solidFill>
              </a:rPr>
              <a:t>SHAP/TreeSHAP açıklanabilirliği müzik tespitine taşınmamış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230368"/>
            <a:ext cx="5669280" cy="713232"/>
          </a:xfrm>
          <a:prstGeom prst="rect">
            <a:avLst/>
          </a:prstGeom>
          <a:solidFill>
            <a:srgbClr val="FDECEC"/>
          </a:solidFill>
          <a:ln w="12700">
            <a:solidFill>
              <a:srgbClr val="B5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285232"/>
            <a:ext cx="457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B52A2A"/>
                </a:solidFill>
              </a:rPr>
              <a:t>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285232"/>
            <a:ext cx="49377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A2A2A"/>
                </a:solidFill>
              </a:rPr>
              <a:t>Youden J karar eşiği optimizasyonu uygulanmamış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1554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6B3A"/>
                </a:solidFill>
              </a:rPr>
              <a:t>AURIS'in Çözümü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2011680"/>
            <a:ext cx="5486400" cy="713232"/>
          </a:xfrm>
          <a:prstGeom prst="rect">
            <a:avLst/>
          </a:prstGeom>
          <a:solidFill>
            <a:srgbClr val="E9F6EC"/>
          </a:solidFill>
          <a:ln w="12700"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066544"/>
            <a:ext cx="457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A6B3A"/>
                </a:solidFill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066544"/>
            <a:ext cx="47548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7 ML + 4 DL = 11 modelli topluluk öğrenmesi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2816352"/>
            <a:ext cx="5486400" cy="713232"/>
          </a:xfrm>
          <a:prstGeom prst="rect">
            <a:avLst/>
          </a:prstGeom>
          <a:solidFill>
            <a:srgbClr val="E9F6EC"/>
          </a:solidFill>
          <a:ln w="12700"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2871216"/>
            <a:ext cx="457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A6B3A"/>
                </a:solidFill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871216"/>
            <a:ext cx="47548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Spektral, zamansal, ritmik, harmonik, vokal — 5 aile / 47 boyut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3621024"/>
            <a:ext cx="5486400" cy="713232"/>
          </a:xfrm>
          <a:prstGeom prst="rect">
            <a:avLst/>
          </a:prstGeom>
          <a:solidFill>
            <a:srgbClr val="E9F6EC"/>
          </a:solidFill>
          <a:ln w="12700"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675887"/>
            <a:ext cx="457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A6B3A"/>
                </a:solidFill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675887"/>
            <a:ext cx="47548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Sekiz kaynak için ayrı duyarlılık analizi (Suno %93,0, Echoes %88,6)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4425696"/>
            <a:ext cx="5486400" cy="713232"/>
          </a:xfrm>
          <a:prstGeom prst="rect">
            <a:avLst/>
          </a:prstGeom>
          <a:solidFill>
            <a:srgbClr val="E9F6EC"/>
          </a:solidFill>
          <a:ln w="12700"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480559"/>
            <a:ext cx="457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A6B3A"/>
                </a:solidFill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480559"/>
            <a:ext cx="47548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TreeSHAP ile global ve yerel öznitelik etkisi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5230368"/>
            <a:ext cx="5486400" cy="713232"/>
          </a:xfrm>
          <a:prstGeom prst="rect">
            <a:avLst/>
          </a:prstGeom>
          <a:solidFill>
            <a:srgbClr val="E9F6EC"/>
          </a:solidFill>
          <a:ln w="12700"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5285232"/>
            <a:ext cx="457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A6B3A"/>
                </a:solidFill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5285232"/>
            <a:ext cx="47548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A2A2A"/>
                </a:solidFill>
              </a:rPr>
              <a:t>θ* = 0,4316 ile dengeli karar eşiği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510528"/>
            <a:ext cx="8229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07A"/>
                </a:solidFill>
              </a:rPr>
              <a:t>AURIS  ·  Hasan Arthur Altuntaş  ·  BM498 Mezuniyet Tezi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65105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707A"/>
                </a:solidFill>
              </a:rPr>
              <a:t>Düzce Üniversitesi ·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BM498 — 02: Literatür Taraması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960120"/>
            <a:ext cx="7589520" cy="5440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078992"/>
            <a:ext cx="7406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27632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1051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10512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148840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3774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15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44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44368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282696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1129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11296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49624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782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7822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16552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451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45152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Literatür Taraması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83480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44068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88152"/>
            <a:ext cx="6080760" cy="0"/>
          </a:xfrm>
          <a:prstGeom prst="rect">
            <a:avLst/>
          </a:prstGeom>
          <a:ln w="190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843016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707A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