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514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" cy="2514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D99A07"/>
                </a:solidFill>
                <a:latin typeface="Calibri"/>
              </a:rPr>
              <a:t>02 — LİTERATÜR TARAMASI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İlgili Çalışmalar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972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600" b="0" i="0">
                <a:solidFill>
                  <a:srgbClr val="ADC4D6"/>
                </a:solidFill>
                <a:latin typeface="Calibri"/>
              </a:rPr>
              <a:t>39 kaynak · üç araştırma alanı · sistematik boşluk analizi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3566160" cy="105156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27578"/>
            <a:ext cx="3566160" cy="5257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000" b="1" i="0">
                <a:solidFill>
                  <a:srgbClr val="D99A07"/>
                </a:solidFill>
                <a:latin typeface="Calibri"/>
              </a:rPr>
              <a:t>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42842"/>
            <a:ext cx="3566160" cy="35753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Taranan kaynak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880360"/>
            <a:ext cx="3566160" cy="105156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3027578"/>
            <a:ext cx="3566160" cy="5257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000" b="1" i="0">
                <a:solidFill>
                  <a:srgbClr val="6FD895"/>
                </a:solidFill>
                <a:latin typeface="Calibri"/>
              </a:rPr>
              <a:t>%74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542842"/>
            <a:ext cx="3566160" cy="35753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Son 5 yıl (2021+)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880360"/>
            <a:ext cx="3657600" cy="105156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3027578"/>
            <a:ext cx="3657600" cy="5257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0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542842"/>
            <a:ext cx="3657600" cy="35753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Araştırma alanı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97680"/>
            <a:ext cx="11155680" cy="18288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—  GUJSA, referansların en az %30'unun güncel olmasını şart koşar — AURIS %74 ile bu eşiği fazlasıyla aşar.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—  Tarama üç eksende yürütüldü: ses deepfake tespiti, üretken müzik sistemleri, YZ müzik tespiti.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—  Temel bulgu: müzik için topluluk öğrenmesi + SHAP açıklanabilirliğini birleştiren çalışma eksik.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ALAN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Ses Derin Sahte Tespiti (Audio Deepfake Detection)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GenAI müzik tespiti için en olgun komşu alan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22860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210312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Çalışma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627632"/>
            <a:ext cx="18288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627632"/>
            <a:ext cx="18288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Yazarlar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627632"/>
            <a:ext cx="8229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627632"/>
            <a:ext cx="8229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Yıl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627632"/>
            <a:ext cx="6519672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1627632"/>
            <a:ext cx="6336792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Yaklaşım ve Katkı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011680"/>
            <a:ext cx="2286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011680"/>
            <a:ext cx="2103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AASIST [10]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2011680"/>
            <a:ext cx="1828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9191" y="2011680"/>
            <a:ext cx="177393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Jung vd.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2011680"/>
            <a:ext cx="8229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07992" y="2011680"/>
            <a:ext cx="76809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2022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03520" y="2011680"/>
            <a:ext cx="6519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0" y="2011680"/>
            <a:ext cx="633679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Bütünleşik spektro-temporal graf dikkat ağı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560320"/>
            <a:ext cx="228600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60320"/>
            <a:ext cx="2103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RawNet2 [11]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2560320"/>
            <a:ext cx="182880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9191" y="2560320"/>
            <a:ext cx="177393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Tak vd.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2560320"/>
            <a:ext cx="8229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07992" y="2560320"/>
            <a:ext cx="76809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2021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0" y="2560320"/>
            <a:ext cx="651967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0" y="2560320"/>
            <a:ext cx="633679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Ham dalga formundan uçtan uca öğrenme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08960"/>
            <a:ext cx="2286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108960"/>
            <a:ext cx="2103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wav2vec 2.0 [13]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51760" y="3108960"/>
            <a:ext cx="1828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79191" y="3108960"/>
            <a:ext cx="177393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Baevski vd.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80560" y="3108960"/>
            <a:ext cx="8229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7992" y="3108960"/>
            <a:ext cx="76809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2020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03520" y="3108960"/>
            <a:ext cx="6519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4960" y="3108960"/>
            <a:ext cx="633679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Öz-denetimli ses temsili; güçlü transfer tabanı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57600"/>
            <a:ext cx="228600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3657600"/>
            <a:ext cx="2103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WavLM [15]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51760" y="3657600"/>
            <a:ext cx="182880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79191" y="3657600"/>
            <a:ext cx="177393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Chen vd.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60" y="3657600"/>
            <a:ext cx="8229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07992" y="3657600"/>
            <a:ext cx="76809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2022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03520" y="3657600"/>
            <a:ext cx="651967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4960" y="3657600"/>
            <a:ext cx="633679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Maskelenmiş öngörü ile büyük ölçekli ön eğitim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206240"/>
            <a:ext cx="2286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206240"/>
            <a:ext cx="2103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ADD 2022 [3]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51760" y="4206240"/>
            <a:ext cx="1828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79191" y="4206240"/>
            <a:ext cx="177393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Yi vd.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80560" y="4206240"/>
            <a:ext cx="8229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07992" y="4206240"/>
            <a:ext cx="76809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2022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0" y="4206240"/>
            <a:ext cx="6519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94960" y="4206240"/>
            <a:ext cx="633679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İlk YZ ses sentezi tespit yarışması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754879"/>
            <a:ext cx="228600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4754879"/>
            <a:ext cx="21031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ASVspoof 2019 [17]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651760" y="4754879"/>
            <a:ext cx="182880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679191" y="4754879"/>
            <a:ext cx="177393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Wang vd.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80560" y="4754879"/>
            <a:ext cx="8229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07992" y="4754879"/>
            <a:ext cx="768096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2020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03520" y="4754879"/>
            <a:ext cx="651967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94960" y="4754879"/>
            <a:ext cx="633679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64k örnekli kıyaslama veri kümesi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548640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1">
                <a:solidFill>
                  <a:srgbClr val="6A7480"/>
                </a:solidFill>
                <a:latin typeface="Calibri"/>
              </a:rPr>
              <a:t>Çıkarım: Bu yöntemler konuşma için olgun; müziğin ritmik ve harmonik yapısını hedeflemiyor.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ALAN 2 &amp;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Üretken Müzik Sistemleri ve YZ Müzik Tespiti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08760"/>
            <a:ext cx="55778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102A4C"/>
                </a:solidFill>
                <a:latin typeface="Calibri"/>
              </a:rPr>
              <a:t>Üretici Sistemler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5577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29968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A808C"/>
                </a:solidFill>
                <a:latin typeface="Calibri"/>
              </a:rPr>
              <a:t>MusicGen 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59152"/>
            <a:ext cx="53035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Copet vd., 2023 (Meta) — metne koşullu, tek aşamalı transformer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16936"/>
            <a:ext cx="5577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008376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A808C"/>
                </a:solidFill>
                <a:latin typeface="Calibri"/>
              </a:rPr>
              <a:t>AudioLDM2 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37560"/>
            <a:ext cx="53035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Liu vd., 2023 — latent difüzyon tabanlı üretim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895344"/>
            <a:ext cx="5577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86783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A808C"/>
                </a:solidFill>
                <a:latin typeface="Calibri"/>
              </a:rPr>
              <a:t>Suno / Udio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15968"/>
            <a:ext cx="53035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Ticari sistemler, 2024 — yüksek kaliteli şarkı üretimi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873752"/>
            <a:ext cx="5577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965192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1" i="0">
                <a:solidFill>
                  <a:srgbClr val="0A808C"/>
                </a:solidFill>
                <a:latin typeface="Calibri"/>
              </a:rPr>
              <a:t>Stable Audio / Riffusion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294376"/>
            <a:ext cx="53035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Difüzyon tabanlı açık sistemler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508760"/>
            <a:ext cx="5486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102A4C"/>
                </a:solidFill>
                <a:latin typeface="Calibri"/>
              </a:rPr>
              <a:t>Doğrudan İlgili Tespit Çalışmaları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938528"/>
            <a:ext cx="5559552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00253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Afchar vd. [5] ·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286000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Oto-kodlayıcı artefaktı; aynı üreticide %99,8, farklı üreticide ciddi düşüş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2715768"/>
            <a:ext cx="5559552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77977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Cros Vila vd. [33] ·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063240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Spektral + ritmik öznitelik + SVM; müzik-spesifik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3493008"/>
            <a:ext cx="5559552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55701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Li vd. [22] ·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840480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Açıklanabilir öznitelik tabanlı erken değerlendirme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270248"/>
            <a:ext cx="5559552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433425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SONICS [34] · 2025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617720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Transformer DL; 97k şarkılık büyük veri kümesi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047488"/>
            <a:ext cx="5559552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11149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8A6600"/>
                </a:solidFill>
                <a:latin typeface="Calibri"/>
              </a:rPr>
              <a:t>FakeMusicCaps [35] · 2025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394959"/>
            <a:ext cx="53035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Metin→müzik tespiti ve atıf veri kümesi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SENTEZ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Literatür Boşluğu ve AURIS'in Konumu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5623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B32929"/>
                </a:solidFill>
                <a:latin typeface="Calibri"/>
              </a:rPr>
              <a:t>Tespit Edilen Boşluklar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5623560" cy="713232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201168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B32929"/>
                </a:solidFill>
                <a:latin typeface="Calibri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1168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Müzik için topluluk yaklaşımı yetersiz uygulanmış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834640"/>
            <a:ext cx="5623560" cy="713232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83464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B32929"/>
                </a:solidFill>
                <a:latin typeface="Calibri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83464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Çok aileli (47 boyut) heterojen öznitelik seti yok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657600"/>
            <a:ext cx="5623560" cy="713232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65760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B32929"/>
                </a:solidFill>
                <a:latin typeface="Calibri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65760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Üretici/kaynak bazlı performans analizi eksik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480560"/>
            <a:ext cx="5623560" cy="713232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48056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B32929"/>
                </a:solidFill>
                <a:latin typeface="Calibri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48056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SHAP/TreeSHAP açıklanabilirliği taşınmamış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303520"/>
            <a:ext cx="5623560" cy="713232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530352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B32929"/>
                </a:solidFill>
                <a:latin typeface="Calibri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0352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Youden J karar eşiği optimizasyonu uygulanmamış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9632" y="1554480"/>
            <a:ext cx="5623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1B6E3C"/>
                </a:solidFill>
                <a:latin typeface="Calibri"/>
              </a:rPr>
              <a:t>AURIS'in Çözümü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2011680"/>
            <a:ext cx="5623560" cy="713232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01168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1B6E3C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201168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7 ML + 4 DL = 11 modelli topluluk öğrenmesi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2834640"/>
            <a:ext cx="5623560" cy="713232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283464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1B6E3C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4848" y="283464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Spektral · zamansal · ritmik · harmonik · vokal (47 boyut)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3657600"/>
            <a:ext cx="5623560" cy="713232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65760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1B6E3C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84848" y="365760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Sekiz kaynak için ayrı duyarlılık analizi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4480560"/>
            <a:ext cx="5623560" cy="713232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448056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1B6E3C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4848" y="448056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TreeSHAP ile global ve yerel öznitelik etkisi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5303520"/>
            <a:ext cx="5623560" cy="713232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5303520"/>
            <a:ext cx="45720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800" b="1" i="0">
                <a:solidFill>
                  <a:srgbClr val="1B6E3C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84848" y="5303520"/>
            <a:ext cx="493776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θ* = 0,4316 ile dengeli karar eşiği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473952"/>
            <a:ext cx="7772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 ·  Yapay Zekâ Üretimli Müzik Tespiti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6473952"/>
            <a:ext cx="679399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114300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BM498 Mezuniyet Tezi — 02: Literatür Taraması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960120"/>
            <a:ext cx="7772400" cy="5440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960120"/>
            <a:ext cx="7772400" cy="64008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960120"/>
            <a:ext cx="77724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ÖĞRENCİ İMZA SAYFASI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92024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192024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224942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246888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246888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94960" y="279806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301752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301752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3346703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356616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356616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389534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4600" y="411480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411480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444398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4663440"/>
            <a:ext cx="2834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02A4C"/>
                </a:solidFill>
                <a:latin typeface="Calibri"/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663440"/>
            <a:ext cx="42062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Literatür Taraması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60" y="4992624"/>
            <a:ext cx="4297680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14600" y="5440680"/>
            <a:ext cx="27432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0" y="5797296"/>
            <a:ext cx="6126480" cy="12801"/>
          </a:xfrm>
          <a:prstGeom prst="rect">
            <a:avLst/>
          </a:prstGeom>
          <a:solidFill>
            <a:srgbClr val="24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5852160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A7480"/>
                </a:solidFill>
                <a:latin typeface="Calibri"/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