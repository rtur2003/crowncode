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02 — Literatür Taraması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D8"/>
                </a:solidFill>
              </a:rPr>
              <a:t>Kapsam ve yöntem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Taranan kaynak sayısı :  39 makale (2020-2026)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Güncel oran           :  %74 son 5 yıl içinde yayımlanmış (GUJSA eşiği: %30)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3 ana araştırma alanı: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  1.  Ses Derin Sahte Tespiti (Audio Deepfake Detection)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  2.  GenAI Müzik Üretici Sistemleri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  3.  GenAI Müzik Tespitinde Güncel Gelişmeler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Temel tespit: Müzik için ensemble + SHAP yaklaşımı literatürde henüz yok.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Alan 1: Ses Derin Sahte Tespiti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600200"/>
            <a:ext cx="256032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59" y="1627632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Model / Çalışma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00200"/>
            <a:ext cx="228600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62763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Yazarlar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1600200"/>
            <a:ext cx="109728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627632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Yıl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594360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27632"/>
            <a:ext cx="5852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Katkı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29968"/>
            <a:ext cx="2560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" y="2139696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AASIST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029968"/>
            <a:ext cx="2286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13969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Jung vd.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2029968"/>
            <a:ext cx="10972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139696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2022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029968"/>
            <a:ext cx="59436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13969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Spektro-temporal GAT — ASVspoof 2019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88336"/>
            <a:ext cx="256032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" y="2798064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RawNet2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688336"/>
            <a:ext cx="228600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7980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Tak vd.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2688336"/>
            <a:ext cx="109728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2798064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2021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688336"/>
            <a:ext cx="594360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798064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Ham dalga formu, uçtan uca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46704"/>
            <a:ext cx="2560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59" y="3456432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wav2vec 2.0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3346704"/>
            <a:ext cx="2286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345643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Baevski vd.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57800" y="3346704"/>
            <a:ext cx="10972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3456432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2020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346704"/>
            <a:ext cx="59436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456432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Öz-denetimli temsil öğrenmesi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005072"/>
            <a:ext cx="256032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59" y="4114800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WavLM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4005072"/>
            <a:ext cx="228600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71800" y="41148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Chen vd.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57800" y="4005072"/>
            <a:ext cx="109728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0" y="4114800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2022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005072"/>
            <a:ext cx="594360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11480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Maskelenmiş öngörüyle ön eğitim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663440"/>
            <a:ext cx="2560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59" y="4773168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ADD 2022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4663440"/>
            <a:ext cx="2286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1800" y="477316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Yi vd.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57800" y="4663440"/>
            <a:ext cx="10972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0" y="4773168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2022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663440"/>
            <a:ext cx="59436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477316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İlk YZ ses sentezi tespit yarışması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321808"/>
            <a:ext cx="256032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59" y="5431536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ASVspoof 2019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26080" y="5321808"/>
            <a:ext cx="228600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71800" y="543153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Wang vd.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5321808"/>
            <a:ext cx="109728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0" y="5431536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2020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5321808"/>
            <a:ext cx="594360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543153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64k örnekli büyük ölçekli benchmark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Alan 2-3: YZ Müzik ve Tespit + Boşluk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YZ Müzik Üretici Sistemler: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MusicGen (Copet vd., 2023) — Meta, transformer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AudioLDM (Liu vd., 2023) — latent diffusion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Suno / Udio — ticari sistemler, 2024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Tespit Çalışmaları: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Afchar vd. (ICASSP 2025) — MFCC+CNN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Cros Vila vd. (TISMIR 2025) — müzik öznitelik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Li vd. (Sci. Rep. 2026) — açıklanabilir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Veri Setleri: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SONICS (ICLR 2025) — 97k şarkı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FakeMusicCaps (J. Imaging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Literatür Boşlukları: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✗  Müzik için topluluk (ensemble) yok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✗  47 boyutlu heterojen öznitelik yok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✗  Kaynak bazlı performans analizi yok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✗  SHAP açıklanabilirlik uygulanmamış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✗  Youden J eşik optimizasyonu yok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AURIS bu 5 boşluğu dolduruyor.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Referans sayısı: 39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Güncel oran   : %74 (2021-2026)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BM498 — 02: Literatür Taraması Sunumu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005840"/>
            <a:ext cx="758952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0" y="1115568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2B55"/>
                </a:solidFill>
              </a:rPr>
              <a:t>ÖĞRENCİ İMZA SAYFASI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691640"/>
            <a:ext cx="7406640" cy="0"/>
          </a:xfrm>
          <a:prstGeom prst="rect">
            <a:avLst/>
          </a:prstGeom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87451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Öğrenci Adı Soyadı: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87451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Hasan Arthur Altuntaş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221284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423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Öğrenci Numarası: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4231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276148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971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Bölüm: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971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Bilgisayar Mühendisliği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331012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52043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Danışman: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52043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85876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06907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Sunum Tarihi: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06907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4407407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46177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Sunum Adı: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6177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Literatür Taraması Sunumu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495604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53949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İmza: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5742432"/>
            <a:ext cx="6080760" cy="0"/>
          </a:xfrm>
          <a:prstGeom prst="rect">
            <a:avLst/>
          </a:prstGeom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5797296"/>
            <a:ext cx="6080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</a:rPr>
              <a:t>(Öğrenci bu alanı imzalayarak sunumun kendisine ait olduğunu onaylar.)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