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A4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4434840"/>
            <a:ext cx="12188952" cy="54864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11887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8000" b="1" i="0">
                <a:solidFill>
                  <a:srgbClr val="D99A07"/>
                </a:solidFill>
                <a:latin typeface="Calibri"/>
              </a:rPr>
              <a:t>AURIS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57400"/>
            <a:ext cx="1124712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Calibri"/>
              </a:rPr>
              <a:t>Yapay Zekâ Üretimi Müziklerin Tespiti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24912"/>
            <a:ext cx="1124712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1500" b="0" i="0">
                <a:solidFill>
                  <a:srgbClr val="ADC4D6"/>
                </a:solidFill>
                <a:latin typeface="Calibri"/>
              </a:rPr>
              <a:t>İki Dönemlik Gelişim: Çok Platformlu Sistemden Akademik Yayına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291840"/>
            <a:ext cx="1124712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1500" b="0" i="1">
                <a:solidFill>
                  <a:srgbClr val="7E9AB4"/>
                </a:solidFill>
                <a:latin typeface="Calibri"/>
              </a:rPr>
              <a:t>Genel Tanıtım Sunumu — Baştan Sona Proje Hikâyesi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709160"/>
            <a:ext cx="1124712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Hasan Arthur Altuntaş  ·  221001047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166360"/>
            <a:ext cx="11247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1300" b="0" i="0">
                <a:solidFill>
                  <a:srgbClr val="ADC4D6"/>
                </a:solidFill>
                <a:latin typeface="Calibri"/>
              </a:rPr>
              <a:t>Düzce Üniversitesi · Bilgisayar Mühendisliği · 2025-2026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806440"/>
            <a:ext cx="11247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1200" b="0" i="0">
                <a:solidFill>
                  <a:srgbClr val="5E7A94"/>
                </a:solidFill>
                <a:latin typeface="Calibri"/>
              </a:rPr>
              <a:t>Danışman: Dr. Öğr. Üyesi Büşra TAKGİL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371600"/>
            <a:ext cx="12188952" cy="50292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1371600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100584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50" b="1" i="0">
                <a:solidFill>
                  <a:srgbClr val="D99A07"/>
                </a:solidFill>
                <a:latin typeface="Calibri"/>
              </a:rPr>
              <a:t>TEK BAKIŞTA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20624"/>
            <a:ext cx="113385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  <a:latin typeface="Calibri"/>
              </a:rPr>
              <a:t>AURIS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024128"/>
            <a:ext cx="1133856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0" i="0">
                <a:solidFill>
                  <a:srgbClr val="ADC4D6"/>
                </a:solidFill>
                <a:latin typeface="Calibri"/>
              </a:rPr>
              <a:t>Üç cümlede projenin tamamı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600200"/>
            <a:ext cx="11457432" cy="1554480"/>
          </a:xfrm>
          <a:prstGeom prst="rect">
            <a:avLst/>
          </a:prstGeom>
          <a:solidFill>
            <a:srgbClr val="E2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600200"/>
            <a:ext cx="91440" cy="1554480"/>
          </a:xfrm>
          <a:prstGeom prst="rect">
            <a:avLst/>
          </a:prstGeom>
          <a:solidFill>
            <a:srgbClr val="0A8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5216" y="1719072"/>
            <a:ext cx="1109167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1" i="0">
                <a:solidFill>
                  <a:srgbClr val="102A4C"/>
                </a:solidFill>
                <a:latin typeface="Calibri"/>
              </a:rPr>
              <a:t>Problem → Çözüm → Ürün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2148840"/>
            <a:ext cx="11073384" cy="896112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42A30"/>
                </a:solidFill>
                <a:latin typeface="Calibri"/>
              </a:rPr>
              <a:t>Suno, Udio ve MusicGen gibi araçlar insan kaydından ayırt edilemeyen müzik üretiyor; AURIS bu müzikleri akustik özniteliklere ve makine öğrenmesine dayanarak tespit ediyor ve sonucu web ile mobil üzerinden saniyeler içinde kullanıcıya sunuyor.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3429000"/>
            <a:ext cx="3611880" cy="2606040"/>
          </a:xfrm>
          <a:prstGeom prst="rect">
            <a:avLst/>
          </a:prstGeom>
          <a:solidFill>
            <a:srgbClr val="FFFFFF"/>
          </a:solidFill>
          <a:ln w="15240">
            <a:solidFill>
              <a:srgbClr val="0A8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65760" y="3429000"/>
            <a:ext cx="3611880" cy="566928"/>
          </a:xfrm>
          <a:prstGeom prst="rect">
            <a:avLst/>
          </a:prstGeom>
          <a:solidFill>
            <a:srgbClr val="0A8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3429000"/>
            <a:ext cx="333756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Akademik Çekirdek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4160520"/>
            <a:ext cx="3291840" cy="1783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50" b="0" i="0">
                <a:solidFill>
                  <a:srgbClr val="242A30"/>
                </a:solidFill>
                <a:latin typeface="Calibri"/>
              </a:rPr>
              <a:t>47 boyutlu akustik öznitelik + 11 modelli topluluk öğrenmesi; LightGBM lider (ROC-AUC 0,9548).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87952" y="3429000"/>
            <a:ext cx="3611880" cy="2606040"/>
          </a:xfrm>
          <a:prstGeom prst="rect">
            <a:avLst/>
          </a:prstGeom>
          <a:solidFill>
            <a:srgbClr val="FFFFFF"/>
          </a:solidFill>
          <a:ln w="15240">
            <a:solidFill>
              <a:srgbClr val="2E5A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187952" y="3429000"/>
            <a:ext cx="3611880" cy="566928"/>
          </a:xfrm>
          <a:prstGeom prst="rect">
            <a:avLst/>
          </a:prstGeom>
          <a:solidFill>
            <a:srgbClr val="2E5A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25112" y="3429000"/>
            <a:ext cx="333756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Çok Platformlu Ürün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52544" y="4160520"/>
            <a:ext cx="3291840" cy="1783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50" b="0" i="0">
                <a:solidFill>
                  <a:srgbClr val="242A30"/>
                </a:solidFill>
                <a:latin typeface="Calibri"/>
              </a:rPr>
              <a:t>Next.js web arayüzü, Kotlin/Compose mobil uygulama, FastAPI backend ile uçtan uca sistem.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10144" y="3429000"/>
            <a:ext cx="3611880" cy="2606040"/>
          </a:xfrm>
          <a:prstGeom prst="rect">
            <a:avLst/>
          </a:prstGeom>
          <a:solidFill>
            <a:srgbClr val="FFFFFF"/>
          </a:solidFill>
          <a:ln w="15240">
            <a:solidFill>
              <a:srgbClr val="8A6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10144" y="3429000"/>
            <a:ext cx="3611880" cy="566928"/>
          </a:xfrm>
          <a:prstGeom prst="rect">
            <a:avLst/>
          </a:prstGeom>
          <a:solidFill>
            <a:srgbClr val="8A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47304" y="3429000"/>
            <a:ext cx="333756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Açıklanabilirlik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74736" y="4160520"/>
            <a:ext cx="3291840" cy="1783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50" b="0" i="0">
                <a:solidFill>
                  <a:srgbClr val="242A30"/>
                </a:solidFill>
                <a:latin typeface="Calibri"/>
              </a:rPr>
              <a:t>TreeSHAP ile her karar 'neden YZ / neden insan' sorusunu yanıtlıyor — kara kutu değil.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6419088"/>
            <a:ext cx="11457432" cy="10972"/>
          </a:xfrm>
          <a:prstGeom prst="rect">
            <a:avLst/>
          </a:prstGeom>
          <a:solidFill>
            <a:srgbClr val="D2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6473952"/>
            <a:ext cx="420624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900" b="0" i="0">
                <a:solidFill>
                  <a:srgbClr val="6A7480"/>
                </a:solidFill>
                <a:latin typeface="Calibri"/>
              </a:rPr>
              <a:t>AURIS · YZ Üretimli Müzik Tespiti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63440" y="6473952"/>
            <a:ext cx="715975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900" b="0" i="0">
                <a:solidFill>
                  <a:srgbClr val="6A7480"/>
                </a:solidFill>
                <a:latin typeface="Calibri"/>
              </a:rPr>
              <a:t>Hasan Arthur Altuntaş  ·  BM498  ·  Düzce Üniversitesi  ·  2025-2026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371600"/>
            <a:ext cx="12188952" cy="50292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1371600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100584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50" b="1" i="0">
                <a:solidFill>
                  <a:srgbClr val="D99A07"/>
                </a:solidFill>
                <a:latin typeface="Calibri"/>
              </a:rPr>
              <a:t>YOL HARITASI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20624"/>
            <a:ext cx="113385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  <a:latin typeface="Calibri"/>
              </a:rPr>
              <a:t>Bugün Ne Anlatacağım?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024128"/>
            <a:ext cx="1133856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0" i="0">
                <a:solidFill>
                  <a:srgbClr val="ADC4D6"/>
                </a:solidFill>
                <a:latin typeface="Calibri"/>
              </a:rPr>
              <a:t>Baştan sona: geçen dönem ne yaptım, bu dönem ne ekledim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737360"/>
            <a:ext cx="5577840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0A8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737360"/>
            <a:ext cx="731520" cy="786384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737360"/>
            <a:ext cx="731520" cy="7863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2200" b="1" i="0">
                <a:solidFill>
                  <a:srgbClr val="D99A07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1828800"/>
            <a:ext cx="461772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1" i="0">
                <a:solidFill>
                  <a:srgbClr val="102A4C"/>
                </a:solidFill>
                <a:latin typeface="Calibri"/>
              </a:rPr>
              <a:t>Proje Hikâyesi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2157984"/>
            <a:ext cx="461772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050" b="0" i="0">
                <a:solidFill>
                  <a:srgbClr val="242A30"/>
                </a:solidFill>
                <a:latin typeface="Calibri"/>
              </a:rPr>
              <a:t>İki dönemlik gelişim çizelgesi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633472"/>
            <a:ext cx="5577840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0A8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65760" y="2633472"/>
            <a:ext cx="731520" cy="786384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2633472"/>
            <a:ext cx="731520" cy="7863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2200" b="1" i="0">
                <a:solidFill>
                  <a:srgbClr val="D99A07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2724912"/>
            <a:ext cx="461772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1" i="0">
                <a:solidFill>
                  <a:srgbClr val="102A4C"/>
                </a:solidFill>
                <a:latin typeface="Calibri"/>
              </a:rPr>
              <a:t>Geçen Dönem (BM401)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3054096"/>
            <a:ext cx="461772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050" b="0" i="0">
                <a:solidFill>
                  <a:srgbClr val="242A30"/>
                </a:solidFill>
                <a:latin typeface="Calibri"/>
              </a:rPr>
              <a:t>wav2vec2 hibrit + web + mobil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529584"/>
            <a:ext cx="5577840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0A8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65760" y="3529584"/>
            <a:ext cx="731520" cy="786384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" y="3529584"/>
            <a:ext cx="731520" cy="7863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2200" b="1" i="0">
                <a:solidFill>
                  <a:srgbClr val="D99A07"/>
                </a:solidFill>
                <a:latin typeface="Calibr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34440" y="3621024"/>
            <a:ext cx="461772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1" i="0">
                <a:solidFill>
                  <a:srgbClr val="102A4C"/>
                </a:solidFill>
                <a:latin typeface="Calibri"/>
              </a:rPr>
              <a:t>Bu Dönem (BM498)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" y="3950208"/>
            <a:ext cx="461772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050" b="0" i="0">
                <a:solidFill>
                  <a:srgbClr val="242A30"/>
                </a:solidFill>
                <a:latin typeface="Calibri"/>
              </a:rPr>
              <a:t>47 öznitelik + 11 model topluluk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4425696"/>
            <a:ext cx="5577840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0A8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65760" y="4425696"/>
            <a:ext cx="731520" cy="786384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4425696"/>
            <a:ext cx="731520" cy="7863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2200" b="1" i="0">
                <a:solidFill>
                  <a:srgbClr val="D99A07"/>
                </a:solidFill>
                <a:latin typeface="Calibr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34440" y="4517136"/>
            <a:ext cx="461772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1" i="0">
                <a:solidFill>
                  <a:srgbClr val="102A4C"/>
                </a:solidFill>
                <a:latin typeface="Calibri"/>
              </a:rPr>
              <a:t>Sistem Mimarisi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34440" y="4846320"/>
            <a:ext cx="461772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050" b="0" i="0">
                <a:solidFill>
                  <a:srgbClr val="242A30"/>
                </a:solidFill>
                <a:latin typeface="Calibri"/>
              </a:rPr>
              <a:t>Web + Mobil + Backend nasıl birleşiyor?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" y="5321808"/>
            <a:ext cx="5577840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0A8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65760" y="5321808"/>
            <a:ext cx="731520" cy="786384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5760" y="5321808"/>
            <a:ext cx="731520" cy="7863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2200" b="1" i="0">
                <a:solidFill>
                  <a:srgbClr val="D99A07"/>
                </a:solidFill>
                <a:latin typeface="Calibri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34440" y="5413248"/>
            <a:ext cx="461772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1" i="0">
                <a:solidFill>
                  <a:srgbClr val="102A4C"/>
                </a:solidFill>
                <a:latin typeface="Calibri"/>
              </a:rPr>
              <a:t>Veri ve Öznitelikler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34440" y="5742432"/>
            <a:ext cx="461772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050" b="0" i="0">
                <a:solidFill>
                  <a:srgbClr val="242A30"/>
                </a:solidFill>
                <a:latin typeface="Calibri"/>
              </a:rPr>
              <a:t>5.195 örnek, neden 47 öznitelik?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172200" y="1737360"/>
            <a:ext cx="5577840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0A8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172200" y="1737360"/>
            <a:ext cx="731520" cy="786384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172200" y="1737360"/>
            <a:ext cx="731520" cy="7863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2200" b="1" i="0">
                <a:solidFill>
                  <a:srgbClr val="D99A07"/>
                </a:solidFill>
                <a:latin typeface="Calibri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040880" y="1828800"/>
            <a:ext cx="461772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1" i="0">
                <a:solidFill>
                  <a:srgbClr val="102A4C"/>
                </a:solidFill>
                <a:latin typeface="Calibri"/>
              </a:rPr>
              <a:t>Model Seçimi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40880" y="2157984"/>
            <a:ext cx="461772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050" b="0" i="0">
                <a:solidFill>
                  <a:srgbClr val="242A30"/>
                </a:solidFill>
                <a:latin typeface="Calibri"/>
              </a:rPr>
              <a:t>11 model denedim, neyi neden seçtim?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172200" y="2633472"/>
            <a:ext cx="5577840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0A8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172200" y="2633472"/>
            <a:ext cx="731520" cy="786384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172200" y="2633472"/>
            <a:ext cx="731520" cy="7863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2200" b="1" i="0">
                <a:solidFill>
                  <a:srgbClr val="D99A07"/>
                </a:solidFill>
                <a:latin typeface="Calibri"/>
              </a:rPr>
              <a:t>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40880" y="2724912"/>
            <a:ext cx="461772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1" i="0">
                <a:solidFill>
                  <a:srgbClr val="102A4C"/>
                </a:solidFill>
                <a:latin typeface="Calibri"/>
              </a:rPr>
              <a:t>Sonuçlar ve SHAP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040880" y="3054096"/>
            <a:ext cx="461772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050" b="0" i="0">
                <a:solidFill>
                  <a:srgbClr val="242A30"/>
                </a:solidFill>
                <a:latin typeface="Calibri"/>
              </a:rPr>
              <a:t>Performans, açıklanabilirlik, dürüst analiz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172200" y="3529584"/>
            <a:ext cx="5577840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0A8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172200" y="3529584"/>
            <a:ext cx="731520" cy="786384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172200" y="3529584"/>
            <a:ext cx="731520" cy="7863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2200" b="1" i="0">
                <a:solidFill>
                  <a:srgbClr val="D99A07"/>
                </a:solidFill>
                <a:latin typeface="Calibri"/>
              </a:rPr>
              <a:t>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040880" y="3621024"/>
            <a:ext cx="461772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1" i="0">
                <a:solidFill>
                  <a:srgbClr val="102A4C"/>
                </a:solidFill>
                <a:latin typeface="Calibri"/>
              </a:rPr>
              <a:t>Arayüzler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040880" y="3950208"/>
            <a:ext cx="461772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050" b="0" i="0">
                <a:solidFill>
                  <a:srgbClr val="242A30"/>
                </a:solidFill>
                <a:latin typeface="Calibri"/>
              </a:rPr>
              <a:t>Gerçek web ve mobil ekranlar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172200" y="4425696"/>
            <a:ext cx="5577840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0A8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172200" y="4425696"/>
            <a:ext cx="731520" cy="786384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172200" y="4425696"/>
            <a:ext cx="731520" cy="7863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2200" b="1" i="0">
                <a:solidFill>
                  <a:srgbClr val="D99A07"/>
                </a:solidFill>
                <a:latin typeface="Calibri"/>
              </a:rPr>
              <a:t>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040880" y="4517136"/>
            <a:ext cx="461772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1" i="0">
                <a:solidFill>
                  <a:srgbClr val="102A4C"/>
                </a:solidFill>
                <a:latin typeface="Calibri"/>
              </a:rPr>
              <a:t>Literatür Karşılaştırması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040880" y="4846320"/>
            <a:ext cx="461772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050" b="0" i="0">
                <a:solidFill>
                  <a:srgbClr val="242A30"/>
                </a:solidFill>
                <a:latin typeface="Calibri"/>
              </a:rPr>
              <a:t>AURIS rakiplerine göre nerede?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172200" y="5321808"/>
            <a:ext cx="5577840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0A8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6172200" y="5321808"/>
            <a:ext cx="731520" cy="786384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172200" y="5321808"/>
            <a:ext cx="731520" cy="7863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2200" b="1" i="0">
                <a:solidFill>
                  <a:srgbClr val="D99A07"/>
                </a:solidFill>
                <a:latin typeface="Calibri"/>
              </a:rPr>
              <a:t>10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040880" y="5413248"/>
            <a:ext cx="461772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1" i="0">
                <a:solidFill>
                  <a:srgbClr val="102A4C"/>
                </a:solidFill>
                <a:latin typeface="Calibri"/>
              </a:rPr>
              <a:t>Kısıtlar ve Gelecek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040880" y="5742432"/>
            <a:ext cx="461772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050" b="0" i="0">
                <a:solidFill>
                  <a:srgbClr val="242A30"/>
                </a:solidFill>
                <a:latin typeface="Calibri"/>
              </a:rPr>
              <a:t>Ne eksik, sırada ne var?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65760" y="6419088"/>
            <a:ext cx="11457432" cy="10972"/>
          </a:xfrm>
          <a:prstGeom prst="rect">
            <a:avLst/>
          </a:prstGeom>
          <a:solidFill>
            <a:srgbClr val="D2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65760" y="6473952"/>
            <a:ext cx="420624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900" b="0" i="0">
                <a:solidFill>
                  <a:srgbClr val="6A7480"/>
                </a:solidFill>
                <a:latin typeface="Calibri"/>
              </a:rPr>
              <a:t>AURIS · YZ Üretimli Müzik Tespiti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663440" y="6473952"/>
            <a:ext cx="715975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900" b="0" i="0">
                <a:solidFill>
                  <a:srgbClr val="6A7480"/>
                </a:solidFill>
                <a:latin typeface="Calibri"/>
              </a:rPr>
              <a:t>Hasan Arthur Altuntaş  ·  BM498  ·  Düzce Üniversitesi  ·  2025-2026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371600"/>
            <a:ext cx="12188952" cy="50292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1371600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100584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50" b="1" i="0">
                <a:solidFill>
                  <a:srgbClr val="D99A07"/>
                </a:solidFill>
                <a:latin typeface="Calibri"/>
              </a:rPr>
              <a:t>1 · PROJE HIKÂYESI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20624"/>
            <a:ext cx="113385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  <a:latin typeface="Calibri"/>
              </a:rPr>
              <a:t>AURIS Nasıl Gelişti? — İki Dönemlik Yolculuk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024128"/>
            <a:ext cx="1133856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0" i="0">
                <a:solidFill>
                  <a:srgbClr val="ADC4D6"/>
                </a:solidFill>
                <a:latin typeface="Calibri"/>
              </a:rPr>
              <a:t>Çalışan bir üründen akademik olarak sağlam bir sisteme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3337560"/>
            <a:ext cx="10332720" cy="54864"/>
          </a:xfrm>
          <a:prstGeom prst="rect">
            <a:avLst/>
          </a:prstGeom>
          <a:solidFill>
            <a:srgbClr val="2E5A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0431" y="3200400"/>
            <a:ext cx="329184" cy="329184"/>
          </a:xfrm>
          <a:prstGeom prst="rect">
            <a:avLst/>
          </a:prstGeom>
          <a:solidFill>
            <a:srgbClr val="0A8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82879" y="1691640"/>
            <a:ext cx="3108960" cy="1280160"/>
          </a:xfrm>
          <a:prstGeom prst="rect">
            <a:avLst/>
          </a:prstGeom>
          <a:solidFill>
            <a:srgbClr val="FFFFFF"/>
          </a:solidFill>
          <a:ln w="16510">
            <a:solidFill>
              <a:srgbClr val="0A8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82879" y="1691640"/>
            <a:ext cx="3108960" cy="566928"/>
          </a:xfrm>
          <a:prstGeom prst="rect">
            <a:avLst/>
          </a:prstGeom>
          <a:solidFill>
            <a:srgbClr val="0A8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82879" y="1691640"/>
            <a:ext cx="310896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Calibri"/>
              </a:rPr>
              <a:t>2025 Güz
BM401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" y="2304288"/>
            <a:ext cx="301752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300" b="1" i="0">
                <a:solidFill>
                  <a:srgbClr val="0A808C"/>
                </a:solidFill>
                <a:latin typeface="Calibri"/>
              </a:rPr>
              <a:t>Proje Tasarımı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82879" y="3703320"/>
            <a:ext cx="3108960" cy="1965960"/>
          </a:xfrm>
          <a:prstGeom prst="rect">
            <a:avLst/>
          </a:prstGeom>
          <a:solidFill>
            <a:srgbClr val="EAEEF2"/>
          </a:solidFill>
          <a:ln w="12700">
            <a:solidFill>
              <a:srgbClr val="0A8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0039" y="3840480"/>
            <a:ext cx="2834640" cy="17373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Çok platformlu sistem
wav2vec2 + LightGBM
Web + Mobil + Backend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53712" y="3200400"/>
            <a:ext cx="329184" cy="329184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566159" y="1691640"/>
            <a:ext cx="3108960" cy="1280160"/>
          </a:xfrm>
          <a:prstGeom prst="rect">
            <a:avLst/>
          </a:prstGeom>
          <a:solidFill>
            <a:srgbClr val="FFFFFF"/>
          </a:solidFill>
          <a:ln w="16510">
            <a:solidFill>
              <a:srgbClr val="D99A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66159" y="1691640"/>
            <a:ext cx="3108960" cy="566928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66159" y="1691640"/>
            <a:ext cx="310896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Calibri"/>
              </a:rPr>
              <a:t>2025-26 Kış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11879" y="2304288"/>
            <a:ext cx="301752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300" b="1" i="0">
                <a:solidFill>
                  <a:srgbClr val="D99A07"/>
                </a:solidFill>
                <a:latin typeface="Calibri"/>
              </a:rPr>
              <a:t>Akademik Derinleşme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66159" y="3703320"/>
            <a:ext cx="3108960" cy="1965960"/>
          </a:xfrm>
          <a:prstGeom prst="rect">
            <a:avLst/>
          </a:prstGeom>
          <a:solidFill>
            <a:srgbClr val="EAEEF2"/>
          </a:solidFill>
          <a:ln w="12700">
            <a:solidFill>
              <a:srgbClr val="D99A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703320" y="3840480"/>
            <a:ext cx="2834640" cy="17373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47 öznitelik tasarımı
11 model karşılaştırması
5-katlı çapraz doğrulama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936992" y="3200400"/>
            <a:ext cx="329184" cy="329184"/>
          </a:xfrm>
          <a:prstGeom prst="rect">
            <a:avLst/>
          </a:prstGeom>
          <a:solidFill>
            <a:srgbClr val="1B6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949440" y="1691640"/>
            <a:ext cx="3108960" cy="1280160"/>
          </a:xfrm>
          <a:prstGeom prst="rect">
            <a:avLst/>
          </a:prstGeom>
          <a:solidFill>
            <a:srgbClr val="FFFFFF"/>
          </a:solidFill>
          <a:ln w="16510">
            <a:solidFill>
              <a:srgbClr val="1B6E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949440" y="1691640"/>
            <a:ext cx="3108960" cy="566928"/>
          </a:xfrm>
          <a:prstGeom prst="rect">
            <a:avLst/>
          </a:prstGeom>
          <a:solidFill>
            <a:srgbClr val="1B6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49440" y="1691640"/>
            <a:ext cx="310896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Calibri"/>
              </a:rPr>
              <a:t>2026 Bahar
BM498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95160" y="2304288"/>
            <a:ext cx="301752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300" b="1" i="0">
                <a:solidFill>
                  <a:srgbClr val="1B6E3C"/>
                </a:solidFill>
                <a:latin typeface="Calibri"/>
              </a:rPr>
              <a:t>Mezuniyet Tezi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949440" y="3703320"/>
            <a:ext cx="3108960" cy="1965960"/>
          </a:xfrm>
          <a:prstGeom prst="rect">
            <a:avLst/>
          </a:prstGeom>
          <a:solidFill>
            <a:srgbClr val="EAEEF2"/>
          </a:solidFill>
          <a:ln w="12700">
            <a:solidFill>
              <a:srgbClr val="1B6E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86600" y="3840480"/>
            <a:ext cx="2834640" cy="17373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GUJSA makalesi
SHAP açıklanabilirlik
Teslim ve savunma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" y="6419088"/>
            <a:ext cx="11457432" cy="10972"/>
          </a:xfrm>
          <a:prstGeom prst="rect">
            <a:avLst/>
          </a:prstGeom>
          <a:solidFill>
            <a:srgbClr val="D2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5760" y="6473952"/>
            <a:ext cx="420624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900" b="0" i="0">
                <a:solidFill>
                  <a:srgbClr val="6A7480"/>
                </a:solidFill>
                <a:latin typeface="Calibri"/>
              </a:rPr>
              <a:t>AURIS · YZ Üretimli Müzik Tespiti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63440" y="6473952"/>
            <a:ext cx="715975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900" b="0" i="0">
                <a:solidFill>
                  <a:srgbClr val="6A7480"/>
                </a:solidFill>
                <a:latin typeface="Calibri"/>
              </a:rPr>
              <a:t>Hasan Arthur Altuntaş  ·  BM498  ·  Düzce Üniversitesi  ·  2025-2026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371600"/>
            <a:ext cx="12188952" cy="50292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1371600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100584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50" b="1" i="0">
                <a:solidFill>
                  <a:srgbClr val="D99A07"/>
                </a:solidFill>
                <a:latin typeface="Calibri"/>
              </a:rPr>
              <a:t>2 · GEÇEN DÖNEM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20624"/>
            <a:ext cx="113385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  <a:latin typeface="Calibri"/>
              </a:rPr>
              <a:t>BM401 Proje Tasarımı — Temeli Attım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024128"/>
            <a:ext cx="1133856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0" i="0">
                <a:solidFill>
                  <a:srgbClr val="ADC4D6"/>
                </a:solidFill>
                <a:latin typeface="Calibri"/>
              </a:rPr>
              <a:t>wav2vec2 tabanlı hibrit model + çok platformlu ürün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600200"/>
            <a:ext cx="5623560" cy="2194560"/>
          </a:xfrm>
          <a:prstGeom prst="rect">
            <a:avLst/>
          </a:prstGeom>
          <a:solidFill>
            <a:srgbClr val="E2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600200"/>
            <a:ext cx="91440" cy="2194560"/>
          </a:xfrm>
          <a:prstGeom prst="rect">
            <a:avLst/>
          </a:prstGeom>
          <a:solidFill>
            <a:srgbClr val="0A8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5216" y="1719072"/>
            <a:ext cx="52578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1" i="0">
                <a:solidFill>
                  <a:srgbClr val="102A4C"/>
                </a:solidFill>
                <a:latin typeface="Calibri"/>
              </a:rPr>
              <a:t>Ne yaptım?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2148840"/>
            <a:ext cx="5239512" cy="1536192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42A30"/>
                </a:solidFill>
                <a:latin typeface="Calibri"/>
              </a:rPr>
              <a:t>wav2vec2 (Facebook AI) ile ham sesten 768 boyutlu derin temsil çıkardım.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42A30"/>
                </a:solidFill>
                <a:latin typeface="Calibri"/>
              </a:rPr>
              <a:t>Üzerine LightGBM sınıflandırıcı koyarak hibrit bir model kurdum.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42A30"/>
                </a:solidFill>
                <a:latin typeface="Calibri"/>
              </a:rPr>
              <a:t>Web (Next.js), mobil (Kotlin) ve backend (FastAPI) ile uçtan uca çalışan bir ürün geliştirdim.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3977639"/>
            <a:ext cx="5623560" cy="2057400"/>
          </a:xfrm>
          <a:prstGeom prst="rect">
            <a:avLst/>
          </a:prstGeom>
          <a:solidFill>
            <a:srgbClr val="FFF3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65760" y="3977639"/>
            <a:ext cx="91440" cy="2057400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5216" y="4096511"/>
            <a:ext cx="52578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1" i="0">
                <a:solidFill>
                  <a:srgbClr val="102A4C"/>
                </a:solidFill>
                <a:latin typeface="Calibri"/>
              </a:rPr>
              <a:t>Ne öğrendim?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" y="4526279"/>
            <a:ext cx="5239512" cy="1399032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42A30"/>
                </a:solidFill>
                <a:latin typeface="Calibri"/>
              </a:rPr>
              <a:t>wav2vec2 güçlü ama ağır — GPU ister, gerçek zamanlı çalışması zor.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42A30"/>
                </a:solidFill>
                <a:latin typeface="Calibri"/>
              </a:rPr>
              <a:t>Çok büyük model her zaman en pratik çözüm değil.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42A30"/>
                </a:solidFill>
                <a:latin typeface="Calibri"/>
              </a:rPr>
              <a:t>Bu, beni bu dönem 'hafif ama etkili' bir yöntem aramaya yönlendirdi.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1600200"/>
            <a:ext cx="55778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1" i="0">
                <a:solidFill>
                  <a:srgbClr val="102A4C"/>
                </a:solidFill>
                <a:latin typeface="Calibri"/>
              </a:rPr>
              <a:t>BM401 Çıktıları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2011680"/>
            <a:ext cx="5577840" cy="694944"/>
          </a:xfrm>
          <a:prstGeom prst="rect">
            <a:avLst/>
          </a:prstGeom>
          <a:solidFill>
            <a:srgbClr val="FFFFFF"/>
          </a:solidFill>
          <a:ln w="12700">
            <a:solidFill>
              <a:srgbClr val="2E5A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2084832"/>
            <a:ext cx="530352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 i="0">
                <a:solidFill>
                  <a:srgbClr val="2E5A7E"/>
                </a:solidFill>
                <a:latin typeface="Calibri"/>
              </a:rPr>
              <a:t>Hibrit Model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2377440"/>
            <a:ext cx="530352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050" b="0" i="0">
                <a:solidFill>
                  <a:srgbClr val="242A30"/>
                </a:solidFill>
                <a:latin typeface="Calibri"/>
              </a:rPr>
              <a:t>wav2vec2 + LightGBM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63640" y="2816352"/>
            <a:ext cx="5577840" cy="694944"/>
          </a:xfrm>
          <a:prstGeom prst="rect">
            <a:avLst/>
          </a:prstGeom>
          <a:solidFill>
            <a:srgbClr val="FFFFFF"/>
          </a:solidFill>
          <a:ln w="12700">
            <a:solidFill>
              <a:srgbClr val="2E5A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0" y="2889504"/>
            <a:ext cx="530352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 i="0">
                <a:solidFill>
                  <a:srgbClr val="2E5A7E"/>
                </a:solidFill>
                <a:latin typeface="Calibri"/>
              </a:rPr>
              <a:t>Web Platformu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3182112"/>
            <a:ext cx="530352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050" b="0" i="0">
                <a:solidFill>
                  <a:srgbClr val="242A30"/>
                </a:solidFill>
                <a:latin typeface="Calibri"/>
              </a:rPr>
              <a:t>Next.js 14 + TypeScript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63640" y="3621024"/>
            <a:ext cx="5577840" cy="694944"/>
          </a:xfrm>
          <a:prstGeom prst="rect">
            <a:avLst/>
          </a:prstGeom>
          <a:solidFill>
            <a:srgbClr val="FFFFFF"/>
          </a:solidFill>
          <a:ln w="12700">
            <a:solidFill>
              <a:srgbClr val="2E5A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3694176"/>
            <a:ext cx="530352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 i="0">
                <a:solidFill>
                  <a:srgbClr val="2E5A7E"/>
                </a:solidFill>
                <a:latin typeface="Calibri"/>
              </a:rPr>
              <a:t>Mobil Uygulama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3986784"/>
            <a:ext cx="530352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050" b="0" i="0">
                <a:solidFill>
                  <a:srgbClr val="242A30"/>
                </a:solidFill>
                <a:latin typeface="Calibri"/>
              </a:rPr>
              <a:t>Kotlin + Jetpack Compose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63640" y="4425696"/>
            <a:ext cx="5577840" cy="694944"/>
          </a:xfrm>
          <a:prstGeom prst="rect">
            <a:avLst/>
          </a:prstGeom>
          <a:solidFill>
            <a:srgbClr val="FFFFFF"/>
          </a:solidFill>
          <a:ln w="12700">
            <a:solidFill>
              <a:srgbClr val="2E5A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4498848"/>
            <a:ext cx="530352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 i="0">
                <a:solidFill>
                  <a:srgbClr val="2E5A7E"/>
                </a:solidFill>
                <a:latin typeface="Calibri"/>
              </a:rPr>
              <a:t>Backend API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4791456"/>
            <a:ext cx="530352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050" b="0" i="0">
                <a:solidFill>
                  <a:srgbClr val="242A30"/>
                </a:solidFill>
                <a:latin typeface="Calibri"/>
              </a:rPr>
              <a:t>Python + FastAPI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63640" y="5230368"/>
            <a:ext cx="5577840" cy="694944"/>
          </a:xfrm>
          <a:prstGeom prst="rect">
            <a:avLst/>
          </a:prstGeom>
          <a:solidFill>
            <a:srgbClr val="FFFFFF"/>
          </a:solidFill>
          <a:ln w="12700">
            <a:solidFill>
              <a:srgbClr val="2E5A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0" y="5303520"/>
            <a:ext cx="530352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 i="0">
                <a:solidFill>
                  <a:srgbClr val="2E5A7E"/>
                </a:solidFill>
                <a:latin typeface="Calibri"/>
              </a:rPr>
              <a:t>Kullanıcı Testi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5596128"/>
            <a:ext cx="530352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050" b="0" i="0">
                <a:solidFill>
                  <a:srgbClr val="242A30"/>
                </a:solidFill>
                <a:latin typeface="Calibri"/>
              </a:rPr>
              <a:t>30 katılımcı, SUS 82,5 puan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5760" y="6419088"/>
            <a:ext cx="11457432" cy="10972"/>
          </a:xfrm>
          <a:prstGeom prst="rect">
            <a:avLst/>
          </a:prstGeom>
          <a:solidFill>
            <a:srgbClr val="D2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65760" y="6473952"/>
            <a:ext cx="420624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900" b="0" i="0">
                <a:solidFill>
                  <a:srgbClr val="6A7480"/>
                </a:solidFill>
                <a:latin typeface="Calibri"/>
              </a:rPr>
              <a:t>AURIS · YZ Üretimli Müzik Tespiti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63440" y="6473952"/>
            <a:ext cx="715975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900" b="0" i="0">
                <a:solidFill>
                  <a:srgbClr val="6A7480"/>
                </a:solidFill>
                <a:latin typeface="Calibri"/>
              </a:rPr>
              <a:t>Hasan Arthur Altuntaş  ·  BM498  ·  Düzce Üniversitesi  ·  2025-2026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371600"/>
            <a:ext cx="12188952" cy="50292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1371600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100584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50" b="1" i="0">
                <a:solidFill>
                  <a:srgbClr val="D99A07"/>
                </a:solidFill>
                <a:latin typeface="Calibri"/>
              </a:rPr>
              <a:t>3 · BU DÖNEM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20624"/>
            <a:ext cx="113385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  <a:latin typeface="Calibri"/>
              </a:rPr>
              <a:t>BM498 Mezuniyet Tezi — Akademik Olarak Derinleştirdim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024128"/>
            <a:ext cx="1133856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0" i="0">
                <a:solidFill>
                  <a:srgbClr val="ADC4D6"/>
                </a:solidFill>
                <a:latin typeface="Calibri"/>
              </a:rPr>
              <a:t>Ağır derin modelden, hafif ve açıklanabilir topluluk öğrenmesine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600200"/>
            <a:ext cx="5623560" cy="2194560"/>
          </a:xfrm>
          <a:prstGeom prst="rect">
            <a:avLst/>
          </a:prstGeom>
          <a:solidFill>
            <a:srgbClr val="E2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600200"/>
            <a:ext cx="91440" cy="2194560"/>
          </a:xfrm>
          <a:prstGeom prst="rect">
            <a:avLst/>
          </a:prstGeom>
          <a:solidFill>
            <a:srgbClr val="0A8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5216" y="1719072"/>
            <a:ext cx="52578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1" i="0">
                <a:solidFill>
                  <a:srgbClr val="102A4C"/>
                </a:solidFill>
                <a:latin typeface="Calibri"/>
              </a:rPr>
              <a:t>Ne değişti?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2148840"/>
            <a:ext cx="5239512" cy="1536192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42A30"/>
                </a:solidFill>
                <a:latin typeface="Calibri"/>
              </a:rPr>
              <a:t>wav2vec2'nin tek başına çıkardığı temsil yerine, 47 boyutlu elle tasarlanmış akustik öznitelik vektörü kurdum.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42A30"/>
                </a:solidFill>
                <a:latin typeface="Calibri"/>
              </a:rPr>
              <a:t>Tek model yerine 11 modeli (7 ML + 4 DL) karşılaştırdım.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42A30"/>
                </a:solidFill>
                <a:latin typeface="Calibri"/>
              </a:rPr>
              <a:t>5-katlı çapraz doğrulama ile güvenilir, varyansı düşük sonuçlar elde ettim.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3977639"/>
            <a:ext cx="5623560" cy="2057400"/>
          </a:xfrm>
          <a:prstGeom prst="rect">
            <a:avLst/>
          </a:prstGeom>
          <a:solidFill>
            <a:srgbClr val="E8F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65760" y="3977639"/>
            <a:ext cx="91440" cy="2057400"/>
          </a:xfrm>
          <a:prstGeom prst="rect">
            <a:avLst/>
          </a:prstGeom>
          <a:solidFill>
            <a:srgbClr val="1B6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5216" y="4096511"/>
            <a:ext cx="52578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1" i="0">
                <a:solidFill>
                  <a:srgbClr val="102A4C"/>
                </a:solidFill>
                <a:latin typeface="Calibri"/>
              </a:rPr>
              <a:t>Neden bu yön?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" y="4526279"/>
            <a:ext cx="5239512" cy="1399032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42A30"/>
                </a:solidFill>
                <a:latin typeface="Calibri"/>
              </a:rPr>
              <a:t>Hafiflik: LightGBM GPU istemiyor, saniyeler içinde sonuç veriyor.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42A30"/>
                </a:solidFill>
                <a:latin typeface="Calibri"/>
              </a:rPr>
              <a:t>Açıklanabilirlik: SHAP ile 'neden bu karar' sorusunu yanıtlayabiliyorum.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42A30"/>
                </a:solidFill>
                <a:latin typeface="Calibri"/>
              </a:rPr>
              <a:t>Bilimsel katkı: çalışma GUJSA'ya gönderilebilir makale formatına ulaştı.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1600200"/>
            <a:ext cx="55778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1" i="0">
                <a:solidFill>
                  <a:srgbClr val="102A4C"/>
                </a:solidFill>
                <a:latin typeface="Calibri"/>
              </a:rPr>
              <a:t>BM498 Çıktıları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2011680"/>
            <a:ext cx="5577840" cy="694944"/>
          </a:xfrm>
          <a:prstGeom prst="rect">
            <a:avLst/>
          </a:prstGeom>
          <a:solidFill>
            <a:srgbClr val="FFFFFF"/>
          </a:solidFill>
          <a:ln w="12700">
            <a:solidFill>
              <a:srgbClr val="1B6E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2084832"/>
            <a:ext cx="530352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 i="0">
                <a:solidFill>
                  <a:srgbClr val="1B6E3C"/>
                </a:solidFill>
                <a:latin typeface="Calibri"/>
              </a:rPr>
              <a:t>47 Öznitelik Vektörü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2377440"/>
            <a:ext cx="530352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050" b="0" i="0">
                <a:solidFill>
                  <a:srgbClr val="242A30"/>
                </a:solidFill>
                <a:latin typeface="Calibri"/>
              </a:rPr>
              <a:t>5 aile: spektral, ritmik, vokal...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63640" y="2816352"/>
            <a:ext cx="5577840" cy="694944"/>
          </a:xfrm>
          <a:prstGeom prst="rect">
            <a:avLst/>
          </a:prstGeom>
          <a:solidFill>
            <a:srgbClr val="FFFFFF"/>
          </a:solidFill>
          <a:ln w="12700">
            <a:solidFill>
              <a:srgbClr val="1B6E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0" y="2889504"/>
            <a:ext cx="530352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 i="0">
                <a:solidFill>
                  <a:srgbClr val="1B6E3C"/>
                </a:solidFill>
                <a:latin typeface="Calibri"/>
              </a:rPr>
              <a:t>11 Modelli Topluluk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3182112"/>
            <a:ext cx="530352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050" b="0" i="0">
                <a:solidFill>
                  <a:srgbClr val="242A30"/>
                </a:solidFill>
                <a:latin typeface="Calibri"/>
              </a:rPr>
              <a:t>LightGBM lider, ROC-AUC 0,9548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63640" y="3621024"/>
            <a:ext cx="5577840" cy="694944"/>
          </a:xfrm>
          <a:prstGeom prst="rect">
            <a:avLst/>
          </a:prstGeom>
          <a:solidFill>
            <a:srgbClr val="FFFFFF"/>
          </a:solidFill>
          <a:ln w="12700">
            <a:solidFill>
              <a:srgbClr val="1B6E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3694176"/>
            <a:ext cx="530352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 i="0">
                <a:solidFill>
                  <a:srgbClr val="1B6E3C"/>
                </a:solidFill>
                <a:latin typeface="Calibri"/>
              </a:rPr>
              <a:t>SHAP Açıklanabilirlik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3986784"/>
            <a:ext cx="530352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050" b="0" i="0">
                <a:solidFill>
                  <a:srgbClr val="242A30"/>
                </a:solidFill>
                <a:latin typeface="Calibri"/>
              </a:rPr>
              <a:t>TreeSHAP global + yerel etki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63640" y="4425696"/>
            <a:ext cx="5577840" cy="694944"/>
          </a:xfrm>
          <a:prstGeom prst="rect">
            <a:avLst/>
          </a:prstGeom>
          <a:solidFill>
            <a:srgbClr val="FFFFFF"/>
          </a:solidFill>
          <a:ln w="12700">
            <a:solidFill>
              <a:srgbClr val="1B6E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4498848"/>
            <a:ext cx="530352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 i="0">
                <a:solidFill>
                  <a:srgbClr val="1B6E3C"/>
                </a:solidFill>
                <a:latin typeface="Calibri"/>
              </a:rPr>
              <a:t>Akademik Makale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4791456"/>
            <a:ext cx="530352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050" b="0" i="0">
                <a:solidFill>
                  <a:srgbClr val="242A30"/>
                </a:solidFill>
                <a:latin typeface="Calibri"/>
              </a:rPr>
              <a:t>GUJSA formatı, 39 referans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63640" y="5230368"/>
            <a:ext cx="5577840" cy="694944"/>
          </a:xfrm>
          <a:prstGeom prst="rect">
            <a:avLst/>
          </a:prstGeom>
          <a:solidFill>
            <a:srgbClr val="FFFFFF"/>
          </a:solidFill>
          <a:ln w="12700">
            <a:solidFill>
              <a:srgbClr val="1B6E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0" y="5303520"/>
            <a:ext cx="530352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 i="0">
                <a:solidFill>
                  <a:srgbClr val="1B6E3C"/>
                </a:solidFill>
                <a:latin typeface="Calibri"/>
              </a:rPr>
              <a:t>Dürüst Tanılama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5596128"/>
            <a:ext cx="530352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050" b="0" i="0">
                <a:solidFill>
                  <a:srgbClr val="242A30"/>
                </a:solidFill>
                <a:latin typeface="Calibri"/>
              </a:rPr>
              <a:t>Aşırı uyum, dağılım kayması analizi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5760" y="6419088"/>
            <a:ext cx="11457432" cy="10972"/>
          </a:xfrm>
          <a:prstGeom prst="rect">
            <a:avLst/>
          </a:prstGeom>
          <a:solidFill>
            <a:srgbClr val="D2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65760" y="6473952"/>
            <a:ext cx="420624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900" b="0" i="0">
                <a:solidFill>
                  <a:srgbClr val="6A7480"/>
                </a:solidFill>
                <a:latin typeface="Calibri"/>
              </a:rPr>
              <a:t>AURIS · YZ Üretimli Müzik Tespiti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63440" y="6473952"/>
            <a:ext cx="715975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900" b="0" i="0">
                <a:solidFill>
                  <a:srgbClr val="6A7480"/>
                </a:solidFill>
                <a:latin typeface="Calibri"/>
              </a:rPr>
              <a:t>Hasan Arthur Altuntaş  ·  BM498  ·  Düzce Üniversitesi  ·  2025-2026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371600"/>
            <a:ext cx="12188952" cy="50292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1371600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100584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50" b="1" i="0">
                <a:solidFill>
                  <a:srgbClr val="D99A07"/>
                </a:solidFill>
                <a:latin typeface="Calibri"/>
              </a:rPr>
              <a:t>KARŞILAŞTIRMA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20624"/>
            <a:ext cx="113385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  <a:latin typeface="Calibri"/>
              </a:rPr>
              <a:t>İki Dönem Yan Yana — Ne Gelişti?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627632"/>
            <a:ext cx="2468880" cy="384048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627632"/>
            <a:ext cx="228600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Boyut</a:t>
            </a:r>
          </a:p>
        </p:txBody>
      </p:sp>
      <p:sp>
        <p:nvSpPr>
          <p:cNvPr id="9" name="Rectangle 8"/>
          <p:cNvSpPr/>
          <p:nvPr/>
        </p:nvSpPr>
        <p:spPr>
          <a:xfrm>
            <a:off x="2834640" y="1627632"/>
            <a:ext cx="4480560" cy="384048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26080" y="1627632"/>
            <a:ext cx="429768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BM401 (Geçen Dönem)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0" y="1627632"/>
            <a:ext cx="4507992" cy="384048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0" y="1627632"/>
            <a:ext cx="4325112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BM498 (Bu Dönem)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011680"/>
            <a:ext cx="246888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2011680"/>
            <a:ext cx="228600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Yöntem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834640" y="2011680"/>
            <a:ext cx="448056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26080" y="2011680"/>
            <a:ext cx="429768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wav2vec2 + LightGBM hibrit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0" y="2011680"/>
            <a:ext cx="4507992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06640" y="2011680"/>
            <a:ext cx="4325112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47 öznitelik + 11 model topluluk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2560320"/>
            <a:ext cx="2468880" cy="548640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2560320"/>
            <a:ext cx="228600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Model ağırlığı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834640" y="2560320"/>
            <a:ext cx="4480560" cy="548640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926080" y="2560320"/>
            <a:ext cx="429768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Ağır (GPU gerekir)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15200" y="2560320"/>
            <a:ext cx="4507992" cy="548640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06640" y="2560320"/>
            <a:ext cx="4325112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Hafif (CPU yeterli)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3108960"/>
            <a:ext cx="246888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3108960"/>
            <a:ext cx="228600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Yaklaşım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834640" y="3108960"/>
            <a:ext cx="448056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926080" y="3108960"/>
            <a:ext cx="429768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Tek derin model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315200" y="3108960"/>
            <a:ext cx="4507992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406640" y="3108960"/>
            <a:ext cx="4325112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Sistematik model karşılaştırması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" y="3657600"/>
            <a:ext cx="2468880" cy="548640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7200" y="3657600"/>
            <a:ext cx="228600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Doğrulama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834640" y="3657600"/>
            <a:ext cx="4480560" cy="548640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926080" y="3657600"/>
            <a:ext cx="429768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Tek bölme (70/15/15)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315200" y="3657600"/>
            <a:ext cx="4507992" cy="548640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406640" y="3657600"/>
            <a:ext cx="4325112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5-katlı çapraz doğrulama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4206240"/>
            <a:ext cx="246888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4206240"/>
            <a:ext cx="228600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Açıklanabilirlik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834640" y="4206240"/>
            <a:ext cx="448056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926080" y="4206240"/>
            <a:ext cx="429768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Yok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315200" y="4206240"/>
            <a:ext cx="4507992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406640" y="4206240"/>
            <a:ext cx="4325112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TreeSHAP ile tam açıklama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4754879"/>
            <a:ext cx="2468880" cy="548640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7200" y="4754879"/>
            <a:ext cx="228600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Çıktı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834640" y="4754879"/>
            <a:ext cx="4480560" cy="548640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926080" y="4754879"/>
            <a:ext cx="429768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Çalışan ürün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315200" y="4754879"/>
            <a:ext cx="4507992" cy="548640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406640" y="4754879"/>
            <a:ext cx="4325112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Ürün + akademik makale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65760" y="5303519"/>
            <a:ext cx="246888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57200" y="5303519"/>
            <a:ext cx="228600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Odak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834640" y="5303519"/>
            <a:ext cx="448056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926080" y="5303519"/>
            <a:ext cx="429768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Mühendislik / ürün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315200" y="5303519"/>
            <a:ext cx="4507992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406640" y="5303519"/>
            <a:ext cx="4325112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Bilimsel sağlamlık / yayın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65760" y="5577840"/>
            <a:ext cx="11457432" cy="777240"/>
          </a:xfrm>
          <a:prstGeom prst="rect">
            <a:avLst/>
          </a:prstGeom>
          <a:solidFill>
            <a:srgbClr val="E2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365760" y="5577840"/>
            <a:ext cx="91440" cy="777240"/>
          </a:xfrm>
          <a:prstGeom prst="rect">
            <a:avLst/>
          </a:prstGeom>
          <a:solidFill>
            <a:srgbClr val="0A8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85216" y="5696712"/>
            <a:ext cx="1109167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1" i="0">
                <a:solidFill>
                  <a:srgbClr val="102A4C"/>
                </a:solidFill>
                <a:latin typeface="Calibri"/>
              </a:rPr>
              <a:t>Özet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85216" y="6126479"/>
            <a:ext cx="11073384" cy="118872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42A30"/>
                </a:solidFill>
                <a:latin typeface="Calibri"/>
              </a:rPr>
              <a:t>Geçen dönem çalışan bir sistem kurdum; bu dönem onu bilimsel olarak sağlamlaştırdım, hafiflettim ve açıklanabilir hâle getirdim. İkisi birlikte AURIS'in tam hikâyesini oluşturuyor.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65760" y="6419088"/>
            <a:ext cx="11457432" cy="10972"/>
          </a:xfrm>
          <a:prstGeom prst="rect">
            <a:avLst/>
          </a:prstGeom>
          <a:solidFill>
            <a:srgbClr val="D2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65760" y="6473952"/>
            <a:ext cx="420624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900" b="0" i="0">
                <a:solidFill>
                  <a:srgbClr val="6A7480"/>
                </a:solidFill>
                <a:latin typeface="Calibri"/>
              </a:rPr>
              <a:t>AURIS · YZ Üretimli Müzik Tespiti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663440" y="6473952"/>
            <a:ext cx="715975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900" b="0" i="0">
                <a:solidFill>
                  <a:srgbClr val="6A7480"/>
                </a:solidFill>
                <a:latin typeface="Calibri"/>
              </a:rPr>
              <a:t>Hasan Arthur Altuntaş  ·  BM498  ·  Düzce Üniversitesi  ·  2025-2026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371600"/>
            <a:ext cx="12188952" cy="50292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1371600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100584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50" b="1" i="0">
                <a:solidFill>
                  <a:srgbClr val="D99A07"/>
                </a:solidFill>
                <a:latin typeface="Calibri"/>
              </a:rPr>
              <a:t>1 · MOTIVASYON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20624"/>
            <a:ext cx="113385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  <a:latin typeface="Calibri"/>
              </a:rPr>
              <a:t>Neden Yapay Zekâ Müzik Tespiti?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600200"/>
            <a:ext cx="6766560" cy="2011680"/>
          </a:xfrm>
          <a:prstGeom prst="rect">
            <a:avLst/>
          </a:prstGeom>
          <a:solidFill>
            <a:srgbClr val="FFF3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600200"/>
            <a:ext cx="91440" cy="2011680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85216" y="1719072"/>
            <a:ext cx="64008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1" i="0">
                <a:solidFill>
                  <a:srgbClr val="102A4C"/>
                </a:solidFill>
                <a:latin typeface="Calibri"/>
              </a:rPr>
              <a:t>Sorun büyüyor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5216" y="2148840"/>
            <a:ext cx="6382512" cy="1353312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42A30"/>
                </a:solidFill>
                <a:latin typeface="Calibri"/>
              </a:rPr>
              <a:t>Üretken yapay zekâ son üç yılda müzik üretimini laboratuvardan herkesin eline taşıdı. Bir metin istemiyle dakikalar içinde, deneyimsiz bir kulağın insan bestesinden ayıramayacağı parçalar üretilebiliyor.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3840480"/>
            <a:ext cx="67665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1" i="0">
                <a:solidFill>
                  <a:srgbClr val="102A4C"/>
                </a:solidFill>
                <a:latin typeface="Calibri"/>
              </a:rPr>
              <a:t>Bu neyi tehdit ediyor?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4297680"/>
            <a:ext cx="6720840" cy="182880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250" b="0" i="0">
                <a:solidFill>
                  <a:srgbClr val="242A30"/>
                </a:solidFill>
                <a:latin typeface="Calibri"/>
              </a:rPr>
              <a:t>•  Telif hakkı ve içerik sahipliği belirsizleşiyor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250" b="0" i="0">
                <a:solidFill>
                  <a:srgbClr val="242A30"/>
                </a:solidFill>
                <a:latin typeface="Calibri"/>
              </a:rPr>
              <a:t>•  Akış platformlarında sahte dinlenme / gelir manipülasyonu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250" b="0" i="0">
                <a:solidFill>
                  <a:srgbClr val="242A30"/>
                </a:solidFill>
                <a:latin typeface="Calibri"/>
              </a:rPr>
              <a:t>•  Dezenformasyon ve sanatçı üslubu taklidi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250" b="0" i="0">
                <a:solidFill>
                  <a:srgbClr val="242A30"/>
                </a:solidFill>
                <a:latin typeface="Calibri"/>
              </a:rPr>
              <a:t>•  Sanatçı emeğinin ekonomik karşılığı eriyor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60920" y="1600200"/>
            <a:ext cx="4462272" cy="4526280"/>
          </a:xfrm>
          <a:prstGeom prst="rect">
            <a:avLst/>
          </a:prstGeom>
          <a:solidFill>
            <a:srgbClr val="E2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360920" y="1600200"/>
            <a:ext cx="91440" cy="4526280"/>
          </a:xfrm>
          <a:prstGeom prst="rect">
            <a:avLst/>
          </a:prstGeom>
          <a:solidFill>
            <a:srgbClr val="0A8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80376" y="1719072"/>
            <a:ext cx="4096511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1" i="0">
                <a:solidFill>
                  <a:srgbClr val="102A4C"/>
                </a:solidFill>
                <a:latin typeface="Calibri"/>
              </a:rPr>
              <a:t>Neden ben bu projeyi seçtim?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80376" y="2148840"/>
            <a:ext cx="4078224" cy="3867912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00" b="0" i="0">
                <a:solidFill>
                  <a:srgbClr val="242A30"/>
                </a:solidFill>
                <a:latin typeface="Calibri"/>
              </a:rPr>
              <a:t>Mevcut çözümlerin çoğu: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00" b="0" i="0">
                <a:solidFill>
                  <a:srgbClr val="242A30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00" b="0" i="0">
                <a:solidFill>
                  <a:srgbClr val="242A30"/>
                </a:solidFill>
                <a:latin typeface="Calibri"/>
              </a:rPr>
              <a:t>✗  Akademik makaleyle sınırlı, son kullanıcıya ulaşmıyor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00" b="0" i="0">
                <a:solidFill>
                  <a:srgbClr val="242A30"/>
                </a:solidFill>
                <a:latin typeface="Calibri"/>
              </a:rPr>
              <a:t>✗  Yüksek işlem gücü istiyor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00" b="0" i="0">
                <a:solidFill>
                  <a:srgbClr val="242A30"/>
                </a:solidFill>
                <a:latin typeface="Calibri"/>
              </a:rPr>
              <a:t>✗  Gerçek zamanlı çalışmıyor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00" b="0" i="0">
                <a:solidFill>
                  <a:srgbClr val="242A30"/>
                </a:solidFill>
                <a:latin typeface="Calibri"/>
              </a:rPr>
              <a:t>✗  Kararını açıklamıyor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00" b="0" i="0">
                <a:solidFill>
                  <a:srgbClr val="242A30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00" b="0" i="0">
                <a:solidFill>
                  <a:srgbClr val="242A30"/>
                </a:solidFill>
                <a:latin typeface="Calibri"/>
              </a:rPr>
              <a:t>AURIS bunları hedefliyor: erişilebilir, hafif, hızlı ve açıklanabilir bir tespit sistemi.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6419088"/>
            <a:ext cx="11457432" cy="10972"/>
          </a:xfrm>
          <a:prstGeom prst="rect">
            <a:avLst/>
          </a:prstGeom>
          <a:solidFill>
            <a:srgbClr val="D2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6473952"/>
            <a:ext cx="420624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900" b="0" i="0">
                <a:solidFill>
                  <a:srgbClr val="6A7480"/>
                </a:solidFill>
                <a:latin typeface="Calibri"/>
              </a:rPr>
              <a:t>AURIS · YZ Üretimli Müzik Tespiti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63440" y="6473952"/>
            <a:ext cx="715975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900" b="0" i="0">
                <a:solidFill>
                  <a:srgbClr val="6A7480"/>
                </a:solidFill>
                <a:latin typeface="Calibri"/>
              </a:rPr>
              <a:t>Hasan Arthur Altuntaş  ·  BM498  ·  Düzce Üniversitesi  ·  2025-2026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371600"/>
            <a:ext cx="12188952" cy="50292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1371600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100584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50" b="1" i="0">
                <a:solidFill>
                  <a:srgbClr val="D99A07"/>
                </a:solidFill>
                <a:latin typeface="Calibri"/>
              </a:rPr>
              <a:t>4 · SISTEM MIMARISI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20624"/>
            <a:ext cx="113385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  <a:latin typeface="Calibri"/>
              </a:rPr>
              <a:t>Üç Katmanlı Çok Platformlu Yapı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024128"/>
            <a:ext cx="1133856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0" i="0">
                <a:solidFill>
                  <a:srgbClr val="ADC4D6"/>
                </a:solidFill>
                <a:latin typeface="Calibri"/>
              </a:rPr>
              <a:t>Sunum · İş mantığı · Veri/Model katmanları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627632"/>
            <a:ext cx="11457432" cy="1353312"/>
          </a:xfrm>
          <a:prstGeom prst="rect">
            <a:avLst/>
          </a:prstGeom>
          <a:solidFill>
            <a:srgbClr val="FFFFFF"/>
          </a:solidFill>
          <a:ln w="16510">
            <a:solidFill>
              <a:srgbClr val="2E5A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627632"/>
            <a:ext cx="3108960" cy="1353312"/>
          </a:xfrm>
          <a:prstGeom prst="rect">
            <a:avLst/>
          </a:prstGeom>
          <a:solidFill>
            <a:srgbClr val="2E5A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627632"/>
            <a:ext cx="3108960" cy="13533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SUNUM KATMANI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3280" y="1755648"/>
            <a:ext cx="8229600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0" i="0">
                <a:solidFill>
                  <a:srgbClr val="242A30"/>
                </a:solidFill>
                <a:latin typeface="Calibri"/>
              </a:rPr>
              <a:t>▸  Web: Next.js 14 + TypeScript + Tailwind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2121408"/>
            <a:ext cx="8229600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0" i="0">
                <a:solidFill>
                  <a:srgbClr val="242A30"/>
                </a:solidFill>
                <a:latin typeface="Calibri"/>
              </a:rPr>
              <a:t>▸  Mobil: Kotlin + Jetpack Compose (MVVM)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80" y="2487168"/>
            <a:ext cx="8229600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0" i="0">
                <a:solidFill>
                  <a:srgbClr val="242A30"/>
                </a:solidFill>
                <a:latin typeface="Calibri"/>
              </a:rPr>
              <a:t>▸  Duyarlı, erişilebilir arayüz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3108960"/>
            <a:ext cx="11457432" cy="1353312"/>
          </a:xfrm>
          <a:prstGeom prst="rect">
            <a:avLst/>
          </a:prstGeom>
          <a:solidFill>
            <a:srgbClr val="FFFFFF"/>
          </a:solidFill>
          <a:ln w="16510">
            <a:solidFill>
              <a:srgbClr val="0A8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5760" y="3108960"/>
            <a:ext cx="3108960" cy="1353312"/>
          </a:xfrm>
          <a:prstGeom prst="rect">
            <a:avLst/>
          </a:prstGeom>
          <a:solidFill>
            <a:srgbClr val="0A8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3108960"/>
            <a:ext cx="3108960" cy="13533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İŞ MANTIĞI / API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83280" y="3236976"/>
            <a:ext cx="8229600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0" i="0">
                <a:solidFill>
                  <a:srgbClr val="242A30"/>
                </a:solidFill>
                <a:latin typeface="Calibri"/>
              </a:rPr>
              <a:t>▸  Backend: Python + FastAPI (REST)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83280" y="3602736"/>
            <a:ext cx="8229600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0" i="0">
                <a:solidFill>
                  <a:srgbClr val="242A30"/>
                </a:solidFill>
                <a:latin typeface="Calibri"/>
              </a:rPr>
              <a:t>▸  Dosya doğrulama, hız sınırı, güvenlik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83280" y="3968496"/>
            <a:ext cx="8229600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0" i="0">
                <a:solidFill>
                  <a:srgbClr val="242A30"/>
                </a:solidFill>
                <a:latin typeface="Calibri"/>
              </a:rPr>
              <a:t>▸  MP3/WAV/FLAC/OGG · maks. 50 MB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4590288"/>
            <a:ext cx="11457432" cy="1353312"/>
          </a:xfrm>
          <a:prstGeom prst="rect">
            <a:avLst/>
          </a:prstGeom>
          <a:solidFill>
            <a:srgbClr val="FFFFFF"/>
          </a:solidFill>
          <a:ln w="16510">
            <a:solidFill>
              <a:srgbClr val="102A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65760" y="4590288"/>
            <a:ext cx="3108960" cy="1353312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4590288"/>
            <a:ext cx="3108960" cy="13533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VERİ / MODEL KATMANI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80" y="4718304"/>
            <a:ext cx="8229600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0" i="0">
                <a:solidFill>
                  <a:srgbClr val="242A30"/>
                </a:solidFill>
                <a:latin typeface="Calibri"/>
              </a:rPr>
              <a:t>▸  librosa ile 47 öznitelik çıkarma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83280" y="5084064"/>
            <a:ext cx="8229600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0" i="0">
                <a:solidFill>
                  <a:srgbClr val="242A30"/>
                </a:solidFill>
                <a:latin typeface="Calibri"/>
              </a:rPr>
              <a:t>▸  LightGBM topluluk modeli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83280" y="5449824"/>
            <a:ext cx="8229600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0" i="0">
                <a:solidFill>
                  <a:srgbClr val="242A30"/>
                </a:solidFill>
                <a:latin typeface="Calibri"/>
              </a:rPr>
              <a:t>▸  TreeSHAP açıklanabilirlik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6053328"/>
            <a:ext cx="114300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0" i="1">
                <a:solidFill>
                  <a:srgbClr val="6A7480"/>
                </a:solidFill>
                <a:latin typeface="Calibri"/>
              </a:rPr>
              <a:t>Katmanlı tasarım: arayüz değişse de model katmanı aynı kalır — bakımı ve testi kolay.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6419088"/>
            <a:ext cx="11457432" cy="10972"/>
          </a:xfrm>
          <a:prstGeom prst="rect">
            <a:avLst/>
          </a:prstGeom>
          <a:solidFill>
            <a:srgbClr val="D2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5760" y="6473952"/>
            <a:ext cx="420624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900" b="0" i="0">
                <a:solidFill>
                  <a:srgbClr val="6A7480"/>
                </a:solidFill>
                <a:latin typeface="Calibri"/>
              </a:rPr>
              <a:t>AURIS · YZ Üretimli Müzik Tespiti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3440" y="6473952"/>
            <a:ext cx="715975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900" b="0" i="0">
                <a:solidFill>
                  <a:srgbClr val="6A7480"/>
                </a:solidFill>
                <a:latin typeface="Calibri"/>
              </a:rPr>
              <a:t>Hasan Arthur Altuntaş  ·  BM498  ·  Düzce Üniversitesi  ·  2025-2026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371600"/>
            <a:ext cx="12188952" cy="50292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1371600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100584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50" b="1" i="0">
                <a:solidFill>
                  <a:srgbClr val="D99A07"/>
                </a:solidFill>
                <a:latin typeface="Calibri"/>
              </a:rPr>
              <a:t>4 · SISTEM MIMARISI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20624"/>
            <a:ext cx="113385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  <a:latin typeface="Calibri"/>
              </a:rPr>
              <a:t>Ham Sesten Karara: İşleyiş Şeması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727782"/>
            <a:ext cx="11521440" cy="2305155"/>
          </a:xfrm>
          <a:prstGeom prst="rect">
            <a:avLst/>
          </a:prstGeom>
          <a:solidFill>
            <a:srgbClr val="FFFFFF"/>
          </a:solidFill>
          <a:ln w="9525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paper_pipeline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773502"/>
            <a:ext cx="11430000" cy="221371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65760" y="4042081"/>
            <a:ext cx="114300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1000" b="0" i="1">
                <a:solidFill>
                  <a:srgbClr val="6A7480"/>
                </a:solidFill>
                <a:latin typeface="Calibri"/>
              </a:rPr>
              <a:t>AURIS uçtan uca analiz hattı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4434840"/>
            <a:ext cx="1591056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0A8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4434840"/>
            <a:ext cx="1591056" cy="45720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02336" y="4434840"/>
            <a:ext cx="1517904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1 Giriş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4983480"/>
            <a:ext cx="1499616" cy="7772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000" b="0" i="0">
                <a:solidFill>
                  <a:srgbClr val="242A30"/>
                </a:solidFill>
                <a:latin typeface="Calibri"/>
              </a:rPr>
              <a:t>WAV/MP3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002536" y="4434840"/>
            <a:ext cx="1591056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0A8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002536" y="4434840"/>
            <a:ext cx="1591056" cy="45720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039112" y="4434840"/>
            <a:ext cx="1517904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2 Ön işleme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48255" y="4983480"/>
            <a:ext cx="1499616" cy="7772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000" b="0" i="0">
                <a:solidFill>
                  <a:srgbClr val="242A30"/>
                </a:solidFill>
                <a:latin typeface="Calibri"/>
              </a:rPr>
              <a:t>22.050 Hz, mono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39312" y="4434840"/>
            <a:ext cx="1591056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0A8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639312" y="4434840"/>
            <a:ext cx="1591056" cy="45720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75887" y="4434840"/>
            <a:ext cx="1517904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3 Öznitelik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85032" y="4983480"/>
            <a:ext cx="1499616" cy="7772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000" b="0" i="0">
                <a:solidFill>
                  <a:srgbClr val="242A30"/>
                </a:solidFill>
                <a:latin typeface="Calibri"/>
              </a:rPr>
              <a:t>47 boyut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76088" y="4434840"/>
            <a:ext cx="1591056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0A8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276088" y="4434840"/>
            <a:ext cx="1591056" cy="45720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312664" y="4434840"/>
            <a:ext cx="1517904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4 Ölçekleme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21808" y="4983480"/>
            <a:ext cx="1499616" cy="7772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000" b="0" i="0">
                <a:solidFill>
                  <a:srgbClr val="242A30"/>
                </a:solidFill>
                <a:latin typeface="Calibri"/>
              </a:rPr>
              <a:t>StandardScaler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912864" y="4434840"/>
            <a:ext cx="1591056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0A8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912864" y="4434840"/>
            <a:ext cx="1591056" cy="45720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949440" y="4434840"/>
            <a:ext cx="1517904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5 Model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58584" y="4983480"/>
            <a:ext cx="1499616" cy="7772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000" b="0" i="0">
                <a:solidFill>
                  <a:srgbClr val="242A30"/>
                </a:solidFill>
                <a:latin typeface="Calibri"/>
              </a:rPr>
              <a:t>LightGBM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549640" y="4434840"/>
            <a:ext cx="1591056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0A8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549640" y="4434840"/>
            <a:ext cx="1591056" cy="45720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86215" y="4434840"/>
            <a:ext cx="1517904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6 Eşik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95360" y="4983480"/>
            <a:ext cx="1499616" cy="7772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000" b="0" i="0">
                <a:solidFill>
                  <a:srgbClr val="242A30"/>
                </a:solidFill>
                <a:latin typeface="Calibri"/>
              </a:rPr>
              <a:t>θ*=0,4316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186416" y="4434840"/>
            <a:ext cx="1591056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0A8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186416" y="4434840"/>
            <a:ext cx="1591056" cy="45720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222992" y="4434840"/>
            <a:ext cx="1517904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7 Sonuç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232136" y="4983480"/>
            <a:ext cx="1499616" cy="7772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000" b="0" i="0">
                <a:solidFill>
                  <a:srgbClr val="242A30"/>
                </a:solidFill>
                <a:latin typeface="Calibri"/>
              </a:rPr>
              <a:t>YZ/İnsan + SHAP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65760" y="6419088"/>
            <a:ext cx="11457432" cy="10972"/>
          </a:xfrm>
          <a:prstGeom prst="rect">
            <a:avLst/>
          </a:prstGeom>
          <a:solidFill>
            <a:srgbClr val="D2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65760" y="6473952"/>
            <a:ext cx="420624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900" b="0" i="0">
                <a:solidFill>
                  <a:srgbClr val="6A7480"/>
                </a:solidFill>
                <a:latin typeface="Calibri"/>
              </a:rPr>
              <a:t>AURIS · YZ Üretimli Müzik Tespiti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63440" y="6473952"/>
            <a:ext cx="715975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900" b="0" i="0">
                <a:solidFill>
                  <a:srgbClr val="6A7480"/>
                </a:solidFill>
                <a:latin typeface="Calibri"/>
              </a:rPr>
              <a:t>Hasan Arthur Altuntaş  ·  BM498  ·  Düzce Üniversitesi  ·  2025-2026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371600"/>
            <a:ext cx="12188952" cy="50292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1371600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100584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50" b="1" i="0">
                <a:solidFill>
                  <a:srgbClr val="D99A07"/>
                </a:solidFill>
                <a:latin typeface="Calibri"/>
              </a:rPr>
              <a:t>5 · VERI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20624"/>
            <a:ext cx="113385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  <a:latin typeface="Calibri"/>
              </a:rPr>
              <a:t>Veri Kümesi: 5.195 Örnek, 8 Kaynak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627632"/>
            <a:ext cx="3931920" cy="384048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627632"/>
            <a:ext cx="3749039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Kaynak</a:t>
            </a:r>
          </a:p>
        </p:txBody>
      </p:sp>
      <p:sp>
        <p:nvSpPr>
          <p:cNvPr id="9" name="Rectangle 8"/>
          <p:cNvSpPr/>
          <p:nvPr/>
        </p:nvSpPr>
        <p:spPr>
          <a:xfrm>
            <a:off x="4297680" y="1627632"/>
            <a:ext cx="2377440" cy="384048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0" y="1627632"/>
            <a:ext cx="23774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Calibri"/>
              </a:rPr>
              <a:t>Tür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75120" y="1627632"/>
            <a:ext cx="1371600" cy="384048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0" y="1627632"/>
            <a:ext cx="137160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Calibri"/>
              </a:rPr>
              <a:t>Örnek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011680"/>
            <a:ext cx="3931920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2011680"/>
            <a:ext cx="3749039" cy="39319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GTZAN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97680" y="2011680"/>
            <a:ext cx="2377440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25112" y="2011680"/>
            <a:ext cx="2322576" cy="39319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150" b="0" i="0">
                <a:solidFill>
                  <a:srgbClr val="242A30"/>
                </a:solidFill>
                <a:latin typeface="Calibri"/>
              </a:rPr>
              <a:t>İnsan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675120" y="2011680"/>
            <a:ext cx="1371600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02552" y="2011680"/>
            <a:ext cx="1316736" cy="39319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150" b="0" i="0">
                <a:solidFill>
                  <a:srgbClr val="242A30"/>
                </a:solidFill>
                <a:latin typeface="Calibri"/>
              </a:rPr>
              <a:t>899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2404872"/>
            <a:ext cx="3931920" cy="393192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2404872"/>
            <a:ext cx="3749039" cy="39319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FMA Small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97680" y="2404872"/>
            <a:ext cx="2377440" cy="393192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25112" y="2404872"/>
            <a:ext cx="2322576" cy="39319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150" b="0" i="0">
                <a:solidFill>
                  <a:srgbClr val="242A30"/>
                </a:solidFill>
                <a:latin typeface="Calibri"/>
              </a:rPr>
              <a:t>İnsan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675120" y="2404872"/>
            <a:ext cx="1371600" cy="393192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02552" y="2404872"/>
            <a:ext cx="1316736" cy="39319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150" b="0" i="0">
                <a:solidFill>
                  <a:srgbClr val="242A30"/>
                </a:solidFill>
                <a:latin typeface="Calibri"/>
              </a:rPr>
              <a:t>1.000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2798064"/>
            <a:ext cx="3931920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2798064"/>
            <a:ext cx="3749039" cy="39319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SleepyJesse (kapak)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297680" y="2798064"/>
            <a:ext cx="2377440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325112" y="2798064"/>
            <a:ext cx="2322576" cy="39319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150" b="0" i="0">
                <a:solidFill>
                  <a:srgbClr val="242A30"/>
                </a:solidFill>
                <a:latin typeface="Calibri"/>
              </a:rPr>
              <a:t>İnsan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75120" y="2798064"/>
            <a:ext cx="1371600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702552" y="2798064"/>
            <a:ext cx="1316736" cy="39319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150" b="0" i="0">
                <a:solidFill>
                  <a:srgbClr val="242A30"/>
                </a:solidFill>
                <a:latin typeface="Calibri"/>
              </a:rPr>
              <a:t>854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" y="3191256"/>
            <a:ext cx="3931920" cy="393192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7200" y="3191256"/>
            <a:ext cx="3749039" cy="39319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Diğer insan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297680" y="3191256"/>
            <a:ext cx="2377440" cy="393192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325112" y="3191256"/>
            <a:ext cx="2322576" cy="39319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150" b="0" i="0">
                <a:solidFill>
                  <a:srgbClr val="242A30"/>
                </a:solidFill>
                <a:latin typeface="Calibri"/>
              </a:rPr>
              <a:t>İnsan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675120" y="3191256"/>
            <a:ext cx="1371600" cy="393192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702552" y="3191256"/>
            <a:ext cx="1316736" cy="39319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150" b="0" i="0">
                <a:solidFill>
                  <a:srgbClr val="242A30"/>
                </a:solidFill>
                <a:latin typeface="Calibri"/>
              </a:rPr>
              <a:t>360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3584448"/>
            <a:ext cx="3931920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3584448"/>
            <a:ext cx="3749039" cy="39319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Echoes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297680" y="3584448"/>
            <a:ext cx="2377440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325112" y="3584448"/>
            <a:ext cx="2322576" cy="39319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150" b="0" i="0">
                <a:solidFill>
                  <a:srgbClr val="242A30"/>
                </a:solidFill>
                <a:latin typeface="Calibri"/>
              </a:rPr>
              <a:t>Yapay zekâ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675120" y="3584448"/>
            <a:ext cx="1371600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702552" y="3584448"/>
            <a:ext cx="1316736" cy="39319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150" b="0" i="0">
                <a:solidFill>
                  <a:srgbClr val="242A30"/>
                </a:solidFill>
                <a:latin typeface="Calibri"/>
              </a:rPr>
              <a:t>1.128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3977640"/>
            <a:ext cx="3931920" cy="393192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7200" y="3977640"/>
            <a:ext cx="3749039" cy="39319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Suno (v3–v5)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297680" y="3977640"/>
            <a:ext cx="2377440" cy="393192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325112" y="3977640"/>
            <a:ext cx="2322576" cy="39319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150" b="0" i="0">
                <a:solidFill>
                  <a:srgbClr val="242A30"/>
                </a:solidFill>
                <a:latin typeface="Calibri"/>
              </a:rPr>
              <a:t>Yapay zekâ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675120" y="3977640"/>
            <a:ext cx="1371600" cy="393192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702552" y="3977640"/>
            <a:ext cx="1316736" cy="39319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150" b="0" i="0">
                <a:solidFill>
                  <a:srgbClr val="242A30"/>
                </a:solidFill>
                <a:latin typeface="Calibri"/>
              </a:rPr>
              <a:t>500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65760" y="4370832"/>
            <a:ext cx="3931920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57200" y="4370832"/>
            <a:ext cx="3749039" cy="39319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Deepfake seti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297680" y="4370832"/>
            <a:ext cx="2377440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325112" y="4370832"/>
            <a:ext cx="2322576" cy="39319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150" b="0" i="0">
                <a:solidFill>
                  <a:srgbClr val="242A30"/>
                </a:solidFill>
                <a:latin typeface="Calibri"/>
              </a:rPr>
              <a:t>Yapay zekâ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675120" y="4370832"/>
            <a:ext cx="1371600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702552" y="4370832"/>
            <a:ext cx="1316736" cy="39319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150" b="0" i="0">
                <a:solidFill>
                  <a:srgbClr val="242A30"/>
                </a:solidFill>
                <a:latin typeface="Calibri"/>
              </a:rPr>
              <a:t>492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65760" y="4764024"/>
            <a:ext cx="3931920" cy="393192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57200" y="4764024"/>
            <a:ext cx="3749039" cy="39319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AImE/Mustango/JEN-1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297680" y="4764024"/>
            <a:ext cx="2377440" cy="393192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325112" y="4764024"/>
            <a:ext cx="2322576" cy="39319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150" b="0" i="0">
                <a:solidFill>
                  <a:srgbClr val="242A30"/>
                </a:solidFill>
                <a:latin typeface="Calibri"/>
              </a:rPr>
              <a:t>Yapay zekâ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675120" y="4764024"/>
            <a:ext cx="1371600" cy="393192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702552" y="4764024"/>
            <a:ext cx="1316736" cy="39319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150" b="0" i="0">
                <a:solidFill>
                  <a:srgbClr val="242A30"/>
                </a:solidFill>
                <a:latin typeface="Calibri"/>
              </a:rPr>
              <a:t>204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5157216"/>
            <a:ext cx="3931920" cy="393192"/>
          </a:xfrm>
          <a:prstGeom prst="rect">
            <a:avLst/>
          </a:prstGeom>
          <a:solidFill>
            <a:srgbClr val="FFF3DD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57200" y="5157216"/>
            <a:ext cx="3749039" cy="39319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50" b="1" i="0">
                <a:solidFill>
                  <a:srgbClr val="1B6E3C"/>
                </a:solidFill>
                <a:latin typeface="Calibri"/>
              </a:rPr>
              <a:t>TOPLAM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297680" y="5157216"/>
            <a:ext cx="2377440" cy="393192"/>
          </a:xfrm>
          <a:prstGeom prst="rect">
            <a:avLst/>
          </a:prstGeom>
          <a:solidFill>
            <a:srgbClr val="FFF3DD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325112" y="5157216"/>
            <a:ext cx="2322576" cy="39319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150" b="1" i="0">
                <a:solidFill>
                  <a:srgbClr val="1B6E3C"/>
                </a:solidFill>
                <a:latin typeface="Calibri"/>
              </a:rPr>
              <a:t>—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675120" y="5157216"/>
            <a:ext cx="1371600" cy="393192"/>
          </a:xfrm>
          <a:prstGeom prst="rect">
            <a:avLst/>
          </a:prstGeom>
          <a:solidFill>
            <a:srgbClr val="FFF3DD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702552" y="5157216"/>
            <a:ext cx="1316736" cy="39319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150" b="1" i="0">
                <a:solidFill>
                  <a:srgbClr val="1B6E3C"/>
                </a:solidFill>
                <a:latin typeface="Calibri"/>
              </a:rPr>
              <a:t>5.195</a:t>
            </a:r>
          </a:p>
        </p:txBody>
      </p:sp>
      <p:sp>
        <p:nvSpPr>
          <p:cNvPr id="67" name="Rectangle 66"/>
          <p:cNvSpPr/>
          <p:nvPr/>
        </p:nvSpPr>
        <p:spPr>
          <a:xfrm>
            <a:off x="8321040" y="1627632"/>
            <a:ext cx="3502152" cy="2194560"/>
          </a:xfrm>
          <a:prstGeom prst="rect">
            <a:avLst/>
          </a:prstGeom>
          <a:solidFill>
            <a:srgbClr val="E2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8321040" y="1627632"/>
            <a:ext cx="91440" cy="2194560"/>
          </a:xfrm>
          <a:prstGeom prst="rect">
            <a:avLst/>
          </a:prstGeom>
          <a:solidFill>
            <a:srgbClr val="0A8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540496" y="1746504"/>
            <a:ext cx="313639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1" i="0">
                <a:solidFill>
                  <a:srgbClr val="102A4C"/>
                </a:solidFill>
                <a:latin typeface="Calibri"/>
              </a:rPr>
              <a:t>Neden bu kaynaklar?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540496" y="2176272"/>
            <a:ext cx="3118104" cy="1536192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00" b="0" i="0">
                <a:solidFill>
                  <a:srgbClr val="242A30"/>
                </a:solidFill>
                <a:latin typeface="Calibri"/>
              </a:rPr>
              <a:t>İnsan tarafı tür çeşitliliği (GTZAN), bağımsız sanatçılar (FMA) ve kapak performansları (SleepyJesse) ile dengelendi.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00" b="0" i="0">
                <a:solidFill>
                  <a:srgbClr val="242A30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00" b="0" i="0">
                <a:solidFill>
                  <a:srgbClr val="242A30"/>
                </a:solidFill>
                <a:latin typeface="Calibri"/>
              </a:rPr>
              <a:t>YZ tarafı sekiz farklı üreticiden — tek sisteme aşırı uyumu önlemek için.</a:t>
            </a:r>
          </a:p>
        </p:txBody>
      </p:sp>
      <p:sp>
        <p:nvSpPr>
          <p:cNvPr id="71" name="Rectangle 70"/>
          <p:cNvSpPr/>
          <p:nvPr/>
        </p:nvSpPr>
        <p:spPr>
          <a:xfrm>
            <a:off x="8321040" y="3977639"/>
            <a:ext cx="3502152" cy="2057400"/>
          </a:xfrm>
          <a:prstGeom prst="rect">
            <a:avLst/>
          </a:prstGeom>
          <a:solidFill>
            <a:srgbClr val="EA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8321040" y="3977639"/>
            <a:ext cx="91440" cy="2057400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540496" y="4096511"/>
            <a:ext cx="313639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1" i="0">
                <a:solidFill>
                  <a:srgbClr val="102A4C"/>
                </a:solidFill>
                <a:latin typeface="Calibri"/>
              </a:rPr>
              <a:t>Sınıf Dengesi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40496" y="4526279"/>
            <a:ext cx="3118104" cy="1399032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42A30"/>
                </a:solidFill>
                <a:latin typeface="Calibri"/>
              </a:rPr>
              <a:t>İnsan: 3.113 (%59,9)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42A30"/>
                </a:solidFill>
                <a:latin typeface="Calibri"/>
              </a:rPr>
              <a:t>Yapay zekâ: 2.082 (%40,1)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42A30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42A30"/>
                </a:solidFill>
                <a:latin typeface="Calibri"/>
              </a:rPr>
              <a:t>class_weight='balanced' ve stratifiye CV ile dengelendi.</a:t>
            </a:r>
          </a:p>
        </p:txBody>
      </p:sp>
      <p:sp>
        <p:nvSpPr>
          <p:cNvPr id="75" name="Rectangle 74"/>
          <p:cNvSpPr/>
          <p:nvPr/>
        </p:nvSpPr>
        <p:spPr>
          <a:xfrm>
            <a:off x="365760" y="6419088"/>
            <a:ext cx="11457432" cy="10972"/>
          </a:xfrm>
          <a:prstGeom prst="rect">
            <a:avLst/>
          </a:prstGeom>
          <a:solidFill>
            <a:srgbClr val="D2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365760" y="6473952"/>
            <a:ext cx="420624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900" b="0" i="0">
                <a:solidFill>
                  <a:srgbClr val="6A7480"/>
                </a:solidFill>
                <a:latin typeface="Calibri"/>
              </a:rPr>
              <a:t>AURIS · YZ Üretimli Müzik Tespiti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663440" y="6473952"/>
            <a:ext cx="715975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900" b="0" i="0">
                <a:solidFill>
                  <a:srgbClr val="6A7480"/>
                </a:solidFill>
                <a:latin typeface="Calibri"/>
              </a:rPr>
              <a:t>Hasan Arthur Altuntaş  ·  BM498  ·  Düzce Üniversitesi  ·  2025-2026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371600"/>
            <a:ext cx="12188952" cy="50292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1371600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100584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50" b="1" i="0">
                <a:solidFill>
                  <a:srgbClr val="D99A07"/>
                </a:solidFill>
                <a:latin typeface="Calibri"/>
              </a:rPr>
              <a:t>5 · ÖZNITELIKLER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20624"/>
            <a:ext cx="113385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  <a:latin typeface="Calibri"/>
              </a:rPr>
              <a:t>Neden 47 Öznitelik? Neyi Ölçüyorum?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024128"/>
            <a:ext cx="1133856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0" i="0">
                <a:solidFill>
                  <a:srgbClr val="ADC4D6"/>
                </a:solidFill>
                <a:latin typeface="Calibri"/>
              </a:rPr>
              <a:t>Tek bir akustik temsile bağlı kalmamak için beş aile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627632"/>
            <a:ext cx="7589520" cy="667512"/>
          </a:xfrm>
          <a:prstGeom prst="rect">
            <a:avLst/>
          </a:prstGeom>
          <a:solidFill>
            <a:srgbClr val="FFFFFF"/>
          </a:solidFill>
          <a:ln w="12700">
            <a:solidFill>
              <a:srgbClr val="0A8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627632"/>
            <a:ext cx="1828800" cy="667512"/>
          </a:xfrm>
          <a:prstGeom prst="rect">
            <a:avLst/>
          </a:prstGeom>
          <a:solidFill>
            <a:srgbClr val="0A8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627632"/>
            <a:ext cx="1828800" cy="6675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Spektral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11680" y="1792224"/>
            <a:ext cx="777240" cy="338328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011680" y="1792224"/>
            <a:ext cx="777240" cy="3383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000" b="1" i="0">
                <a:solidFill>
                  <a:srgbClr val="102A4C"/>
                </a:solidFill>
                <a:latin typeface="Calibri"/>
              </a:rPr>
              <a:t>16 boyut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71800" y="1627632"/>
            <a:ext cx="4892040" cy="6675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 i="0">
                <a:solidFill>
                  <a:srgbClr val="242A30"/>
                </a:solidFill>
                <a:latin typeface="Calibri"/>
              </a:rPr>
              <a:t>Frekans içeriği ve tını — MFCC, flatness, centroid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386584"/>
            <a:ext cx="7589520" cy="667512"/>
          </a:xfrm>
          <a:prstGeom prst="rect">
            <a:avLst/>
          </a:prstGeom>
          <a:solidFill>
            <a:srgbClr val="FFFFFF"/>
          </a:solidFill>
          <a:ln w="12700">
            <a:solidFill>
              <a:srgbClr val="0A8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5760" y="2386584"/>
            <a:ext cx="1828800" cy="667512"/>
          </a:xfrm>
          <a:prstGeom prst="rect">
            <a:avLst/>
          </a:prstGeom>
          <a:solidFill>
            <a:srgbClr val="0A8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2386584"/>
            <a:ext cx="1828800" cy="6675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Zamansal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011680" y="2551176"/>
            <a:ext cx="777240" cy="338328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011680" y="2551176"/>
            <a:ext cx="777240" cy="3383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000" b="1" i="0">
                <a:solidFill>
                  <a:srgbClr val="102A4C"/>
                </a:solidFill>
                <a:latin typeface="Calibri"/>
              </a:rPr>
              <a:t>10 boyut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71800" y="2386584"/>
            <a:ext cx="4892040" cy="6675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 i="0">
                <a:solidFill>
                  <a:srgbClr val="242A30"/>
                </a:solidFill>
                <a:latin typeface="Calibri"/>
              </a:rPr>
              <a:t>Enerji ve zaman yapısı — RMS, sıfır geçiş, dinamik aralık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3145536"/>
            <a:ext cx="7589520" cy="667512"/>
          </a:xfrm>
          <a:prstGeom prst="rect">
            <a:avLst/>
          </a:prstGeom>
          <a:solidFill>
            <a:srgbClr val="FFFFFF"/>
          </a:solidFill>
          <a:ln w="12700">
            <a:solidFill>
              <a:srgbClr val="0A8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65760" y="3145536"/>
            <a:ext cx="1828800" cy="667512"/>
          </a:xfrm>
          <a:prstGeom prst="rect">
            <a:avLst/>
          </a:prstGeom>
          <a:solidFill>
            <a:srgbClr val="0A8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3145536"/>
            <a:ext cx="1828800" cy="6675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Ritmik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011680" y="3310128"/>
            <a:ext cx="777240" cy="338328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011680" y="3310128"/>
            <a:ext cx="777240" cy="3383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000" b="1" i="0">
                <a:solidFill>
                  <a:srgbClr val="102A4C"/>
                </a:solidFill>
                <a:latin typeface="Calibri"/>
              </a:rPr>
              <a:t>9 boyut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71800" y="3145536"/>
            <a:ext cx="4892040" cy="6675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 i="0">
                <a:solidFill>
                  <a:srgbClr val="242A30"/>
                </a:solidFill>
                <a:latin typeface="Calibri"/>
              </a:rPr>
              <a:t>Ritim ve vuruş — tempo, beat sayısı, onset gücü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3904487"/>
            <a:ext cx="7589520" cy="667512"/>
          </a:xfrm>
          <a:prstGeom prst="rect">
            <a:avLst/>
          </a:prstGeom>
          <a:solidFill>
            <a:srgbClr val="FFFFFF"/>
          </a:solidFill>
          <a:ln w="12700">
            <a:solidFill>
              <a:srgbClr val="0A8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65760" y="3904487"/>
            <a:ext cx="1828800" cy="667512"/>
          </a:xfrm>
          <a:prstGeom prst="rect">
            <a:avLst/>
          </a:prstGeom>
          <a:solidFill>
            <a:srgbClr val="0A8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5760" y="3904487"/>
            <a:ext cx="1828800" cy="6675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Harmonik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011680" y="4069079"/>
            <a:ext cx="777240" cy="338328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011680" y="4069079"/>
            <a:ext cx="777240" cy="3383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000" b="1" i="0">
                <a:solidFill>
                  <a:srgbClr val="102A4C"/>
                </a:solidFill>
                <a:latin typeface="Calibri"/>
              </a:rPr>
              <a:t>8 boyut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71800" y="3904487"/>
            <a:ext cx="4892040" cy="6675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 i="0">
                <a:solidFill>
                  <a:srgbClr val="242A30"/>
                </a:solidFill>
                <a:latin typeface="Calibri"/>
              </a:rPr>
              <a:t>Perde ve akor — chroma, tonnetz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5760" y="4663440"/>
            <a:ext cx="7589520" cy="667512"/>
          </a:xfrm>
          <a:prstGeom prst="rect">
            <a:avLst/>
          </a:prstGeom>
          <a:solidFill>
            <a:srgbClr val="FFFFFF"/>
          </a:solidFill>
          <a:ln w="12700">
            <a:solidFill>
              <a:srgbClr val="0A8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65760" y="4663440"/>
            <a:ext cx="1828800" cy="667512"/>
          </a:xfrm>
          <a:prstGeom prst="rect">
            <a:avLst/>
          </a:prstGeom>
          <a:solidFill>
            <a:srgbClr val="0A8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4663440"/>
            <a:ext cx="1828800" cy="6675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Vokal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011680" y="4828031"/>
            <a:ext cx="777240" cy="338328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011680" y="4828031"/>
            <a:ext cx="777240" cy="3383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000" b="1" i="0">
                <a:solidFill>
                  <a:srgbClr val="102A4C"/>
                </a:solidFill>
                <a:latin typeface="Calibri"/>
              </a:rPr>
              <a:t>4 boyut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971800" y="4663440"/>
            <a:ext cx="4892040" cy="6675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 i="0">
                <a:solidFill>
                  <a:srgbClr val="242A30"/>
                </a:solidFill>
                <a:latin typeface="Calibri"/>
              </a:rPr>
              <a:t>Şarkı sesi — temel frekans, vibrato, formant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229600" y="1627632"/>
            <a:ext cx="3593592" cy="3703320"/>
          </a:xfrm>
          <a:prstGeom prst="rect">
            <a:avLst/>
          </a:prstGeom>
          <a:solidFill>
            <a:srgbClr val="E2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229600" y="1627632"/>
            <a:ext cx="91440" cy="3703320"/>
          </a:xfrm>
          <a:prstGeom prst="rect">
            <a:avLst/>
          </a:prstGeom>
          <a:solidFill>
            <a:srgbClr val="0A8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449056" y="1746504"/>
            <a:ext cx="322783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1" i="0">
                <a:solidFill>
                  <a:srgbClr val="102A4C"/>
                </a:solidFill>
                <a:latin typeface="Calibri"/>
              </a:rPr>
              <a:t>Mantığım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449056" y="2176272"/>
            <a:ext cx="3209544" cy="3044952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42A30"/>
                </a:solidFill>
                <a:latin typeface="Calibri"/>
              </a:rPr>
              <a:t>Tek bir temsil (yalnız MFCC ya da yalnız spektrogram) modeli o temsile aşırı uyumlu yapar.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42A30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42A30"/>
                </a:solidFill>
                <a:latin typeface="Calibri"/>
              </a:rPr>
              <a:t>Beş farklı aileyi birleştirince model, müziğin farklı yönlerinden ayırt edici sinyal toplayabiliyor.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42A30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42A30"/>
                </a:solidFill>
                <a:latin typeface="Calibri"/>
              </a:rPr>
              <a:t>Sonuç: 47 boyutlu, dayanıklı ve yorumlanabilir bir öznitelik vektörü.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65760" y="5486400"/>
            <a:ext cx="758952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0" i="1">
                <a:solidFill>
                  <a:srgbClr val="6A7480"/>
                </a:solidFill>
                <a:latin typeface="Calibri"/>
              </a:rPr>
              <a:t>Bulgu: Öznitelik çıkarma deneyi, doğruluğun ~30 öznitelikte platoya ulaştığını gösterdi — gelecekte daha az öznitelikle benzer başarı mümkün.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6419088"/>
            <a:ext cx="11457432" cy="10972"/>
          </a:xfrm>
          <a:prstGeom prst="rect">
            <a:avLst/>
          </a:prstGeom>
          <a:solidFill>
            <a:srgbClr val="D2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65760" y="6473952"/>
            <a:ext cx="420624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900" b="0" i="0">
                <a:solidFill>
                  <a:srgbClr val="6A7480"/>
                </a:solidFill>
                <a:latin typeface="Calibri"/>
              </a:rPr>
              <a:t>AURIS · YZ Üretimli Müzik Tespiti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63440" y="6473952"/>
            <a:ext cx="715975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900" b="0" i="0">
                <a:solidFill>
                  <a:srgbClr val="6A7480"/>
                </a:solidFill>
                <a:latin typeface="Calibri"/>
              </a:rPr>
              <a:t>Hasan Arthur Altuntaş  ·  BM498  ·  Düzce Üniversitesi  ·  2025-2026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371600"/>
            <a:ext cx="12188952" cy="50292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1371600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100584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50" b="1" i="0">
                <a:solidFill>
                  <a:srgbClr val="D99A07"/>
                </a:solidFill>
                <a:latin typeface="Calibri"/>
              </a:rPr>
              <a:t>6 · MODEL SEÇIMI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20624"/>
            <a:ext cx="113385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  <a:latin typeface="Calibri"/>
              </a:rPr>
              <a:t>11 Model Denedim — Neyi Neden Seçtim?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024128"/>
            <a:ext cx="1133856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0" i="0">
                <a:solidFill>
                  <a:srgbClr val="ADC4D6"/>
                </a:solidFill>
                <a:latin typeface="Calibri"/>
              </a:rPr>
              <a:t>5-katlı çapraz doğrulama · ROC-AUC sırasına göre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572768"/>
            <a:ext cx="502920" cy="384048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572768"/>
            <a:ext cx="50292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#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1572768"/>
            <a:ext cx="2514600" cy="384048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1572768"/>
            <a:ext cx="233172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Model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83280" y="1572768"/>
            <a:ext cx="822960" cy="384048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83280" y="1572768"/>
            <a:ext cx="82296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Tip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06240" y="1572768"/>
            <a:ext cx="1371600" cy="384048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06240" y="1572768"/>
            <a:ext cx="137160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Doğr.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577840" y="1572768"/>
            <a:ext cx="1280160" cy="384048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77840" y="1572768"/>
            <a:ext cx="128016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F1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58000" y="1572768"/>
            <a:ext cx="1371600" cy="384048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0" y="1572768"/>
            <a:ext cx="137160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ROC-AUC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0" y="1572768"/>
            <a:ext cx="1234440" cy="384048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0" y="1572768"/>
            <a:ext cx="12344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Std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1956816"/>
            <a:ext cx="502920" cy="365760"/>
          </a:xfrm>
          <a:prstGeom prst="rect">
            <a:avLst/>
          </a:prstGeom>
          <a:solidFill>
            <a:srgbClr val="FFF3DD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93192" y="1956816"/>
            <a:ext cx="448056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050" b="1" i="0">
                <a:solidFill>
                  <a:srgbClr val="1B6E3C"/>
                </a:solidFill>
                <a:latin typeface="Calibri"/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68680" y="1956816"/>
            <a:ext cx="2514600" cy="365760"/>
          </a:xfrm>
          <a:prstGeom prst="rect">
            <a:avLst/>
          </a:prstGeom>
          <a:solidFill>
            <a:srgbClr val="FFF3DD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0120" y="1956816"/>
            <a:ext cx="233172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50" b="1" i="0">
                <a:solidFill>
                  <a:srgbClr val="1B6E3C"/>
                </a:solidFill>
                <a:latin typeface="Calibri"/>
              </a:rPr>
              <a:t>LightGBM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383280" y="1956816"/>
            <a:ext cx="822960" cy="365760"/>
          </a:xfrm>
          <a:prstGeom prst="rect">
            <a:avLst/>
          </a:prstGeom>
          <a:solidFill>
            <a:srgbClr val="FFF3DD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410712" y="1956816"/>
            <a:ext cx="768096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050" b="1" i="0">
                <a:solidFill>
                  <a:srgbClr val="1B6E3C"/>
                </a:solidFill>
                <a:latin typeface="Calibri"/>
              </a:rPr>
              <a:t>ML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206240" y="1956816"/>
            <a:ext cx="1371600" cy="365760"/>
          </a:xfrm>
          <a:prstGeom prst="rect">
            <a:avLst/>
          </a:prstGeom>
          <a:solidFill>
            <a:srgbClr val="FFF3DD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233672" y="1956816"/>
            <a:ext cx="1316736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050" b="1" i="0">
                <a:solidFill>
                  <a:srgbClr val="1B6E3C"/>
                </a:solidFill>
                <a:latin typeface="Calibri"/>
              </a:rPr>
              <a:t>0,8839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577840" y="1956816"/>
            <a:ext cx="1280160" cy="365760"/>
          </a:xfrm>
          <a:prstGeom prst="rect">
            <a:avLst/>
          </a:prstGeom>
          <a:solidFill>
            <a:srgbClr val="FFF3DD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05272" y="1956816"/>
            <a:ext cx="1225295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050" b="1" i="0">
                <a:solidFill>
                  <a:srgbClr val="1B6E3C"/>
                </a:solidFill>
                <a:latin typeface="Calibri"/>
              </a:rPr>
              <a:t>0,8575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858000" y="1956816"/>
            <a:ext cx="1371600" cy="365760"/>
          </a:xfrm>
          <a:prstGeom prst="rect">
            <a:avLst/>
          </a:prstGeom>
          <a:solidFill>
            <a:srgbClr val="FFF3DD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85432" y="1956816"/>
            <a:ext cx="1316736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050" b="1" i="0">
                <a:solidFill>
                  <a:srgbClr val="1B6E3C"/>
                </a:solidFill>
                <a:latin typeface="Calibri"/>
              </a:rPr>
              <a:t>0,9548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229600" y="1956816"/>
            <a:ext cx="1234440" cy="365760"/>
          </a:xfrm>
          <a:prstGeom prst="rect">
            <a:avLst/>
          </a:prstGeom>
          <a:solidFill>
            <a:srgbClr val="FFF3DD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57031" y="1956816"/>
            <a:ext cx="1179576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050" b="1" i="0">
                <a:solidFill>
                  <a:srgbClr val="1B6E3C"/>
                </a:solidFill>
                <a:latin typeface="Calibri"/>
              </a:rPr>
              <a:t>±0,0023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2322576"/>
            <a:ext cx="502920" cy="365760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93192" y="2322576"/>
            <a:ext cx="448056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2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68680" y="2322576"/>
            <a:ext cx="2514600" cy="365760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60120" y="2322576"/>
            <a:ext cx="233172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50" b="0" i="0">
                <a:solidFill>
                  <a:srgbClr val="242A30"/>
                </a:solidFill>
                <a:latin typeface="Calibri"/>
              </a:rPr>
              <a:t>Derin ÇKA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383280" y="2322576"/>
            <a:ext cx="822960" cy="365760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410712" y="2322576"/>
            <a:ext cx="768096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DL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206240" y="2322576"/>
            <a:ext cx="1371600" cy="365760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233672" y="2322576"/>
            <a:ext cx="1316736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0,8849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577840" y="2322576"/>
            <a:ext cx="1280160" cy="365760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605272" y="2322576"/>
            <a:ext cx="1225295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0,8596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858000" y="2322576"/>
            <a:ext cx="1371600" cy="365760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885432" y="2322576"/>
            <a:ext cx="1316736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0,9542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229600" y="2322576"/>
            <a:ext cx="1234440" cy="365760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257031" y="2322576"/>
            <a:ext cx="1179576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±0,0036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65760" y="2688336"/>
            <a:ext cx="50292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93192" y="2688336"/>
            <a:ext cx="448056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3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68680" y="2688336"/>
            <a:ext cx="251460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60120" y="2688336"/>
            <a:ext cx="233172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50" b="0" i="0">
                <a:solidFill>
                  <a:srgbClr val="242A30"/>
                </a:solidFill>
                <a:latin typeface="Calibri"/>
              </a:rPr>
              <a:t>Artık ÇKA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383280" y="2688336"/>
            <a:ext cx="82296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410712" y="2688336"/>
            <a:ext cx="768096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DL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206240" y="2688336"/>
            <a:ext cx="137160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233672" y="2688336"/>
            <a:ext cx="1316736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0,8756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577840" y="2688336"/>
            <a:ext cx="128016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605272" y="2688336"/>
            <a:ext cx="1225295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0,8476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858000" y="2688336"/>
            <a:ext cx="137160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885432" y="2688336"/>
            <a:ext cx="1316736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0,9485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229600" y="2688336"/>
            <a:ext cx="123444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257031" y="2688336"/>
            <a:ext cx="1179576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±0,0048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3054096"/>
            <a:ext cx="502920" cy="365760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93192" y="3054096"/>
            <a:ext cx="448056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4</a:t>
            </a:r>
          </a:p>
        </p:txBody>
      </p:sp>
      <p:sp>
        <p:nvSpPr>
          <p:cNvPr id="66" name="Rectangle 65"/>
          <p:cNvSpPr/>
          <p:nvPr/>
        </p:nvSpPr>
        <p:spPr>
          <a:xfrm>
            <a:off x="868680" y="3054096"/>
            <a:ext cx="2514600" cy="365760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60120" y="3054096"/>
            <a:ext cx="233172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50" b="0" i="0">
                <a:solidFill>
                  <a:srgbClr val="242A30"/>
                </a:solidFill>
                <a:latin typeface="Calibri"/>
              </a:rPr>
              <a:t>XGBoost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383280" y="3054096"/>
            <a:ext cx="822960" cy="365760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410712" y="3054096"/>
            <a:ext cx="768096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ML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206240" y="3054096"/>
            <a:ext cx="1371600" cy="365760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233672" y="3054096"/>
            <a:ext cx="1316736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0,8751</a:t>
            </a:r>
          </a:p>
        </p:txBody>
      </p:sp>
      <p:sp>
        <p:nvSpPr>
          <p:cNvPr id="72" name="Rectangle 71"/>
          <p:cNvSpPr/>
          <p:nvPr/>
        </p:nvSpPr>
        <p:spPr>
          <a:xfrm>
            <a:off x="5577840" y="3054096"/>
            <a:ext cx="1280160" cy="365760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5605272" y="3054096"/>
            <a:ext cx="1225295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0,8408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858000" y="3054096"/>
            <a:ext cx="1371600" cy="365760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885432" y="3054096"/>
            <a:ext cx="1316736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0,9465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229600" y="3054096"/>
            <a:ext cx="1234440" cy="365760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257031" y="3054096"/>
            <a:ext cx="1179576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±0,0029</a:t>
            </a:r>
          </a:p>
        </p:txBody>
      </p:sp>
      <p:sp>
        <p:nvSpPr>
          <p:cNvPr id="78" name="Rectangle 77"/>
          <p:cNvSpPr/>
          <p:nvPr/>
        </p:nvSpPr>
        <p:spPr>
          <a:xfrm>
            <a:off x="365760" y="3419856"/>
            <a:ext cx="50292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393192" y="3419856"/>
            <a:ext cx="448056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5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68680" y="3419856"/>
            <a:ext cx="251460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960120" y="3419856"/>
            <a:ext cx="233172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50" b="0" i="0">
                <a:solidFill>
                  <a:srgbClr val="242A30"/>
                </a:solidFill>
                <a:latin typeface="Calibri"/>
              </a:rPr>
              <a:t>Gradyan Artırma</a:t>
            </a:r>
          </a:p>
        </p:txBody>
      </p:sp>
      <p:sp>
        <p:nvSpPr>
          <p:cNvPr id="82" name="Rectangle 81"/>
          <p:cNvSpPr/>
          <p:nvPr/>
        </p:nvSpPr>
        <p:spPr>
          <a:xfrm>
            <a:off x="3383280" y="3419856"/>
            <a:ext cx="82296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410712" y="3419856"/>
            <a:ext cx="768096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ML</a:t>
            </a:r>
          </a:p>
        </p:txBody>
      </p:sp>
      <p:sp>
        <p:nvSpPr>
          <p:cNvPr id="84" name="Rectangle 83"/>
          <p:cNvSpPr/>
          <p:nvPr/>
        </p:nvSpPr>
        <p:spPr>
          <a:xfrm>
            <a:off x="4206240" y="3419856"/>
            <a:ext cx="137160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233672" y="3419856"/>
            <a:ext cx="1316736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0,8685</a:t>
            </a:r>
          </a:p>
        </p:txBody>
      </p:sp>
      <p:sp>
        <p:nvSpPr>
          <p:cNvPr id="86" name="Rectangle 85"/>
          <p:cNvSpPr/>
          <p:nvPr/>
        </p:nvSpPr>
        <p:spPr>
          <a:xfrm>
            <a:off x="5577840" y="3419856"/>
            <a:ext cx="128016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605272" y="3419856"/>
            <a:ext cx="1225295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0,8337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858000" y="3419856"/>
            <a:ext cx="137160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885432" y="3419856"/>
            <a:ext cx="1316736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0,9397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229600" y="3419856"/>
            <a:ext cx="123444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57031" y="3419856"/>
            <a:ext cx="1179576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±0,0038</a:t>
            </a:r>
          </a:p>
        </p:txBody>
      </p:sp>
      <p:sp>
        <p:nvSpPr>
          <p:cNvPr id="92" name="Rectangle 91"/>
          <p:cNvSpPr/>
          <p:nvPr/>
        </p:nvSpPr>
        <p:spPr>
          <a:xfrm>
            <a:off x="365760" y="3785615"/>
            <a:ext cx="502920" cy="365760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393192" y="3785615"/>
            <a:ext cx="448056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6</a:t>
            </a:r>
          </a:p>
        </p:txBody>
      </p:sp>
      <p:sp>
        <p:nvSpPr>
          <p:cNvPr id="94" name="Rectangle 93"/>
          <p:cNvSpPr/>
          <p:nvPr/>
        </p:nvSpPr>
        <p:spPr>
          <a:xfrm>
            <a:off x="868680" y="3785615"/>
            <a:ext cx="2514600" cy="365760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960120" y="3785615"/>
            <a:ext cx="233172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50" b="0" i="0">
                <a:solidFill>
                  <a:srgbClr val="242A30"/>
                </a:solidFill>
                <a:latin typeface="Calibri"/>
              </a:rPr>
              <a:t>Rastgele Orman</a:t>
            </a:r>
          </a:p>
        </p:txBody>
      </p:sp>
      <p:sp>
        <p:nvSpPr>
          <p:cNvPr id="96" name="Rectangle 95"/>
          <p:cNvSpPr/>
          <p:nvPr/>
        </p:nvSpPr>
        <p:spPr>
          <a:xfrm>
            <a:off x="3383280" y="3785615"/>
            <a:ext cx="822960" cy="365760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3410712" y="3785615"/>
            <a:ext cx="768096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ML</a:t>
            </a:r>
          </a:p>
        </p:txBody>
      </p:sp>
      <p:sp>
        <p:nvSpPr>
          <p:cNvPr id="98" name="Rectangle 97"/>
          <p:cNvSpPr/>
          <p:nvPr/>
        </p:nvSpPr>
        <p:spPr>
          <a:xfrm>
            <a:off x="4206240" y="3785615"/>
            <a:ext cx="1371600" cy="365760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4233672" y="3785615"/>
            <a:ext cx="1316736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0,8606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577840" y="3785615"/>
            <a:ext cx="1280160" cy="365760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605272" y="3785615"/>
            <a:ext cx="1225295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0,8183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6858000" y="3785615"/>
            <a:ext cx="1371600" cy="365760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6885432" y="3785615"/>
            <a:ext cx="1316736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0,9394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8229600" y="3785615"/>
            <a:ext cx="1234440" cy="365760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8257031" y="3785615"/>
            <a:ext cx="1179576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±0,0051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365760" y="4151376"/>
            <a:ext cx="50292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393192" y="4151376"/>
            <a:ext cx="448056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7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868680" y="4151376"/>
            <a:ext cx="251460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960120" y="4151376"/>
            <a:ext cx="233172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50" b="0" i="0">
                <a:solidFill>
                  <a:srgbClr val="242A30"/>
                </a:solidFill>
                <a:latin typeface="Calibri"/>
              </a:rPr>
              <a:t>Dikkat ÇKA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3383280" y="4151376"/>
            <a:ext cx="82296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3410712" y="4151376"/>
            <a:ext cx="768096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DL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4206240" y="4151376"/>
            <a:ext cx="137160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4233672" y="4151376"/>
            <a:ext cx="1316736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0,8628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5577840" y="4151376"/>
            <a:ext cx="128016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5605272" y="4151376"/>
            <a:ext cx="1225295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0,8293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6858000" y="4151376"/>
            <a:ext cx="137160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6885432" y="4151376"/>
            <a:ext cx="1316736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0,9359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8229600" y="4151376"/>
            <a:ext cx="123444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8257031" y="4151376"/>
            <a:ext cx="1179576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±0,0059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365760" y="4517136"/>
            <a:ext cx="502920" cy="365760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393192" y="4517136"/>
            <a:ext cx="448056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8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868680" y="4517136"/>
            <a:ext cx="2514600" cy="365760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960120" y="4517136"/>
            <a:ext cx="233172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50" b="0" i="0">
                <a:solidFill>
                  <a:srgbClr val="242A30"/>
                </a:solidFill>
                <a:latin typeface="Calibri"/>
              </a:rPr>
              <a:t>SVM-RBF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3383280" y="4517136"/>
            <a:ext cx="822960" cy="365760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3410712" y="4517136"/>
            <a:ext cx="768096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ML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4206240" y="4517136"/>
            <a:ext cx="1371600" cy="365760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4233672" y="4517136"/>
            <a:ext cx="1316736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0,8612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5577840" y="4517136"/>
            <a:ext cx="1280160" cy="365760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5605272" y="4517136"/>
            <a:ext cx="1225295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0,8252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6858000" y="4517136"/>
            <a:ext cx="1371600" cy="365760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6885432" y="4517136"/>
            <a:ext cx="1316736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0,9346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8229600" y="4517136"/>
            <a:ext cx="1234440" cy="365760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8257031" y="4517136"/>
            <a:ext cx="1179576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±0,0075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365760" y="4882896"/>
            <a:ext cx="50292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393192" y="4882896"/>
            <a:ext cx="448056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9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868680" y="4882896"/>
            <a:ext cx="251460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960120" y="4882896"/>
            <a:ext cx="233172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50" b="0" i="0">
                <a:solidFill>
                  <a:srgbClr val="242A30"/>
                </a:solidFill>
                <a:latin typeface="Calibri"/>
              </a:rPr>
              <a:t>ÇKA Sinir Ağı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3383280" y="4882896"/>
            <a:ext cx="82296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3410712" y="4882896"/>
            <a:ext cx="768096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ML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4206240" y="4882896"/>
            <a:ext cx="137160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4233672" y="4882896"/>
            <a:ext cx="1316736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0,8566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5577840" y="4882896"/>
            <a:ext cx="128016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5605272" y="4882896"/>
            <a:ext cx="1225295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0,8189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6858000" y="4882896"/>
            <a:ext cx="137160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6885432" y="4882896"/>
            <a:ext cx="1316736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0,9276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8229600" y="4882896"/>
            <a:ext cx="123444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8257031" y="4882896"/>
            <a:ext cx="1179576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±0,0061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365760" y="5248656"/>
            <a:ext cx="502920" cy="365760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393192" y="5248656"/>
            <a:ext cx="448056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10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868680" y="5248656"/>
            <a:ext cx="2514600" cy="365760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960120" y="5248656"/>
            <a:ext cx="233172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50" b="0" i="0">
                <a:solidFill>
                  <a:srgbClr val="242A30"/>
                </a:solidFill>
                <a:latin typeface="Calibri"/>
              </a:rPr>
              <a:t>1B-ESA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3383280" y="5248656"/>
            <a:ext cx="822960" cy="365760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3410712" y="5248656"/>
            <a:ext cx="768096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DL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4206240" y="5248656"/>
            <a:ext cx="1371600" cy="365760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4233672" y="5248656"/>
            <a:ext cx="1316736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0,7665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5577840" y="5248656"/>
            <a:ext cx="1280160" cy="365760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5605272" y="5248656"/>
            <a:ext cx="1225295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0,7159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858000" y="5248656"/>
            <a:ext cx="1371600" cy="365760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885432" y="5248656"/>
            <a:ext cx="1316736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0,8543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8229600" y="5248656"/>
            <a:ext cx="1234440" cy="365760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8257031" y="5248656"/>
            <a:ext cx="1179576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±0,0087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365760" y="5614416"/>
            <a:ext cx="50292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393192" y="5614416"/>
            <a:ext cx="448056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11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868680" y="5614416"/>
            <a:ext cx="251460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960120" y="5614416"/>
            <a:ext cx="233172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50" b="0" i="0">
                <a:solidFill>
                  <a:srgbClr val="242A30"/>
                </a:solidFill>
                <a:latin typeface="Calibri"/>
              </a:rPr>
              <a:t>Lojistik Reg.</a:t>
            </a:r>
          </a:p>
        </p:txBody>
      </p:sp>
      <p:sp>
        <p:nvSpPr>
          <p:cNvPr id="166" name="Rectangle 165"/>
          <p:cNvSpPr/>
          <p:nvPr/>
        </p:nvSpPr>
        <p:spPr>
          <a:xfrm>
            <a:off x="3383280" y="5614416"/>
            <a:ext cx="82296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3410712" y="5614416"/>
            <a:ext cx="768096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ML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4206240" y="5614416"/>
            <a:ext cx="137160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4233672" y="5614416"/>
            <a:ext cx="1316736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0,7779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5577840" y="5614416"/>
            <a:ext cx="128016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5605272" y="5614416"/>
            <a:ext cx="1225295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0,7390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6858000" y="5614416"/>
            <a:ext cx="137160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6885432" y="5614416"/>
            <a:ext cx="1316736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0,8515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8229600" y="5614416"/>
            <a:ext cx="123444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8257031" y="5614416"/>
            <a:ext cx="1179576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±0,0042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9509760" y="1572768"/>
            <a:ext cx="2313432" cy="4526280"/>
          </a:xfrm>
          <a:prstGeom prst="rect">
            <a:avLst/>
          </a:prstGeom>
          <a:solidFill>
            <a:srgbClr val="E2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Rectangle 176"/>
          <p:cNvSpPr/>
          <p:nvPr/>
        </p:nvSpPr>
        <p:spPr>
          <a:xfrm>
            <a:off x="9509760" y="1572768"/>
            <a:ext cx="91440" cy="4526280"/>
          </a:xfrm>
          <a:prstGeom prst="rect">
            <a:avLst/>
          </a:prstGeom>
          <a:solidFill>
            <a:srgbClr val="0A8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TextBox 177"/>
          <p:cNvSpPr txBox="1"/>
          <p:nvPr/>
        </p:nvSpPr>
        <p:spPr>
          <a:xfrm>
            <a:off x="9729216" y="1691640"/>
            <a:ext cx="194767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1" i="0">
                <a:solidFill>
                  <a:srgbClr val="102A4C"/>
                </a:solidFill>
                <a:latin typeface="Calibri"/>
              </a:rPr>
              <a:t>Neden LightGBM?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9729216" y="2121408"/>
            <a:ext cx="1929384" cy="3867912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050" b="0" i="0">
                <a:solidFill>
                  <a:srgbClr val="242A30"/>
                </a:solidFill>
                <a:latin typeface="Calibri"/>
              </a:rPr>
              <a:t>En yüksek ROC-AUC (0,9548)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050" b="0" i="0">
                <a:solidFill>
                  <a:srgbClr val="242A30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050" b="0" i="0">
                <a:solidFill>
                  <a:srgbClr val="242A30"/>
                </a:solidFill>
                <a:latin typeface="Calibri"/>
              </a:rPr>
              <a:t>En düşük varyans (±0,0023) → en kararlı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050" b="0" i="0">
                <a:solidFill>
                  <a:srgbClr val="242A30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050" b="0" i="0">
                <a:solidFill>
                  <a:srgbClr val="242A30"/>
                </a:solidFill>
                <a:latin typeface="Calibri"/>
              </a:rPr>
              <a:t>Hızlı eğitim, az bellek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050" b="0" i="0">
                <a:solidFill>
                  <a:srgbClr val="242A30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050" b="0" i="0">
                <a:solidFill>
                  <a:srgbClr val="242A30"/>
                </a:solidFill>
                <a:latin typeface="Calibri"/>
              </a:rPr>
              <a:t>Derin ağlara yakın başarı, ama çok daha hafif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365760" y="6419088"/>
            <a:ext cx="11457432" cy="10972"/>
          </a:xfrm>
          <a:prstGeom prst="rect">
            <a:avLst/>
          </a:prstGeom>
          <a:solidFill>
            <a:srgbClr val="D2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365760" y="6473952"/>
            <a:ext cx="420624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900" b="0" i="0">
                <a:solidFill>
                  <a:srgbClr val="6A7480"/>
                </a:solidFill>
                <a:latin typeface="Calibri"/>
              </a:rPr>
              <a:t>AURIS · YZ Üretimli Müzik Tespiti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4663440" y="6473952"/>
            <a:ext cx="715975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900" b="0" i="0">
                <a:solidFill>
                  <a:srgbClr val="6A7480"/>
                </a:solidFill>
                <a:latin typeface="Calibri"/>
              </a:rPr>
              <a:t>Hasan Arthur Altuntaş  ·  BM498  ·  Düzce Üniversitesi  ·  2025-2026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371600"/>
            <a:ext cx="12188952" cy="50292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1371600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100584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50" b="1" i="0">
                <a:solidFill>
                  <a:srgbClr val="D99A07"/>
                </a:solidFill>
                <a:latin typeface="Calibri"/>
              </a:rPr>
              <a:t>6 · MODEL SEÇIMI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20624"/>
            <a:ext cx="113385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  <a:latin typeface="Calibri"/>
              </a:rPr>
              <a:t>Makine Öğrenmesi mi, Derin Öğrenme mi?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2404252"/>
            <a:ext cx="7315200" cy="2652999"/>
          </a:xfrm>
          <a:prstGeom prst="rect">
            <a:avLst/>
          </a:prstGeom>
          <a:solidFill>
            <a:srgbClr val="FFFFFF"/>
          </a:solidFill>
          <a:ln w="9525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paper_ml_vs_d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449972"/>
            <a:ext cx="7223760" cy="256155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65760" y="5066395"/>
            <a:ext cx="7223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1000" b="0" i="1">
                <a:solidFill>
                  <a:srgbClr val="6A7480"/>
                </a:solidFill>
                <a:latin typeface="Calibri"/>
              </a:rPr>
              <a:t>ML ve DL ailelerinin performans dağılımı</a:t>
            </a:r>
          </a:p>
        </p:txBody>
      </p:sp>
      <p:sp>
        <p:nvSpPr>
          <p:cNvPr id="10" name="Rectangle 9"/>
          <p:cNvSpPr/>
          <p:nvPr/>
        </p:nvSpPr>
        <p:spPr>
          <a:xfrm>
            <a:off x="7818120" y="1627632"/>
            <a:ext cx="4005072" cy="4526280"/>
          </a:xfrm>
          <a:prstGeom prst="rect">
            <a:avLst/>
          </a:prstGeom>
          <a:solidFill>
            <a:srgbClr val="E2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818120" y="1627632"/>
            <a:ext cx="91440" cy="4526280"/>
          </a:xfrm>
          <a:prstGeom prst="rect">
            <a:avLst/>
          </a:prstGeom>
          <a:solidFill>
            <a:srgbClr val="0A8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37576" y="1746504"/>
            <a:ext cx="363931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1" i="0">
                <a:solidFill>
                  <a:srgbClr val="102A4C"/>
                </a:solidFill>
                <a:latin typeface="Calibri"/>
              </a:rPr>
              <a:t>Çıkarım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37576" y="2176272"/>
            <a:ext cx="3621024" cy="3867912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42A30"/>
                </a:solidFill>
                <a:latin typeface="Calibri"/>
              </a:rPr>
              <a:t>7 ML modeli ortalama %92,75 ROC-AUC.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42A30"/>
                </a:solidFill>
                <a:latin typeface="Calibri"/>
              </a:rPr>
              <a:t>4 DL modeli ortalama %92,32.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42A30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42A30"/>
                </a:solidFill>
                <a:latin typeface="Calibri"/>
              </a:rPr>
              <a:t>1B-ESA dışlanınca DL ortalaması %94,62'ye çıkıyor.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42A30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42A30"/>
                </a:solidFill>
                <a:latin typeface="Calibri"/>
              </a:rPr>
              <a:t>Sonuç: 47 boyutlu öznitelik vektörü ayırt edici bilginin büyük bölümünü zaten taşıyor. Karmaşık derin ağ şart değil — hafif LightGBM yeterli ve daha kararlı.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6419088"/>
            <a:ext cx="11457432" cy="10972"/>
          </a:xfrm>
          <a:prstGeom prst="rect">
            <a:avLst/>
          </a:prstGeom>
          <a:solidFill>
            <a:srgbClr val="D2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6473952"/>
            <a:ext cx="420624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900" b="0" i="0">
                <a:solidFill>
                  <a:srgbClr val="6A7480"/>
                </a:solidFill>
                <a:latin typeface="Calibri"/>
              </a:rPr>
              <a:t>AURIS · YZ Üretimli Müzik Tespiti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6473952"/>
            <a:ext cx="715975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900" b="0" i="0">
                <a:solidFill>
                  <a:srgbClr val="6A7480"/>
                </a:solidFill>
                <a:latin typeface="Calibri"/>
              </a:rPr>
              <a:t>Hasan Arthur Altuntaş  ·  BM498  ·  Düzce Üniversitesi  ·  2025-2026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371600"/>
            <a:ext cx="12188952" cy="50292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1371600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100584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50" b="1" i="0">
                <a:solidFill>
                  <a:srgbClr val="D99A07"/>
                </a:solidFill>
                <a:latin typeface="Calibri"/>
              </a:rPr>
              <a:t>7 · SONUÇLAR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20624"/>
            <a:ext cx="113385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  <a:latin typeface="Calibri"/>
              </a:rPr>
              <a:t>LightGBM Performansı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627632"/>
            <a:ext cx="2697480" cy="137160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819656"/>
            <a:ext cx="2697480" cy="6858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2800" b="1" i="0">
                <a:solidFill>
                  <a:srgbClr val="D99A07"/>
                </a:solidFill>
                <a:latin typeface="Calibri"/>
              </a:rPr>
              <a:t>0,9548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491740"/>
            <a:ext cx="2697480" cy="46634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ROC-AUC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46120" y="1627632"/>
            <a:ext cx="2697480" cy="137160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46120" y="1819656"/>
            <a:ext cx="2697480" cy="6858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2800" b="1" i="0">
                <a:solidFill>
                  <a:srgbClr val="D99A07"/>
                </a:solidFill>
                <a:latin typeface="Calibri"/>
              </a:rPr>
              <a:t>0,8839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46120" y="2491740"/>
            <a:ext cx="2697480" cy="46634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Doğruluk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26480" y="1627632"/>
            <a:ext cx="2697480" cy="137160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26480" y="1819656"/>
            <a:ext cx="2697480" cy="6858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2800" b="1" i="0">
                <a:solidFill>
                  <a:srgbClr val="D99A07"/>
                </a:solidFill>
                <a:latin typeface="Calibri"/>
              </a:rPr>
              <a:t>0,8575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0" y="2491740"/>
            <a:ext cx="2697480" cy="46634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F1-Skoru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006840" y="1627632"/>
            <a:ext cx="2816352" cy="137160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06840" y="1819656"/>
            <a:ext cx="2816352" cy="6858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2200" b="1" i="0">
                <a:solidFill>
                  <a:srgbClr val="D99A07"/>
                </a:solidFill>
                <a:latin typeface="Calibri"/>
              </a:rPr>
              <a:t>0,4316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06840" y="2491740"/>
            <a:ext cx="2816352" cy="46634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Karar eşiği θ*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91330" y="3154680"/>
            <a:ext cx="3206458" cy="2880360"/>
          </a:xfrm>
          <a:prstGeom prst="rect">
            <a:avLst/>
          </a:prstGeom>
          <a:solidFill>
            <a:srgbClr val="FFFFFF"/>
          </a:solidFill>
          <a:ln w="9525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paper_confusion_matrix_lightgb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050" y="3200400"/>
            <a:ext cx="3115018" cy="278892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365760" y="6044183"/>
            <a:ext cx="36576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1000" b="0" i="1">
                <a:solidFill>
                  <a:srgbClr val="6A7480"/>
                </a:solidFill>
                <a:latin typeface="Calibri"/>
              </a:rPr>
              <a:t>Karmaşıklık matrisi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297680" y="3200400"/>
            <a:ext cx="7525512" cy="2788920"/>
          </a:xfrm>
          <a:prstGeom prst="rect">
            <a:avLst/>
          </a:prstGeom>
          <a:solidFill>
            <a:srgbClr val="EA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97680" y="3200400"/>
            <a:ext cx="91440" cy="278892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17136" y="3319272"/>
            <a:ext cx="715975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1" i="0">
                <a:solidFill>
                  <a:srgbClr val="102A4C"/>
                </a:solidFill>
                <a:latin typeface="Calibri"/>
              </a:rPr>
              <a:t>Karmaşıklık matrisi ne diyor?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17136" y="3749039"/>
            <a:ext cx="7141464" cy="2130552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42A30"/>
                </a:solidFill>
                <a:latin typeface="Calibri"/>
              </a:rPr>
              <a:t>Doğru negatif (insan→insan):  2.721  (%87,4)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42A30"/>
                </a:solidFill>
                <a:latin typeface="Calibri"/>
              </a:rPr>
              <a:t>Doğru pozitif (YZ→YZ):  1.862  (%89,4)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42A30"/>
                </a:solidFill>
                <a:latin typeface="Calibri"/>
              </a:rPr>
              <a:t>Yanlış pozitif (insan→YZ):  392  (%12,6)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42A30"/>
                </a:solidFill>
                <a:latin typeface="Calibri"/>
              </a:rPr>
              <a:t>Yanlış negatif (YZ→insan):  220  (%10,6)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42A30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42A30"/>
                </a:solidFill>
                <a:latin typeface="Calibri"/>
              </a:rPr>
              <a:t>Model her iki sınıfı da dengeli ayırıyor; Youden J eşiği (0,4316) ile yanlış alarm ile kaçırma arasında denge kuruldu.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6419088"/>
            <a:ext cx="11457432" cy="10972"/>
          </a:xfrm>
          <a:prstGeom prst="rect">
            <a:avLst/>
          </a:prstGeom>
          <a:solidFill>
            <a:srgbClr val="D2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6473952"/>
            <a:ext cx="420624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900" b="0" i="0">
                <a:solidFill>
                  <a:srgbClr val="6A7480"/>
                </a:solidFill>
                <a:latin typeface="Calibri"/>
              </a:rPr>
              <a:t>AURIS · YZ Üretimli Müzik Tespiti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3440" y="6473952"/>
            <a:ext cx="715975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900" b="0" i="0">
                <a:solidFill>
                  <a:srgbClr val="6A7480"/>
                </a:solidFill>
                <a:latin typeface="Calibri"/>
              </a:rPr>
              <a:t>Hasan Arthur Altuntaş  ·  BM498  ·  Düzce Üniversitesi  ·  2025-2026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371600"/>
            <a:ext cx="12188952" cy="50292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1371600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100584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50" b="1" i="0">
                <a:solidFill>
                  <a:srgbClr val="D99A07"/>
                </a:solidFill>
                <a:latin typeface="Calibri"/>
              </a:rPr>
              <a:t>7 · SONUÇLAR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20624"/>
            <a:ext cx="113385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  <a:latin typeface="Calibri"/>
              </a:rPr>
              <a:t>Kararı Açıklamak — SHAP Analizi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024128"/>
            <a:ext cx="1133856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0" i="0">
                <a:solidFill>
                  <a:srgbClr val="ADC4D6"/>
                </a:solidFill>
                <a:latin typeface="Calibri"/>
              </a:rPr>
              <a:t>Model neden 'yapay zekâ' diyor?</a:t>
            </a:r>
          </a:p>
        </p:txBody>
      </p:sp>
      <p:sp>
        <p:nvSpPr>
          <p:cNvPr id="8" name="Rectangle 7"/>
          <p:cNvSpPr/>
          <p:nvPr/>
        </p:nvSpPr>
        <p:spPr>
          <a:xfrm>
            <a:off x="1037373" y="1581912"/>
            <a:ext cx="4051733" cy="4297679"/>
          </a:xfrm>
          <a:prstGeom prst="rect">
            <a:avLst/>
          </a:prstGeom>
          <a:solidFill>
            <a:srgbClr val="FFFFFF"/>
          </a:solidFill>
          <a:ln w="9525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hap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093" y="1627632"/>
            <a:ext cx="3960293" cy="42062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65760" y="5888736"/>
            <a:ext cx="5394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1000" b="0" i="1">
                <a:solidFill>
                  <a:srgbClr val="6A7480"/>
                </a:solidFill>
                <a:latin typeface="Calibri"/>
              </a:rPr>
              <a:t>TreeSHAP global etki diyagramı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89320" y="1572768"/>
            <a:ext cx="58521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1" i="0">
                <a:solidFill>
                  <a:srgbClr val="102A4C"/>
                </a:solidFill>
                <a:latin typeface="Calibri"/>
              </a:rPr>
              <a:t>En Etkili 5 Öznitelik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89320" y="1965960"/>
            <a:ext cx="548640" cy="384048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89320" y="1965960"/>
            <a:ext cx="5486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Calibri"/>
              </a:rPr>
              <a:t>#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37959" y="1965960"/>
            <a:ext cx="3657600" cy="384048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29399" y="1965960"/>
            <a:ext cx="347472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Öznitelik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195559" y="1965960"/>
            <a:ext cx="1371600" cy="384048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195559" y="1965960"/>
            <a:ext cx="137160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Calibri"/>
              </a:rPr>
              <a:t>Önem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989320" y="2350008"/>
            <a:ext cx="548640" cy="457200"/>
          </a:xfrm>
          <a:prstGeom prst="rect">
            <a:avLst/>
          </a:prstGeom>
          <a:solidFill>
            <a:srgbClr val="FFF3DD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16752" y="2350008"/>
            <a:ext cx="493776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100" b="1" i="0">
                <a:solidFill>
                  <a:srgbClr val="1B6E3C"/>
                </a:solidFill>
                <a:latin typeface="Calibri"/>
              </a:rPr>
              <a:t>1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37959" y="2350008"/>
            <a:ext cx="3657600" cy="457200"/>
          </a:xfrm>
          <a:prstGeom prst="rect">
            <a:avLst/>
          </a:prstGeom>
          <a:solidFill>
            <a:srgbClr val="FFF3DD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29399" y="2350008"/>
            <a:ext cx="347472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1" i="0">
                <a:solidFill>
                  <a:srgbClr val="1B6E3C"/>
                </a:solidFill>
                <a:latin typeface="Calibri"/>
              </a:rPr>
              <a:t>spectral_flatness_std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195559" y="2350008"/>
            <a:ext cx="1371600" cy="457200"/>
          </a:xfrm>
          <a:prstGeom prst="rect">
            <a:avLst/>
          </a:prstGeom>
          <a:solidFill>
            <a:srgbClr val="FFF3DD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22991" y="2350008"/>
            <a:ext cx="1316736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100" b="1" i="0">
                <a:solidFill>
                  <a:srgbClr val="1B6E3C"/>
                </a:solidFill>
                <a:latin typeface="Calibri"/>
              </a:rPr>
              <a:t>0,0619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89320" y="2807208"/>
            <a:ext cx="548640" cy="457200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16752" y="2807208"/>
            <a:ext cx="493776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100" b="0" i="0">
                <a:solidFill>
                  <a:srgbClr val="242A30"/>
                </a:solidFill>
                <a:latin typeface="Calibri"/>
              </a:rPr>
              <a:t>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37959" y="2807208"/>
            <a:ext cx="3657600" cy="457200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29399" y="2807208"/>
            <a:ext cx="347472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 i="0">
                <a:solidFill>
                  <a:srgbClr val="242A30"/>
                </a:solidFill>
                <a:latin typeface="Calibri"/>
              </a:rPr>
              <a:t>spectral_contrast_mean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195559" y="2807208"/>
            <a:ext cx="1371600" cy="457200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222991" y="2807208"/>
            <a:ext cx="1316736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100" b="0" i="0">
                <a:solidFill>
                  <a:srgbClr val="242A30"/>
                </a:solidFill>
                <a:latin typeface="Calibri"/>
              </a:rPr>
              <a:t>0,0467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989320" y="3264408"/>
            <a:ext cx="54864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16752" y="3264408"/>
            <a:ext cx="493776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100" b="0" i="0">
                <a:solidFill>
                  <a:srgbClr val="242A30"/>
                </a:solidFill>
                <a:latin typeface="Calibri"/>
              </a:rPr>
              <a:t>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537959" y="3264408"/>
            <a:ext cx="36576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629399" y="3264408"/>
            <a:ext cx="347472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 i="0">
                <a:solidFill>
                  <a:srgbClr val="242A30"/>
                </a:solidFill>
                <a:latin typeface="Calibri"/>
              </a:rPr>
              <a:t>rms_energy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195559" y="3264408"/>
            <a:ext cx="13716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222991" y="3264408"/>
            <a:ext cx="1316736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100" b="0" i="0">
                <a:solidFill>
                  <a:srgbClr val="242A30"/>
                </a:solidFill>
                <a:latin typeface="Calibri"/>
              </a:rPr>
              <a:t>0,0456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989320" y="3721608"/>
            <a:ext cx="548640" cy="457200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016752" y="3721608"/>
            <a:ext cx="493776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100" b="0" i="0">
                <a:solidFill>
                  <a:srgbClr val="242A30"/>
                </a:solidFill>
                <a:latin typeface="Calibri"/>
              </a:rPr>
              <a:t>4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537959" y="3721608"/>
            <a:ext cx="3657600" cy="457200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629399" y="3721608"/>
            <a:ext cx="347472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 i="0">
                <a:solidFill>
                  <a:srgbClr val="242A30"/>
                </a:solidFill>
                <a:latin typeface="Calibri"/>
              </a:rPr>
              <a:t>onset_strength_std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195559" y="3721608"/>
            <a:ext cx="1371600" cy="457200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222991" y="3721608"/>
            <a:ext cx="1316736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100" b="0" i="0">
                <a:solidFill>
                  <a:srgbClr val="242A30"/>
                </a:solidFill>
                <a:latin typeface="Calibri"/>
              </a:rPr>
              <a:t>0,0388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989320" y="4178808"/>
            <a:ext cx="54864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016752" y="4178808"/>
            <a:ext cx="493776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100" b="0" i="0">
                <a:solidFill>
                  <a:srgbClr val="242A30"/>
                </a:solidFill>
                <a:latin typeface="Calibri"/>
              </a:rPr>
              <a:t>5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537959" y="4178808"/>
            <a:ext cx="36576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629399" y="4178808"/>
            <a:ext cx="347472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 i="0">
                <a:solidFill>
                  <a:srgbClr val="242A30"/>
                </a:solidFill>
                <a:latin typeface="Calibri"/>
              </a:rPr>
              <a:t>spectral_flatness_mean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195559" y="4178808"/>
            <a:ext cx="13716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222991" y="4178808"/>
            <a:ext cx="1316736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100" b="0" i="0">
                <a:solidFill>
                  <a:srgbClr val="242A30"/>
                </a:solidFill>
                <a:latin typeface="Calibri"/>
              </a:rPr>
              <a:t>0,0370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989320" y="4754880"/>
            <a:ext cx="5852160" cy="1280160"/>
          </a:xfrm>
          <a:prstGeom prst="rect">
            <a:avLst/>
          </a:prstGeom>
          <a:solidFill>
            <a:srgbClr val="E2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989320" y="4754880"/>
            <a:ext cx="91440" cy="1280160"/>
          </a:xfrm>
          <a:prstGeom prst="rect">
            <a:avLst/>
          </a:prstGeom>
          <a:solidFill>
            <a:srgbClr val="0A8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208776" y="4873752"/>
            <a:ext cx="54864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1" i="0">
                <a:solidFill>
                  <a:srgbClr val="102A4C"/>
                </a:solidFill>
                <a:latin typeface="Calibri"/>
              </a:rPr>
              <a:t>Yorum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08776" y="5303520"/>
            <a:ext cx="5468112" cy="621792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42A30"/>
                </a:solidFill>
                <a:latin typeface="Calibri"/>
              </a:rPr>
              <a:t>YZ müziği spektral açıdan daha 'düz' ve düzenli. spectral_flatness_std bu farkı yakalayan en güçlü öznitelik — bulgu bağımsız deepfake literatürüyle de örtüşüyor.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65760" y="6419088"/>
            <a:ext cx="11457432" cy="10972"/>
          </a:xfrm>
          <a:prstGeom prst="rect">
            <a:avLst/>
          </a:prstGeom>
          <a:solidFill>
            <a:srgbClr val="D2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65760" y="6473952"/>
            <a:ext cx="420624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900" b="0" i="0">
                <a:solidFill>
                  <a:srgbClr val="6A7480"/>
                </a:solidFill>
                <a:latin typeface="Calibri"/>
              </a:rPr>
              <a:t>AURIS · YZ Üretimli Müzik Tespiti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663440" y="6473952"/>
            <a:ext cx="715975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900" b="0" i="0">
                <a:solidFill>
                  <a:srgbClr val="6A7480"/>
                </a:solidFill>
                <a:latin typeface="Calibri"/>
              </a:rPr>
              <a:t>Hasan Arthur Altuntaş  ·  BM498  ·  Düzce Üniversitesi  ·  2025-2026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371600"/>
            <a:ext cx="12188952" cy="50292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1371600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100584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50" b="1" i="0">
                <a:solidFill>
                  <a:srgbClr val="D99A07"/>
                </a:solidFill>
                <a:latin typeface="Calibri"/>
              </a:rPr>
              <a:t>7 · SONUÇLAR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20624"/>
            <a:ext cx="113385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  <a:latin typeface="Calibri"/>
              </a:rPr>
              <a:t>Hangi Kaynakta Ne Kadar Başarılı?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024128"/>
            <a:ext cx="1133856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0" i="0">
                <a:solidFill>
                  <a:srgbClr val="ADC4D6"/>
                </a:solidFill>
                <a:latin typeface="Calibri"/>
              </a:rPr>
              <a:t>Dürüst değerlendirme: güçlü ve zayıf noktalar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627632"/>
            <a:ext cx="5623560" cy="2103120"/>
          </a:xfrm>
          <a:prstGeom prst="rect">
            <a:avLst/>
          </a:prstGeom>
          <a:solidFill>
            <a:srgbClr val="E8F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627632"/>
            <a:ext cx="91440" cy="2103120"/>
          </a:xfrm>
          <a:prstGeom prst="rect">
            <a:avLst/>
          </a:prstGeom>
          <a:solidFill>
            <a:srgbClr val="1B6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5216" y="1746504"/>
            <a:ext cx="52578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1" i="0">
                <a:solidFill>
                  <a:srgbClr val="102A4C"/>
                </a:solidFill>
                <a:latin typeface="Calibri"/>
              </a:rPr>
              <a:t>İyi sonuçlar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2176272"/>
            <a:ext cx="5239512" cy="1444751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42A30"/>
                </a:solidFill>
                <a:latin typeface="Calibri"/>
              </a:rPr>
              <a:t>Suno parçaları:  %93,0 duyarlılık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42A30"/>
                </a:solidFill>
                <a:latin typeface="Calibri"/>
              </a:rPr>
              <a:t>Echoes alt kümesi:  %88,6 duyarlılık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42A30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42A30"/>
                </a:solidFill>
                <a:latin typeface="Calibri"/>
              </a:rPr>
              <a:t>Müzik üretim sistemlerinin spektral imzaları belirgin olduğundan model bunları yüksek doğrulukla yakalıyor.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3913632"/>
            <a:ext cx="5623560" cy="2103120"/>
          </a:xfrm>
          <a:prstGeom prst="rect">
            <a:avLst/>
          </a:prstGeom>
          <a:solidFill>
            <a:srgbClr val="F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65760" y="3913632"/>
            <a:ext cx="91440" cy="2103120"/>
          </a:xfrm>
          <a:prstGeom prst="rect">
            <a:avLst/>
          </a:prstGeom>
          <a:solidFill>
            <a:srgbClr val="B3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5216" y="4032504"/>
            <a:ext cx="52578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1" i="0">
                <a:solidFill>
                  <a:srgbClr val="102A4C"/>
                </a:solidFill>
                <a:latin typeface="Calibri"/>
              </a:rPr>
              <a:t>Zayıf nokta — neden?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" y="4462272"/>
            <a:ext cx="5239512" cy="1444751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42A30"/>
                </a:solidFill>
                <a:latin typeface="Calibri"/>
              </a:rPr>
              <a:t>Deepfake seti:  %50,0 duyarlılık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42A30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42A30"/>
                </a:solidFill>
                <a:latin typeface="Calibri"/>
              </a:rPr>
              <a:t>Bu küme konuşma deepfake'inden türetilmiş; müzik üretim imzalarını taşımıyor. Düşüş bir başarısızlık değil, dağılım kayması (distribution shift) — gelecekte alan uyarlamasıyla giderilebilir.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981037" y="1581912"/>
            <a:ext cx="4033316" cy="2834640"/>
          </a:xfrm>
          <a:prstGeom prst="rect">
            <a:avLst/>
          </a:prstGeom>
          <a:solidFill>
            <a:srgbClr val="FFFFFF"/>
          </a:solidFill>
          <a:ln w="9525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threshold_sw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6757" y="1627632"/>
            <a:ext cx="3941876" cy="27432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172200" y="4425696"/>
            <a:ext cx="5650992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1000" b="0" i="1">
                <a:solidFill>
                  <a:srgbClr val="6A7480"/>
                </a:solidFill>
                <a:latin typeface="Calibri"/>
              </a:rPr>
              <a:t>Karar eşiği taraması (0,40–0,50 platosu)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72200" y="4617720"/>
            <a:ext cx="5650992" cy="1417320"/>
          </a:xfrm>
          <a:prstGeom prst="rect">
            <a:avLst/>
          </a:prstGeom>
          <a:solidFill>
            <a:srgbClr val="EA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72200" y="4617720"/>
            <a:ext cx="91440" cy="1417320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91656" y="4736592"/>
            <a:ext cx="5285231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1" i="0">
                <a:solidFill>
                  <a:srgbClr val="102A4C"/>
                </a:solidFill>
                <a:latin typeface="Calibri"/>
              </a:rPr>
              <a:t>Neden bunu gösteriyorum?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91656" y="5166359"/>
            <a:ext cx="5266944" cy="758952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42A30"/>
                </a:solidFill>
                <a:latin typeface="Calibri"/>
              </a:rPr>
              <a:t>Bir sistemin sınırlarını bilmek, onu güçlendirmenin ilk adımıdır. Deepfake düşüşünü saklamak yerine analiz ettim ve gelecek çalışma olarak planladım.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6419088"/>
            <a:ext cx="11457432" cy="10972"/>
          </a:xfrm>
          <a:prstGeom prst="rect">
            <a:avLst/>
          </a:prstGeom>
          <a:solidFill>
            <a:srgbClr val="D2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5760" y="6473952"/>
            <a:ext cx="420624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900" b="0" i="0">
                <a:solidFill>
                  <a:srgbClr val="6A7480"/>
                </a:solidFill>
                <a:latin typeface="Calibri"/>
              </a:rPr>
              <a:t>AURIS · YZ Üretimli Müzik Tespiti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0" y="6473952"/>
            <a:ext cx="715975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900" b="0" i="0">
                <a:solidFill>
                  <a:srgbClr val="6A7480"/>
                </a:solidFill>
                <a:latin typeface="Calibri"/>
              </a:rPr>
              <a:t>Hasan Arthur Altuntaş  ·  BM498  ·  Düzce Üniversitesi  ·  2025-2026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371600"/>
            <a:ext cx="12188952" cy="50292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1371600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100584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50" b="1" i="0">
                <a:solidFill>
                  <a:srgbClr val="D99A07"/>
                </a:solidFill>
                <a:latin typeface="Calibri"/>
              </a:rPr>
              <a:t>8 · ARAYÜZLER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20624"/>
            <a:ext cx="113385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  <a:latin typeface="Calibri"/>
              </a:rPr>
              <a:t>Web Platformu — Gerçek Ekran Görüntüsü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024128"/>
            <a:ext cx="1133856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0" i="0">
                <a:solidFill>
                  <a:srgbClr val="ADC4D6"/>
                </a:solidFill>
                <a:latin typeface="Calibri"/>
              </a:rPr>
              <a:t>Next.js 14 · TypeScript · Tailwind CSS</a:t>
            </a:r>
          </a:p>
        </p:txBody>
      </p:sp>
      <p:sp>
        <p:nvSpPr>
          <p:cNvPr id="8" name="Rectangle 7"/>
          <p:cNvSpPr/>
          <p:nvPr/>
        </p:nvSpPr>
        <p:spPr>
          <a:xfrm>
            <a:off x="585215" y="1581912"/>
            <a:ext cx="6967728" cy="4389120"/>
          </a:xfrm>
          <a:prstGeom prst="rect">
            <a:avLst/>
          </a:prstGeom>
          <a:solidFill>
            <a:srgbClr val="FFFFFF"/>
          </a:solidFill>
          <a:ln w="9525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auris_web_h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5" y="1627632"/>
            <a:ext cx="6876288" cy="42976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65760" y="5980176"/>
            <a:ext cx="74066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1000" b="0" i="1">
                <a:solidFill>
                  <a:srgbClr val="6A7480"/>
                </a:solidFill>
                <a:latin typeface="Calibri"/>
              </a:rPr>
              <a:t>AURIS web arayüzü — analiz sayfası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55279" y="1627632"/>
            <a:ext cx="3867912" cy="4297680"/>
          </a:xfrm>
          <a:prstGeom prst="rect">
            <a:avLst/>
          </a:prstGeom>
          <a:solidFill>
            <a:srgbClr val="E2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955279" y="1627632"/>
            <a:ext cx="91440" cy="4297680"/>
          </a:xfrm>
          <a:prstGeom prst="rect">
            <a:avLst/>
          </a:prstGeom>
          <a:solidFill>
            <a:srgbClr val="0A8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74736" y="1746504"/>
            <a:ext cx="350215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1" i="0">
                <a:solidFill>
                  <a:srgbClr val="102A4C"/>
                </a:solidFill>
                <a:latin typeface="Calibri"/>
              </a:rPr>
              <a:t>Web özellikleri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74736" y="2176272"/>
            <a:ext cx="3483864" cy="3639312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42A30"/>
                </a:solidFill>
                <a:latin typeface="Calibri"/>
              </a:rPr>
              <a:t>YouTube bağlantısı veya dosya yükleme ile analiz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42A30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42A30"/>
                </a:solidFill>
                <a:latin typeface="Calibri"/>
              </a:rPr>
              <a:t>AURIS Pipeline paneli analiz adımlarını canlı gösterir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42A30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42A30"/>
                </a:solidFill>
                <a:latin typeface="Calibri"/>
              </a:rPr>
              <a:t>Spotify / Apple Music entegrasyonu (yakında)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42A30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42A30"/>
                </a:solidFill>
                <a:latin typeface="Calibri"/>
              </a:rPr>
              <a:t>Statik site üretimi → hızlı yükleme, düşük maliyet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42A30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42A30"/>
                </a:solidFill>
                <a:latin typeface="Calibri"/>
              </a:rPr>
              <a:t>Ortalama sayfa yükleme: 1,2 sn · Lighthouse 94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6419088"/>
            <a:ext cx="11457432" cy="10972"/>
          </a:xfrm>
          <a:prstGeom prst="rect">
            <a:avLst/>
          </a:prstGeom>
          <a:solidFill>
            <a:srgbClr val="D2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6473952"/>
            <a:ext cx="420624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900" b="0" i="0">
                <a:solidFill>
                  <a:srgbClr val="6A7480"/>
                </a:solidFill>
                <a:latin typeface="Calibri"/>
              </a:rPr>
              <a:t>AURIS · YZ Üretimli Müzik Tespiti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63440" y="6473952"/>
            <a:ext cx="715975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900" b="0" i="0">
                <a:solidFill>
                  <a:srgbClr val="6A7480"/>
                </a:solidFill>
                <a:latin typeface="Calibri"/>
              </a:rPr>
              <a:t>Hasan Arthur Altuntaş  ·  BM498  ·  Düzce Üniversitesi  ·  2025-2026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371600"/>
            <a:ext cx="12188952" cy="50292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1371600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100584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50" b="1" i="0">
                <a:solidFill>
                  <a:srgbClr val="D99A07"/>
                </a:solidFill>
                <a:latin typeface="Calibri"/>
              </a:rPr>
              <a:t>8 · ARAYÜZLER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20624"/>
            <a:ext cx="113385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  <a:latin typeface="Calibri"/>
              </a:rPr>
              <a:t>Web — Analiz ve Sonuç Akışı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584769"/>
            <a:ext cx="5715000" cy="3606165"/>
          </a:xfrm>
          <a:prstGeom prst="rect">
            <a:avLst/>
          </a:prstGeom>
          <a:solidFill>
            <a:srgbClr val="FFFFFF"/>
          </a:solidFill>
          <a:ln w="9525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auris_web_sec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630489"/>
            <a:ext cx="5623560" cy="351472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65760" y="5200078"/>
            <a:ext cx="56235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1000" b="0" i="1">
                <a:solidFill>
                  <a:srgbClr val="6A7480"/>
                </a:solidFill>
                <a:latin typeface="Calibri"/>
              </a:rPr>
              <a:t>Dosya yükleme ve analiz alanı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35624" y="1581912"/>
            <a:ext cx="5724144" cy="3611880"/>
          </a:xfrm>
          <a:prstGeom prst="rect">
            <a:avLst/>
          </a:prstGeom>
          <a:solidFill>
            <a:srgbClr val="FFFFFF"/>
          </a:solidFill>
          <a:ln w="9525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auris_web_sec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1344" y="1627632"/>
            <a:ext cx="5632704" cy="352044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172200" y="5202936"/>
            <a:ext cx="5650992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1000" b="0" i="1">
                <a:solidFill>
                  <a:srgbClr val="6A7480"/>
                </a:solidFill>
                <a:latin typeface="Calibri"/>
              </a:rPr>
              <a:t>YouTube bağlantı analizi ve sonuç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5303520"/>
            <a:ext cx="11457432" cy="777240"/>
          </a:xfrm>
          <a:prstGeom prst="rect">
            <a:avLst/>
          </a:prstGeom>
          <a:solidFill>
            <a:srgbClr val="EA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65760" y="5303520"/>
            <a:ext cx="91440" cy="777240"/>
          </a:xfrm>
          <a:prstGeom prst="rect">
            <a:avLst/>
          </a:prstGeom>
          <a:solidFill>
            <a:srgbClr val="0A8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5216" y="5422392"/>
            <a:ext cx="1109167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1" i="0">
                <a:solidFill>
                  <a:srgbClr val="102A4C"/>
                </a:solidFill>
                <a:latin typeface="Calibri"/>
              </a:rPr>
              <a:t>Kullanıcı akışı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" y="5852159"/>
            <a:ext cx="11073384" cy="118872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42A30"/>
                </a:solidFill>
                <a:latin typeface="Calibri"/>
              </a:rPr>
              <a:t>Kullanıcı dosya/bağlantı verir → sistem 47 özniteliği çıkarır → LightGBM olasılık üretir → sonuç skoru ve SHAP gerekçesiyle birlikte gösterilir.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6419088"/>
            <a:ext cx="11457432" cy="10972"/>
          </a:xfrm>
          <a:prstGeom prst="rect">
            <a:avLst/>
          </a:prstGeom>
          <a:solidFill>
            <a:srgbClr val="D2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6473952"/>
            <a:ext cx="420624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900" b="0" i="0">
                <a:solidFill>
                  <a:srgbClr val="6A7480"/>
                </a:solidFill>
                <a:latin typeface="Calibri"/>
              </a:rPr>
              <a:t>AURIS · YZ Üretimli Müzik Tespiti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63440" y="6473952"/>
            <a:ext cx="715975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900" b="0" i="0">
                <a:solidFill>
                  <a:srgbClr val="6A7480"/>
                </a:solidFill>
                <a:latin typeface="Calibri"/>
              </a:rPr>
              <a:t>Hasan Arthur Altuntaş  ·  BM498  ·  Düzce Üniversitesi  ·  2025-2026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371600"/>
            <a:ext cx="12188952" cy="50292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1371600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100584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50" b="1" i="0">
                <a:solidFill>
                  <a:srgbClr val="D99A07"/>
                </a:solidFill>
                <a:latin typeface="Calibri"/>
              </a:rPr>
              <a:t>8 · ARAYÜZLER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20624"/>
            <a:ext cx="113385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  <a:latin typeface="Calibri"/>
              </a:rPr>
              <a:t>Mobil Uygulama — Gerçek Ekran Görüntüleri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024128"/>
            <a:ext cx="1133856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0" i="0">
                <a:solidFill>
                  <a:srgbClr val="ADC4D6"/>
                </a:solidFill>
                <a:latin typeface="Calibri"/>
              </a:rPr>
              <a:t>Kotlin · Jetpack Compose · MVVM mimarisi</a:t>
            </a:r>
          </a:p>
        </p:txBody>
      </p:sp>
      <p:sp>
        <p:nvSpPr>
          <p:cNvPr id="8" name="Rectangle 7"/>
          <p:cNvSpPr/>
          <p:nvPr/>
        </p:nvSpPr>
        <p:spPr>
          <a:xfrm>
            <a:off x="1089046" y="1581912"/>
            <a:ext cx="2119587" cy="4480559"/>
          </a:xfrm>
          <a:prstGeom prst="rect">
            <a:avLst/>
          </a:prstGeom>
          <a:solidFill>
            <a:srgbClr val="FFFFFF"/>
          </a:solidFill>
          <a:ln w="9525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auris_mobile_h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4766" y="1627632"/>
            <a:ext cx="2028147" cy="43891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14400" y="6071616"/>
            <a:ext cx="24688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1000" b="0" i="1">
                <a:solidFill>
                  <a:srgbClr val="6A7480"/>
                </a:solidFill>
                <a:latin typeface="Calibri"/>
              </a:rPr>
              <a:t>AURIS ana ekranı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32246" y="1581912"/>
            <a:ext cx="2119587" cy="4480559"/>
          </a:xfrm>
          <a:prstGeom prst="rect">
            <a:avLst/>
          </a:prstGeom>
          <a:solidFill>
            <a:srgbClr val="FFFFFF"/>
          </a:solidFill>
          <a:ln w="9525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auris_mobile_uploa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77966" y="1627632"/>
            <a:ext cx="2028147" cy="43891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657600" y="6071616"/>
            <a:ext cx="24688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1000" b="0" i="1">
                <a:solidFill>
                  <a:srgbClr val="6A7480"/>
                </a:solidFill>
                <a:latin typeface="Calibri"/>
              </a:rPr>
              <a:t>Yükleme sekmeleri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0" y="1627632"/>
            <a:ext cx="5239512" cy="4389120"/>
          </a:xfrm>
          <a:prstGeom prst="rect">
            <a:avLst/>
          </a:prstGeom>
          <a:solidFill>
            <a:srgbClr val="E2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80" y="1627632"/>
            <a:ext cx="91440" cy="4389120"/>
          </a:xfrm>
          <a:prstGeom prst="rect">
            <a:avLst/>
          </a:prstGeom>
          <a:solidFill>
            <a:srgbClr val="0A8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03136" y="1746504"/>
            <a:ext cx="487375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1" i="0">
                <a:solidFill>
                  <a:srgbClr val="102A4C"/>
                </a:solidFill>
                <a:latin typeface="Calibri"/>
              </a:rPr>
              <a:t>Mobil özellikler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3136" y="2176272"/>
            <a:ext cx="4855464" cy="3730752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242A30"/>
                </a:solidFill>
                <a:latin typeface="Calibri"/>
              </a:rPr>
              <a:t>Android 8.0+ desteği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242A30"/>
                </a:solidFill>
                <a:latin typeface="Calibri"/>
              </a:rPr>
              <a:t>Jetpack Compose ile modern, az kodlu arayüz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242A30"/>
                </a:solidFill>
                <a:latin typeface="Calibri"/>
              </a:rPr>
              <a:t>MVVM: iş mantığı arayüzden ayrı → test edilebilir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242A30"/>
                </a:solidFill>
                <a:latin typeface="Calibri"/>
              </a:rPr>
              <a:t>Retrofit + Kotlin Coroutines ile asenkron ağ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242A30"/>
                </a:solidFill>
                <a:latin typeface="Calibri"/>
              </a:rPr>
              <a:t>Room veritabanı ile yerel geçmiş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242A30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242A30"/>
                </a:solidFill>
                <a:latin typeface="Calibri"/>
              </a:rPr>
              <a:t>Başlatma süresi: 0,8 sn · Bellek: ~120 MB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242A30"/>
                </a:solidFill>
                <a:latin typeface="Calibri"/>
              </a:rPr>
              <a:t>10 analiz için yalnız %3 batarya tüketimi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6419088"/>
            <a:ext cx="11457432" cy="10972"/>
          </a:xfrm>
          <a:prstGeom prst="rect">
            <a:avLst/>
          </a:prstGeom>
          <a:solidFill>
            <a:srgbClr val="D2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" y="6473952"/>
            <a:ext cx="420624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900" b="0" i="0">
                <a:solidFill>
                  <a:srgbClr val="6A7480"/>
                </a:solidFill>
                <a:latin typeface="Calibri"/>
              </a:rPr>
              <a:t>AURIS · YZ Üretimli Müzik Tespiti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63440" y="6473952"/>
            <a:ext cx="715975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900" b="0" i="0">
                <a:solidFill>
                  <a:srgbClr val="6A7480"/>
                </a:solidFill>
                <a:latin typeface="Calibri"/>
              </a:rPr>
              <a:t>Hasan Arthur Altuntaş  ·  BM498  ·  Düzce Üniversitesi  ·  2025-2026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371600"/>
            <a:ext cx="12188952" cy="50292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1371600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100584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50" b="1" i="0">
                <a:solidFill>
                  <a:srgbClr val="D99A07"/>
                </a:solidFill>
                <a:latin typeface="Calibri"/>
              </a:rPr>
              <a:t>GENEL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20624"/>
            <a:ext cx="113385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  <a:latin typeface="Calibri"/>
              </a:rPr>
              <a:t>Ne Kullandım? — Teknoloji Yığını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024128"/>
            <a:ext cx="1133856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0" i="0">
                <a:solidFill>
                  <a:srgbClr val="ADC4D6"/>
                </a:solidFill>
                <a:latin typeface="Calibri"/>
              </a:rPr>
              <a:t>Her katmanda neden bu araçları seçtim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627632"/>
            <a:ext cx="5577840" cy="2057400"/>
          </a:xfrm>
          <a:prstGeom prst="rect">
            <a:avLst/>
          </a:prstGeom>
          <a:solidFill>
            <a:srgbClr val="FFFFFF"/>
          </a:solidFill>
          <a:ln w="15240">
            <a:solidFill>
              <a:srgbClr val="0A8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627632"/>
            <a:ext cx="5577840" cy="502920"/>
          </a:xfrm>
          <a:prstGeom prst="rect">
            <a:avLst/>
          </a:prstGeom>
          <a:solidFill>
            <a:srgbClr val="0A8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1627632"/>
            <a:ext cx="5303520" cy="5029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Yapay Zekâ / Veri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249424"/>
            <a:ext cx="512064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•  Python · librosa (öznitelik)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596896"/>
            <a:ext cx="512064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•  scikit-learn · LightGBM · XGBoost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2944368"/>
            <a:ext cx="512064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•  PyTorch (derin modeller)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3291840"/>
            <a:ext cx="512064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•  SHAP (açıklanabilirlik)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72200" y="1627632"/>
            <a:ext cx="5577840" cy="2057400"/>
          </a:xfrm>
          <a:prstGeom prst="rect">
            <a:avLst/>
          </a:prstGeom>
          <a:solidFill>
            <a:srgbClr val="FFFFFF"/>
          </a:solidFill>
          <a:ln w="15240">
            <a:solidFill>
              <a:srgbClr val="2E5A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2200" y="1627632"/>
            <a:ext cx="5577840" cy="502920"/>
          </a:xfrm>
          <a:prstGeom prst="rect">
            <a:avLst/>
          </a:prstGeom>
          <a:solidFill>
            <a:srgbClr val="2E5A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36792" y="1627632"/>
            <a:ext cx="5303520" cy="5029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Web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249424"/>
            <a:ext cx="512064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•  Next.js 14 · React 18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2596896"/>
            <a:ext cx="512064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•  TypeScript (tip güvenliği)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2944368"/>
            <a:ext cx="512064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•  Tailwind CSS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3291840"/>
            <a:ext cx="512064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•  Statik site üretimi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3867912"/>
            <a:ext cx="5577840" cy="2057400"/>
          </a:xfrm>
          <a:prstGeom prst="rect">
            <a:avLst/>
          </a:prstGeom>
          <a:solidFill>
            <a:srgbClr val="FFFFFF"/>
          </a:solidFill>
          <a:ln w="15240">
            <a:solidFill>
              <a:srgbClr val="8A6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65760" y="3867912"/>
            <a:ext cx="5577840" cy="502920"/>
          </a:xfrm>
          <a:prstGeom prst="rect">
            <a:avLst/>
          </a:prstGeom>
          <a:solidFill>
            <a:srgbClr val="8A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30352" y="3867912"/>
            <a:ext cx="5303520" cy="5029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Mobil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4489704"/>
            <a:ext cx="512064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•  Kotlin · Jetpack Compose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4837176"/>
            <a:ext cx="512064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•  MVVM mimarisi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" y="5184648"/>
            <a:ext cx="512064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•  Retrofit · Coroutines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4360" y="5532120"/>
            <a:ext cx="512064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•  Room veritabanı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72200" y="3867912"/>
            <a:ext cx="5577840" cy="2057400"/>
          </a:xfrm>
          <a:prstGeom prst="rect">
            <a:avLst/>
          </a:prstGeom>
          <a:solidFill>
            <a:srgbClr val="FFFFFF"/>
          </a:solidFill>
          <a:ln w="15240">
            <a:solidFill>
              <a:srgbClr val="102A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172200" y="3867912"/>
            <a:ext cx="5577840" cy="50292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36792" y="3867912"/>
            <a:ext cx="5303520" cy="5029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Backend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4489704"/>
            <a:ext cx="512064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•  Python · FastAPI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4837176"/>
            <a:ext cx="512064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•  RESTful API + JSON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5184648"/>
            <a:ext cx="512064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•  Dosya doğrulama / güvenlik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5532120"/>
            <a:ext cx="512064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•  Otomatik API dokümanı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6419088"/>
            <a:ext cx="11457432" cy="10972"/>
          </a:xfrm>
          <a:prstGeom prst="rect">
            <a:avLst/>
          </a:prstGeom>
          <a:solidFill>
            <a:srgbClr val="D2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6473952"/>
            <a:ext cx="420624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900" b="0" i="0">
                <a:solidFill>
                  <a:srgbClr val="6A7480"/>
                </a:solidFill>
                <a:latin typeface="Calibri"/>
              </a:rPr>
              <a:t>AURIS · YZ Üretimli Müzik Tespiti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663440" y="6473952"/>
            <a:ext cx="715975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900" b="0" i="0">
                <a:solidFill>
                  <a:srgbClr val="6A7480"/>
                </a:solidFill>
                <a:latin typeface="Calibri"/>
              </a:rPr>
              <a:t>Hasan Arthur Altuntaş  ·  BM498  ·  Düzce Üniversitesi  ·  2025-2026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371600"/>
            <a:ext cx="12188952" cy="50292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1371600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100584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50" b="1" i="0">
                <a:solidFill>
                  <a:srgbClr val="D99A07"/>
                </a:solidFill>
                <a:latin typeface="Calibri"/>
              </a:rPr>
              <a:t>9 · KARŞILAŞTIRMA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20624"/>
            <a:ext cx="113385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  <a:latin typeface="Calibri"/>
              </a:rPr>
              <a:t>AURIS Literatüre Göre Nerede?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024128"/>
            <a:ext cx="1133856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0" i="0">
                <a:solidFill>
                  <a:srgbClr val="ADC4D6"/>
                </a:solidFill>
                <a:latin typeface="Calibri"/>
              </a:rPr>
              <a:t>Yayımlanmış çalışmalarla sayısal karşılaştırma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627632"/>
            <a:ext cx="2651760" cy="384048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627632"/>
            <a:ext cx="2468879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Çalışma</a:t>
            </a:r>
          </a:p>
        </p:txBody>
      </p:sp>
      <p:sp>
        <p:nvSpPr>
          <p:cNvPr id="10" name="Rectangle 9"/>
          <p:cNvSpPr/>
          <p:nvPr/>
        </p:nvSpPr>
        <p:spPr>
          <a:xfrm>
            <a:off x="3017520" y="1627632"/>
            <a:ext cx="3383280" cy="384048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08960" y="1627632"/>
            <a:ext cx="320040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Yaklaşım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1627632"/>
            <a:ext cx="1828800" cy="384048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1627632"/>
            <a:ext cx="182880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Calibri"/>
              </a:rPr>
              <a:t>Veri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0" y="1627632"/>
            <a:ext cx="1783080" cy="384048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0" y="1627632"/>
            <a:ext cx="178308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Calibri"/>
              </a:rPr>
              <a:t>ROC-AUC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012680" y="1627632"/>
            <a:ext cx="1810512" cy="384048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12680" y="1627632"/>
            <a:ext cx="1810512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Calibri"/>
              </a:rPr>
              <a:t>F1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011680"/>
            <a:ext cx="265176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011680"/>
            <a:ext cx="2468879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 i="0">
                <a:solidFill>
                  <a:srgbClr val="242A30"/>
                </a:solidFill>
                <a:latin typeface="Calibri"/>
              </a:rPr>
              <a:t>Afchar vd. (2025)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017520" y="2011680"/>
            <a:ext cx="338328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108960" y="2011680"/>
            <a:ext cx="320040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 i="0">
                <a:solidFill>
                  <a:srgbClr val="242A30"/>
                </a:solidFill>
                <a:latin typeface="Calibri"/>
              </a:rPr>
              <a:t>Oto-kodlayıcı artefakt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0" y="2011680"/>
            <a:ext cx="182880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28232" y="2011680"/>
            <a:ext cx="1773936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100" b="0" i="0">
                <a:solidFill>
                  <a:srgbClr val="242A30"/>
                </a:solidFill>
                <a:latin typeface="Calibri"/>
              </a:rPr>
              <a:t>Özel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0" y="2011680"/>
            <a:ext cx="178308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57031" y="2011680"/>
            <a:ext cx="1728216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100" b="0" i="0">
                <a:solidFill>
                  <a:srgbClr val="242A30"/>
                </a:solidFill>
                <a:latin typeface="Calibri"/>
              </a:rPr>
              <a:t>—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012680" y="2011680"/>
            <a:ext cx="1810512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40111" y="2011680"/>
            <a:ext cx="1755648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100" b="0" i="0">
                <a:solidFill>
                  <a:srgbClr val="242A30"/>
                </a:solidFill>
                <a:latin typeface="Calibri"/>
              </a:rPr>
              <a:t>0,872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" y="2578608"/>
            <a:ext cx="2651760" cy="566928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7200" y="2578608"/>
            <a:ext cx="2468879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 i="0">
                <a:solidFill>
                  <a:srgbClr val="242A30"/>
                </a:solidFill>
                <a:latin typeface="Calibri"/>
              </a:rPr>
              <a:t>Li vd. (2026)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017520" y="2578608"/>
            <a:ext cx="3383280" cy="566928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108960" y="2578608"/>
            <a:ext cx="320040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 i="0">
                <a:solidFill>
                  <a:srgbClr val="242A30"/>
                </a:solidFill>
                <a:latin typeface="Calibri"/>
              </a:rPr>
              <a:t>Açıklanabilir öznitelik + ML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2578608"/>
            <a:ext cx="1828800" cy="566928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28232" y="2578608"/>
            <a:ext cx="1773936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100" b="0" i="0">
                <a:solidFill>
                  <a:srgbClr val="242A30"/>
                </a:solidFill>
                <a:latin typeface="Calibri"/>
              </a:rPr>
              <a:t>Özel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229600" y="2578608"/>
            <a:ext cx="1783080" cy="566928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57031" y="2578608"/>
            <a:ext cx="1728216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100" b="0" i="0">
                <a:solidFill>
                  <a:srgbClr val="242A30"/>
                </a:solidFill>
                <a:latin typeface="Calibri"/>
              </a:rPr>
              <a:t>0,931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012680" y="2578608"/>
            <a:ext cx="1810512" cy="566928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040111" y="2578608"/>
            <a:ext cx="1755648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100" b="0" i="0">
                <a:solidFill>
                  <a:srgbClr val="242A30"/>
                </a:solidFill>
                <a:latin typeface="Calibri"/>
              </a:rPr>
              <a:t>0,884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65760" y="3145536"/>
            <a:ext cx="265176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7200" y="3145536"/>
            <a:ext cx="2468879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 i="0">
                <a:solidFill>
                  <a:srgbClr val="242A30"/>
                </a:solidFill>
                <a:latin typeface="Calibri"/>
              </a:rPr>
              <a:t>Cros Vila vd. (2025)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017520" y="3145536"/>
            <a:ext cx="338328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108960" y="3145536"/>
            <a:ext cx="320040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 i="0">
                <a:solidFill>
                  <a:srgbClr val="242A30"/>
                </a:solidFill>
                <a:latin typeface="Calibri"/>
              </a:rPr>
              <a:t>Spektral + ritmik + SVM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400800" y="3145536"/>
            <a:ext cx="182880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28232" y="3145536"/>
            <a:ext cx="1773936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100" b="0" i="0">
                <a:solidFill>
                  <a:srgbClr val="242A30"/>
                </a:solidFill>
                <a:latin typeface="Calibri"/>
              </a:rPr>
              <a:t>Özel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229600" y="3145536"/>
            <a:ext cx="178308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257031" y="3145536"/>
            <a:ext cx="1728216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100" b="0" i="0">
                <a:solidFill>
                  <a:srgbClr val="242A30"/>
                </a:solidFill>
                <a:latin typeface="Calibri"/>
              </a:rPr>
              <a:t>0,941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012680" y="3145536"/>
            <a:ext cx="1810512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040111" y="3145536"/>
            <a:ext cx="1755648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100" b="0" i="0">
                <a:solidFill>
                  <a:srgbClr val="242A30"/>
                </a:solidFill>
                <a:latin typeface="Calibri"/>
              </a:rPr>
              <a:t>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65760" y="3712464"/>
            <a:ext cx="2651760" cy="566928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3712464"/>
            <a:ext cx="2468879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 i="0">
                <a:solidFill>
                  <a:srgbClr val="242A30"/>
                </a:solidFill>
                <a:latin typeface="Calibri"/>
              </a:rPr>
              <a:t>SONICS (2025)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017520" y="3712464"/>
            <a:ext cx="3383280" cy="566928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108960" y="3712464"/>
            <a:ext cx="320040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 i="0">
                <a:solidFill>
                  <a:srgbClr val="242A30"/>
                </a:solidFill>
                <a:latin typeface="Calibri"/>
              </a:rPr>
              <a:t>Transformer tabanlı DL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400800" y="3712464"/>
            <a:ext cx="1828800" cy="566928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428232" y="3712464"/>
            <a:ext cx="1773936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100" b="0" i="0">
                <a:solidFill>
                  <a:srgbClr val="242A30"/>
                </a:solidFill>
                <a:latin typeface="Calibri"/>
              </a:rPr>
              <a:t>SONICS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229600" y="3712464"/>
            <a:ext cx="1783080" cy="566928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257031" y="3712464"/>
            <a:ext cx="1728216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100" b="0" i="0">
                <a:solidFill>
                  <a:srgbClr val="242A30"/>
                </a:solidFill>
                <a:latin typeface="Calibri"/>
              </a:rPr>
              <a:t>0,960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0012680" y="3712464"/>
            <a:ext cx="1810512" cy="566928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040111" y="3712464"/>
            <a:ext cx="1755648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100" b="0" i="0">
                <a:solidFill>
                  <a:srgbClr val="242A30"/>
                </a:solidFill>
                <a:latin typeface="Calibri"/>
              </a:rPr>
              <a:t>0,921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65760" y="4279392"/>
            <a:ext cx="265176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57200" y="4279392"/>
            <a:ext cx="2468879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 i="0">
                <a:solidFill>
                  <a:srgbClr val="242A30"/>
                </a:solidFill>
                <a:latin typeface="Calibri"/>
              </a:rPr>
              <a:t>FakeMusicCaps (2025)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017520" y="4279392"/>
            <a:ext cx="338328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108960" y="4279392"/>
            <a:ext cx="320040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 i="0">
                <a:solidFill>
                  <a:srgbClr val="242A30"/>
                </a:solidFill>
                <a:latin typeface="Calibri"/>
              </a:rPr>
              <a:t>Çok modlu MusicCaps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400800" y="4279392"/>
            <a:ext cx="182880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428232" y="4279392"/>
            <a:ext cx="1773936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100" b="0" i="0">
                <a:solidFill>
                  <a:srgbClr val="242A30"/>
                </a:solidFill>
                <a:latin typeface="Calibri"/>
              </a:rPr>
              <a:t>FMC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229600" y="4279392"/>
            <a:ext cx="178308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257031" y="4279392"/>
            <a:ext cx="1728216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100" b="0" i="0">
                <a:solidFill>
                  <a:srgbClr val="242A30"/>
                </a:solidFill>
                <a:latin typeface="Calibri"/>
              </a:rPr>
              <a:t>0,943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0012680" y="4279392"/>
            <a:ext cx="1810512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0040111" y="4279392"/>
            <a:ext cx="1755648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100" b="0" i="0">
                <a:solidFill>
                  <a:srgbClr val="242A30"/>
                </a:solidFill>
                <a:latin typeface="Calibri"/>
              </a:rPr>
              <a:t>0,906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846320"/>
            <a:ext cx="2651760" cy="566928"/>
          </a:xfrm>
          <a:prstGeom prst="rect">
            <a:avLst/>
          </a:prstGeom>
          <a:solidFill>
            <a:srgbClr val="FFF3DD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7200" y="4846320"/>
            <a:ext cx="2468879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1" i="0">
                <a:solidFill>
                  <a:srgbClr val="1B6E3C"/>
                </a:solidFill>
                <a:latin typeface="Calibri"/>
              </a:rPr>
              <a:t>AURIS (bu çalışma)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017520" y="4846320"/>
            <a:ext cx="3383280" cy="566928"/>
          </a:xfrm>
          <a:prstGeom prst="rect">
            <a:avLst/>
          </a:prstGeom>
          <a:solidFill>
            <a:srgbClr val="FFF3DD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108960" y="4846320"/>
            <a:ext cx="320040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1" i="0">
                <a:solidFill>
                  <a:srgbClr val="1B6E3C"/>
                </a:solidFill>
                <a:latin typeface="Calibri"/>
              </a:rPr>
              <a:t>47 öznitelik + 11 model topluluk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400800" y="4846320"/>
            <a:ext cx="1828800" cy="566928"/>
          </a:xfrm>
          <a:prstGeom prst="rect">
            <a:avLst/>
          </a:prstGeom>
          <a:solidFill>
            <a:srgbClr val="FFF3DD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428232" y="4846320"/>
            <a:ext cx="1773936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100" b="1" i="0">
                <a:solidFill>
                  <a:srgbClr val="1B6E3C"/>
                </a:solidFill>
                <a:latin typeface="Calibri"/>
              </a:rPr>
              <a:t>5.195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229600" y="4846320"/>
            <a:ext cx="1783080" cy="566928"/>
          </a:xfrm>
          <a:prstGeom prst="rect">
            <a:avLst/>
          </a:prstGeom>
          <a:solidFill>
            <a:srgbClr val="FFF3DD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257031" y="4846320"/>
            <a:ext cx="1728216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100" b="1" i="0">
                <a:solidFill>
                  <a:srgbClr val="1B6E3C"/>
                </a:solidFill>
                <a:latin typeface="Calibri"/>
              </a:rPr>
              <a:t>0,9548</a:t>
            </a:r>
          </a:p>
        </p:txBody>
      </p:sp>
      <p:sp>
        <p:nvSpPr>
          <p:cNvPr id="76" name="Rectangle 75"/>
          <p:cNvSpPr/>
          <p:nvPr/>
        </p:nvSpPr>
        <p:spPr>
          <a:xfrm>
            <a:off x="10012680" y="4846320"/>
            <a:ext cx="1810512" cy="566928"/>
          </a:xfrm>
          <a:prstGeom prst="rect">
            <a:avLst/>
          </a:prstGeom>
          <a:solidFill>
            <a:srgbClr val="FFF3DD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10040111" y="4846320"/>
            <a:ext cx="1755648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100" b="1" i="0">
                <a:solidFill>
                  <a:srgbClr val="1B6E3C"/>
                </a:solidFill>
                <a:latin typeface="Calibri"/>
              </a:rPr>
              <a:t>0,8731</a:t>
            </a:r>
          </a:p>
        </p:txBody>
      </p:sp>
      <p:sp>
        <p:nvSpPr>
          <p:cNvPr id="78" name="Rectangle 77"/>
          <p:cNvSpPr/>
          <p:nvPr/>
        </p:nvSpPr>
        <p:spPr>
          <a:xfrm>
            <a:off x="365760" y="5486400"/>
            <a:ext cx="11457432" cy="868680"/>
          </a:xfrm>
          <a:prstGeom prst="rect">
            <a:avLst/>
          </a:prstGeom>
          <a:solidFill>
            <a:srgbClr val="E2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365760" y="5486400"/>
            <a:ext cx="91440" cy="868680"/>
          </a:xfrm>
          <a:prstGeom prst="rect">
            <a:avLst/>
          </a:prstGeom>
          <a:solidFill>
            <a:srgbClr val="0A8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585216" y="5605272"/>
            <a:ext cx="1109167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1" i="0">
                <a:solidFill>
                  <a:srgbClr val="102A4C"/>
                </a:solidFill>
                <a:latin typeface="Calibri"/>
              </a:rPr>
              <a:t>Konumum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85216" y="6035040"/>
            <a:ext cx="11073384" cy="210311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42A30"/>
                </a:solidFill>
                <a:latin typeface="Calibri"/>
              </a:rPr>
              <a:t>AURIS (0,9548), Transformer tabanlı SONICS (0,960) ile Li vd. (0,931) arasında. Üstelik derin öğrenme altyapısı gerektirmeden ve en düşük varyansla (±0,0023) — hafif bir sistemin ne kadar rekabetçi olabileceğini gösteriyor.</a:t>
            </a:r>
          </a:p>
        </p:txBody>
      </p:sp>
      <p:sp>
        <p:nvSpPr>
          <p:cNvPr id="82" name="Rectangle 81"/>
          <p:cNvSpPr/>
          <p:nvPr/>
        </p:nvSpPr>
        <p:spPr>
          <a:xfrm>
            <a:off x="365760" y="6419088"/>
            <a:ext cx="11457432" cy="10972"/>
          </a:xfrm>
          <a:prstGeom prst="rect">
            <a:avLst/>
          </a:prstGeom>
          <a:solidFill>
            <a:srgbClr val="D2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65760" y="6473952"/>
            <a:ext cx="420624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900" b="0" i="0">
                <a:solidFill>
                  <a:srgbClr val="6A7480"/>
                </a:solidFill>
                <a:latin typeface="Calibri"/>
              </a:rPr>
              <a:t>AURIS · YZ Üretimli Müzik Tespiti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663440" y="6473952"/>
            <a:ext cx="715975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900" b="0" i="0">
                <a:solidFill>
                  <a:srgbClr val="6A7480"/>
                </a:solidFill>
                <a:latin typeface="Calibri"/>
              </a:rPr>
              <a:t>Hasan Arthur Altuntaş  ·  BM498  ·  Düzce Üniversitesi  ·  2025-2026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371600"/>
            <a:ext cx="12188952" cy="50292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1371600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100584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50" b="1" i="0">
                <a:solidFill>
                  <a:srgbClr val="D99A07"/>
                </a:solidFill>
                <a:latin typeface="Calibri"/>
              </a:rPr>
              <a:t>10 · DEĞERLENDIRME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20624"/>
            <a:ext cx="113385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  <a:latin typeface="Calibri"/>
              </a:rPr>
              <a:t>Ne Eksik? Sırada Ne Var?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554480"/>
            <a:ext cx="562356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400" b="1" i="0">
                <a:solidFill>
                  <a:srgbClr val="B32929"/>
                </a:solidFill>
                <a:latin typeface="Calibri"/>
              </a:rPr>
              <a:t>Bilinen Kısıtlar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975104"/>
            <a:ext cx="5623560" cy="914400"/>
          </a:xfrm>
          <a:prstGeom prst="rect">
            <a:avLst/>
          </a:prstGeom>
          <a:solidFill>
            <a:srgbClr val="FCECEC"/>
          </a:solidFill>
          <a:ln w="12700">
            <a:solidFill>
              <a:srgbClr val="B3292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2066544"/>
            <a:ext cx="539496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 i="0">
                <a:solidFill>
                  <a:srgbClr val="B32929"/>
                </a:solidFill>
                <a:latin typeface="Calibri"/>
              </a:rPr>
              <a:t>⚠  Dağılım kayması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395728"/>
            <a:ext cx="539496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050" b="0" i="0">
                <a:solidFill>
                  <a:srgbClr val="242A30"/>
                </a:solidFill>
                <a:latin typeface="Calibri"/>
              </a:rPr>
              <a:t>Eğitim dışı YZ sistemlerine genelleme sınırlı (deepfake %50).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999232"/>
            <a:ext cx="5623560" cy="914400"/>
          </a:xfrm>
          <a:prstGeom prst="rect">
            <a:avLst/>
          </a:prstGeom>
          <a:solidFill>
            <a:srgbClr val="FCECEC"/>
          </a:solidFill>
          <a:ln w="12700">
            <a:solidFill>
              <a:srgbClr val="B3292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3090672"/>
            <a:ext cx="539496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 i="0">
                <a:solidFill>
                  <a:srgbClr val="B32929"/>
                </a:solidFill>
                <a:latin typeface="Calibri"/>
              </a:rPr>
              <a:t>⚠  Aşırı uyum eğilimi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3419856"/>
            <a:ext cx="539496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050" b="0" i="0">
                <a:solidFill>
                  <a:srgbClr val="242A30"/>
                </a:solidFill>
                <a:latin typeface="Calibri"/>
              </a:rPr>
              <a:t>Ağaç modellerinde 8–14 puan eğitim-CV açığı.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4023360"/>
            <a:ext cx="5623560" cy="914400"/>
          </a:xfrm>
          <a:prstGeom prst="rect">
            <a:avLst/>
          </a:prstGeom>
          <a:solidFill>
            <a:srgbClr val="FCECEC"/>
          </a:solidFill>
          <a:ln w="12700">
            <a:solidFill>
              <a:srgbClr val="B3292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4114800"/>
            <a:ext cx="539496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 i="0">
                <a:solidFill>
                  <a:srgbClr val="B32929"/>
                </a:solidFill>
                <a:latin typeface="Calibri"/>
              </a:rPr>
              <a:t>⚠  Öznitelik fazlalığı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4443984"/>
            <a:ext cx="539496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050" b="0" i="0">
                <a:solidFill>
                  <a:srgbClr val="242A30"/>
                </a:solidFill>
                <a:latin typeface="Calibri"/>
              </a:rPr>
              <a:t>Son 17 öznitelik doğruluğa katkı sağlamıyor.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5047488"/>
            <a:ext cx="5623560" cy="914400"/>
          </a:xfrm>
          <a:prstGeom prst="rect">
            <a:avLst/>
          </a:prstGeom>
          <a:solidFill>
            <a:srgbClr val="FCECEC"/>
          </a:solidFill>
          <a:ln w="12700">
            <a:solidFill>
              <a:srgbClr val="B3292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5138928"/>
            <a:ext cx="539496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 i="0">
                <a:solidFill>
                  <a:srgbClr val="B32929"/>
                </a:solidFill>
                <a:latin typeface="Calibri"/>
              </a:rPr>
              <a:t>⚠  Gerçek zaman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5468112"/>
            <a:ext cx="539496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050" b="0" i="0">
                <a:solidFill>
                  <a:srgbClr val="242A30"/>
                </a:solidFill>
                <a:latin typeface="Calibri"/>
              </a:rPr>
              <a:t>Düşük gecikmeli çıkarım henüz test edilmedi.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99632" y="1554480"/>
            <a:ext cx="562356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400" b="1" i="0">
                <a:solidFill>
                  <a:srgbClr val="1B6E3C"/>
                </a:solidFill>
                <a:latin typeface="Calibri"/>
              </a:rPr>
              <a:t>Gelecek Çalışmalar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99632" y="1975104"/>
            <a:ext cx="5623560" cy="914400"/>
          </a:xfrm>
          <a:prstGeom prst="rect">
            <a:avLst/>
          </a:prstGeom>
          <a:solidFill>
            <a:srgbClr val="E8F5EB"/>
          </a:solidFill>
          <a:ln w="12700">
            <a:solidFill>
              <a:srgbClr val="1B6E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36792" y="2066544"/>
            <a:ext cx="539496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 i="0">
                <a:solidFill>
                  <a:srgbClr val="1B6E3C"/>
                </a:solidFill>
                <a:latin typeface="Calibri"/>
              </a:rPr>
              <a:t>→  Genelleme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36792" y="2395728"/>
            <a:ext cx="539496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050" b="0" i="0">
                <a:solidFill>
                  <a:srgbClr val="242A30"/>
                </a:solidFill>
                <a:latin typeface="Calibri"/>
              </a:rPr>
              <a:t>SONICS/FakeMusicCaps ile üretici-bağımsız test; alan uyarlama.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99632" y="2999232"/>
            <a:ext cx="5623560" cy="914400"/>
          </a:xfrm>
          <a:prstGeom prst="rect">
            <a:avLst/>
          </a:prstGeom>
          <a:solidFill>
            <a:srgbClr val="E8F5EB"/>
          </a:solidFill>
          <a:ln w="12700">
            <a:solidFill>
              <a:srgbClr val="1B6E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36792" y="3090672"/>
            <a:ext cx="539496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 i="0">
                <a:solidFill>
                  <a:srgbClr val="1B6E3C"/>
                </a:solidFill>
                <a:latin typeface="Calibri"/>
              </a:rPr>
              <a:t>→  Sağlamlık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36792" y="3419856"/>
            <a:ext cx="539496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050" b="0" i="0">
                <a:solidFill>
                  <a:srgbClr val="242A30"/>
                </a:solidFill>
                <a:latin typeface="Calibri"/>
              </a:rPr>
              <a:t>MP3 sıkıştırma, perde kaydırma, zaman gerdirme testleri.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99632" y="4023360"/>
            <a:ext cx="5623560" cy="914400"/>
          </a:xfrm>
          <a:prstGeom prst="rect">
            <a:avLst/>
          </a:prstGeom>
          <a:solidFill>
            <a:srgbClr val="E8F5EB"/>
          </a:solidFill>
          <a:ln w="12700">
            <a:solidFill>
              <a:srgbClr val="1B6E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36792" y="4114800"/>
            <a:ext cx="539496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 i="0">
                <a:solidFill>
                  <a:srgbClr val="1B6E3C"/>
                </a:solidFill>
                <a:latin typeface="Calibri"/>
              </a:rPr>
              <a:t>→  Gerçek zaman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36792" y="4443984"/>
            <a:ext cx="539496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050" b="0" i="0">
                <a:solidFill>
                  <a:srgbClr val="242A30"/>
                </a:solidFill>
                <a:latin typeface="Calibri"/>
              </a:rPr>
              <a:t>Düşük gecikmeli çıkarım ve canlı ses akışı.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99632" y="5047488"/>
            <a:ext cx="5623560" cy="914400"/>
          </a:xfrm>
          <a:prstGeom prst="rect">
            <a:avLst/>
          </a:prstGeom>
          <a:solidFill>
            <a:srgbClr val="E8F5EB"/>
          </a:solidFill>
          <a:ln w="12700">
            <a:solidFill>
              <a:srgbClr val="1B6E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36792" y="5138928"/>
            <a:ext cx="539496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 i="0">
                <a:solidFill>
                  <a:srgbClr val="1B6E3C"/>
                </a:solidFill>
                <a:latin typeface="Calibri"/>
              </a:rPr>
              <a:t>→  Ölçek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36792" y="5468112"/>
            <a:ext cx="539496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050" b="0" i="0">
                <a:solidFill>
                  <a:srgbClr val="242A30"/>
                </a:solidFill>
                <a:latin typeface="Calibri"/>
              </a:rPr>
              <a:t>Veri kümesini 10.000 örneğe genişletme.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6419088"/>
            <a:ext cx="11457432" cy="10972"/>
          </a:xfrm>
          <a:prstGeom prst="rect">
            <a:avLst/>
          </a:prstGeom>
          <a:solidFill>
            <a:srgbClr val="D2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6473952"/>
            <a:ext cx="420624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900" b="0" i="0">
                <a:solidFill>
                  <a:srgbClr val="6A7480"/>
                </a:solidFill>
                <a:latin typeface="Calibri"/>
              </a:rPr>
              <a:t>AURIS · YZ Üretimli Müzik Tespiti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663440" y="6473952"/>
            <a:ext cx="715975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900" b="0" i="0">
                <a:solidFill>
                  <a:srgbClr val="6A7480"/>
                </a:solidFill>
                <a:latin typeface="Calibri"/>
              </a:rPr>
              <a:t>Hasan Arthur Altuntaş  ·  BM498  ·  Düzce Üniversitesi  ·  2025-2026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A4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651760"/>
            <a:ext cx="12188952" cy="54864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112471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3200" b="1" i="0">
                <a:solidFill>
                  <a:srgbClr val="D99A07"/>
                </a:solidFill>
                <a:latin typeface="Calibri"/>
              </a:rPr>
              <a:t>Özetle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91640"/>
            <a:ext cx="1124712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1500" b="0" i="0">
                <a:solidFill>
                  <a:srgbClr val="CDDDE8"/>
                </a:solidFill>
                <a:latin typeface="Calibri"/>
              </a:rPr>
              <a:t>AURIS, yapay zekâ müziğini tespit eden; akademik olarak sağlam, ürün olarak çalışan, çok platformlu ve açıklanabilir bir sistem.</a:t>
            </a:r>
          </a:p>
        </p:txBody>
      </p:sp>
      <p:sp>
        <p:nvSpPr>
          <p:cNvPr id="5" name="Rectangle 4"/>
          <p:cNvSpPr/>
          <p:nvPr/>
        </p:nvSpPr>
        <p:spPr>
          <a:xfrm>
            <a:off x="1051560" y="3108960"/>
            <a:ext cx="2240280" cy="1280160"/>
          </a:xfrm>
          <a:prstGeom prst="rect">
            <a:avLst/>
          </a:prstGeom>
          <a:solidFill>
            <a:srgbClr val="081B33"/>
          </a:solidFill>
          <a:ln w="12700">
            <a:solidFill>
              <a:srgbClr val="0A8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3200400"/>
            <a:ext cx="2240280" cy="5943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2600" b="1" i="0">
                <a:solidFill>
                  <a:srgbClr val="D99A07"/>
                </a:solidFill>
                <a:latin typeface="Calibri"/>
              </a:rPr>
              <a:t>0,9548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3794760"/>
            <a:ext cx="224028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ROC-AUC</a:t>
            </a:r>
          </a:p>
        </p:txBody>
      </p:sp>
      <p:sp>
        <p:nvSpPr>
          <p:cNvPr id="8" name="Rectangle 7"/>
          <p:cNvSpPr/>
          <p:nvPr/>
        </p:nvSpPr>
        <p:spPr>
          <a:xfrm>
            <a:off x="3593591" y="3108960"/>
            <a:ext cx="2240280" cy="1280160"/>
          </a:xfrm>
          <a:prstGeom prst="rect">
            <a:avLst/>
          </a:prstGeom>
          <a:solidFill>
            <a:srgbClr val="081B33"/>
          </a:solidFill>
          <a:ln w="12700">
            <a:solidFill>
              <a:srgbClr val="0A8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93591" y="3200400"/>
            <a:ext cx="2240280" cy="5943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2600" b="1" i="0">
                <a:solidFill>
                  <a:srgbClr val="D99A07"/>
                </a:solidFill>
                <a:latin typeface="Calibri"/>
              </a:rPr>
              <a:t>47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93591" y="3794760"/>
            <a:ext cx="224028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Öznitelik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35623" y="3108960"/>
            <a:ext cx="2240280" cy="1280160"/>
          </a:xfrm>
          <a:prstGeom prst="rect">
            <a:avLst/>
          </a:prstGeom>
          <a:solidFill>
            <a:srgbClr val="081B33"/>
          </a:solidFill>
          <a:ln w="12700">
            <a:solidFill>
              <a:srgbClr val="0A8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35623" y="3200400"/>
            <a:ext cx="2240280" cy="5943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2600" b="1" i="0">
                <a:solidFill>
                  <a:srgbClr val="D99A07"/>
                </a:solidFill>
                <a:latin typeface="Calibri"/>
              </a:rPr>
              <a:t>11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35623" y="3794760"/>
            <a:ext cx="224028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Model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677656" y="3108960"/>
            <a:ext cx="2240280" cy="1280160"/>
          </a:xfrm>
          <a:prstGeom prst="rect">
            <a:avLst/>
          </a:prstGeom>
          <a:solidFill>
            <a:srgbClr val="081B33"/>
          </a:solidFill>
          <a:ln w="12700">
            <a:solidFill>
              <a:srgbClr val="0A8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77656" y="3200400"/>
            <a:ext cx="2240280" cy="5943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2600" b="1" i="0">
                <a:solidFill>
                  <a:srgbClr val="D99A07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77656" y="3794760"/>
            <a:ext cx="224028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Platform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800600"/>
            <a:ext cx="1124712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Teşekkürler — Sorularınızı bekliyorum.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440680"/>
            <a:ext cx="11247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1300" b="0" i="0">
                <a:solidFill>
                  <a:srgbClr val="ADC4D6"/>
                </a:solidFill>
                <a:latin typeface="Calibri"/>
              </a:rPr>
              <a:t>Hasan Arthur Altuntaş  ·  hasannarthurrr@gmail.com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5852160"/>
            <a:ext cx="1124712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1100" b="0" i="0">
                <a:solidFill>
                  <a:srgbClr val="5E7A94"/>
                </a:solidFill>
                <a:latin typeface="Calibri"/>
              </a:rPr>
              <a:t>Düzce Üniversitesi · Bilgisayar Mühendisliği · 2025-2026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