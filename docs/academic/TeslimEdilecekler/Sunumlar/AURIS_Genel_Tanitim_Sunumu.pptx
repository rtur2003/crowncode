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434840"/>
            <a:ext cx="12188952" cy="54864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11887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8000" b="1" i="0">
                <a:solidFill>
                  <a:srgbClr val="D99A07"/>
                </a:solidFill>
                <a:latin typeface="Calibri"/>
              </a:rPr>
              <a:t>AURIS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1124712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Yapay Zekâ Üretimi Müziklerin Tespiti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09160"/>
            <a:ext cx="11247120" cy="411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Hasan Arthur Altuntaş  ·  221001047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66360"/>
            <a:ext cx="1124712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300" b="0" i="0">
                <a:solidFill>
                  <a:srgbClr val="ADC4D6"/>
                </a:solidFill>
                <a:latin typeface="Calibri"/>
              </a:rPr>
              <a:t>Düzce Üniversitesi · Bilgisayar Mühendisliği · 2025-2026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200" b="0" i="0">
                <a:solidFill>
                  <a:srgbClr val="5E7A94"/>
                </a:solidFill>
                <a:latin typeface="Calibri"/>
              </a:rPr>
              <a:t>Danışman: Dr. Öğr. Üyesi Büşra TAKGİL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TEK BAKIŞTA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AURIS Nedir?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11457432" cy="15544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91440" cy="15544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5216" y="1719072"/>
            <a:ext cx="1109167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Problem → Çözüm → Ürün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148840"/>
            <a:ext cx="11073384" cy="89611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42A30"/>
                </a:solidFill>
                <a:latin typeface="Calibri"/>
              </a:rPr>
              <a:t>Suno, Udio ve MusicGen gibi araçlar insan kaydından ayırt edilemeyen müzik üretiyor; AURIS bu müzikleri akustik özniteliklere ve makine öğrenmesine dayanarak tespit ediyor ve sonucu web ile mobil üzerinden saniyeler içinde kullanıcıya sunuyor.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429000"/>
            <a:ext cx="3611880" cy="2606040"/>
          </a:xfrm>
          <a:prstGeom prst="rect">
            <a:avLst/>
          </a:prstGeom>
          <a:solidFill>
            <a:srgbClr val="FFFFFF"/>
          </a:solidFill>
          <a:ln w="1524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3429000"/>
            <a:ext cx="3611880" cy="566928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3429000"/>
            <a:ext cx="333756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Akademik Çekirdek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160520"/>
            <a:ext cx="3291840" cy="1783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50" b="0" i="0">
                <a:solidFill>
                  <a:srgbClr val="242A30"/>
                </a:solidFill>
                <a:latin typeface="Calibri"/>
              </a:rPr>
              <a:t>47 boyutlu akustik öznitelik + 11 modelli topluluk öğrenmesi; LightGBM lider (ROC-AUC 0,9548).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87952" y="3429000"/>
            <a:ext cx="3611880" cy="26060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87952" y="3429000"/>
            <a:ext cx="3611880" cy="566928"/>
          </a:xfrm>
          <a:prstGeom prst="rect">
            <a:avLst/>
          </a:prstGeom>
          <a:solidFill>
            <a:srgbClr val="2E5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25112" y="3429000"/>
            <a:ext cx="333756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Çok Platformlu Ürün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4160520"/>
            <a:ext cx="3291840" cy="1783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50" b="0" i="0">
                <a:solidFill>
                  <a:srgbClr val="242A30"/>
                </a:solidFill>
                <a:latin typeface="Calibri"/>
              </a:rPr>
              <a:t>Next.js web arayüzü, Kotlin/Compose mobil uygulama, FastAPI backend ile uçtan uca sistem.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0144" y="3429000"/>
            <a:ext cx="3611880" cy="2606040"/>
          </a:xfrm>
          <a:prstGeom prst="rect">
            <a:avLst/>
          </a:prstGeom>
          <a:solidFill>
            <a:srgbClr val="FFFFFF"/>
          </a:solidFill>
          <a:ln w="15240">
            <a:solidFill>
              <a:srgbClr val="8A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10144" y="3429000"/>
            <a:ext cx="3611880" cy="566928"/>
          </a:xfrm>
          <a:prstGeom prst="rect">
            <a:avLst/>
          </a:prstGeom>
          <a:solidFill>
            <a:srgbClr val="8A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47304" y="3429000"/>
            <a:ext cx="333756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Açıklanabilirlik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4736" y="4160520"/>
            <a:ext cx="3291840" cy="1783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50" b="0" i="0">
                <a:solidFill>
                  <a:srgbClr val="242A30"/>
                </a:solidFill>
                <a:latin typeface="Calibri"/>
              </a:rPr>
              <a:t>TreeSHAP ile her karar 'neden YZ / neden insan' sorusunu yanıtlıyor — kara kutu değil.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YOL HARITASI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Bugün Ne Anlatacağım?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Baştan sona: geçen dönem ne yaptım, bu dönem ne ekledim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37360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737360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828800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Proje Hikâyesi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157984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İki dönemlik gelişim çizelgesi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633472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2633472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2633472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724912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Geçen Dönem (BM401)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54096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wav2vec2 hibrit + web + mobil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529584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65760" y="3529584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" y="3529584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621024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Bu Dönem (BM498)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950208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47 öznitelik + 11 model topluluk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425696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65760" y="4425696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5760" y="4425696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517136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Sistem Mimarisi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846320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Web + Mobil + Backend nasıl birleşiyor?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321808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5760" y="5321808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65760" y="5321808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413248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Veri ve Öznitelikler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742432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5.195 örnek, neden 47 öznitelik?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1737360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172200" y="1737360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172200" y="1737360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1828800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Model Seçimi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2157984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11 model denedim, neyi neden seçtim?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2200" y="2633472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172200" y="2633472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172200" y="2633472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2724912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Sonuçlar ve SHAP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3054096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Performans, açıklanabilirlik, dürüst analiz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72200" y="3529584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172200" y="3529584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172200" y="3529584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0" y="3621024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Arayüzler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0" y="3950208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Gerçek web ve mobil ekranlar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4425696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6172200" y="4425696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172200" y="4425696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0880" y="4517136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Literatür Karşılaştırması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40880" y="4846320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AURIS rakiplerine göre nerede?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72200" y="5321808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172200" y="5321808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172200" y="5321808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0" y="5413248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Kısıtlar ve Gelecek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40880" y="5742432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Ne eksik, sırada ne var?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1 · PROJE HIKÂYESI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AURIS Nasıl Gelişti? — İki Dönemlik Yolculuk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Çalışan bir üründen akademik olarak sağlam bir sisteme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337560"/>
            <a:ext cx="10332720" cy="54864"/>
          </a:xfrm>
          <a:prstGeom prst="rect">
            <a:avLst/>
          </a:prstGeom>
          <a:solidFill>
            <a:srgbClr val="2E5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70431" y="3200400"/>
            <a:ext cx="329184" cy="329184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82879" y="1691640"/>
            <a:ext cx="3108960" cy="1280160"/>
          </a:xfrm>
          <a:prstGeom prst="rect">
            <a:avLst/>
          </a:prstGeom>
          <a:solidFill>
            <a:srgbClr val="FFFFFF"/>
          </a:solidFill>
          <a:ln w="1651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82879" y="1691640"/>
            <a:ext cx="3108960" cy="566928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82879" y="1691640"/>
            <a:ext cx="310896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2025 Güz
BM401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" y="2304288"/>
            <a:ext cx="301752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 i="0">
                <a:solidFill>
                  <a:srgbClr val="0A808C"/>
                </a:solidFill>
                <a:latin typeface="Calibri"/>
              </a:rPr>
              <a:t>Proje Tasarımı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79" y="3703320"/>
            <a:ext cx="3108960" cy="1965960"/>
          </a:xfrm>
          <a:prstGeom prst="rect">
            <a:avLst/>
          </a:prstGeom>
          <a:solidFill>
            <a:srgbClr val="EAEEF2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0039" y="3840480"/>
            <a:ext cx="2834640" cy="17373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Çok platformlu sistem
wav2vec2 + LightGBM
Web + Mobil + Backend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53712" y="3200400"/>
            <a:ext cx="329184" cy="329184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566159" y="1691640"/>
            <a:ext cx="3108960" cy="1280160"/>
          </a:xfrm>
          <a:prstGeom prst="rect">
            <a:avLst/>
          </a:prstGeom>
          <a:solidFill>
            <a:srgbClr val="FFFFFF"/>
          </a:solidFill>
          <a:ln w="1651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566159" y="1691640"/>
            <a:ext cx="3108960" cy="5669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66159" y="1691640"/>
            <a:ext cx="310896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2025-26 Kış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79" y="2304288"/>
            <a:ext cx="301752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 i="0">
                <a:solidFill>
                  <a:srgbClr val="D99A07"/>
                </a:solidFill>
                <a:latin typeface="Calibri"/>
              </a:rPr>
              <a:t>Akademik Derinleşme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66159" y="3703320"/>
            <a:ext cx="3108960" cy="1965960"/>
          </a:xfrm>
          <a:prstGeom prst="rect">
            <a:avLst/>
          </a:prstGeom>
          <a:solidFill>
            <a:srgbClr val="EAEEF2"/>
          </a:solidFill>
          <a:ln w="1270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703320" y="3840480"/>
            <a:ext cx="2834640" cy="17373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47 öznitelik tasarımı
11 model karşılaştırması
5-katlı çapraz doğrulama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36992" y="3200400"/>
            <a:ext cx="329184" cy="329184"/>
          </a:xfrm>
          <a:prstGeom prst="rect">
            <a:avLst/>
          </a:prstGeom>
          <a:solidFill>
            <a:srgbClr val="1B6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949440" y="1691640"/>
            <a:ext cx="3108960" cy="128016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949440" y="1691640"/>
            <a:ext cx="3108960" cy="566928"/>
          </a:xfrm>
          <a:prstGeom prst="rect">
            <a:avLst/>
          </a:prstGeom>
          <a:solidFill>
            <a:srgbClr val="1B6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49440" y="1691640"/>
            <a:ext cx="310896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2026 Bahar
BM498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2304288"/>
            <a:ext cx="301752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 i="0">
                <a:solidFill>
                  <a:srgbClr val="1B6E3C"/>
                </a:solidFill>
                <a:latin typeface="Calibri"/>
              </a:rPr>
              <a:t>Mezuniyet Tezi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3703320"/>
            <a:ext cx="3108960" cy="1965960"/>
          </a:xfrm>
          <a:prstGeom prst="rect">
            <a:avLst/>
          </a:prstGeom>
          <a:solidFill>
            <a:srgbClr val="EAEEF2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086600" y="3840480"/>
            <a:ext cx="2834640" cy="17373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GUJSA makalesi
SHAP açıklanabilirlik
Teslim ve savunma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2 · GEÇEN DÖNEM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BM401 Proje Tasarımı — Temeli Attım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wav2vec2 tabanlı hibrit model + çok platformlu ürün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5623560" cy="219456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91440" cy="219456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5216" y="1719072"/>
            <a:ext cx="5257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 yaptım?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148840"/>
            <a:ext cx="5239512" cy="153619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wav2vec2 (Facebook AI) ile ham sesten 768 boyutlu derin temsil çıkardım.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Üzerine LightGBM sınıflandırıcı koyarak hibrit bir model kurdum.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Web (Next.js), mobil (Kotlin) ve backend (FastAPI) ile uçtan uca çalışan bir ürün geliştirdim.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977639"/>
            <a:ext cx="5623560" cy="2057400"/>
          </a:xfrm>
          <a:prstGeom prst="rect">
            <a:avLst/>
          </a:prstGeom>
          <a:solidFill>
            <a:srgbClr val="FF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3977639"/>
            <a:ext cx="91440" cy="20574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6" y="4096511"/>
            <a:ext cx="5257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 öğrendim?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4526279"/>
            <a:ext cx="5239512" cy="139903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wav2vec2 güçlü ama ağır — GPU ister, gerçek zamanlı çalışması zor.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Çok büyük model her zaman en pratik çözüm değil.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Bu, beni bu dönem 'hafif ama etkili' bir yöntem aramaya yönlendirdi.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600200"/>
            <a:ext cx="557784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BM401 Çıktıları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011680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2084832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2E5A7E"/>
                </a:solidFill>
                <a:latin typeface="Calibri"/>
              </a:rPr>
              <a:t>Hibrit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377440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wav2vec2 + LightGBM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816352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2889504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2E5A7E"/>
                </a:solidFill>
                <a:latin typeface="Calibri"/>
              </a:rPr>
              <a:t>Web Platformu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182112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Next.js 14 + TypeScript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3621024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0" y="3694176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2E5A7E"/>
                </a:solidFill>
                <a:latin typeface="Calibri"/>
              </a:rPr>
              <a:t>Mobil Uygulama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986784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Kotlin + Jetpack Compose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25696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4498848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2E5A7E"/>
                </a:solidFill>
                <a:latin typeface="Calibri"/>
              </a:rPr>
              <a:t>Backend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791456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Python + FastAPI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5230368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0" y="5303520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2E5A7E"/>
                </a:solidFill>
                <a:latin typeface="Calibri"/>
              </a:rPr>
              <a:t>Kullanıcı Testi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596128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30 katılımcı, SUS 82,5 puan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3 · BU DÖNEM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BM498 Mezuniyet Tezi — Akademik Olarak Derinleştirdim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Ağır derin modelden, hafif ve açıklanabilir topluluk öğrenmesine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5623560" cy="219456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91440" cy="219456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5216" y="1719072"/>
            <a:ext cx="5257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 değişti?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148840"/>
            <a:ext cx="5239512" cy="153619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wav2vec2'nin tek başına çıkardığı temsil yerine, 47 boyutlu elle tasarlanmış akustik öznitelik vektörü kurdum.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Tek model yerine 11 modeli (7 ML + 4 DL) karşılaştırdım.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5-katlı çapraz doğrulama ile güvenilir, varyansı düşük sonuçlar elde ettim.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977639"/>
            <a:ext cx="5623560" cy="2057400"/>
          </a:xfrm>
          <a:prstGeom prst="rect">
            <a:avLst/>
          </a:prstGeom>
          <a:solidFill>
            <a:srgbClr val="E8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3977639"/>
            <a:ext cx="91440" cy="2057400"/>
          </a:xfrm>
          <a:prstGeom prst="rect">
            <a:avLst/>
          </a:prstGeom>
          <a:solidFill>
            <a:srgbClr val="1B6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6" y="4096511"/>
            <a:ext cx="5257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Neden bu yön?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4526279"/>
            <a:ext cx="5239512" cy="139903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Hafiflik: LightGBM GPU istemiyor, saniyeler içinde sonuç veriyor.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Açıklanabilirlik: SHAP ile 'neden bu karar' sorusunu yanıtlayabiliyorum.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Bilimsel katkı: çalışma GUJSA'ya gönderilebilir makale formatına ulaştı.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600200"/>
            <a:ext cx="557784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BM498 Çıktıları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011680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2084832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47 Öznitelik Vektörü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377440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5 aile: spektral, ritmik, vokal...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816352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2889504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11 Modelli Topluluk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182112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LightGBM lider, ROC-AUC 0,9548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3621024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0" y="3694176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SHAP Açıklanabilirlik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986784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TreeSHAP global + yerel etki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25696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4498848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Akademik Makale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791456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GUJSA formatı, 39 referans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5230368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0" y="5303520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Dürüst Tanılama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596128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Aşırı uyum, dağılım kayması analizi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62455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KARŞILAŞTIRMA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İki Dönem Yan Yana — Ne Gelişti?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435608"/>
            <a:ext cx="246888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56032" y="1435608"/>
            <a:ext cx="228600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Boyut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1435608"/>
            <a:ext cx="448056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24912" y="1435608"/>
            <a:ext cx="429768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BM401 (Geçen Dönem)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4032" y="1435608"/>
            <a:ext cx="4507992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05472" y="1435608"/>
            <a:ext cx="4325112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BM498 (Bu Dönem)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" y="1819656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6032" y="1819656"/>
            <a:ext cx="228600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Yöntem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33472" y="1819656"/>
            <a:ext cx="4480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24912" y="1819656"/>
            <a:ext cx="429768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wav2vec2 + LightGBM hibrit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14032" y="1819656"/>
            <a:ext cx="450799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205472" y="1819656"/>
            <a:ext cx="4325112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47 öznitelik + 11 model topluluk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4592" y="2368296"/>
            <a:ext cx="246888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56032" y="2368296"/>
            <a:ext cx="228600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Model ağırlığı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33472" y="2368296"/>
            <a:ext cx="448056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724912" y="2368296"/>
            <a:ext cx="429768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Ağır (GPU gerekir)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14032" y="2368296"/>
            <a:ext cx="4507992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205472" y="2368296"/>
            <a:ext cx="4325112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Hafif (CPU yeterli)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4592" y="2916936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56032" y="2916936"/>
            <a:ext cx="228600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Yaklaşım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33472" y="2916936"/>
            <a:ext cx="4480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724912" y="2916936"/>
            <a:ext cx="429768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Tek derin model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14032" y="2916936"/>
            <a:ext cx="450799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205472" y="2916936"/>
            <a:ext cx="4325112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Sistematik model karşılaştırması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4592" y="3465576"/>
            <a:ext cx="246888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56032" y="3465576"/>
            <a:ext cx="228600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Doğrulama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33472" y="3465576"/>
            <a:ext cx="448056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724912" y="3465576"/>
            <a:ext cx="429768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Tek bölme (70/15/15)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14032" y="3465576"/>
            <a:ext cx="4507992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205472" y="3465576"/>
            <a:ext cx="4325112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5-katlı çapraz doğrulama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64592" y="4014216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56032" y="4014216"/>
            <a:ext cx="228600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Açıklanabilirlik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33472" y="4014216"/>
            <a:ext cx="4480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724912" y="4014216"/>
            <a:ext cx="429768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Yok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14032" y="4014216"/>
            <a:ext cx="450799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205472" y="4014216"/>
            <a:ext cx="4325112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TreeSHAP ile tam açıklama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64592" y="4562855"/>
            <a:ext cx="246888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56032" y="4562855"/>
            <a:ext cx="228600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Çıktı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33472" y="4562855"/>
            <a:ext cx="448056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724912" y="4562855"/>
            <a:ext cx="429768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Çalışan ürün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14032" y="4562855"/>
            <a:ext cx="4507992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205472" y="4562855"/>
            <a:ext cx="4325112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Ürün + akademik makale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4592" y="5111495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56032" y="5111495"/>
            <a:ext cx="228600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Odak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33472" y="5111495"/>
            <a:ext cx="4480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2724912" y="5111495"/>
            <a:ext cx="429768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Mühendislik / ürün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14032" y="5111495"/>
            <a:ext cx="450799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205472" y="5111495"/>
            <a:ext cx="4325112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Bilimsel sağlamlık / yayın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757058"/>
            <a:ext cx="11384280" cy="630026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365760" y="5747912"/>
            <a:ext cx="91440" cy="607167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30352" y="5760719"/>
            <a:ext cx="1109167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 dirty="0" err="1">
                <a:solidFill>
                  <a:srgbClr val="102A4C"/>
                </a:solidFill>
                <a:latin typeface="Calibri"/>
              </a:rPr>
              <a:t>Özet</a:t>
            </a:r>
            <a:endParaRPr sz="1300" b="1" i="0" dirty="0">
              <a:solidFill>
                <a:srgbClr val="102A4C"/>
              </a:solidFill>
              <a:latin typeface="Calibri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548640" y="5971033"/>
            <a:ext cx="11073384" cy="11887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 err="1">
                <a:solidFill>
                  <a:srgbClr val="242A30"/>
                </a:solidFill>
                <a:latin typeface="Calibri"/>
              </a:rPr>
              <a:t>Geçen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dönem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çalışan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bir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sistem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kurdum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;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bu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dönem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onu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bilimsel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olarak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sağlamlaştırdım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,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hafiflettim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ve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açıklanabilir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hâle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getirdim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.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İkisi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birlikte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AURIS'in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tam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hikâyesini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oluşturuyor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1 · MOTIVASYON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Neden Yapay Zekâ Müzik Tespiti?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6766560" cy="2011680"/>
          </a:xfrm>
          <a:prstGeom prst="rect">
            <a:avLst/>
          </a:prstGeom>
          <a:solidFill>
            <a:srgbClr val="FF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91440" cy="201168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85216" y="1719072"/>
            <a:ext cx="6400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Sorun büyüyor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2148840"/>
            <a:ext cx="6382512" cy="135331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Üretken yapay zekâ son üç yılda müzik üretimini laboratuvardan herkesin eline taşıdı. Bir metin istemiyle dakikalar içinde, deneyimsiz bir kulağın insan bestesinden ayıramayacağı parçalar üretilebiliyor.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840480"/>
            <a:ext cx="67665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Bu neyi tehdit ediyor?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297680"/>
            <a:ext cx="6720840" cy="1828800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•  Telif hakkı ve içerik sahipliği belirsizleşiyor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•  Akış platformlarında sahte dinlenme / gelir manipülasyonu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•  Dezenformasyon ve sanatçı üslubu taklidi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•  Sanatçı emeğinin ekonomik karşılığı eriyor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60920" y="1600200"/>
            <a:ext cx="4462272" cy="45262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360920" y="1600200"/>
            <a:ext cx="91440" cy="45262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80376" y="1719072"/>
            <a:ext cx="4096511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Neden ben bu projeyi seçtim?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0376" y="2148840"/>
            <a:ext cx="4078224" cy="386791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Mevcut çözümlerin çoğu: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20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✗  Akademik makaleyle sınırlı, son kullanıcıya ulaşmıyor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✗  Yüksek işlem gücü istiyor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✗  Gerçek zamanlı çalışmıyor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✗  Kararını açıklamıyor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20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AURIS bunları hedefliyor: erişilebilir, hafif, hızlı ve açıklanabilir bir tespit sistemi.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4 · SISTEM MIMARISI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Üç Katmanlı Çok Platformlu Yapı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Sunum · İş mantığı · Veri/Model katmanları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11457432" cy="1353312"/>
          </a:xfrm>
          <a:prstGeom prst="rect">
            <a:avLst/>
          </a:prstGeom>
          <a:solidFill>
            <a:srgbClr val="FFFFFF"/>
          </a:solidFill>
          <a:ln w="1651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27632"/>
            <a:ext cx="3108960" cy="1353312"/>
          </a:xfrm>
          <a:prstGeom prst="rect">
            <a:avLst/>
          </a:prstGeom>
          <a:solidFill>
            <a:srgbClr val="2E5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627632"/>
            <a:ext cx="3108960" cy="13533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SUNUM KATMANI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755648"/>
            <a:ext cx="8229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Web: Next.js 14 + TypeScript + Tailwind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121408"/>
            <a:ext cx="8229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Mobil: Kotlin + Jetpack Compose (MVVM)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487168"/>
            <a:ext cx="8229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Duyarlı, erişilebilir arayüz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108960"/>
            <a:ext cx="11457432" cy="1353312"/>
          </a:xfrm>
          <a:prstGeom prst="rect">
            <a:avLst/>
          </a:prstGeom>
          <a:solidFill>
            <a:srgbClr val="FFFFFF"/>
          </a:solidFill>
          <a:ln w="1651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3108960"/>
            <a:ext cx="3108960" cy="13533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3108960"/>
            <a:ext cx="3108960" cy="13533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İŞ MANTIĞI /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236976"/>
            <a:ext cx="8229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Backend: Python + FastAPI (REST)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602736"/>
            <a:ext cx="8229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Dosya doğrulama, hız sınırı, güvenlik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968496"/>
            <a:ext cx="8229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MP3/WAV/FLAC/OGG · maks. 50 MB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590288"/>
            <a:ext cx="11457432" cy="1353312"/>
          </a:xfrm>
          <a:prstGeom prst="rect">
            <a:avLst/>
          </a:prstGeom>
          <a:solidFill>
            <a:srgbClr val="FFFFFF"/>
          </a:solidFill>
          <a:ln w="16510">
            <a:solidFill>
              <a:srgbClr val="102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65760" y="4590288"/>
            <a:ext cx="3108960" cy="1353312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4590288"/>
            <a:ext cx="3108960" cy="13533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VERİ / MODEL KATMANI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4718304"/>
            <a:ext cx="8229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librosa ile 47 öznitelik çıkarma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5084064"/>
            <a:ext cx="8229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LightGBM topluluk modeli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5449824"/>
            <a:ext cx="8229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TreeSHAP açıklanabilirlik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053328"/>
            <a:ext cx="114300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0" i="1">
                <a:solidFill>
                  <a:srgbClr val="6A7480"/>
                </a:solidFill>
                <a:latin typeface="Calibri"/>
              </a:rPr>
              <a:t>Katmanlı tasarım: arayüz değişse de model katmanı aynı kalır — bakımı ve testi kolay.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4 · SISTEM MIMARISI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Ham Sesten Karara: İşleyiş Şeması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727782"/>
            <a:ext cx="11521440" cy="230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paper_pipeli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73502"/>
            <a:ext cx="11430000" cy="221371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4042081"/>
            <a:ext cx="114300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AURIS uçtan uca analiz hattı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2336" y="4434840"/>
            <a:ext cx="1517904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 Giriş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983480"/>
            <a:ext cx="1499616" cy="7772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WAV/MP3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02536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002536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039112" y="4434840"/>
            <a:ext cx="1517904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 Ön işleme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48255" y="4983480"/>
            <a:ext cx="1499616" cy="7772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22.050 Hz, mono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39312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639312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75887" y="4434840"/>
            <a:ext cx="1517904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 Öznitelik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4983480"/>
            <a:ext cx="1499616" cy="7772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47 boyut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76088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276088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312664" y="4434840"/>
            <a:ext cx="1517904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 Ölçekleme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21808" y="4983480"/>
            <a:ext cx="1499616" cy="7772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StandardScaler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12864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912864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49440" y="4434840"/>
            <a:ext cx="1517904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58584" y="4983480"/>
            <a:ext cx="1499616" cy="7772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LightGBM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549640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586215" y="4434840"/>
            <a:ext cx="1517904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 Eşik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4983480"/>
            <a:ext cx="1499616" cy="7772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θ*=0,4316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86416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10186416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222992" y="4434840"/>
            <a:ext cx="1517904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 Sonuç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32136" y="4983480"/>
            <a:ext cx="1499616" cy="7772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YZ/İnsan + SHAP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5 · VERI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Veri Kümesi: 5.195 Örnek, 8 Kaynak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27632"/>
            <a:ext cx="393192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27632"/>
            <a:ext cx="3749039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Kaynak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627632"/>
            <a:ext cx="237744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0" y="1627632"/>
            <a:ext cx="237744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Tür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1627632"/>
            <a:ext cx="13716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627632"/>
            <a:ext cx="137160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Örnek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39319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2011680"/>
            <a:ext cx="3749039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GTZAN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2011680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5112" y="2011680"/>
            <a:ext cx="232257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2011680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02552" y="2011680"/>
            <a:ext cx="131673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899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404872"/>
            <a:ext cx="393192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2404872"/>
            <a:ext cx="3749039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FMA Small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2404872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325112" y="2404872"/>
            <a:ext cx="232257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2404872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02552" y="2404872"/>
            <a:ext cx="131673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1.000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798064"/>
            <a:ext cx="39319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2798064"/>
            <a:ext cx="3749039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SleepyJesse (kapak)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2798064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25112" y="2798064"/>
            <a:ext cx="232257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2798064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02552" y="2798064"/>
            <a:ext cx="131673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854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91256"/>
            <a:ext cx="393192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3191256"/>
            <a:ext cx="3749039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Diğer insan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0" y="3191256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25112" y="3191256"/>
            <a:ext cx="232257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5120" y="3191256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02552" y="3191256"/>
            <a:ext cx="131673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360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584448"/>
            <a:ext cx="39319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3584448"/>
            <a:ext cx="3749039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Echoes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97680" y="3584448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325112" y="3584448"/>
            <a:ext cx="232257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0" y="3584448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702552" y="3584448"/>
            <a:ext cx="131673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1.128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3977640"/>
            <a:ext cx="393192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57200" y="3977640"/>
            <a:ext cx="3749039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Suno (v3–v5)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97680" y="3977640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325112" y="3977640"/>
            <a:ext cx="232257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75120" y="3977640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702552" y="3977640"/>
            <a:ext cx="131673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500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370832"/>
            <a:ext cx="39319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57200" y="4370832"/>
            <a:ext cx="3749039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Deepfake seti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97680" y="4370832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325112" y="4370832"/>
            <a:ext cx="232257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675120" y="4370832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702552" y="4370832"/>
            <a:ext cx="131673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492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764024"/>
            <a:ext cx="393192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57200" y="4764024"/>
            <a:ext cx="3749039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AImE/Mustango/JEN-1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97680" y="4764024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325112" y="4764024"/>
            <a:ext cx="232257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75120" y="4764024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702552" y="4764024"/>
            <a:ext cx="131673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204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5157216"/>
            <a:ext cx="3931920" cy="39319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6"/>
            <a:ext cx="3749039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1" i="0">
                <a:solidFill>
                  <a:srgbClr val="1B6E3C"/>
                </a:solidFill>
                <a:latin typeface="Calibri"/>
              </a:rPr>
              <a:t>TOPLAM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97680" y="5157216"/>
            <a:ext cx="2377440" cy="39319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325112" y="5157216"/>
            <a:ext cx="232257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1B6E3C"/>
                </a:solidFill>
                <a:latin typeface="Calibri"/>
              </a:rP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75120" y="5157216"/>
            <a:ext cx="1371600" cy="39319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702552" y="5157216"/>
            <a:ext cx="131673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1B6E3C"/>
                </a:solidFill>
                <a:latin typeface="Calibri"/>
              </a:rPr>
              <a:t>5.195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21040" y="1627632"/>
            <a:ext cx="3502152" cy="219456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8321040" y="1627632"/>
            <a:ext cx="91440" cy="219456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540496" y="1746504"/>
            <a:ext cx="313639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Neden bu kaynaklar?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40496" y="2176272"/>
            <a:ext cx="3118104" cy="153619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İnsan tarafı tür çeşitliliği (GTZAN), bağımsız sanatçılar (FMA) ve kapak performansları (SleepyJesse) ile dengelendi.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0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YZ tarafı sekiz farklı üreticiden — tek sisteme aşırı uyumu önlemek için.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321040" y="3977639"/>
            <a:ext cx="3502152" cy="205740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8321040" y="3977639"/>
            <a:ext cx="91440" cy="20574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540496" y="4096511"/>
            <a:ext cx="313639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Sınıf Dengesi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40496" y="4526279"/>
            <a:ext cx="3118104" cy="139903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İnsan: 3.113 (%59,9)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Yapay zekâ: 2.082 (%40,1)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class_weight='balanced' ve stratifiye CV ile dengelendi.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5 · ÖZNITELIKLER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Neden 47 Öznitelik? Neyi Ölçüyorum?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Tek bir akustik temsile bağlı kalmamak için beş aile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75895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27632"/>
            <a:ext cx="1828800" cy="6675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627632"/>
            <a:ext cx="182880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Spektral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1792224"/>
            <a:ext cx="777240" cy="3383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11680" y="1792224"/>
            <a:ext cx="777240" cy="3383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16 boyut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1627632"/>
            <a:ext cx="489204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Frekans içeriği ve tını — MFCC, flatness, centroid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386584"/>
            <a:ext cx="75895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2386584"/>
            <a:ext cx="1828800" cy="6675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2386584"/>
            <a:ext cx="182880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Zamansal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2551176"/>
            <a:ext cx="777240" cy="3383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011680" y="2551176"/>
            <a:ext cx="777240" cy="3383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10 boyut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2386584"/>
            <a:ext cx="489204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Enerji ve zaman yapısı — RMS, sıfır geçiş, dinamik aralık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145536"/>
            <a:ext cx="75895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65760" y="3145536"/>
            <a:ext cx="1828800" cy="6675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3145536"/>
            <a:ext cx="182880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Ritmik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3310128"/>
            <a:ext cx="777240" cy="3383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011680" y="3310128"/>
            <a:ext cx="777240" cy="3383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9 boyut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3145536"/>
            <a:ext cx="489204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Ritim ve vuruş — tempo, beat sayısı, onset gücü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904487"/>
            <a:ext cx="75895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65760" y="3904487"/>
            <a:ext cx="1828800" cy="6675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5760" y="3904487"/>
            <a:ext cx="182880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Harmonik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0" y="4069079"/>
            <a:ext cx="777240" cy="3383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011680" y="4069079"/>
            <a:ext cx="777240" cy="3383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8 boyut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71800" y="3904487"/>
            <a:ext cx="489204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Perde ve akor — chroma, tonnetz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663440"/>
            <a:ext cx="75895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65760" y="4663440"/>
            <a:ext cx="1828800" cy="6675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5760" y="4663440"/>
            <a:ext cx="182880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Vokal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11680" y="4828031"/>
            <a:ext cx="777240" cy="3383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011680" y="4828031"/>
            <a:ext cx="777240" cy="3383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4 boyut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71800" y="4663440"/>
            <a:ext cx="489204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Şarkı sesi — temel frekans, vibrato, formant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0" y="1627632"/>
            <a:ext cx="3593592" cy="370332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229600" y="1627632"/>
            <a:ext cx="91440" cy="370332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449056" y="1746504"/>
            <a:ext cx="322783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Mantığım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49056" y="2176272"/>
            <a:ext cx="3209544" cy="304495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Tek bir temsil (yalnız MFCC ya da yalnız spektrogram) modeli o temsile aşırı uyumlu yapar.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Beş farklı aileyi birleştirince model, müziğin farklı yönlerinden ayırt edici sinyal toplayabiliyor.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Sonuç: 47 boyutlu, dayanıklı ve yorumlanabilir bir öznitelik vektörü.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486400"/>
            <a:ext cx="7589520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0" i="1">
                <a:solidFill>
                  <a:srgbClr val="6A7480"/>
                </a:solidFill>
                <a:latin typeface="Calibri"/>
              </a:rPr>
              <a:t>Bulgu: Öznitelik çıkarma deneyi, doğruluğun ~30 öznitelikte platoya ulaştığını gösterdi — gelecekte daha az öznitelikle benzer başarı mümkün.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6 · MODEL SEÇIMI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11 Model Denedim — Neyi Neden Seçtim?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5-katlı çapraz doğrulama · ROC-AUC sırasına göre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572768"/>
            <a:ext cx="50292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50292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572768"/>
            <a:ext cx="25146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1572768"/>
            <a:ext cx="233172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572768"/>
            <a:ext cx="82296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83280" y="1572768"/>
            <a:ext cx="82296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Tip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1572768"/>
            <a:ext cx="13716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06240" y="1572768"/>
            <a:ext cx="137160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Doğr.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77840" y="1572768"/>
            <a:ext cx="128016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577840" y="1572768"/>
            <a:ext cx="128016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0" y="1572768"/>
            <a:ext cx="13716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0" y="1572768"/>
            <a:ext cx="137160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ROC-AUC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1572768"/>
            <a:ext cx="123444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572768"/>
            <a:ext cx="123444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1956816"/>
            <a:ext cx="502920" cy="36576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93192" y="1956816"/>
            <a:ext cx="44805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1956816"/>
            <a:ext cx="2514600" cy="36576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0120" y="1956816"/>
            <a:ext cx="233172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1" i="0">
                <a:solidFill>
                  <a:srgbClr val="1B6E3C"/>
                </a:solidFill>
                <a:latin typeface="Calibri"/>
              </a:rPr>
              <a:t>LightGBM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83280" y="1956816"/>
            <a:ext cx="822960" cy="36576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10712" y="1956816"/>
            <a:ext cx="76809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ML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0" y="1956816"/>
            <a:ext cx="1371600" cy="36576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233672" y="1956816"/>
            <a:ext cx="131673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0,8839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7840" y="1956816"/>
            <a:ext cx="1280160" cy="36576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05272" y="1956816"/>
            <a:ext cx="1225295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0,8575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1956816"/>
            <a:ext cx="1371600" cy="36576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885432" y="1956816"/>
            <a:ext cx="131673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0,9548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1956816"/>
            <a:ext cx="1234440" cy="36576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57031" y="1956816"/>
            <a:ext cx="117957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±0,0023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322576"/>
            <a:ext cx="50292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93192" y="2322576"/>
            <a:ext cx="44805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680" y="2322576"/>
            <a:ext cx="2514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60120" y="2322576"/>
            <a:ext cx="233172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Derin ÇKA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2322576"/>
            <a:ext cx="82296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410712" y="2322576"/>
            <a:ext cx="76809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DL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2322576"/>
            <a:ext cx="1371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233672" y="2322576"/>
            <a:ext cx="131673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0,8849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77840" y="2322576"/>
            <a:ext cx="128016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605272" y="2322576"/>
            <a:ext cx="1225295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0,8596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0" y="2322576"/>
            <a:ext cx="1371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885432" y="2322576"/>
            <a:ext cx="131673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0,9542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600" y="2322576"/>
            <a:ext cx="123444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257031" y="2322576"/>
            <a:ext cx="117957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±0,0036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2688336"/>
            <a:ext cx="502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93192" y="2688336"/>
            <a:ext cx="44805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8680" y="2688336"/>
            <a:ext cx="2514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60120" y="2688336"/>
            <a:ext cx="233172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Artık ÇKA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83280" y="2688336"/>
            <a:ext cx="8229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410712" y="2688336"/>
            <a:ext cx="76809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DL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06240" y="2688336"/>
            <a:ext cx="1371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233672" y="2688336"/>
            <a:ext cx="131673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0,8756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77840" y="2688336"/>
            <a:ext cx="12801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605272" y="2688336"/>
            <a:ext cx="1225295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0,8476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858000" y="2688336"/>
            <a:ext cx="1371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885432" y="2688336"/>
            <a:ext cx="131673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0,9485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29600" y="2688336"/>
            <a:ext cx="12344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257031" y="2688336"/>
            <a:ext cx="117957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±0,0048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054096"/>
            <a:ext cx="50292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393192" y="3054096"/>
            <a:ext cx="44805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68680" y="3054096"/>
            <a:ext cx="2514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60120" y="3054096"/>
            <a:ext cx="233172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XGBoost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383280" y="3054096"/>
            <a:ext cx="82296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410712" y="3054096"/>
            <a:ext cx="76809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06240" y="3054096"/>
            <a:ext cx="1371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233672" y="3054096"/>
            <a:ext cx="131673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0,8751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577840" y="3054096"/>
            <a:ext cx="128016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605272" y="3054096"/>
            <a:ext cx="1225295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0,8408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858000" y="3054096"/>
            <a:ext cx="1371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885432" y="3054096"/>
            <a:ext cx="131673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0,9465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229600" y="3054096"/>
            <a:ext cx="123444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257031" y="3054096"/>
            <a:ext cx="117957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±0,0029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419856"/>
            <a:ext cx="502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393192" y="3419856"/>
            <a:ext cx="44805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68680" y="3419856"/>
            <a:ext cx="2514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960120" y="3419856"/>
            <a:ext cx="233172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Gradyan Artırma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383280" y="3419856"/>
            <a:ext cx="8229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3410712" y="3419856"/>
            <a:ext cx="76809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206240" y="3419856"/>
            <a:ext cx="1371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233672" y="3419856"/>
            <a:ext cx="131673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0,8685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577840" y="3419856"/>
            <a:ext cx="12801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5605272" y="3419856"/>
            <a:ext cx="1225295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0,8337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858000" y="3419856"/>
            <a:ext cx="1371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6885432" y="3419856"/>
            <a:ext cx="131673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0,9397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229600" y="3419856"/>
            <a:ext cx="12344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8257031" y="3419856"/>
            <a:ext cx="117957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±0,0038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5760" y="3785615"/>
            <a:ext cx="50292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393192" y="3785615"/>
            <a:ext cx="44805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6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68680" y="3785615"/>
            <a:ext cx="2514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960120" y="3785615"/>
            <a:ext cx="233172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Rastgele Orman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383280" y="3785615"/>
            <a:ext cx="82296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3410712" y="3785615"/>
            <a:ext cx="76809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206240" y="3785615"/>
            <a:ext cx="1371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4233672" y="3785615"/>
            <a:ext cx="131673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0,8606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577840" y="3785615"/>
            <a:ext cx="128016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5605272" y="3785615"/>
            <a:ext cx="1225295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0,8183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58000" y="3785615"/>
            <a:ext cx="1371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6885432" y="3785615"/>
            <a:ext cx="131673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0,9394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229600" y="3785615"/>
            <a:ext cx="123444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8257031" y="3785615"/>
            <a:ext cx="117957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±0,0051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65760" y="4151376"/>
            <a:ext cx="502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393192" y="4151376"/>
            <a:ext cx="44805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7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68680" y="4151376"/>
            <a:ext cx="2514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960120" y="4151376"/>
            <a:ext cx="233172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Dikkat ÇKA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383280" y="4151376"/>
            <a:ext cx="8229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3410712" y="4151376"/>
            <a:ext cx="76809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DL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206240" y="4151376"/>
            <a:ext cx="1371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4233672" y="4151376"/>
            <a:ext cx="131673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0,8628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577840" y="4151376"/>
            <a:ext cx="12801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5605272" y="4151376"/>
            <a:ext cx="1225295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0,8293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858000" y="4151376"/>
            <a:ext cx="1371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6885432" y="4151376"/>
            <a:ext cx="131673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0,9359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229600" y="4151376"/>
            <a:ext cx="12344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8257031" y="4151376"/>
            <a:ext cx="117957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±0,0059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65760" y="4517136"/>
            <a:ext cx="50292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393192" y="4517136"/>
            <a:ext cx="44805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68680" y="4517136"/>
            <a:ext cx="2514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960120" y="4517136"/>
            <a:ext cx="233172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SVM-RBF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383280" y="4517136"/>
            <a:ext cx="82296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3410712" y="4517136"/>
            <a:ext cx="76809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206240" y="4517136"/>
            <a:ext cx="1371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4233672" y="4517136"/>
            <a:ext cx="131673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0,8612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577840" y="4517136"/>
            <a:ext cx="128016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5605272" y="4517136"/>
            <a:ext cx="1225295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0,8252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858000" y="4517136"/>
            <a:ext cx="1371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885432" y="4517136"/>
            <a:ext cx="131673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0,9346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229600" y="4517136"/>
            <a:ext cx="123444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8257031" y="4517136"/>
            <a:ext cx="117957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±0,0075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65760" y="4882896"/>
            <a:ext cx="502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393192" y="4882896"/>
            <a:ext cx="44805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68680" y="4882896"/>
            <a:ext cx="2514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960120" y="4882896"/>
            <a:ext cx="233172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ÇKA Sinir Ağı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383280" y="4882896"/>
            <a:ext cx="8229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3410712" y="4882896"/>
            <a:ext cx="76809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206240" y="4882896"/>
            <a:ext cx="1371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4233672" y="4882896"/>
            <a:ext cx="131673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0,8566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577840" y="4882896"/>
            <a:ext cx="12801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5605272" y="4882896"/>
            <a:ext cx="1225295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0,8189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858000" y="4882896"/>
            <a:ext cx="1371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6885432" y="4882896"/>
            <a:ext cx="131673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0,9276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229600" y="4882896"/>
            <a:ext cx="12344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8257031" y="4882896"/>
            <a:ext cx="117957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±0,0061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65760" y="5248656"/>
            <a:ext cx="50292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393192" y="5248656"/>
            <a:ext cx="44805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10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68680" y="5248656"/>
            <a:ext cx="2514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960120" y="5248656"/>
            <a:ext cx="233172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1B-ESA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383280" y="5248656"/>
            <a:ext cx="82296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3410712" y="5248656"/>
            <a:ext cx="76809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DL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206240" y="5248656"/>
            <a:ext cx="1371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4233672" y="5248656"/>
            <a:ext cx="131673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0,7665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577840" y="5248656"/>
            <a:ext cx="128016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5605272" y="5248656"/>
            <a:ext cx="1225295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0,7159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858000" y="5248656"/>
            <a:ext cx="137160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6885432" y="5248656"/>
            <a:ext cx="131673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0,8543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8229600" y="5248656"/>
            <a:ext cx="1234440" cy="36576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8257031" y="5248656"/>
            <a:ext cx="117957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±0,0087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365760" y="5614416"/>
            <a:ext cx="502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393192" y="5614416"/>
            <a:ext cx="44805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11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868680" y="5614416"/>
            <a:ext cx="2514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960120" y="5614416"/>
            <a:ext cx="233172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Lojistik Reg.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3383280" y="5614416"/>
            <a:ext cx="8229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3410712" y="5614416"/>
            <a:ext cx="76809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4206240" y="5614416"/>
            <a:ext cx="1371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4233672" y="5614416"/>
            <a:ext cx="131673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0,7779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577840" y="5614416"/>
            <a:ext cx="12801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5605272" y="5614416"/>
            <a:ext cx="1225295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0,7390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858000" y="5614416"/>
            <a:ext cx="13716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6885432" y="5614416"/>
            <a:ext cx="131673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0,8515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8229600" y="5614416"/>
            <a:ext cx="12344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8257031" y="5614416"/>
            <a:ext cx="117957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±0,0042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9509760" y="1572768"/>
            <a:ext cx="2313432" cy="45262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9509760" y="1572768"/>
            <a:ext cx="91440" cy="45262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9729216" y="1691640"/>
            <a:ext cx="194767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Neden LightGBM?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729216" y="2121408"/>
            <a:ext cx="1929384" cy="386791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242A30"/>
                </a:solidFill>
                <a:latin typeface="Calibri"/>
              </a:rPr>
              <a:t>En yüksek ROC-AUC (0,9548)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0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242A30"/>
                </a:solidFill>
                <a:latin typeface="Calibri"/>
              </a:rPr>
              <a:t>En düşük varyans (±0,0023) → en kararlı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0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242A30"/>
                </a:solidFill>
                <a:latin typeface="Calibri"/>
              </a:rPr>
              <a:t>Hızlı eğitim, az bellek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0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242A30"/>
                </a:solidFill>
                <a:latin typeface="Calibri"/>
              </a:rPr>
              <a:t>Derin ağlara yakın başarı, ama çok daha hafif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6 · MODEL SEÇIMI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Makine Öğrenmesi mi, Derin Öğrenme mi?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2404252"/>
            <a:ext cx="7315200" cy="2652999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paper_ml_vs_d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449972"/>
            <a:ext cx="7223760" cy="25615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066395"/>
            <a:ext cx="72237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ML ve DL ailelerinin performans dağılımı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1627632"/>
            <a:ext cx="4005072" cy="45262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818120" y="1627632"/>
            <a:ext cx="91440" cy="45262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37576" y="1746504"/>
            <a:ext cx="363931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Çıkarım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6" y="2176272"/>
            <a:ext cx="3621024" cy="386791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7 ML modeli ortalama %92,75 ROC-AUC.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4 DL modeli ortalama %92,32.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1B-ESA dışlanınca DL ortalaması %94,62'ye çıkıyor.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Sonuç: 47 boyutlu öznitelik vektörü ayırt edici bilginin büyük bölümünü zaten taşıyor. Karmaşık derin ağ şart değil — hafif LightGBM yeterli ve daha kararlı.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7 · SONUÇLAR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LightGBM Performansı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27632"/>
            <a:ext cx="2697480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819656"/>
            <a:ext cx="2697480" cy="6858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800" b="1" i="0">
                <a:solidFill>
                  <a:srgbClr val="D99A07"/>
                </a:solidFill>
                <a:latin typeface="Calibri"/>
              </a:rPr>
              <a:t>0,9548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491740"/>
            <a:ext cx="2697480" cy="46634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ROC-AUC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627632"/>
            <a:ext cx="2697480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46120" y="1819656"/>
            <a:ext cx="2697480" cy="6858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800" b="1" i="0">
                <a:solidFill>
                  <a:srgbClr val="D99A07"/>
                </a:solidFill>
                <a:latin typeface="Calibri"/>
              </a:rPr>
              <a:t>0,8839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2491740"/>
            <a:ext cx="2697480" cy="46634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Doğruluk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627632"/>
            <a:ext cx="2697480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26480" y="1819656"/>
            <a:ext cx="2697480" cy="6858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800" b="1" i="0">
                <a:solidFill>
                  <a:srgbClr val="D99A07"/>
                </a:solidFill>
                <a:latin typeface="Calibri"/>
              </a:rPr>
              <a:t>0,8575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491740"/>
            <a:ext cx="2697480" cy="46634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F1-Skoru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06840" y="1627632"/>
            <a:ext cx="28163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006840" y="1819656"/>
            <a:ext cx="2816352" cy="6858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0,4316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2491740"/>
            <a:ext cx="2816352" cy="46634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Karar eşiği θ*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1330" y="3154680"/>
            <a:ext cx="3206458" cy="28803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paper_confusion_matrix_lightgb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50" y="3200400"/>
            <a:ext cx="3115018" cy="2788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65760" y="6044183"/>
            <a:ext cx="36576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Karmaşıklık matrisi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3200400"/>
            <a:ext cx="7525512" cy="278892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297680" y="3200400"/>
            <a:ext cx="91440" cy="278892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17136" y="3319272"/>
            <a:ext cx="715975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Karmaşıklık matrisi ne diyor?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7136" y="3749039"/>
            <a:ext cx="7141464" cy="213055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Doğru negatif (insan→insan):  2.721  (%87,4)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Doğru pozitif (YZ→YZ):  1.862  (%89,4)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Yanlış pozitif (insan→YZ):  392  (%12,6)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Yanlış negatif (YZ→insan):  220  (%10,6)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Model her iki sınıfı da dengeli ayırıyor; Youden J eşiği (0,4316) ile yanlış alarm ile kaçırma arasında denge kuruldu.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7 · SONUÇLAR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Kararı Açıklamak — SHAP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Model neden 'yapay zekâ' diyor?</a:t>
            </a:r>
          </a:p>
        </p:txBody>
      </p:sp>
      <p:sp>
        <p:nvSpPr>
          <p:cNvPr id="8" name="Rectangle 7"/>
          <p:cNvSpPr/>
          <p:nvPr/>
        </p:nvSpPr>
        <p:spPr>
          <a:xfrm>
            <a:off x="1037373" y="1581912"/>
            <a:ext cx="4051733" cy="4297679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093" y="1627632"/>
            <a:ext cx="3960293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5888736"/>
            <a:ext cx="5394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TreeSHAP global etki diyagramı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72768"/>
            <a:ext cx="58521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En Etkili 5 Öznitelik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1965960"/>
            <a:ext cx="54864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89320" y="1965960"/>
            <a:ext cx="54864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37959" y="1965960"/>
            <a:ext cx="36576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399" y="1965960"/>
            <a:ext cx="347472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Öznitelik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95559" y="1965960"/>
            <a:ext cx="13716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195559" y="1965960"/>
            <a:ext cx="137160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Önem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2350008"/>
            <a:ext cx="548640" cy="45720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016752" y="2350008"/>
            <a:ext cx="49377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1B6E3C"/>
                </a:solidFill>
                <a:latin typeface="Calibri"/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59" y="2350008"/>
            <a:ext cx="3657600" cy="45720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29399" y="2350008"/>
            <a:ext cx="347472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1" i="0">
                <a:solidFill>
                  <a:srgbClr val="1B6E3C"/>
                </a:solidFill>
                <a:latin typeface="Calibri"/>
              </a:rPr>
              <a:t>spectral_flatness_std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95559" y="2350008"/>
            <a:ext cx="1371600" cy="45720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222991" y="2350008"/>
            <a:ext cx="131673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1B6E3C"/>
                </a:solidFill>
                <a:latin typeface="Calibri"/>
              </a:rPr>
              <a:t>0,0619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807208"/>
            <a:ext cx="54864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16752" y="2807208"/>
            <a:ext cx="49377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37959" y="2807208"/>
            <a:ext cx="365760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29399" y="2807208"/>
            <a:ext cx="347472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spectral_contrast_mean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95559" y="2807208"/>
            <a:ext cx="137160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222991" y="2807208"/>
            <a:ext cx="131673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0,0467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89320" y="3264408"/>
            <a:ext cx="5486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016752" y="3264408"/>
            <a:ext cx="49377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37959" y="3264408"/>
            <a:ext cx="3657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629399" y="3264408"/>
            <a:ext cx="347472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rms_energy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95559" y="3264408"/>
            <a:ext cx="1371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222991" y="3264408"/>
            <a:ext cx="131673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0,0456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89320" y="3721608"/>
            <a:ext cx="54864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016752" y="3721608"/>
            <a:ext cx="49377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37959" y="3721608"/>
            <a:ext cx="365760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29399" y="3721608"/>
            <a:ext cx="347472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onset_strength_std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95559" y="3721608"/>
            <a:ext cx="137160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222991" y="3721608"/>
            <a:ext cx="131673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0,0388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89320" y="4178808"/>
            <a:ext cx="5486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016752" y="4178808"/>
            <a:ext cx="49377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59" y="4178808"/>
            <a:ext cx="3657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629399" y="4178808"/>
            <a:ext cx="347472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spectral_flatness_mean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95559" y="4178808"/>
            <a:ext cx="1371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222991" y="4178808"/>
            <a:ext cx="131673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0,0370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89320" y="4754880"/>
            <a:ext cx="5852160" cy="128016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5989320" y="4754880"/>
            <a:ext cx="91440" cy="128016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208776" y="4873752"/>
            <a:ext cx="54864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Yorum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08776" y="5303520"/>
            <a:ext cx="5468112" cy="62179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YZ müziği spektral açıdan daha 'düz' ve düzenli. spectral_flatness_std bu farkı yakalayan en güçlü öznitelik — bulgu bağımsız deepfake literatürüyle de örtüşüyor.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7 · SONUÇLAR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Hangi Kaynakta Ne Kadar Başarılı?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Dürüst değerlendirme: güçlü ve zayıf noktalar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5623560" cy="2103120"/>
          </a:xfrm>
          <a:prstGeom prst="rect">
            <a:avLst/>
          </a:prstGeom>
          <a:solidFill>
            <a:srgbClr val="E8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27632"/>
            <a:ext cx="91440" cy="2103120"/>
          </a:xfrm>
          <a:prstGeom prst="rect">
            <a:avLst/>
          </a:prstGeom>
          <a:solidFill>
            <a:srgbClr val="1B6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5216" y="1746504"/>
            <a:ext cx="5257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İyi sonuçlar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176272"/>
            <a:ext cx="5239512" cy="1444751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Suno parçaları:  %93,0 duyarlılık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Echoes alt kümesi:  %88,6 duyarlılık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Müzik üretim sistemlerinin spektral imzaları belirgin olduğundan model bunları yüksek doğrulukla yakalıyor.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913632"/>
            <a:ext cx="5623560" cy="2103120"/>
          </a:xfrm>
          <a:prstGeom prst="rect">
            <a:avLst/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3913632"/>
            <a:ext cx="91440" cy="2103120"/>
          </a:xfrm>
          <a:prstGeom prst="rect">
            <a:avLst/>
          </a:prstGeom>
          <a:solidFill>
            <a:srgbClr val="B3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6" y="4032504"/>
            <a:ext cx="5257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Zayıf nokta — neden?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4462272"/>
            <a:ext cx="5239512" cy="1444751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Deepfake seti:  %50,0 duyarlılık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Bu küme konuşma deepfake'inden türetilmiş; müzik üretim imzalarını taşımıyor. Düşüş bir başarısızlık değil, dağılım kayması (distribution shift) — gelecekte alan uyarlamasıyla giderilebilir.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81037" y="1581912"/>
            <a:ext cx="403331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threshold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6757" y="1627632"/>
            <a:ext cx="3941876" cy="274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72200" y="4425696"/>
            <a:ext cx="5650992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Karar eşiği taraması (0,40–0,50 platosu)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4617720"/>
            <a:ext cx="5650992" cy="141732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72200" y="4617720"/>
            <a:ext cx="91440" cy="141732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91656" y="4736592"/>
            <a:ext cx="5285231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Neden bunu gösteriyorum?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1656" y="5166359"/>
            <a:ext cx="5266944" cy="75895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Bir sistemin sınırlarını bilmek, onu güçlendirmenin ilk adımıdır. Deepfake düşüşünü saklamak yerine analiz ettim ve gelecek çalışma olarak planladım.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8 · ARAYÜZLER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Web Platformu — Gerçek Ekran Görüntüsü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Next.js 14 · TypeScript · Tailwind CSS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5" y="1581912"/>
            <a:ext cx="696772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uris_web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5" y="1627632"/>
            <a:ext cx="6876288" cy="4297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5980176"/>
            <a:ext cx="740664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AURIS web arayüzü — analiz sayfası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627632"/>
            <a:ext cx="3867912" cy="42976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955279" y="1627632"/>
            <a:ext cx="91440" cy="42976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74736" y="1746504"/>
            <a:ext cx="350215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Web özellikleri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176272"/>
            <a:ext cx="3483864" cy="363931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YouTube bağlantısı veya dosya yükleme ile analiz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AURIS Pipeline paneli analiz adımlarını canlı gösterir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Spotify / Apple Music entegrasyonu (yakında)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Statik site üretimi → hızlı yükleme, düşük maliyet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Ortalama sayfa yükleme: 1,2 sn · Lighthouse 94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8 · ARAYÜZLER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Web — Analiz ve Sonuç Akışı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84769"/>
            <a:ext cx="5715000" cy="3606165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uris_web_se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07629"/>
            <a:ext cx="5623560" cy="35147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5126927"/>
            <a:ext cx="56235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 dirty="0">
                <a:solidFill>
                  <a:srgbClr val="6A7480"/>
                </a:solidFill>
                <a:latin typeface="Calibri"/>
              </a:rPr>
              <a:t>Dosya </a:t>
            </a:r>
            <a:r>
              <a:rPr sz="1000" b="0" i="1" dirty="0" err="1">
                <a:solidFill>
                  <a:srgbClr val="6A7480"/>
                </a:solidFill>
                <a:latin typeface="Calibri"/>
              </a:rPr>
              <a:t>yükleme</a:t>
            </a:r>
            <a:r>
              <a:rPr sz="1000" b="0" i="1" dirty="0">
                <a:solidFill>
                  <a:srgbClr val="6A7480"/>
                </a:solidFill>
                <a:latin typeface="Calibri"/>
              </a:rPr>
              <a:t> </a:t>
            </a:r>
            <a:r>
              <a:rPr sz="1000" b="0" i="1" dirty="0" err="1">
                <a:solidFill>
                  <a:srgbClr val="6A7480"/>
                </a:solidFill>
                <a:latin typeface="Calibri"/>
              </a:rPr>
              <a:t>ve</a:t>
            </a:r>
            <a:r>
              <a:rPr sz="1000" b="0" i="1" dirty="0">
                <a:solidFill>
                  <a:srgbClr val="6A7480"/>
                </a:solidFill>
                <a:latin typeface="Calibri"/>
              </a:rPr>
              <a:t> </a:t>
            </a:r>
            <a:r>
              <a:rPr sz="1000" b="0" i="1" dirty="0" err="1">
                <a:solidFill>
                  <a:srgbClr val="6A7480"/>
                </a:solidFill>
                <a:latin typeface="Calibri"/>
              </a:rPr>
              <a:t>analiz</a:t>
            </a:r>
            <a:r>
              <a:rPr sz="1000" b="0" i="1" dirty="0">
                <a:solidFill>
                  <a:srgbClr val="6A7480"/>
                </a:solidFill>
                <a:latin typeface="Calibri"/>
              </a:rPr>
              <a:t> </a:t>
            </a:r>
            <a:r>
              <a:rPr sz="1000" b="0" i="1" dirty="0" err="1">
                <a:solidFill>
                  <a:srgbClr val="6A7480"/>
                </a:solidFill>
                <a:latin typeface="Calibri"/>
              </a:rPr>
              <a:t>alanı</a:t>
            </a:r>
            <a:endParaRPr sz="1000" b="0" i="1" dirty="0">
              <a:solidFill>
                <a:srgbClr val="6A7480"/>
              </a:solidFill>
              <a:latin typeface="Calibr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135624" y="1581912"/>
            <a:ext cx="5724144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auris_web_se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4" y="1601914"/>
            <a:ext cx="5632704" cy="35204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81344" y="5148072"/>
            <a:ext cx="5650992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 dirty="0">
                <a:solidFill>
                  <a:srgbClr val="6A7480"/>
                </a:solidFill>
                <a:latin typeface="Calibri"/>
              </a:rPr>
              <a:t>YouTube </a:t>
            </a:r>
            <a:r>
              <a:rPr sz="1000" b="0" i="1" dirty="0" err="1">
                <a:solidFill>
                  <a:srgbClr val="6A7480"/>
                </a:solidFill>
                <a:latin typeface="Calibri"/>
              </a:rPr>
              <a:t>bağlantı</a:t>
            </a:r>
            <a:r>
              <a:rPr sz="1000" b="0" i="1" dirty="0">
                <a:solidFill>
                  <a:srgbClr val="6A7480"/>
                </a:solidFill>
                <a:latin typeface="Calibri"/>
              </a:rPr>
              <a:t> </a:t>
            </a:r>
            <a:r>
              <a:rPr sz="1000" b="0" i="1" dirty="0" err="1">
                <a:solidFill>
                  <a:srgbClr val="6A7480"/>
                </a:solidFill>
                <a:latin typeface="Calibri"/>
              </a:rPr>
              <a:t>analizi</a:t>
            </a:r>
            <a:r>
              <a:rPr sz="1000" b="0" i="1" dirty="0">
                <a:solidFill>
                  <a:srgbClr val="6A7480"/>
                </a:solidFill>
                <a:latin typeface="Calibri"/>
              </a:rPr>
              <a:t> </a:t>
            </a:r>
            <a:r>
              <a:rPr sz="1000" b="0" i="1" dirty="0" err="1">
                <a:solidFill>
                  <a:srgbClr val="6A7480"/>
                </a:solidFill>
                <a:latin typeface="Calibri"/>
              </a:rPr>
              <a:t>ve</a:t>
            </a:r>
            <a:r>
              <a:rPr sz="1000" b="0" i="1" dirty="0">
                <a:solidFill>
                  <a:srgbClr val="6A7480"/>
                </a:solidFill>
                <a:latin typeface="Calibri"/>
              </a:rPr>
              <a:t> </a:t>
            </a:r>
            <a:r>
              <a:rPr sz="1000" b="0" i="1" dirty="0" err="1">
                <a:solidFill>
                  <a:srgbClr val="6A7480"/>
                </a:solidFill>
                <a:latin typeface="Calibri"/>
              </a:rPr>
              <a:t>sonuç</a:t>
            </a:r>
            <a:endParaRPr sz="1000" b="0" i="1" dirty="0">
              <a:solidFill>
                <a:srgbClr val="6A7480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65760" y="5303520"/>
            <a:ext cx="11457432" cy="77724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5303520"/>
            <a:ext cx="91440" cy="77724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85216" y="5422392"/>
            <a:ext cx="1109167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Kullanıcı akışı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5852159"/>
            <a:ext cx="11073384" cy="11887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Kullanıcı dosya/bağlantı verir → sistem 47 özniteliği çıkarır → LightGBM olasılık üretir → sonuç skoru ve SHAP gerekçesiyle birlikte gösterilir.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8 · ARAYÜZLER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Mobil Uygulama — Gerçek Ekran Görüntüleri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Kotlin · Jetpack Compose · MVVM mimarisi</a:t>
            </a:r>
          </a:p>
        </p:txBody>
      </p:sp>
      <p:sp>
        <p:nvSpPr>
          <p:cNvPr id="8" name="Rectangle 7"/>
          <p:cNvSpPr/>
          <p:nvPr/>
        </p:nvSpPr>
        <p:spPr>
          <a:xfrm>
            <a:off x="1089046" y="1581912"/>
            <a:ext cx="2119587" cy="4480559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uris_mobil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766" y="1627632"/>
            <a:ext cx="2028147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6071616"/>
            <a:ext cx="246888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AURIS ana ekranı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32246" y="1581912"/>
            <a:ext cx="2119587" cy="4480559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auris_mobile_up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966" y="1627632"/>
            <a:ext cx="2028147" cy="43891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57600" y="6071616"/>
            <a:ext cx="246888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Yükleme sekmeleri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1627632"/>
            <a:ext cx="5239512" cy="438912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583680" y="1627632"/>
            <a:ext cx="91440" cy="438912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03136" y="1746504"/>
            <a:ext cx="487375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Mobil özellikler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3136" y="2176272"/>
            <a:ext cx="4855464" cy="373075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Android 8.0+ desteği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Jetpack Compose ile modern, az kodlu arayüz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MVVM: iş mantığı arayüzden ayrı → test edilebilir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Retrofit + Kotlin Coroutines ile asenkron ağ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Room veritabanı ile yerel geçmiş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Başlatma süresi: 0,8 sn · Bellek: ~120 MB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10 analiz için yalnız %3 batarya tüketimi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GENEL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Ne Kullandım? — Teknoloji Yığını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Her katmanda neden bu araçları seçtim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5577840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27632"/>
            <a:ext cx="5577840" cy="50292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627632"/>
            <a:ext cx="530352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Yapay Zekâ / Veri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249424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Python · librosa (öznitelik)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596896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scikit-learn · LightGBM · XGBoost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944368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PyTorch (derin modeller)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291840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SHAP (açıklanabilirlik)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627632"/>
            <a:ext cx="5577840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72200" y="1627632"/>
            <a:ext cx="5577840" cy="502920"/>
          </a:xfrm>
          <a:prstGeom prst="rect">
            <a:avLst/>
          </a:prstGeom>
          <a:solidFill>
            <a:srgbClr val="2E5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36792" y="1627632"/>
            <a:ext cx="530352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Web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249424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Next.js 14 · React 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596896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TypeScript (tip güvenliği)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944368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Tailwind CSS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291840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Statik site üretimi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867912"/>
            <a:ext cx="5577840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8A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5760" y="3867912"/>
            <a:ext cx="5577840" cy="502920"/>
          </a:xfrm>
          <a:prstGeom prst="rect">
            <a:avLst/>
          </a:prstGeom>
          <a:solidFill>
            <a:srgbClr val="8A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30352" y="3867912"/>
            <a:ext cx="530352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Mobil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489704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Kotlin · Jetpack Compose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837176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MVVM mimarisi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184648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Retrofit · Coroutines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532120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Room veritabanı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3867912"/>
            <a:ext cx="5577840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02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172200" y="3867912"/>
            <a:ext cx="5577840" cy="50292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36792" y="3867912"/>
            <a:ext cx="530352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89704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Python · FastAPI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837176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RESTful API + JSON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184648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Dosya doğrulama / güvenlik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532120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Otomatik API dokümanı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9 · KARŞILAŞTIRMA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AURIS Literatüre Göre Nerede?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Yayımlanmış çalışmalarla sayısal karşılaştırma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265176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627632"/>
            <a:ext cx="2468879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Çalışma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1627632"/>
            <a:ext cx="338328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08960" y="1627632"/>
            <a:ext cx="320040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Yaklaşım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18288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627632"/>
            <a:ext cx="182880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Veri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627632"/>
            <a:ext cx="178308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0" y="1627632"/>
            <a:ext cx="178308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ROC-AUC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12680" y="1627632"/>
            <a:ext cx="1810512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12680" y="1627632"/>
            <a:ext cx="1810512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011680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2011680"/>
            <a:ext cx="2468879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Afchar vd. (2025)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2011680"/>
            <a:ext cx="33832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108960" y="2011680"/>
            <a:ext cx="32004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Oto-kodlayıcı artefakt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011680"/>
            <a:ext cx="18288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28232" y="2011680"/>
            <a:ext cx="177393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Özel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2011680"/>
            <a:ext cx="17830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57031" y="2011680"/>
            <a:ext cx="172821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12680" y="2011680"/>
            <a:ext cx="181051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40111" y="2011680"/>
            <a:ext cx="1755648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0,872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578608"/>
            <a:ext cx="265176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2578608"/>
            <a:ext cx="2468879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Li vd. (2026)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17520" y="2578608"/>
            <a:ext cx="338328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108960" y="2578608"/>
            <a:ext cx="32004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Açıklanabilir öznitelik + ML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578608"/>
            <a:ext cx="182880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28232" y="2578608"/>
            <a:ext cx="177393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Özel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2578608"/>
            <a:ext cx="178308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57031" y="2578608"/>
            <a:ext cx="172821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0,931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12680" y="2578608"/>
            <a:ext cx="1810512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040111" y="2578608"/>
            <a:ext cx="1755648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0,884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145536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3145536"/>
            <a:ext cx="2468879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Cros Vila vd. (2025)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3145536"/>
            <a:ext cx="33832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108960" y="3145536"/>
            <a:ext cx="32004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Spektral + ritmik + SVM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3145536"/>
            <a:ext cx="18288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28232" y="3145536"/>
            <a:ext cx="177393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Özel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0" y="3145536"/>
            <a:ext cx="17830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257031" y="3145536"/>
            <a:ext cx="172821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0,941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12680" y="3145536"/>
            <a:ext cx="181051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040111" y="3145536"/>
            <a:ext cx="1755648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3712464"/>
            <a:ext cx="265176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57200" y="3712464"/>
            <a:ext cx="2468879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SONICS (2025)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17520" y="3712464"/>
            <a:ext cx="338328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108960" y="3712464"/>
            <a:ext cx="32004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Transformer tabanlı DL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0" y="3712464"/>
            <a:ext cx="182880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28232" y="3712464"/>
            <a:ext cx="177393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SONICS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0" y="3712464"/>
            <a:ext cx="178308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257031" y="3712464"/>
            <a:ext cx="172821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0,960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012680" y="3712464"/>
            <a:ext cx="1810512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0040111" y="3712464"/>
            <a:ext cx="1755648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0,921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4279392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57200" y="4279392"/>
            <a:ext cx="2468879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FakeMusicCaps (2025)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4279392"/>
            <a:ext cx="33832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108960" y="4279392"/>
            <a:ext cx="32004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Çok modlu MusicCaps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00800" y="4279392"/>
            <a:ext cx="18288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428232" y="4279392"/>
            <a:ext cx="177393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FMC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0" y="4279392"/>
            <a:ext cx="17830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257031" y="4279392"/>
            <a:ext cx="172821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0,943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012680" y="4279392"/>
            <a:ext cx="181051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0040111" y="4279392"/>
            <a:ext cx="1755648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846320"/>
            <a:ext cx="2651760" cy="566928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457200" y="4846320"/>
            <a:ext cx="2468879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1" i="0">
                <a:solidFill>
                  <a:srgbClr val="1B6E3C"/>
                </a:solidFill>
                <a:latin typeface="Calibri"/>
              </a:rPr>
              <a:t>AURIS (bu çalışma)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846320"/>
            <a:ext cx="3383280" cy="566928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3108960" y="4846320"/>
            <a:ext cx="32004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1" i="0">
                <a:solidFill>
                  <a:srgbClr val="1B6E3C"/>
                </a:solidFill>
                <a:latin typeface="Calibri"/>
              </a:rPr>
              <a:t>47 öznitelik + 11 model topluluk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00800" y="4846320"/>
            <a:ext cx="1828800" cy="566928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428232" y="4846320"/>
            <a:ext cx="177393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1B6E3C"/>
                </a:solidFill>
                <a:latin typeface="Calibri"/>
              </a:rPr>
              <a:t>5.195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229600" y="4846320"/>
            <a:ext cx="1783080" cy="566928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8257031" y="4846320"/>
            <a:ext cx="172821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1B6E3C"/>
                </a:solidFill>
                <a:latin typeface="Calibri"/>
              </a:rPr>
              <a:t>0,9548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012680" y="4846320"/>
            <a:ext cx="1810512" cy="566928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0040111" y="4846320"/>
            <a:ext cx="1755648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1B6E3C"/>
                </a:solidFill>
                <a:latin typeface="Calibri"/>
              </a:rPr>
              <a:t>0,8731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5486400"/>
            <a:ext cx="11457432" cy="8686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365760" y="5486400"/>
            <a:ext cx="91440" cy="8686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585216" y="5605272"/>
            <a:ext cx="1109167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Konumum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5216" y="6035040"/>
            <a:ext cx="11073384" cy="210311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AURIS (0,9548), Transformer tabanlı SONICS (0,960) ile Li vd. (0,931) arasında. Üstelik derin öğrenme altyapısı gerektirmeden ve en düşük varyansla (±0,0023) — hafif bir sistemin ne kadar rekabetçi olabileceğini gösteriyor.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10 · DEĞERLENDIRME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Ne Eksik? Sırada Ne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562356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400" b="1" i="0">
                <a:solidFill>
                  <a:srgbClr val="B32929"/>
                </a:solidFill>
                <a:latin typeface="Calibri"/>
              </a:rPr>
              <a:t>Bilinen Kısıtlar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75104"/>
            <a:ext cx="5623560" cy="914400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066544"/>
            <a:ext cx="53949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B32929"/>
                </a:solidFill>
                <a:latin typeface="Calibri"/>
              </a:rPr>
              <a:t>⚠  Dağılım kayması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95728"/>
            <a:ext cx="5394960" cy="43891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Eğitim dışı YZ sistemlerine genelleme sınırlı (deepfake %50).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99232"/>
            <a:ext cx="5623560" cy="914400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3090672"/>
            <a:ext cx="53949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B32929"/>
                </a:solidFill>
                <a:latin typeface="Calibri"/>
              </a:rPr>
              <a:t>⚠  Aşırı uyum eğilimi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419856"/>
            <a:ext cx="5394960" cy="43891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Ağaç modellerinde 8–14 puan eğitim-CV açığı.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023360"/>
            <a:ext cx="5623560" cy="914400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4114800"/>
            <a:ext cx="53949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B32929"/>
                </a:solidFill>
                <a:latin typeface="Calibri"/>
              </a:rPr>
              <a:t>⚠  Öznitelik fazlalığı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443984"/>
            <a:ext cx="5394960" cy="43891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Son 17 öznitelik doğruluğa katkı sağlamıyor.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047488"/>
            <a:ext cx="5623560" cy="914400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5138928"/>
            <a:ext cx="53949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B32929"/>
                </a:solidFill>
                <a:latin typeface="Calibri"/>
              </a:rPr>
              <a:t>⚠  Gerçek zaman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468112"/>
            <a:ext cx="5394960" cy="43891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Düşük gecikmeli çıkarım henüz test edilmedi.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9632" y="1554480"/>
            <a:ext cx="562356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400" b="1" i="0">
                <a:solidFill>
                  <a:srgbClr val="1B6E3C"/>
                </a:solidFill>
                <a:latin typeface="Calibri"/>
              </a:rPr>
              <a:t>Gelecek Çalışmalar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9632" y="1975104"/>
            <a:ext cx="5623560" cy="914400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36792" y="2066544"/>
            <a:ext cx="53949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→  Genelleme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6792" y="2395728"/>
            <a:ext cx="5394960" cy="43891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SONICS/FakeMusicCaps ile üretici-bağımsız test; alan uyarlama.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9632" y="2999232"/>
            <a:ext cx="5623560" cy="914400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36792" y="3090672"/>
            <a:ext cx="53949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→  Sağlamlık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6792" y="3419856"/>
            <a:ext cx="5394960" cy="43891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MP3 sıkıştırma, perde kaydırma, zaman gerdirme testleri.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9632" y="4023360"/>
            <a:ext cx="5623560" cy="914400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36792" y="4114800"/>
            <a:ext cx="53949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→  Gerçek zaman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4443984"/>
            <a:ext cx="5394960" cy="43891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Düşük gecikmeli çıkarım ve canlı ses akışı.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9632" y="5047488"/>
            <a:ext cx="5623560" cy="914400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36792" y="5138928"/>
            <a:ext cx="53949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→  Ölçek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5468112"/>
            <a:ext cx="5394960" cy="43891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Veri kümesini 10.000 örneğe genişletme.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651760"/>
            <a:ext cx="12188952" cy="54864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3200" b="1" i="0">
                <a:solidFill>
                  <a:srgbClr val="D99A07"/>
                </a:solidFill>
                <a:latin typeface="Calibri"/>
              </a:rPr>
              <a:t>Özetle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91640"/>
            <a:ext cx="1124712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500" b="0" i="0">
                <a:solidFill>
                  <a:srgbClr val="CDDDE8"/>
                </a:solidFill>
                <a:latin typeface="Calibri"/>
              </a:rPr>
              <a:t>AURIS, yapay zekâ müziğini tespit eden; akademik olarak sağlam, ürün olarak çalışan, çok platformlu ve açıklanabilir bir sistem.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" y="3108960"/>
            <a:ext cx="2240280" cy="1280160"/>
          </a:xfrm>
          <a:prstGeom prst="rect">
            <a:avLst/>
          </a:prstGeom>
          <a:solidFill>
            <a:srgbClr val="081B33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3200400"/>
            <a:ext cx="2240280" cy="5943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600" b="1" i="0">
                <a:solidFill>
                  <a:srgbClr val="D99A07"/>
                </a:solidFill>
                <a:latin typeface="Calibri"/>
              </a:rPr>
              <a:t>0,9548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794760"/>
            <a:ext cx="224028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ROC-AUC</a:t>
            </a:r>
          </a:p>
        </p:txBody>
      </p:sp>
      <p:sp>
        <p:nvSpPr>
          <p:cNvPr id="8" name="Rectangle 7"/>
          <p:cNvSpPr/>
          <p:nvPr/>
        </p:nvSpPr>
        <p:spPr>
          <a:xfrm>
            <a:off x="3593591" y="3108960"/>
            <a:ext cx="2240280" cy="1280160"/>
          </a:xfrm>
          <a:prstGeom prst="rect">
            <a:avLst/>
          </a:prstGeom>
          <a:solidFill>
            <a:srgbClr val="081B33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93591" y="3200400"/>
            <a:ext cx="2240280" cy="5943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600" b="1" i="0">
                <a:solidFill>
                  <a:srgbClr val="D99A07"/>
                </a:solidFill>
                <a:latin typeface="Calibri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3591" y="3794760"/>
            <a:ext cx="224028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Öznitelik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35623" y="3108960"/>
            <a:ext cx="2240280" cy="1280160"/>
          </a:xfrm>
          <a:prstGeom prst="rect">
            <a:avLst/>
          </a:prstGeom>
          <a:solidFill>
            <a:srgbClr val="081B33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35623" y="3200400"/>
            <a:ext cx="2240280" cy="5943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600" b="1" i="0">
                <a:solidFill>
                  <a:srgbClr val="D99A07"/>
                </a:solidFill>
                <a:latin typeface="Calibri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35623" y="3794760"/>
            <a:ext cx="224028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77656" y="3108960"/>
            <a:ext cx="2240280" cy="1280160"/>
          </a:xfrm>
          <a:prstGeom prst="rect">
            <a:avLst/>
          </a:prstGeom>
          <a:solidFill>
            <a:srgbClr val="081B33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77656" y="3200400"/>
            <a:ext cx="2240280" cy="5943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600" b="1" i="0">
                <a:solidFill>
                  <a:srgbClr val="D99A07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7656" y="3794760"/>
            <a:ext cx="224028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Teşekkürler — Sorularınızı bekliyorum.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440680"/>
            <a:ext cx="1124712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300" b="0" i="0">
                <a:solidFill>
                  <a:srgbClr val="ADC4D6"/>
                </a:solidFill>
                <a:latin typeface="Calibri"/>
              </a:rPr>
              <a:t>Hasan Arthur Altuntaş  ·  hasannarthurrr@gmail.com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852160"/>
            <a:ext cx="112471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100" b="0" i="0">
                <a:solidFill>
                  <a:srgbClr val="5E7A94"/>
                </a:solidFill>
                <a:latin typeface="Calibri"/>
              </a:rPr>
              <a:t>Düzce Üniversitesi · Bilgisayar Mühendisliği · 2025-2026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2707</Words>
  <Application>Microsoft Office PowerPoint</Application>
  <PresentationFormat>Özel</PresentationFormat>
  <Paragraphs>586</Paragraphs>
  <Slides>24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2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914 94</cp:lastModifiedBy>
  <cp:revision>2</cp:revision>
  <dcterms:created xsi:type="dcterms:W3CDTF">2013-01-27T09:14:16Z</dcterms:created>
  <dcterms:modified xsi:type="dcterms:W3CDTF">2026-06-04T22:16:53Z</dcterms:modified>
  <cp:category/>
</cp:coreProperties>
</file>