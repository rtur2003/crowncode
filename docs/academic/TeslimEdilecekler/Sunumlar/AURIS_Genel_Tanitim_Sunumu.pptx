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43484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1188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8000" b="1" i="0">
                <a:solidFill>
                  <a:srgbClr val="D99A07"/>
                </a:solidFill>
                <a:latin typeface="Calibri"/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1124712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Yapay Zekâ Üretimi Müziklerin Tespiti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24912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ADC4D6"/>
                </a:solidFill>
                <a:latin typeface="Calibri"/>
              </a:rPr>
              <a:t>İki Dönemlik Gelişim: Çok Platformlu Sistemden Akademik Yayına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1">
                <a:solidFill>
                  <a:srgbClr val="7E9AB4"/>
                </a:solidFill>
                <a:latin typeface="Calibri"/>
              </a:rPr>
              <a:t>Genel Tanıtım Sunumu — Baştan Sona Proje Hikâyesi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Hasan Arthur Altuntaş  ·  221001047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Düzce Üniversitesi · Bilgisayar Mühendisliği ·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5E7A94"/>
                </a:solidFill>
                <a:latin typeface="Calibri"/>
              </a:rPr>
              <a:t>Danışman: Dr. Öğr. Üyesi Büşra TAKGİL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TEK BAKIŞTA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Üç cümlede projenin tamamı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1457432" cy="15544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15544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Problem → Çözüm → Ürün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11073384" cy="8961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Suno, Udio ve MusicGen gibi araçlar insan kaydından ayırt edilemeyen müzik üretiyor; AURIS bu müzikleri akustik özniteliklere ve makine öğrenmesine dayanarak tespit ediyor ve sonucu web ile mobil üzerinden saniyeler içinde kullanıcıya sunuyor.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429000"/>
            <a:ext cx="361188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3337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Akademik Çekirdek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160520"/>
            <a:ext cx="329184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47 boyutlu akustik öznitelik + 11 modelli topluluk öğrenmesi; LightGBM lider (ROC-AUC 0,9548).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952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87952" y="3429000"/>
            <a:ext cx="3611880" cy="566928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3337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Çok Platformlu Ürün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160520"/>
            <a:ext cx="329184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Next.js web arayüzü, Kotlin/Compose mobil uygulama, FastAPI backend ile uçtan uca sistem.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10144" y="3429000"/>
            <a:ext cx="3611880" cy="566928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47304" y="3429000"/>
            <a:ext cx="33375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Açıklanabilirlik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60520"/>
            <a:ext cx="3291840" cy="1783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TreeSHAP ile her karar 'neden YZ / neden insan' sorusunu yanıtlıyor — kara kutu değil.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YOL HARITASI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Bugün Ne Anlatacağım?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Baştan sona: geçen dönem ne yaptım, bu dönem ne ekledim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28800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Proje Hikâyesi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İki dönemlik gelişim çizelgesi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24912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Geçen Dönem (BM401)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54096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hibrit + web + mobil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21024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Dönem (BM498)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950208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517136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Sistem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46320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Web + Mobil + Backend nasıl birleşiyor?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413248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ve Öznitelikler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42432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5.195 örnek, neden 47 öznitelik?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828800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Model Seçimi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157984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11 model denedim, neyi neden seçtim?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724912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Sonuçlar ve SHAP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054096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Performans, açıklanabilirlik, dürüst analiz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21024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Arayüzler ve Demo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950208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Gerçek web/mobil ekranlar + canlı gösterim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517136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Literatür Karşılaştırması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846320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AURIS rakiplerine göre nerede?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413248"/>
            <a:ext cx="46177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Kısıtlar ve Gelecek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742432"/>
            <a:ext cx="461772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 eksik, sırada ne var?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Nasıl Gelişti? — İki Dönemlik Yolculuk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Çalışan bir üründen akademik olarak sağlam bir sisteme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10332720" cy="5486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0431" y="3200400"/>
            <a:ext cx="329184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287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 Güz
BM401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30175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0A808C"/>
                </a:solidFill>
                <a:latin typeface="Calibri"/>
              </a:rPr>
              <a:t>Proje Tasarımı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7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39" y="3840480"/>
            <a:ext cx="28346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platformlu sistem
wav2vec2 + LightGBM
Web + Mobil + 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200400"/>
            <a:ext cx="329184" cy="32918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6615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2025-26 Kış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2304288"/>
            <a:ext cx="30175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D99A07"/>
                </a:solidFill>
                <a:latin typeface="Calibri"/>
              </a:rPr>
              <a:t>Akademik Derinleşme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5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703320" y="3840480"/>
            <a:ext cx="28346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tasarımı
11 model karşılaştırması
5-katlı çapraz doğrulama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200400"/>
            <a:ext cx="329184" cy="329184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0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2026 Bahar
BM498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04288"/>
            <a:ext cx="301752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1B6E3C"/>
                </a:solidFill>
                <a:latin typeface="Calibri"/>
              </a:rPr>
              <a:t>Mezuniyet Tezi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86600" y="3840480"/>
            <a:ext cx="283464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GUJSA makalesi
SHAP açıklanabilirlik
Teslim ve savunma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2 · GEÇEN DÖNEM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BM401 Proje Tasarımı — Temeli Attım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wav2vec2 tabanlı hibrit model + çok platformlu ürün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yaptım?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(Meta'nın geliştirdiği, sesi otomatik 'anlayan' bir derin öğrenme modeli) ile ham sesten 768 boyutlu temsil çıkardım.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Üzerine LightGBM sınıflandırıcı koyarak hibrit bir model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Web, mobil ve backend ile uçtan uca çalışan bir ürün geliştirdim.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öğrendim?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güçlü ama ağır — GPU ister, gerçek zamanlı çalışması zor.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Çok büyük model her zaman en pratik çözüm değil.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Bu, beni bu dönem 'hafif ama etkili' bir yöntem aramaya yönlendirdi.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BM401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Hibrit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+ LightGBM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Web Platformu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Next.js 14 + TypeScript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Mobil Uygulama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Kotlin + Jetpack Compose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Backend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Python + FastAPI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Kullanıcı Testi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30 katılımcı, SUS 82,5 puan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BU DÖNEM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BM498 Mezuniyet Tezi — Akademik Olarak Derinleştirdim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Ağır derin modelden, hafif ve açıklanabilir topluluk öğrenmesine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değişti?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wav2vec2'nin tek başına çıkardığı temsil yerine, 47 boyutlu elle tasarlanmış akustik öznitelik vektörü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Tek model yerine 11 modeli (7 ML + 4 DL) karşılaştırdım.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5-katlı çapraz doğrulama ile güvenilir, varyansı düşük sonuçlar elde ettim.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yön?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Hafiflik: LightGBM GPU istemiyor, saniyeler içinde sonuç veriyor.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Açıklanabilirlik: SHAP ile 'neden bu karar' sorusunu yanıtlayabiliyorum.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Bilimsel katkı: çalışma GUJSA'ya gönderilebilir makale formatına ulaştı.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BM498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47 Öznitelik Vektörü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 aile: spektral, ritmik, vokal...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11 Modelli Topluluk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lider, ROC-AUC 0,9548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SHAP Açıklanabilirlik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TreeSHAP global + yerel etki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Akademik Makale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GUJSA formatı, 39 referans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Dürüst Tanılama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Aşırı uyum, dağılım kayması analizi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İki Dönem Yan Yana — Ne Gelişti?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468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22860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Boyut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834640" y="1627632"/>
            <a:ext cx="44805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26080" y="1627632"/>
            <a:ext cx="42976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BM401 (Geçen Dönem)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1627632"/>
            <a:ext cx="450799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1627632"/>
            <a:ext cx="432511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BM498 (Bu Dönem)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Yöntem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34640" y="201168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201168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wav2vec2 + LightGBM hibrit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2011680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06640" y="201168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560320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56032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Model ağırlığı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2560320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926080" y="256032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Ağır (GPU gerekir)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2560320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256032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Hafif (CPU yeterli)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10896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10896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Yaklaşım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34640" y="310896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26080" y="310896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derin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0" y="3108960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0" y="310896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Sistematik model karşılaştırması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57600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65760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Doğrulama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834640" y="3657600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26080" y="365760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bölme (70/15/15)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315200" y="3657600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406640" y="365760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5-katlı çapraz doğrulama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206240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206240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Açıklanabilirlik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834640" y="4206240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26080" y="4206240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315200" y="4206240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406640" y="4206240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TreeSHAP ile tam açıklama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754879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4754879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Çıktı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4754879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26080" y="4754879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Çalışan ürün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0" y="4754879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406640" y="4754879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Ürün + akademik makale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5303519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5303519"/>
            <a:ext cx="228600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Odak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834640" y="5303519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2926080" y="5303519"/>
            <a:ext cx="4297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Mühendislik / ürün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315200" y="5303519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406640" y="5303519"/>
            <a:ext cx="4325112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Bilimsel sağlamlık / yayın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577840"/>
            <a:ext cx="11457432" cy="77724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65760" y="557784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16" y="569671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Özet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85216" y="6126479"/>
            <a:ext cx="11073384" cy="1188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Geçen dönem çalışan bir sistem kurdum; bu dönem onu bilimsel olarak sağlamlaştırdım, hafiflettim ve açıklanabilir hâle getirdim. İkisi birlikte AURIS'in tam hikâyesini oluşturuyor.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MOTIVASYON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Yapay Zekâ Müzik Tespiti?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00200"/>
            <a:ext cx="6766560" cy="201168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91440" cy="20116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5216" y="1719072"/>
            <a:ext cx="6400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Sorun büyüyor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" y="2148840"/>
            <a:ext cx="6382512" cy="13533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Üretken yapay zekâ son üç yılda müzik üretimini laboratuvardan herkesin eline taşıdı. Bir metin istemiyle dakikalar içinde, deneyimsiz bir kulağın insan bestesinden ayıramayacağı parçalar üretilebiliyor.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neyi tehdit ediyor?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297680"/>
            <a:ext cx="6720840" cy="182880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Telif hakkı ve içerik sahipliği belirsizleşiyor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Akış platformlarında sahte dinlenme / gelir manipülasyonu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Dezenformasyon ve sanatçı üslubu taklidi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Sanatçı emeğinin ekonomik karşılığı eriyor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60920" y="1600200"/>
            <a:ext cx="44622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60920" y="1600200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0376" y="1719072"/>
            <a:ext cx="409651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ben bu projeyi seçtim?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0376" y="2148840"/>
            <a:ext cx="407822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Mevcut çözümlerin çoğu: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Akademik makaleyle sınırlı, son kullanıcıya ulaşmıyor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Yüksek işlem gücü istiyor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Gerçek zamanlı çalışmıyor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Kararını açıklamıyor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AURIS bunları hedefliyor: erişilebilir, hafif, hızlı ve açıklanabilir bir tespit sistemi.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Üç Katmanlı Çok Platformlu Yapı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Sunum · İş mantığı · Veri/Model katmanları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SUNUM KATMANI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55648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Web: Next.js 14 + TypeScript + Tailwind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21408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Mobil: Kotlin + Jetpack Compose (MVVM)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Duyarlı, erişilebilir arayüz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İŞ MANTIĞI /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36976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Backend: Python + FastAPI (REST)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602736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Dosya doğrulama, hız sınırı, güvenlik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968496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MP3/WAV/FLAC/OGG · maks. 50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VERİ / MODEL KATMANI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18304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librosa ile 47 öznitelik çıkarma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84064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LightGBM topluluk modeli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49824"/>
            <a:ext cx="8229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TreeSHAP açıklanabilirlik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53328"/>
            <a:ext cx="1143000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Katmanlı tasarım: arayüz değişse de model katmanı aynı kalır — bakımı ve testi kolay.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Ham Sesten Karara: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27782"/>
            <a:ext cx="11521440" cy="230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73502"/>
            <a:ext cx="11430000" cy="22137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042081"/>
            <a:ext cx="114300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uçtan uca analiz hattı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 Giriş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WAV/MP3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253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0253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039112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 Ön işleme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5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22.050 Hz, mono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639312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75887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 Öznitelik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47 boyut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76088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276088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12664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 Ölçekleme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StandardScaler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912864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949440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8584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LightGBM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54964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586215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 Eşik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θ*=0,4316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8641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018641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222992" y="4434840"/>
            <a:ext cx="1517904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 Sonuç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32136" y="4983480"/>
            <a:ext cx="1499616" cy="7772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YZ/İnsan + SHAP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Kümesi: 5.195 Örnek, 8 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3931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3749039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25112" y="201168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02552" y="201168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04872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2404872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240487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02552" y="240487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98064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798064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25112" y="279806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02552" y="279806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91256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3191256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25112" y="319125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02552" y="319125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84448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3584448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325112" y="3584448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02552" y="3584448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77640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57200" y="3977640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25112" y="3977640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02552" y="3977640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370832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57200" y="4370832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9768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325112" y="4370832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702552" y="4370832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764024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57200" y="4764024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AImE/Mustango/JEN-1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325112" y="4764024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702552" y="4764024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57216"/>
            <a:ext cx="393192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6"/>
            <a:ext cx="3749039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9768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325112" y="5157216"/>
            <a:ext cx="232257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7512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702552" y="5157216"/>
            <a:ext cx="1316736" cy="39319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1627632"/>
            <a:ext cx="3502152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kaynaklar?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0496" y="2176272"/>
            <a:ext cx="3118104" cy="15361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İnsan tarafı tür çeşitliliği (GTZAN), bağımsız sanatçılar (FMA) ve kapak performansları (SleepyJesse) ile dengelendi.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tarafı sekiz farklı üreticiden — tek sisteme aşırı uyumu önlemek için.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977639"/>
            <a:ext cx="3502152" cy="20574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32104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40496" y="4096511"/>
            <a:ext cx="313639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0496" y="4526279"/>
            <a:ext cx="3118104" cy="139903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İnsan: 3.113 (%59,9)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zekâ: 2.082 (%40,1)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class_weight='balanced' ve stratifiye CV ile dengelendi.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65760" y="5486400"/>
            <a:ext cx="7772400" cy="713232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65760" y="5486400"/>
            <a:ext cx="91440" cy="713232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5216" y="5605272"/>
            <a:ext cx="7406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102A4C"/>
                </a:solidFill>
                <a:latin typeface="Calibri"/>
              </a:rPr>
              <a:t>Veri Etiği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216" y="6035040"/>
            <a:ext cx="7388352" cy="54864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Tüm veriler kamuya açık kaynaklardan derlendi; insan katılımcıdan birincil veri toplanmadı, etik kurul izni gerekmedi. Veri yalnızca akademik amaçla kullanıldı.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ÖZNITELIKLER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47 Öznitelik? Neyi Ölçüyorum?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Tek bir akustik temsile bağlı kalmamak için beş aile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27632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Frekans içeriği ve tını — MFCC, flatness, centroid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86584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386584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Enerji ve zaman yapısı — RMS, sıfır geçiş, dinamik aralık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45536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Ritim ve vuruş — tempo, beat sayısı, onset gücü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04487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3904487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Perde ve akor — chroma, tonnetz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63440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663440"/>
            <a:ext cx="4892040" cy="6675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Şarkı sesi — temel frekans, vibrato, formant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27632"/>
            <a:ext cx="3593592" cy="37033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229600" y="1627632"/>
            <a:ext cx="91440" cy="37033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49056" y="1746504"/>
            <a:ext cx="322783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Mantığım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2176272"/>
            <a:ext cx="3209544" cy="30449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Tek bir temsil (yalnız MFCC ya da yalnız spektrogram) modeli o temsile aşırı uyumlu yapar.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Beş farklı aileyi birleştirince model, müziğin farklı yönlerinden ayırt edici sinyal toplayabiliyor.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boyutlu, dayanıklı ve yorumlanabilir bir öznitelik vektörü.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486400"/>
            <a:ext cx="75895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Bulgu: Öznitelik çıkarma deneyi, doğruluğun ~30 öznitelikte platoya ulaştığını gösterdi — gelecekte daha az öznitelikle benzer başarı mümkün.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11 Model Denedim — Neyi Neden Seçtim?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5-katlı çapraz doğrulama · ROC-AUC sırasına göre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36192"/>
            <a:ext cx="4572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536192"/>
            <a:ext cx="4572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36192"/>
            <a:ext cx="26974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536192"/>
            <a:ext cx="2514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536192"/>
            <a:ext cx="7772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536192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536192"/>
            <a:ext cx="1325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536192"/>
            <a:ext cx="13258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Doğr.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1536192"/>
            <a:ext cx="1234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23560" y="1536192"/>
            <a:ext cx="12344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153619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0" y="1536192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36192"/>
            <a:ext cx="11887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536192"/>
            <a:ext cx="11887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20240"/>
            <a:ext cx="45720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3192" y="1920240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1920240"/>
            <a:ext cx="269748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1920240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1" i="0">
                <a:solidFill>
                  <a:srgbClr val="1B6E3C"/>
                </a:solidFill>
                <a:latin typeface="Calibri"/>
              </a:rPr>
              <a:t>LightGBM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1920240"/>
            <a:ext cx="77724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47872" y="1920240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1920240"/>
            <a:ext cx="132588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325112" y="1920240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0,8839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1920240"/>
            <a:ext cx="123444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50992" y="1920240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0,8575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1920240"/>
            <a:ext cx="137160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85432" y="1920240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1920240"/>
            <a:ext cx="118872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1" y="1920240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±0,0023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67712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93192" y="2267712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2267712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2267712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Derin 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2267712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47872" y="2267712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2267712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25112" y="2267712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0,8849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23560" y="2267712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650992" y="2267712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0,8596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2267712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85432" y="2267712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0,9542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267712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57031" y="2267712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2615184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93192" y="2615184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2615184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2615184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Artık MLP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2615184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47872" y="2615184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97680" y="2615184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325112" y="2615184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2615184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650992" y="2615184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2615184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85432" y="2615184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0,9485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615184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257031" y="2615184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62656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93192" y="2962656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2962656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2962656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XGBoost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20440" y="2962656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47872" y="2962656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2962656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25112" y="2962656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2962656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650992" y="2962656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0" y="2962656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885432" y="2962656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2962656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8257031" y="2962656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±0,0029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310127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93192" y="3310127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2960" y="3310127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14400" y="3310127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Gradient Boosting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20440" y="3310127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547872" y="3310127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97680" y="3310127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325112" y="3310127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0,8685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23560" y="3310127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50992" y="3310127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0,8337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0" y="3310127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885432" y="3310127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29600" y="3310127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257031" y="3310127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657599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93192" y="3657599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22960" y="3657599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14400" y="3657599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Random Forest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20440" y="3657599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3547872" y="3657599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3657599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325112" y="3657599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657599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50992" y="3657599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0" y="3657599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6885432" y="3657599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229600" y="3657599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257031" y="3657599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005072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93192" y="4005072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22960" y="4005072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14400" y="4005072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Attention MLP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20440" y="4005072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3547872" y="4005072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97680" y="4005072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4325112" y="4005072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0,8628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23560" y="4005072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650992" y="4005072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0,8293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858000" y="4005072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6885432" y="4005072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0,9359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229600" y="4005072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8257031" y="4005072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4352544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393192" y="4352544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2960" y="4352544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914400" y="4352544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SVM-RBF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520440" y="4352544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3547872" y="4352544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97680" y="4352544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4325112" y="4352544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352544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50992" y="4352544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0,8252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0" y="4352544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885432" y="4352544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0,9346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29600" y="4352544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8257031" y="4352544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±0,0075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4700016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393192" y="4700016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22960" y="4700016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14400" y="4700016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MLP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520440" y="4700016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3547872" y="4700016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97680" y="4700016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4325112" y="4700016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0,8566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23560" y="4700016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50992" y="4700016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858000" y="4700016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885432" y="4700016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0,9276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229600" y="4700016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257031" y="4700016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±0,0061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047488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393192" y="5047488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22960" y="5047488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914400" y="5047488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1D-CNN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520440" y="5047488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547872" y="5047488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97680" y="5047488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325112" y="5047488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0,7665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23560" y="5047488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50992" y="5047488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0,7159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58000" y="5047488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885432" y="5047488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0,8543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229600" y="5047488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8257031" y="5047488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±0,0087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94959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93192" y="5394959"/>
            <a:ext cx="4023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22960" y="5394959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914400" y="5394959"/>
            <a:ext cx="2514600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Logistic Reg.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520440" y="5394959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3547872" y="5394959"/>
            <a:ext cx="7223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97680" y="5394959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4325112" y="5394959"/>
            <a:ext cx="127101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0,7779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23560" y="5394959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650992" y="5394959"/>
            <a:ext cx="117957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0,7390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858000" y="5394959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6885432" y="5394959"/>
            <a:ext cx="131673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229600" y="5394959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8257031" y="5394959"/>
            <a:ext cx="1133856" cy="34747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509760" y="1536192"/>
            <a:ext cx="2313432" cy="27889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9509760" y="1536192"/>
            <a:ext cx="91440" cy="2788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9729216" y="1655064"/>
            <a:ext cx="1947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LightGBM?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729216" y="2084831"/>
            <a:ext cx="1929384" cy="21305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En yüksek ROC-AUC (0,9548)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En düşük varyans (±0,0023) → en kararlı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Hızlı eğitim, az bellek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Derin ağlara yakın başarı, çok daha hafif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509760" y="4480560"/>
            <a:ext cx="2313432" cy="161848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9509760" y="4480560"/>
            <a:ext cx="91440" cy="161848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9729216" y="4599432"/>
            <a:ext cx="1947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Kısaltmalar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29216" y="5029200"/>
            <a:ext cx="1929384" cy="960120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MLP: Çok Katmanlı Algılayıcı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CNN: Evrişimli Sinir Ağı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SVM: Destek Vektör Makinesi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ML: Makine Öğr. · DL: Derin Öğr.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Makine Öğrenmesi mi, Derin Öğrenme mi?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404252"/>
            <a:ext cx="7315200" cy="265299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paper_ml_vs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49972"/>
            <a:ext cx="7223760" cy="2561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066395"/>
            <a:ext cx="7223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ML ve DL ailelerinin performans dağılımı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27632"/>
            <a:ext cx="40050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1812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37576" y="1746504"/>
            <a:ext cx="363931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Çıkarım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6" y="2176272"/>
            <a:ext cx="3621024" cy="38679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ortalama %92,75 ROC-AUC.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4 DL modeli ortalama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1D-CNN dışlanınca DL ortalaması %94,62'ye çıkıyor.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öznitelik vektörü ayırt edici bilginin büyük bölümünü zaten taşıyor. Karmaşık derin ağ şart değil — hafif LightGBM yeterli ve daha kararlı.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LightGBM Performansı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819656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1740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46120" y="1819656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491740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6480" y="1819656"/>
            <a:ext cx="2697480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91740"/>
            <a:ext cx="2697480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1627632"/>
            <a:ext cx="28163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1819656"/>
            <a:ext cx="2816352" cy="6858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491740"/>
            <a:ext cx="2816352" cy="466344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Karar eşiği θ*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1330" y="3154680"/>
            <a:ext cx="320645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paper_confusion_matrix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50" y="3200400"/>
            <a:ext cx="3115018" cy="2788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044183"/>
            <a:ext cx="36576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Karmaşıklık matrisi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200400"/>
            <a:ext cx="7525512" cy="27889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97680" y="3200400"/>
            <a:ext cx="91440" cy="2788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17136" y="3319272"/>
            <a:ext cx="7159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Karmaşıklık matrisi ne diyor?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749039"/>
            <a:ext cx="7141464" cy="21305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negatif (insan→insan):  2.721  (%87,4)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pozitif (YZ→YZ):  1.862  (%89,4)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pozitif (insan→YZ):  392  (%12,6)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negatif (YZ→insan):  220  (%10,6)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Model her iki sınıfı da dengeli ayırıyor; Youden J eşiği (0,4316) ile yanlış alarm ile kaçırma arasında denge kuruldu.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Kararı Açıklamak — SHAP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Model neden 'yapay zekâ' diyor?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373" y="1581912"/>
            <a:ext cx="4051733" cy="429767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93" y="1627632"/>
            <a:ext cx="3960293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88736"/>
            <a:ext cx="53949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TreeSHAP global etki diyagramı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585216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En Etkili 5 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1965960"/>
            <a:ext cx="3657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9399" y="1965960"/>
            <a:ext cx="347472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Önem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350008"/>
            <a:ext cx="54864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16752" y="23500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59" y="2350008"/>
            <a:ext cx="3657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9399" y="23500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spectral_flatness_std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95559" y="2350008"/>
            <a:ext cx="1371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22991" y="23500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0,0619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072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16752" y="28072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59" y="28072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29399" y="28072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spectral_contrast_mean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59" y="28072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222991" y="28072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2644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16752" y="32644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59" y="32644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629399" y="32644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rms_energy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59" y="32644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22991" y="32644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7216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16752" y="37216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59" y="37216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399" y="37216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onset_strength_std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37216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22991" y="37216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1788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178808"/>
            <a:ext cx="49377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59" y="41788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9399" y="4178808"/>
            <a:ext cx="347472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spectral_flatness_mean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59" y="41788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222991" y="4178808"/>
            <a:ext cx="1316736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754880"/>
            <a:ext cx="5852160" cy="12801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4754880"/>
            <a:ext cx="91440" cy="12801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08776" y="4873752"/>
            <a:ext cx="54864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5303520"/>
            <a:ext cx="5468112" cy="62179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müziği spektral açıdan daha 'düz' ve düzenli. spectral_flatness_std bu farkı yakalayan en güçlü öznitelik — bulgu bağımsız deepfake literatürüyle de örtüşüyor.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Hangi Kaynakta Ne Kadar Başarılı?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Dürüst değerlendirme: güçlü ve zayıf noktalar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23560" cy="210312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91440" cy="210312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85216" y="1746504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İyi sonuçlar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76272"/>
            <a:ext cx="5239512" cy="144475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Suno parçaları:  %93,0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Echoes alt kümesi:  %88,6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Müzik üretim sistemlerinin spektral imzaları belirgin olduğundan model bunları yüksek doğrulukla yakalıyor.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13632"/>
            <a:ext cx="5623560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" y="4032504"/>
            <a:ext cx="525780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Zayıf nokta — neden?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462272"/>
            <a:ext cx="5239512" cy="144475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Deepfake seti:  %50,0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küme konuşma deepfake'inden türetilmiş; müzik üretim imzalarını taşımıyor. Düşüş bir başarısızlık değil, dağılım kayması (distribution shift) — gelecekte alan uyarlamasıyla giderilebilir.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1037" y="1581912"/>
            <a:ext cx="403331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6757" y="1627632"/>
            <a:ext cx="3941876" cy="274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425696"/>
            <a:ext cx="565099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Karar eşiği taraması (0,40–0,50 platosu)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17720"/>
            <a:ext cx="5650992" cy="14173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2200" y="4617720"/>
            <a:ext cx="91440" cy="14173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91656" y="4736592"/>
            <a:ext cx="5285231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bunu gösteriyorum?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5166359"/>
            <a:ext cx="5266944" cy="7589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Bir sistemin sınırlarını bilmek, onu güçlendirmenin ilk adımıdır. Deepfake düşüşünü saklamak yerine analiz ettim ve gelecek çalışma olarak planladım.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Platformu — Gerçek Ekran Görüntüsü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Next.js 14 · TypeScript · Tailwind 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5" y="1581912"/>
            <a:ext cx="696772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ris_web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5" y="1627632"/>
            <a:ext cx="6876288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980176"/>
            <a:ext cx="740664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web arayüzü — analiz sayfası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27632"/>
            <a:ext cx="3867912" cy="4297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1627632"/>
            <a:ext cx="91440" cy="4297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74736" y="1746504"/>
            <a:ext cx="35021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Web özellikleri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176272"/>
            <a:ext cx="3483864" cy="363931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YouTube bağlantısı veya dosya yükleme ile analiz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Pipeline paneli analiz adımlarını canlı gösterir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Spotify / Apple Music entegrasyonu (yakında)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Statik site üretimi → hızlı yükleme, düşük maliyet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Ortalama sayfa yükleme: 1,2 sn · Lighthouse 94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— Analiz ve Sonuç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84769"/>
            <a:ext cx="5715000" cy="360616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ris_web_se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0489"/>
            <a:ext cx="5623560" cy="3514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200078"/>
            <a:ext cx="56235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Dosya yükleme ve analiz alanı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5624" y="1581912"/>
            <a:ext cx="57241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auris_web_s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27632"/>
            <a:ext cx="5632704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202936"/>
            <a:ext cx="5650992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YouTube bağlantı analizi ve sonuç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03520"/>
            <a:ext cx="11457432" cy="77724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530352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542239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Kullanıcı akışı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852159"/>
            <a:ext cx="11073384" cy="11887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Kullanıcı dosya/bağlantı verir → sistem 47 özniteliği çıkarır → LightGBM olasılık üretir → sonuç skoru ve SHAP gerekçesiyle birlikte gösterilir.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Mobil Uygulama — Gerçek Ekran Görüntüleri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Kotlin · Jetpack Compose · MVVM mimarisi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90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uris_mobi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6" y="1627632"/>
            <a:ext cx="202814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6071616"/>
            <a:ext cx="2468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ana ekranı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322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auris_mobile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966" y="1627632"/>
            <a:ext cx="2028147" cy="4389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0" y="6071616"/>
            <a:ext cx="24688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Yükleme sekmeleri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27632"/>
            <a:ext cx="5239512" cy="43891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0" y="1627632"/>
            <a:ext cx="91440" cy="43891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746504"/>
            <a:ext cx="487375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Mobil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2176272"/>
            <a:ext cx="4855464" cy="3730752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Android 8.0+ desteği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Jetpack Compose ile modern, az kodlu arayüz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MVVM: iş mantığı arayüzden ayrı → test edilebilir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Retrofit + Kotlin Coroutines ile asenkron ağ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Room veritabanı ile yerel geçmiş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Başlatma süresi: 0,8 sn · Bellek: ~120 MB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10 analiz için yalnız %3 batarya tüketimi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9748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600" b="1" i="0">
                <a:solidFill>
                  <a:srgbClr val="D99A07"/>
                </a:solidFill>
                <a:latin typeface="Calibri"/>
              </a:rPr>
              <a:t>CANLI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74519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Şimdi Sistemi Birlikte Görelim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400" b="0" i="0">
                <a:solidFill>
                  <a:srgbClr val="ADC4D6"/>
                </a:solidFill>
                <a:latin typeface="Calibri"/>
              </a:rPr>
              <a:t>Bir müzik dosyası yükleyip gerçek zamanlı sonucu inceleyeceğiz</a:t>
            </a:r>
          </a:p>
        </p:txBody>
      </p:sp>
      <p:sp>
        <p:nvSpPr>
          <p:cNvPr id="6" name="Rectangle 5"/>
          <p:cNvSpPr/>
          <p:nvPr/>
        </p:nvSpPr>
        <p:spPr>
          <a:xfrm>
            <a:off x="1325880" y="3931920"/>
            <a:ext cx="219456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4069080"/>
            <a:ext cx="21945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4617720"/>
            <a:ext cx="2011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Dosya / bağlantı ver</a:t>
            </a:r>
          </a:p>
        </p:txBody>
      </p:sp>
      <p:sp>
        <p:nvSpPr>
          <p:cNvPr id="9" name="Rectangle 8"/>
          <p:cNvSpPr/>
          <p:nvPr/>
        </p:nvSpPr>
        <p:spPr>
          <a:xfrm>
            <a:off x="3794760" y="3931920"/>
            <a:ext cx="219456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94760" y="4069080"/>
            <a:ext cx="21945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86200" y="4617720"/>
            <a:ext cx="2011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47 öznitelik çıkar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931920"/>
            <a:ext cx="219456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4069080"/>
            <a:ext cx="21945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4617720"/>
            <a:ext cx="2011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LightGBM tahmin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32520" y="3931920"/>
            <a:ext cx="219456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32520" y="4069080"/>
            <a:ext cx="219456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23960" y="4617720"/>
            <a:ext cx="2011680" cy="54864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Sonuç + SHAP gerekçe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692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1">
                <a:solidFill>
                  <a:srgbClr val="7E9AB4"/>
                </a:solidFill>
                <a:latin typeface="Calibri"/>
              </a:rPr>
              <a:t>(Demo videosu teslim paketinde · Uygulama/ klasörü)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GENEL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Kullandım? — Teknoloji Yığını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Her katmanda neden bu araçları seçtim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5577840" cy="502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62763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Yapay Zekâ / Veri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librosa (öznitelik)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scikit-learn · LightGBM ·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4436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PyTorch (derin modeller)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SHAP (açıklanabilirlik)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627632"/>
            <a:ext cx="5577840" cy="502920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36792" y="162763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942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Next.js 14 · React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9689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TypeScript (tip güvenliği)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4436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Tailwind CSS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Statik site üretimi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67912"/>
            <a:ext cx="5577840" cy="502920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386791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Mobil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8970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Kotlin · Jetpack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3717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MVVM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18464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Retrofit · Coroutines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53212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Room veritabanı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72200" y="3867912"/>
            <a:ext cx="5577840" cy="502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3867912"/>
            <a:ext cx="5303520" cy="50292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9704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37176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RESTful API + 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84648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Dosya doğrulama / güvenlik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32120"/>
            <a:ext cx="512064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Otomatik API dokümanı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9 · 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Literatüre Göre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Yayımlanmış çalışmalarla sayısal karşılaştırma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6517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468879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627632"/>
            <a:ext cx="33832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08960" y="1627632"/>
            <a:ext cx="32004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Veri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80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Afchar vd.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011680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Oto-kodlayıcı artefakt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11680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57031" y="2011680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80" y="2011680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40111" y="2011680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78608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2578608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 vd. (2026)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578608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2578608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Açıklanabilir öznitelik + 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578608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28232" y="2578608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578608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57031" y="2578608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578608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40111" y="2578608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0,884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4553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3145536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Cros Vila vd. (2025)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45536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0" y="3145536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+ ritmik + SVM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145536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28232" y="3145536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145536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57031" y="3145536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12680" y="3145536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40111" y="3145536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12464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3712464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SONICS (2025)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712464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712464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Transformer tabanlı DL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12464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28232" y="3712464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SONICS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712464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57031" y="3712464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12680" y="3712464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040111" y="3712464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279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57200" y="4279392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FakeMusicCaps (2025)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79392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108960" y="4279392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Çok modlu MusicCaps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4279392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28232" y="4279392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FMC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4279392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57031" y="4279392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12680" y="4279392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040111" y="4279392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846320"/>
            <a:ext cx="265176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7200" y="4846320"/>
            <a:ext cx="2468879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AURIS (bu çalışma)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846320"/>
            <a:ext cx="33832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108960" y="4846320"/>
            <a:ext cx="3200400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4846320"/>
            <a:ext cx="182880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428232" y="4846320"/>
            <a:ext cx="177393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4846320"/>
            <a:ext cx="17830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57031" y="4846320"/>
            <a:ext cx="1728216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12680" y="4846320"/>
            <a:ext cx="1810512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040111" y="4846320"/>
            <a:ext cx="1755648" cy="56692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0,8731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486400"/>
            <a:ext cx="11457432" cy="868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65760" y="5486400"/>
            <a:ext cx="91440" cy="868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5216" y="5605272"/>
            <a:ext cx="11091672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Konumum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85216" y="6035040"/>
            <a:ext cx="11073384" cy="210311"/>
          </a:xfrm>
          <a:prstGeom prst="rect">
            <a:avLst/>
          </a:prstGeom>
          <a:noFill/>
        </p:spPr>
        <p:txBody>
          <a:bodyPr wrap="square" anchor="t" lIns="25400" rIns="254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(0,9548), Transformer tabanlı SONICS (0,960) ile Li vd. (0,931) arasında. Üstelik derin öğrenme altyapısı gerektirmeden ve en düşük varyansla (±0,0023) — hafif bir sistemin ne kadar rekabetçi olabileceğini gösteriyor.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10 · 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Eksik? Sırada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B32929"/>
                </a:solidFill>
                <a:latin typeface="Calibri"/>
              </a:rPr>
              <a:t>Bilinen Kısıtlar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75104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66544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Dağılım kayması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Eğitim dışı YZ sistemlerine genelleme sınırlı (deepfake %50).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99232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90672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Aşırı uyum eğilimi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19856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Ağaç modellerinde 8–14 puan eğitim-CV açığı.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Öznitelik fazlalığı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43984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 17 öznitelik doğruluğa katkı sağlamıyor.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47488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138928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Gerçek zaman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68112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henüz test edilmedi.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1554480"/>
            <a:ext cx="562356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400" b="1" i="0">
                <a:solidFill>
                  <a:srgbClr val="1B6E3C"/>
                </a:solidFill>
                <a:latin typeface="Calibri"/>
              </a:rPr>
              <a:t>Gelecek Çalışmalar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975104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2066544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Genelleme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95728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SONICS/FakeMusicCaps ile üretici-bağımsız test; alan uyarlama.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999232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36792" y="3090672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Sağlamlık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3419856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MP3 sıkıştırma, perde kaydırma, zaman gerdirme testleri.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23360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36792" y="4114800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Gerçek zaman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443984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ve canlı ses akışı.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047488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36792" y="5138928"/>
            <a:ext cx="5394960" cy="320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Ölçek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468112"/>
            <a:ext cx="539496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Veri kümesini 10.000 örneğe genişletme.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Özetle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500" b="0" i="0">
                <a:solidFill>
                  <a:srgbClr val="CDDDE8"/>
                </a:solidFill>
                <a:latin typeface="Calibri"/>
              </a:rPr>
              <a:t>AURIS, yapay zekâ müziğini tespit eden; akademik olarak sağlam, ürün olarak çalışan, çok platformlu ve açıklanabilir bir sistem.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3591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3591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1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5623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5623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3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77656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77656" y="3200400"/>
            <a:ext cx="2240280" cy="5943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3794760"/>
            <a:ext cx="2240280" cy="45720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Teşekkürler — Sorularınızı bekliyorum.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Hasan Arthur Altuntaş  ·  hasannarthurrr@gmail.com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474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/>
            <a:r>
              <a:rPr sz="1100" b="0" i="0">
                <a:solidFill>
                  <a:srgbClr val="5E7A94"/>
                </a:solidFill>
                <a:latin typeface="Calibri"/>
              </a:rPr>
              <a:t>Düzce Üniversitesi · Bilgisayar Mühendisliği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