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7" r:id="rId22"/>
    <p:sldId id="278" r:id="rId23"/>
    <p:sldId id="279" r:id="rId24"/>
    <p:sldId id="280" r:id="rId25"/>
  </p:sldIdLst>
  <p:sldSz cx="12188825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443484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777240"/>
            <a:ext cx="11247120" cy="11887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8000" b="1" i="0">
                <a:solidFill>
                  <a:srgbClr val="D99A07"/>
                </a:solidFill>
                <a:latin typeface="Calibri"/>
              </a:rPr>
              <a:t>AURIS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57400"/>
            <a:ext cx="11247120" cy="640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Yapay Zekâ Üretimi Müziklerin Tespiti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709160"/>
            <a:ext cx="11247120" cy="4114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  <a:latin typeface="Calibri"/>
              </a:rPr>
              <a:t>Hasan Arthur Altuntaş  ·  221001047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6636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Düzce Üniversitesi · Bilgisayar Mühendisliği · 2025-2026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80644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200" b="0" i="0">
                <a:solidFill>
                  <a:srgbClr val="5E7A94"/>
                </a:solidFill>
                <a:latin typeface="Calibri"/>
              </a:rPr>
              <a:t>Danışman: Dr. Öğr. Üyesi Büşra TAKGİL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TEK BAKIŞTA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Nedir?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Üç cümlede projenin tamamı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11457432" cy="15544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15544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Problem → Çözüm → Ürün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11073384" cy="8961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42A30"/>
                </a:solidFill>
                <a:latin typeface="Calibri"/>
              </a:rPr>
              <a:t>Suno, Udio ve MusicGen gibi araçlar insan kaydından ayırt edilemeyen müzik üretiyor; AURIS bu müzikleri akustik özniteliklere ve makine öğrenmesine dayanarak tespit ediyor ve sonucu web ile mobil üzerinden saniyeler içinde kullanıcıya sunuyor.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429000"/>
            <a:ext cx="361188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2920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Akademik Çekirdek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47 boyutlu akustik öznitelik + 11 modelli topluluk öğrenmesi; LightGBM lider (ROC-AUC 0,9548).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87952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187952" y="3429000"/>
            <a:ext cx="3611880" cy="566928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325112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Çok Platformlu Ürün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52544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Next.js web arayüzü, Kotlin/Compose mobil uygulama, FastAPI backend ile uçtan uca sistem.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10144" y="3429000"/>
            <a:ext cx="3611880" cy="260604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010144" y="3429000"/>
            <a:ext cx="3611880" cy="566928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147304" y="3429000"/>
            <a:ext cx="33375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Açıklanabilirlik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74736" y="4160520"/>
            <a:ext cx="3291840" cy="178308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50" b="0" i="0">
                <a:solidFill>
                  <a:srgbClr val="242A30"/>
                </a:solidFill>
                <a:latin typeface="Calibri"/>
              </a:rPr>
              <a:t>TreeSHAP ile her karar 'neden YZ / neden insan' sorusunu yanıtlıyor — kara kutu değil.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YOL HARITASI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Bugün Ne Anlatacağım?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Baştan sona: geçen dönem ne yaptım, bu dönem ne ekledim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737360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1828800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Proje Hikâyesi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157984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İki dönemlik gelişim (BM401 → BM498)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2633472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2724912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Arka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054096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Problem neden önemli?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3529584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34440" y="3621024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Sistem Mimarisi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3950208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Web + Mobil + Backend nasıl birleşiyor?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365760" y="4425696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34440" y="4517136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Veri ve Öznitelikler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34440" y="4846320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5.195 örnek, neden 47 öznitelik?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365760" y="5321808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34440" y="5413248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Model Seçimi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34440" y="5742432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11 model denedim, neyi neden seçtim?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172200" y="1737360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Rectangle 33"/>
          <p:cNvSpPr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6172200" y="1737360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1828800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Sonuçlar ve SHAP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2157984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Performans, açıklanabilirlik, dürüst analiz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72200" y="2633472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172200" y="2633472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7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0" y="2724912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Arayüzler ve Demo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040880" y="3054096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Gerçek web/mobil ekranlar + canlı gösterim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72200" y="3529584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172200" y="3529584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40880" y="3621024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Teknoloji Yığını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40880" y="3950208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Hangi araçları neden kullandım?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72200" y="4425696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172200" y="4425696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9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40880" y="4517136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Literatür Karşılaştırması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040880" y="4846320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AURIS rakiplerine göre nerede?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72200" y="5321808"/>
            <a:ext cx="5577840" cy="786384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Rectangle 53"/>
          <p:cNvSpPr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72200" y="5321808"/>
            <a:ext cx="731520" cy="78638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10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040880" y="5413248"/>
            <a:ext cx="46177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Kısıtlar ve Gelecek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7040880" y="5742432"/>
            <a:ext cx="461772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 eksik, sırada ne var?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Nasıl Gelişti? — İki Dönemlik Yolculuk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Çalışan bir üründen akademik olarak sağlam bir sisteme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3337560"/>
            <a:ext cx="10332720" cy="54864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1170431" y="3200400"/>
            <a:ext cx="329184" cy="329184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18287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82879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 Güz
BM401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8600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0A808C"/>
                </a:solidFill>
                <a:latin typeface="Calibri"/>
              </a:rPr>
              <a:t>Proje Tasarımı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8287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20039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Çok platformlu sistem
wav2vec2 + LightGBM
Web + Mobil + Backend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53712" y="3200400"/>
            <a:ext cx="329184" cy="32918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566159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566159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2025-26 Kış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11879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D99A07"/>
                </a:solidFill>
                <a:latin typeface="Calibri"/>
              </a:rPr>
              <a:t>Akademik Derinleşme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566159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D99A0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703320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tasarımı
11 model karşılaştırması
5-katlı çapraz doğrulama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36992" y="3200400"/>
            <a:ext cx="329184" cy="329184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949440" y="1691640"/>
            <a:ext cx="3108960" cy="1280160"/>
          </a:xfrm>
          <a:prstGeom prst="rect">
            <a:avLst/>
          </a:prstGeom>
          <a:solidFill>
            <a:srgbClr val="FFFFFF"/>
          </a:solidFill>
          <a:ln w="1651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949440" y="1691640"/>
            <a:ext cx="310896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2026 Bahar
BM498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95160" y="2304288"/>
            <a:ext cx="301752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1B6E3C"/>
                </a:solidFill>
                <a:latin typeface="Calibri"/>
              </a:rPr>
              <a:t>Mezuniyet Tezi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49440" y="3703320"/>
            <a:ext cx="3108960" cy="1965960"/>
          </a:xfrm>
          <a:prstGeom prst="rect">
            <a:avLst/>
          </a:prstGeom>
          <a:solidFill>
            <a:srgbClr val="EAEEF2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086600" y="3840480"/>
            <a:ext cx="2834640" cy="17373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GUJSA makalesi
SHAP açıklanabilirlik
Teslim ve savunma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BM401 Proje Tasarımı — Temeli Attım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wav2vec2 tabanlı hibrit model + çok platformlu ürün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yaptım?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(Meta'nın geliştirdiği, sesi otomatik 'anlayan' bir derin öğrenme modeli) ile ham sesten 768 boyutlu temsil çıkardım.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Üzerine LightGBM sınıflandırıcı koyarak hibrit bir model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Web, mobil ve backend ile uçtan uca çalışan bir ürün geliştirdim.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öğrendim?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 güçlü ama ağır — GPU ister, gerçek zamanlı çalışması zor.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Çok büyük model her zaman en pratik çözüm değil.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Bu, beni bu dönem 'hafif ama etkili' bir yöntem aramaya yönlendirdi.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BM401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Hibrit Model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wav2vec2 + LightGBM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Web Platformu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Next.js 14 + TypeScript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Mobil Uygulama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Kotlin + Jetpack Compose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Backend API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Python + FastAPI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2E5A7E"/>
                </a:solidFill>
                <a:latin typeface="Calibri"/>
              </a:rPr>
              <a:t>Kullanıcı Testi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30 katılımcı, SUS 82,5 puan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BM498 Mezuniyet Tezi — Akademik Olarak Derinleştirdim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Ağır derin modelden, hafif ve açıklanabilir topluluk öğrenmesine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5623560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 değişti?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5239512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wav2vec2'nin tek başına çıkardığı temsil yerine, 47 boyutlu elle tasarlanmış akustik öznitelik vektörü kurdum.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Tek model yerine 11 modeli (7 ML + 4 DL) karşılaştırdım.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5-katlı çapraz doğrulama ile güvenilir, varyansı düşük sonuçlar elde ettim.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77639"/>
            <a:ext cx="5623560" cy="205740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77639"/>
            <a:ext cx="91440" cy="205740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96511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yön?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526279"/>
            <a:ext cx="5239512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Hafiflik: LightGBM GPU istemiyor, saniyeler içinde sonuç veriyor.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Açıklanabilirlik: SHAP ile 'neden bu karar' sorusunu yanıtlayabiliyorum.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Bilimsel katkı: çalışma GUJSA'ya gönderilebilir makale formatına ulaştı.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63640" y="1600200"/>
            <a:ext cx="55778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BM498 Çıktıları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2011680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00800" y="208483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47 Öznitelik Vektörü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37744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5 aile: spektral, ritmik, vokal...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63640" y="2816352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0" y="288950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11 Modelli Topluluk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182112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LightGBM lider, ROC-AUC 0,9548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63640" y="3621024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400800" y="369417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SHAP Açıklanabilirlik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0" y="3986784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TreeSHAP global + yerel etki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63640" y="4425696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0" y="449884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Akademik Makale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0" y="4791456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GUJSA formatı, 39 referans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63640" y="5230368"/>
            <a:ext cx="5577840" cy="694944"/>
          </a:xfrm>
          <a:prstGeom prst="rect">
            <a:avLst/>
          </a:prstGeom>
          <a:solidFill>
            <a:srgbClr val="FFFFFF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400800" y="5303520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Dürüst Tanılama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0" y="5596128"/>
            <a:ext cx="530352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Aşırı uyum, dağılım kayması analizi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 · PROJE HIKÂYESI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İki Dönem Yan Yana — Ne Gelişti?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496416"/>
            <a:ext cx="2468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496416"/>
            <a:ext cx="22860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Boyut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1496416"/>
            <a:ext cx="44805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834640" y="1496416"/>
            <a:ext cx="42976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BM401 (Geçen Dönem)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223760" y="1496416"/>
            <a:ext cx="450799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15200" y="1496416"/>
            <a:ext cx="4325112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BM498 (Bu Dönem)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1880464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365760" y="188046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Yöntem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0" y="1880464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834640" y="188046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wav2vec2 + LightGBM hibrit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23760" y="1880464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0" y="188046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2429104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5760" y="242910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Model ağırlığı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0" y="2429104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2834640" y="242910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Ağır (GPU gerekir)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223760" y="2429104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315200" y="242910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Hafif (CPU yeterli)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977744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365760" y="297774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Yaklaşım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743200" y="2977744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2834640" y="297774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derin model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2977744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315200" y="297774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Sistematik model karşılaştırması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3526384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365760" y="352638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Doğrulama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743200" y="3526384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2834640" y="352638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Tek bölme (70/15/15)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23760" y="3526384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7315200" y="352638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5-katlı çapraz doğrulama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4075024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365760" y="4075024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Açıklanabilirlik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743200" y="4075024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2834640" y="4075024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Yok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223760" y="4075024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315200" y="4075024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TreeSHAP ile tam açıklama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4320" y="4623663"/>
            <a:ext cx="246888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4623663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Çıktı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0" y="4623663"/>
            <a:ext cx="4480560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2834640" y="4623663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Çalışan ürün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23760" y="4623663"/>
            <a:ext cx="4507992" cy="54864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7315200" y="4623663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Ürün + akademik makale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172303"/>
            <a:ext cx="246888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365760" y="5172303"/>
            <a:ext cx="228600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Odak</a:t>
            </a:r>
          </a:p>
        </p:txBody>
      </p:sp>
      <p:sp>
        <p:nvSpPr>
          <p:cNvPr id="51" name="Rectangle 50"/>
          <p:cNvSpPr/>
          <p:nvPr/>
        </p:nvSpPr>
        <p:spPr>
          <a:xfrm>
            <a:off x="2743200" y="5172303"/>
            <a:ext cx="4480560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2834640" y="5172303"/>
            <a:ext cx="4297680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Mühendislik / ürün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223760" y="5172303"/>
            <a:ext cx="4507992" cy="54864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7315200" y="5172303"/>
            <a:ext cx="4325112" cy="5486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Bilimsel sağlamlık / yayın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20040" y="5730089"/>
            <a:ext cx="11457432" cy="557783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Rectangle 55"/>
          <p:cNvSpPr/>
          <p:nvPr/>
        </p:nvSpPr>
        <p:spPr>
          <a:xfrm>
            <a:off x="274320" y="5730088"/>
            <a:ext cx="91440" cy="568756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11480" y="5772607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 dirty="0" err="1">
                <a:solidFill>
                  <a:srgbClr val="102A4C"/>
                </a:solidFill>
                <a:latin typeface="Calibri"/>
              </a:rPr>
              <a:t>Özet</a:t>
            </a:r>
            <a:endParaRPr sz="1300" b="1" i="0" dirty="0">
              <a:solidFill>
                <a:srgbClr val="102A4C"/>
              </a:solidFill>
              <a:latin typeface="Calibri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411353" y="5957316"/>
            <a:ext cx="11073384" cy="11887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 err="1">
                <a:solidFill>
                  <a:srgbClr val="242A30"/>
                </a:solidFill>
                <a:latin typeface="Calibri"/>
              </a:rPr>
              <a:t>Geçen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dönem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çalışan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sistem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kurdum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;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bu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dönem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onu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bilimsel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olarak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sağlamlaştırdım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,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hafiflettim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açıklanabilir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hâle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getirdim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İkisi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birlikte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AURIS'in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tam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hikâyesini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oluşturuyor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274320" y="6287872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ARKA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Yapay Zekâ Müzik Tespiti?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Problemin önemi ve bu projenin doğuş nedeni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00200"/>
            <a:ext cx="6766560" cy="2011680"/>
          </a:xfrm>
          <a:prstGeom prst="rect">
            <a:avLst/>
          </a:prstGeom>
          <a:solidFill>
            <a:srgbClr val="FFF3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00200"/>
            <a:ext cx="91440" cy="201168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19072"/>
            <a:ext cx="6400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Sorun büyüyor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48840"/>
            <a:ext cx="6382512" cy="13533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Üretken yapay zekâ son üç yılda müzik üretimini laboratuvardan herkesin eline taşıdı. Bir metin istemiyle dakikalar içinde, deneyimsiz bir kulağın insan bestesinden ayıramayacağı parçalar üretilebiliyor.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" y="3840480"/>
            <a:ext cx="67665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Bu neyi tehdit ediyor?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297680"/>
            <a:ext cx="6720840" cy="1828800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Telif hakkı ve içerik sahipliği belirsizleşiyor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Akış platformlarında sahte dinlenme / gelir manipülasyonu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Dezenformasyon ve sanatçı üslubu taklidi</a:t>
            </a:r>
          </a:p>
          <a:p>
            <a:pPr algn="l">
              <a:spcBef>
                <a:spcPts val="0"/>
              </a:spcBef>
              <a:spcAft>
                <a:spcPts val="900"/>
              </a:spcAft>
            </a:pPr>
            <a:r>
              <a:rPr sz="1250" b="0" i="0">
                <a:solidFill>
                  <a:srgbClr val="242A30"/>
                </a:solidFill>
                <a:latin typeface="Calibri"/>
              </a:rPr>
              <a:t>•  Sanatçı emeğinin ekonomik karşılığı eriyor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60920" y="1600200"/>
            <a:ext cx="44622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7360920" y="1600200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580376" y="1719072"/>
            <a:ext cx="409651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ben bu projeyi seçtim?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2148840"/>
            <a:ext cx="407822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Mevcut çözümlerin çoğu: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2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Akademik makaleyle sınırlı, son kullanıcıya ulaşmıyor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Yüksek işlem gücü istiyor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Gerçek zamanlı çalışmıyor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✗  Kararını açıklamıyor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2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242A30"/>
                </a:solidFill>
                <a:latin typeface="Calibri"/>
              </a:rPr>
              <a:t>AURIS bunları hedefliyor: erişilebilir, hafif, hızlı ve açıklanabilir bir tespit sistemi.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Üç Katmanlı Çok Platformlu Yapı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Sunum · İş mantığı · Veri/Model katmanları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SUNUM KATMANI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75564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Web: Next.js 14 + TypeScript + Tailwind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212140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Mobil: Kotlin + Jetpack Compose (MVVM)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487168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Duyarlı, erişilebilir arayüz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3108960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3108960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İŞ MANTIĞI / API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323697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Backend: Python + FastAPI (REST)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83280" y="360273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Dosya doğrulama, hız sınırı, güvenlik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83280" y="3968496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MP3/WAV/FLAC/OGG · maks. 50 MB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590288"/>
            <a:ext cx="11457432" cy="1353312"/>
          </a:xfrm>
          <a:prstGeom prst="rect">
            <a:avLst/>
          </a:prstGeom>
          <a:solidFill>
            <a:srgbClr val="FFFFFF"/>
          </a:solidFill>
          <a:ln w="1651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4590288"/>
            <a:ext cx="3108960" cy="13533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Calibri"/>
              </a:rPr>
              <a:t>VERİ / MODEL KATMANI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71830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librosa ile 47 öznitelik çıkarma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383280" y="508406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LightGBM topluluk modeli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83280" y="5449824"/>
            <a:ext cx="8229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200" b="0" i="0">
                <a:solidFill>
                  <a:srgbClr val="242A30"/>
                </a:solidFill>
                <a:latin typeface="Calibri"/>
              </a:rPr>
              <a:t>▸  TreeSHAP açıklanabilirlik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65760" y="6053328"/>
            <a:ext cx="1143000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Katmanlı tasarım: arayüz değişse de model katmanı aynı kalır — bakımı ve testi kolay.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3 · SISTEM MIMARISI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Ham Sesten Karara: İşleyiş Şeması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727782"/>
            <a:ext cx="11521440" cy="230515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aper_pipelin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773502"/>
            <a:ext cx="11430000" cy="221371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4042081"/>
            <a:ext cx="114300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uçtan uca analiz hattı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6576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02336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1 Giriş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WAV/MP3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0253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200253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2039112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2 Ön işleme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48255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22.050 Hz, mono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39312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639312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3675887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3 Öznitelik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85032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47 boyut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76088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276088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12664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4 Ölçekleme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21808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StandardScaler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912864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6912864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949440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5 Model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58584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LightGBM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49640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549640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586215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6 Eşik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θ*=0,4316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86416" y="4434840"/>
            <a:ext cx="1591056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Rectangle 34"/>
          <p:cNvSpPr/>
          <p:nvPr/>
        </p:nvSpPr>
        <p:spPr>
          <a:xfrm>
            <a:off x="10186416" y="4434840"/>
            <a:ext cx="1591056" cy="4572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10222992" y="4434840"/>
            <a:ext cx="1517904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Calibri"/>
              </a:rPr>
              <a:t>7 Sonuç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32136" y="4983480"/>
            <a:ext cx="1499616" cy="77724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0" i="0">
                <a:solidFill>
                  <a:srgbClr val="242A30"/>
                </a:solidFill>
                <a:latin typeface="Calibri"/>
              </a:rPr>
              <a:t>YZ/İnsan + SHAP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VERI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Veri Kümesi: 5.195 Örnek, 8 Kaynak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39319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57200" y="1627632"/>
            <a:ext cx="3749039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Kaynak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297680" y="1627632"/>
            <a:ext cx="23774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Tür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675120" y="1627632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Örnek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011680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57200" y="2011680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GTZAN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011680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25112" y="2011680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2011680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702552" y="2011680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899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2404872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57200" y="2404872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FMA Small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0" y="2404872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325112" y="2404872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675120" y="2404872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702552" y="2404872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1.000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798064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457200" y="2798064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SleepyJesse (kapak)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2798064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325112" y="2798064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0" y="2798064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702552" y="2798064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854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191256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457200" y="3191256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Diğer insan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297680" y="3191256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325112" y="3191256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İnsan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75120" y="3191256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6702552" y="3191256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360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584448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457200" y="3584448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Echoes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297680" y="3584448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4325112" y="3584448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0" y="3584448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6702552" y="3584448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1.128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3977640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457200" y="3977640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Suno (v3–v5)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297680" y="3977640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4325112" y="3977640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675120" y="3977640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6702552" y="3977640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500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365760" y="4370832"/>
            <a:ext cx="393192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457200" y="4370832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Deepfake seti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297680" y="4370832"/>
            <a:ext cx="237744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4325112" y="4370832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675120" y="4370832"/>
            <a:ext cx="1371600" cy="39319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6702552" y="4370832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492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65760" y="4764024"/>
            <a:ext cx="393192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457200" y="4764024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AImE/Mustango/JEN-1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4297680" y="4764024"/>
            <a:ext cx="237744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4325112" y="4764024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Yapay zekâ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675120" y="4764024"/>
            <a:ext cx="1371600" cy="39319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0" name="TextBox 59"/>
          <p:cNvSpPr txBox="1"/>
          <p:nvPr/>
        </p:nvSpPr>
        <p:spPr>
          <a:xfrm>
            <a:off x="6702552" y="4764024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0" i="0">
                <a:solidFill>
                  <a:srgbClr val="242A30"/>
                </a:solidFill>
                <a:latin typeface="Calibri"/>
              </a:rPr>
              <a:t>204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365760" y="5157216"/>
            <a:ext cx="393192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2" name="TextBox 61"/>
          <p:cNvSpPr txBox="1"/>
          <p:nvPr/>
        </p:nvSpPr>
        <p:spPr>
          <a:xfrm>
            <a:off x="457200" y="5157216"/>
            <a:ext cx="3749039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1B6E3C"/>
                </a:solidFill>
                <a:latin typeface="Calibri"/>
              </a:rPr>
              <a:t>TOPLAM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297680" y="5157216"/>
            <a:ext cx="237744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4" name="TextBox 63"/>
          <p:cNvSpPr txBox="1"/>
          <p:nvPr/>
        </p:nvSpPr>
        <p:spPr>
          <a:xfrm>
            <a:off x="4325112" y="5157216"/>
            <a:ext cx="232257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—</a:t>
            </a:r>
          </a:p>
        </p:txBody>
      </p:sp>
      <p:sp>
        <p:nvSpPr>
          <p:cNvPr id="65" name="Rectangle 64"/>
          <p:cNvSpPr/>
          <p:nvPr/>
        </p:nvSpPr>
        <p:spPr>
          <a:xfrm>
            <a:off x="6675120" y="5157216"/>
            <a:ext cx="1371600" cy="39319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6" name="TextBox 65"/>
          <p:cNvSpPr txBox="1"/>
          <p:nvPr/>
        </p:nvSpPr>
        <p:spPr>
          <a:xfrm>
            <a:off x="6702552" y="5157216"/>
            <a:ext cx="1316736" cy="39319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321040" y="1627632"/>
            <a:ext cx="3502152" cy="21945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Rectangle 67"/>
          <p:cNvSpPr/>
          <p:nvPr/>
        </p:nvSpPr>
        <p:spPr>
          <a:xfrm>
            <a:off x="8321040" y="1627632"/>
            <a:ext cx="91440" cy="21945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8540496" y="1746504"/>
            <a:ext cx="313639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 kaynaklar?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8540496" y="2176272"/>
            <a:ext cx="3118104" cy="15361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İnsan tarafı tür çeşitliliği (GTZAN), bağımsız sanatçılar (FMA) ve kapak performansları (SleepyJesse) ile dengelendi.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0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tarafı sekiz farklı üreticiden — tek sisteme aşırı uyumu önlemek için.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321040" y="3977639"/>
            <a:ext cx="3502152" cy="205740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2" name="Rectangle 71"/>
          <p:cNvSpPr/>
          <p:nvPr/>
        </p:nvSpPr>
        <p:spPr>
          <a:xfrm>
            <a:off x="8321040" y="3977639"/>
            <a:ext cx="91440" cy="20574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8540496" y="4096511"/>
            <a:ext cx="313639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Sınıf Dengesi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40496" y="4526279"/>
            <a:ext cx="3118104" cy="139903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İnsan: 3.113 (%59,9)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Yapay zekâ: 2.082 (%40,1)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class_weight='balanced' ve stratifiye CV ile dengelendi.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84048" y="5664708"/>
            <a:ext cx="7772400" cy="713232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6" name="Rectangle 75"/>
          <p:cNvSpPr/>
          <p:nvPr/>
        </p:nvSpPr>
        <p:spPr>
          <a:xfrm>
            <a:off x="374904" y="5664708"/>
            <a:ext cx="91440" cy="713232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576072" y="5724144"/>
            <a:ext cx="740664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102A4C"/>
                </a:solidFill>
                <a:latin typeface="Calibri"/>
              </a:rPr>
              <a:t>Veri Etiği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5216" y="5925312"/>
            <a:ext cx="7388352" cy="54864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000" b="0" i="0" dirty="0" err="1">
                <a:solidFill>
                  <a:srgbClr val="242A30"/>
                </a:solidFill>
                <a:latin typeface="Calibri"/>
              </a:rPr>
              <a:t>Tüm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veriler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kamuya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açık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kaynaklardan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derlendi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;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insan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katılımcıdan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birincil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veri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toplanmadı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,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etik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kurul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izni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gerekmedi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. Veri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yalnızca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akademik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amaçla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000" b="0" i="0" dirty="0" err="1">
                <a:solidFill>
                  <a:srgbClr val="242A30"/>
                </a:solidFill>
                <a:latin typeface="Calibri"/>
              </a:rPr>
              <a:t>kullanıldı</a:t>
            </a:r>
            <a:r>
              <a:rPr sz="100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4 · ÖZNITELIKLER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Neden 47 Öznitelik? Neyi Ölçüyorum?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Tek bir akustik temsile bağlı kalmamak için beş aile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65760" y="1627632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Spektral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2011680" y="1792224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16 boyut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1627632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Frekans içeriği ve tını — MFCC, flatness, centroid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386584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2386584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Zamansal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2011680" y="2551176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10 boyut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2386584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Enerji ve zaman yapısı — RMS, sıfır geçiş, dinamik aralık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3145536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65760" y="3145536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Ritmik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2011680" y="3310128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9 boyut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71800" y="3145536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Ritim ve vuruş — tempo, beat sayısı, onset gücü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3904487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365760" y="3904487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Harmonik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2011680" y="4069079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8 boyut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71800" y="3904487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Perde ve akor — chroma, tonnetz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5760" y="4663440"/>
            <a:ext cx="7589520" cy="667512"/>
          </a:xfrm>
          <a:prstGeom prst="rect">
            <a:avLst/>
          </a:prstGeom>
          <a:solidFill>
            <a:srgbClr val="FFFFFF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4663440"/>
            <a:ext cx="182880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Vokal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TextBox 35"/>
          <p:cNvSpPr txBox="1"/>
          <p:nvPr/>
        </p:nvSpPr>
        <p:spPr>
          <a:xfrm>
            <a:off x="2011680" y="4828031"/>
            <a:ext cx="777240" cy="3383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00" b="1" i="0">
                <a:solidFill>
                  <a:srgbClr val="102A4C"/>
                </a:solidFill>
                <a:latin typeface="Calibri"/>
              </a:rPr>
              <a:t>4 boyut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971800" y="4663440"/>
            <a:ext cx="4892040" cy="66751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Şarkı sesi — temel frekans, vibrato, formant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0" y="1627632"/>
            <a:ext cx="3593592" cy="37033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8229600" y="1627632"/>
            <a:ext cx="91440" cy="37033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8449056" y="1746504"/>
            <a:ext cx="322783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Mantığım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449056" y="2176272"/>
            <a:ext cx="3209544" cy="30449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Tek bir temsil (yalnız MFCC ya da yalnız spektrogram) modeli o temsile aşırı uyumlu yapar.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Beş farklı aileyi birleştirince model, müziğin farklı yönlerinden ayırt edici sinyal toplayabiliyor.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boyutlu, dayanıklı ve yorumlanabilir bir öznitelik vektörü.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65760" y="5486400"/>
            <a:ext cx="7589520" cy="5486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00" b="0" i="1">
                <a:solidFill>
                  <a:srgbClr val="6A7480"/>
                </a:solidFill>
                <a:latin typeface="Calibri"/>
              </a:rPr>
              <a:t>Bulgu: Öznitelik çıkarma deneyi, doğruluğun ~30 öznitelikte platoya ulaştığını gösterdi — gelecekte daha az öznitelikle benzer başarı mümkün.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11 Model Denedim — Neyi Neden Seçtim?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5-katlı çapraz doğrulama · ROC-AUC sırasına göre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536192"/>
            <a:ext cx="4572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65760" y="1536192"/>
            <a:ext cx="4572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36192"/>
            <a:ext cx="26974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914400" y="1536192"/>
            <a:ext cx="2514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20440" y="1536192"/>
            <a:ext cx="7772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520440" y="1536192"/>
            <a:ext cx="7772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Tip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536192"/>
            <a:ext cx="13258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297680" y="1536192"/>
            <a:ext cx="13258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Doğr.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23560" y="1536192"/>
            <a:ext cx="12344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23560" y="1536192"/>
            <a:ext cx="12344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58000" y="1536192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858000" y="1536192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536192"/>
            <a:ext cx="118872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229600" y="1536192"/>
            <a:ext cx="11887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1920240"/>
            <a:ext cx="45720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393192" y="1920240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1920240"/>
            <a:ext cx="269748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914400" y="1920240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1" i="0">
                <a:solidFill>
                  <a:srgbClr val="1B6E3C"/>
                </a:solidFill>
                <a:latin typeface="Calibri"/>
              </a:rPr>
              <a:t>LightGBM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520440" y="1920240"/>
            <a:ext cx="77724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547872" y="1920240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ML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297680" y="1920240"/>
            <a:ext cx="132588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325112" y="1920240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0,8839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1920240"/>
            <a:ext cx="123444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50992" y="1920240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0,8575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58000" y="1920240"/>
            <a:ext cx="137160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885432" y="1920240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1920240"/>
            <a:ext cx="1188720" cy="347472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1920240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1" i="0">
                <a:solidFill>
                  <a:srgbClr val="1B6E3C"/>
                </a:solidFill>
                <a:latin typeface="Calibri"/>
              </a:rPr>
              <a:t>±0,0023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2267712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93192" y="2267712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2267712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914400" y="2267712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Derin MLP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520440" y="2267712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547872" y="2267712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2267712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4325112" y="2267712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0,8849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23560" y="2267712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5650992" y="2267712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0,8596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858000" y="2267712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6885432" y="2267712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0,9542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229600" y="2267712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257031" y="2267712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±0,0036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2615184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3192" y="2615184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22960" y="2615184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914400" y="2615184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Artık MLP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20440" y="2615184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3547872" y="2615184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97680" y="2615184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325112" y="2615184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0,8756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623560" y="2615184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50992" y="2615184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0,8476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858000" y="2615184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885432" y="2615184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0,9485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229600" y="2615184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8257031" y="2615184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365760" y="2962656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393192" y="2962656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66" name="Rectangle 65"/>
          <p:cNvSpPr/>
          <p:nvPr/>
        </p:nvSpPr>
        <p:spPr>
          <a:xfrm>
            <a:off x="822960" y="2962656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914400" y="2962656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XGBoost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520440" y="2962656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3547872" y="2962656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297680" y="2962656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4325112" y="2962656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0,8751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623560" y="2962656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5650992" y="2962656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0,8408</a:t>
            </a:r>
          </a:p>
        </p:txBody>
      </p:sp>
      <p:sp>
        <p:nvSpPr>
          <p:cNvPr id="74" name="Rectangle 73"/>
          <p:cNvSpPr/>
          <p:nvPr/>
        </p:nvSpPr>
        <p:spPr>
          <a:xfrm>
            <a:off x="6858000" y="2962656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6885432" y="2962656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0,9465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229600" y="2962656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8257031" y="2962656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±0,0029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3310127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393192" y="3310127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80" name="Rectangle 79"/>
          <p:cNvSpPr/>
          <p:nvPr/>
        </p:nvSpPr>
        <p:spPr>
          <a:xfrm>
            <a:off x="822960" y="3310127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1" name="TextBox 80"/>
          <p:cNvSpPr txBox="1"/>
          <p:nvPr/>
        </p:nvSpPr>
        <p:spPr>
          <a:xfrm>
            <a:off x="914400" y="3310127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Gradient Boosting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520440" y="3310127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547872" y="3310127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297680" y="3310127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5" name="TextBox 84"/>
          <p:cNvSpPr txBox="1"/>
          <p:nvPr/>
        </p:nvSpPr>
        <p:spPr>
          <a:xfrm>
            <a:off x="4325112" y="3310127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0,8685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23560" y="3310127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7" name="TextBox 86"/>
          <p:cNvSpPr txBox="1"/>
          <p:nvPr/>
        </p:nvSpPr>
        <p:spPr>
          <a:xfrm>
            <a:off x="5650992" y="3310127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0,8337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858000" y="3310127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/>
          <p:cNvSpPr txBox="1"/>
          <p:nvPr/>
        </p:nvSpPr>
        <p:spPr>
          <a:xfrm>
            <a:off x="6885432" y="3310127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0,9397</a:t>
            </a:r>
          </a:p>
        </p:txBody>
      </p:sp>
      <p:sp>
        <p:nvSpPr>
          <p:cNvPr id="90" name="Rectangle 89"/>
          <p:cNvSpPr/>
          <p:nvPr/>
        </p:nvSpPr>
        <p:spPr>
          <a:xfrm>
            <a:off x="8229600" y="3310127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1" name="TextBox 90"/>
          <p:cNvSpPr txBox="1"/>
          <p:nvPr/>
        </p:nvSpPr>
        <p:spPr>
          <a:xfrm>
            <a:off x="8257031" y="3310127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±0,0038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365760" y="3657599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3" name="TextBox 92"/>
          <p:cNvSpPr txBox="1"/>
          <p:nvPr/>
        </p:nvSpPr>
        <p:spPr>
          <a:xfrm>
            <a:off x="393192" y="3657599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6</a:t>
            </a:r>
          </a:p>
        </p:txBody>
      </p:sp>
      <p:sp>
        <p:nvSpPr>
          <p:cNvPr id="94" name="Rectangle 93"/>
          <p:cNvSpPr/>
          <p:nvPr/>
        </p:nvSpPr>
        <p:spPr>
          <a:xfrm>
            <a:off x="822960" y="3657599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5" name="TextBox 94"/>
          <p:cNvSpPr txBox="1"/>
          <p:nvPr/>
        </p:nvSpPr>
        <p:spPr>
          <a:xfrm>
            <a:off x="914400" y="3657599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Random Forest</a:t>
            </a:r>
          </a:p>
        </p:txBody>
      </p:sp>
      <p:sp>
        <p:nvSpPr>
          <p:cNvPr id="96" name="Rectangle 95"/>
          <p:cNvSpPr/>
          <p:nvPr/>
        </p:nvSpPr>
        <p:spPr>
          <a:xfrm>
            <a:off x="3520440" y="3657599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7" name="TextBox 96"/>
          <p:cNvSpPr txBox="1"/>
          <p:nvPr/>
        </p:nvSpPr>
        <p:spPr>
          <a:xfrm>
            <a:off x="3547872" y="3657599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98" name="Rectangle 97"/>
          <p:cNvSpPr/>
          <p:nvPr/>
        </p:nvSpPr>
        <p:spPr>
          <a:xfrm>
            <a:off x="4297680" y="3657599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9" name="TextBox 98"/>
          <p:cNvSpPr txBox="1"/>
          <p:nvPr/>
        </p:nvSpPr>
        <p:spPr>
          <a:xfrm>
            <a:off x="4325112" y="3657599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0,8606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623560" y="3657599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1" name="TextBox 100"/>
          <p:cNvSpPr txBox="1"/>
          <p:nvPr/>
        </p:nvSpPr>
        <p:spPr>
          <a:xfrm>
            <a:off x="5650992" y="3657599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0,8183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6858000" y="3657599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6885432" y="3657599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0,9394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229600" y="3657599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5" name="TextBox 104"/>
          <p:cNvSpPr txBox="1"/>
          <p:nvPr/>
        </p:nvSpPr>
        <p:spPr>
          <a:xfrm>
            <a:off x="8257031" y="3657599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±0,0051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365760" y="4005072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7" name="TextBox 106"/>
          <p:cNvSpPr txBox="1"/>
          <p:nvPr/>
        </p:nvSpPr>
        <p:spPr>
          <a:xfrm>
            <a:off x="393192" y="4005072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7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822960" y="4005072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9" name="TextBox 108"/>
          <p:cNvSpPr txBox="1"/>
          <p:nvPr/>
        </p:nvSpPr>
        <p:spPr>
          <a:xfrm>
            <a:off x="914400" y="4005072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Attention MLP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3520440" y="4005072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1" name="TextBox 110"/>
          <p:cNvSpPr txBox="1"/>
          <p:nvPr/>
        </p:nvSpPr>
        <p:spPr>
          <a:xfrm>
            <a:off x="3547872" y="4005072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4297680" y="4005072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4325112" y="4005072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0,8628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623560" y="4005072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5" name="TextBox 114"/>
          <p:cNvSpPr txBox="1"/>
          <p:nvPr/>
        </p:nvSpPr>
        <p:spPr>
          <a:xfrm>
            <a:off x="5650992" y="4005072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0,8293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6858000" y="4005072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7" name="TextBox 116"/>
          <p:cNvSpPr txBox="1"/>
          <p:nvPr/>
        </p:nvSpPr>
        <p:spPr>
          <a:xfrm>
            <a:off x="6885432" y="4005072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0,9359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8229600" y="4005072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9" name="TextBox 118"/>
          <p:cNvSpPr txBox="1"/>
          <p:nvPr/>
        </p:nvSpPr>
        <p:spPr>
          <a:xfrm>
            <a:off x="8257031" y="4005072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±0,0059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365760" y="4352544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1" name="TextBox 120"/>
          <p:cNvSpPr txBox="1"/>
          <p:nvPr/>
        </p:nvSpPr>
        <p:spPr>
          <a:xfrm>
            <a:off x="393192" y="4352544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8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22960" y="4352544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3" name="TextBox 122"/>
          <p:cNvSpPr txBox="1"/>
          <p:nvPr/>
        </p:nvSpPr>
        <p:spPr>
          <a:xfrm>
            <a:off x="914400" y="4352544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SVM-RBF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3520440" y="4352544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5" name="TextBox 124"/>
          <p:cNvSpPr txBox="1"/>
          <p:nvPr/>
        </p:nvSpPr>
        <p:spPr>
          <a:xfrm>
            <a:off x="3547872" y="4352544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4297680" y="4352544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TextBox 126"/>
          <p:cNvSpPr txBox="1"/>
          <p:nvPr/>
        </p:nvSpPr>
        <p:spPr>
          <a:xfrm>
            <a:off x="4325112" y="4352544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0,8612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623560" y="4352544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TextBox 128"/>
          <p:cNvSpPr txBox="1"/>
          <p:nvPr/>
        </p:nvSpPr>
        <p:spPr>
          <a:xfrm>
            <a:off x="5650992" y="4352544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0,8252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6858000" y="4352544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6885432" y="4352544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0,9346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8229600" y="4352544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3" name="TextBox 132"/>
          <p:cNvSpPr txBox="1"/>
          <p:nvPr/>
        </p:nvSpPr>
        <p:spPr>
          <a:xfrm>
            <a:off x="8257031" y="4352544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±0,0075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365760" y="4700016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5" name="TextBox 134"/>
          <p:cNvSpPr txBox="1"/>
          <p:nvPr/>
        </p:nvSpPr>
        <p:spPr>
          <a:xfrm>
            <a:off x="393192" y="4700016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9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822960" y="4700016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7" name="TextBox 136"/>
          <p:cNvSpPr txBox="1"/>
          <p:nvPr/>
        </p:nvSpPr>
        <p:spPr>
          <a:xfrm>
            <a:off x="914400" y="4700016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MLP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3520440" y="4700016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9" name="TextBox 138"/>
          <p:cNvSpPr txBox="1"/>
          <p:nvPr/>
        </p:nvSpPr>
        <p:spPr>
          <a:xfrm>
            <a:off x="3547872" y="4700016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4297680" y="4700016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4325112" y="4700016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0,8566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623560" y="4700016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3" name="TextBox 142"/>
          <p:cNvSpPr txBox="1"/>
          <p:nvPr/>
        </p:nvSpPr>
        <p:spPr>
          <a:xfrm>
            <a:off x="5650992" y="4700016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0,8189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6858000" y="4700016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5" name="TextBox 144"/>
          <p:cNvSpPr txBox="1"/>
          <p:nvPr/>
        </p:nvSpPr>
        <p:spPr>
          <a:xfrm>
            <a:off x="6885432" y="4700016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0,9276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229600" y="4700016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7" name="TextBox 146"/>
          <p:cNvSpPr txBox="1"/>
          <p:nvPr/>
        </p:nvSpPr>
        <p:spPr>
          <a:xfrm>
            <a:off x="8257031" y="4700016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±0,0061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365760" y="5047488"/>
            <a:ext cx="4572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9" name="TextBox 148"/>
          <p:cNvSpPr txBox="1"/>
          <p:nvPr/>
        </p:nvSpPr>
        <p:spPr>
          <a:xfrm>
            <a:off x="393192" y="5047488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10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822960" y="5047488"/>
            <a:ext cx="26974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1" name="TextBox 150"/>
          <p:cNvSpPr txBox="1"/>
          <p:nvPr/>
        </p:nvSpPr>
        <p:spPr>
          <a:xfrm>
            <a:off x="914400" y="5047488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1D-CNN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3520440" y="5047488"/>
            <a:ext cx="7772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3" name="TextBox 152"/>
          <p:cNvSpPr txBox="1"/>
          <p:nvPr/>
        </p:nvSpPr>
        <p:spPr>
          <a:xfrm>
            <a:off x="3547872" y="5047488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DL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297680" y="5047488"/>
            <a:ext cx="132588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5" name="TextBox 154"/>
          <p:cNvSpPr txBox="1"/>
          <p:nvPr/>
        </p:nvSpPr>
        <p:spPr>
          <a:xfrm>
            <a:off x="4325112" y="5047488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0,7665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23560" y="5047488"/>
            <a:ext cx="123444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7" name="TextBox 156"/>
          <p:cNvSpPr txBox="1"/>
          <p:nvPr/>
        </p:nvSpPr>
        <p:spPr>
          <a:xfrm>
            <a:off x="5650992" y="5047488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0,7159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858000" y="5047488"/>
            <a:ext cx="137160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9" name="TextBox 158"/>
          <p:cNvSpPr txBox="1"/>
          <p:nvPr/>
        </p:nvSpPr>
        <p:spPr>
          <a:xfrm>
            <a:off x="6885432" y="5047488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0,8543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8229600" y="5047488"/>
            <a:ext cx="1188720" cy="347472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1" name="TextBox 160"/>
          <p:cNvSpPr txBox="1"/>
          <p:nvPr/>
        </p:nvSpPr>
        <p:spPr>
          <a:xfrm>
            <a:off x="8257031" y="5047488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±0,0087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365760" y="5394959"/>
            <a:ext cx="4572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3" name="TextBox 162"/>
          <p:cNvSpPr txBox="1"/>
          <p:nvPr/>
        </p:nvSpPr>
        <p:spPr>
          <a:xfrm>
            <a:off x="393192" y="5394959"/>
            <a:ext cx="4023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11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822960" y="5394959"/>
            <a:ext cx="26974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5" name="TextBox 164"/>
          <p:cNvSpPr txBox="1"/>
          <p:nvPr/>
        </p:nvSpPr>
        <p:spPr>
          <a:xfrm>
            <a:off x="914400" y="5394959"/>
            <a:ext cx="2514600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Logistic Reg.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3520440" y="5394959"/>
            <a:ext cx="7772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7" name="TextBox 166"/>
          <p:cNvSpPr txBox="1"/>
          <p:nvPr/>
        </p:nvSpPr>
        <p:spPr>
          <a:xfrm>
            <a:off x="3547872" y="5394959"/>
            <a:ext cx="7223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ML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4297680" y="5394959"/>
            <a:ext cx="132588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9" name="TextBox 168"/>
          <p:cNvSpPr txBox="1"/>
          <p:nvPr/>
        </p:nvSpPr>
        <p:spPr>
          <a:xfrm>
            <a:off x="4325112" y="5394959"/>
            <a:ext cx="127101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0,7779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23560" y="5394959"/>
            <a:ext cx="123444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1" name="TextBox 170"/>
          <p:cNvSpPr txBox="1"/>
          <p:nvPr/>
        </p:nvSpPr>
        <p:spPr>
          <a:xfrm>
            <a:off x="5650992" y="5394959"/>
            <a:ext cx="117957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0,7390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6858000" y="5394959"/>
            <a:ext cx="137160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3" name="TextBox 172"/>
          <p:cNvSpPr txBox="1"/>
          <p:nvPr/>
        </p:nvSpPr>
        <p:spPr>
          <a:xfrm>
            <a:off x="6885432" y="5394959"/>
            <a:ext cx="131673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0,8515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8229600" y="5394959"/>
            <a:ext cx="1188720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5" name="TextBox 174"/>
          <p:cNvSpPr txBox="1"/>
          <p:nvPr/>
        </p:nvSpPr>
        <p:spPr>
          <a:xfrm>
            <a:off x="8257031" y="5394959"/>
            <a:ext cx="1133856" cy="347472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050" b="0" i="0">
                <a:solidFill>
                  <a:srgbClr val="242A30"/>
                </a:solidFill>
                <a:latin typeface="Calibri"/>
              </a:rPr>
              <a:t>±0,0042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9509760" y="1536192"/>
            <a:ext cx="2313432" cy="27889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7" name="Rectangle 176"/>
          <p:cNvSpPr/>
          <p:nvPr/>
        </p:nvSpPr>
        <p:spPr>
          <a:xfrm>
            <a:off x="9509760" y="1536192"/>
            <a:ext cx="91440" cy="2788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8" name="TextBox 177"/>
          <p:cNvSpPr txBox="1"/>
          <p:nvPr/>
        </p:nvSpPr>
        <p:spPr>
          <a:xfrm>
            <a:off x="9729216" y="1655064"/>
            <a:ext cx="1947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LightGBM?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9729216" y="2084831"/>
            <a:ext cx="1929384" cy="21305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En yüksek ROC-AUC (0,9548)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En düşük varyans (±0,0023) → en kararlı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Hızlı eğitim, az bellek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242A30"/>
                </a:solidFill>
                <a:latin typeface="Calibri"/>
              </a:rPr>
              <a:t>Derin ağlara yakın başarı, çok daha hafif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9509760" y="4480560"/>
            <a:ext cx="2313432" cy="1618488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1" name="Rectangle 180"/>
          <p:cNvSpPr/>
          <p:nvPr/>
        </p:nvSpPr>
        <p:spPr>
          <a:xfrm>
            <a:off x="9509760" y="4480560"/>
            <a:ext cx="91440" cy="1618488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2" name="TextBox 181"/>
          <p:cNvSpPr txBox="1"/>
          <p:nvPr/>
        </p:nvSpPr>
        <p:spPr>
          <a:xfrm>
            <a:off x="9729216" y="4599432"/>
            <a:ext cx="1947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Kısaltmalar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9729216" y="5029200"/>
            <a:ext cx="1929384" cy="960120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MLP: Çok Katmanlı Algılayıcı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CNN: Evrişimli Sinir Ağı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SVM: Destek Vektör Makinesi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950" b="0" i="0">
                <a:solidFill>
                  <a:srgbClr val="242A30"/>
                </a:solidFill>
                <a:latin typeface="Calibri"/>
              </a:rPr>
              <a:t>ML: Makine Öğr. · DL: Derin Öğr.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5" name="TextBox 18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86" name="TextBox 18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5 · MODEL SEÇIMI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Makine Öğrenmesi mi, Derin Öğrenme mi?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404252"/>
            <a:ext cx="7315200" cy="265299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paper_ml_vs_d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449972"/>
            <a:ext cx="7223760" cy="256155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066395"/>
            <a:ext cx="72237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ML ve DL ailelerinin performans dağılımı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18120" y="1627632"/>
            <a:ext cx="4005072" cy="45262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7818120" y="1627632"/>
            <a:ext cx="91440" cy="45262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037576" y="1746504"/>
            <a:ext cx="363931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Çıkarım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37576" y="2176272"/>
            <a:ext cx="3621024" cy="38679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7 ML modeli ortalama %92,75 ROC-AUC.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4 DL modeli ortalama %92,32.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1D-CNN dışlanınca DL ortalaması %94,62'ye çıkıyor.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Sonuç: 47 boyutlu öznitelik vektörü ayırt edici bilginin büyük bölümünü zaten taşıyor. Karmaşık derin ağ şart değil — hafif LightGBM yeterli ve daha kararlı.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LightGBM Performansı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6576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24612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24612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0,8839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4612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Doğruluk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1627632"/>
            <a:ext cx="2697480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126480" y="1819656"/>
            <a:ext cx="2697480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800" b="1" i="0">
                <a:solidFill>
                  <a:srgbClr val="D99A07"/>
                </a:solidFill>
                <a:latin typeface="Calibri"/>
              </a:rPr>
              <a:t>0,8575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491740"/>
            <a:ext cx="2697480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F1-Skoru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006840" y="1627632"/>
            <a:ext cx="28163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9006840" y="1819656"/>
            <a:ext cx="2816352" cy="6858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200" b="1" i="0">
                <a:solidFill>
                  <a:srgbClr val="D99A07"/>
                </a:solidFill>
                <a:latin typeface="Calibri"/>
              </a:rPr>
              <a:t>0,4316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2491740"/>
            <a:ext cx="2816352" cy="466344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Karar eşiği θ*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1330" y="3154680"/>
            <a:ext cx="3206458" cy="288036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20" name="Picture 19" descr="paper_confusion_matrix_lightgb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050" y="3200400"/>
            <a:ext cx="3115018" cy="278892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365760" y="6044183"/>
            <a:ext cx="365760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Karmaşıklık matrisi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297680" y="3200400"/>
            <a:ext cx="7525512" cy="27889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4297680" y="3200400"/>
            <a:ext cx="91440" cy="2788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517136" y="3319272"/>
            <a:ext cx="71597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Karmaşıklık matrisi ne diyor?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17136" y="3749039"/>
            <a:ext cx="7141464" cy="21305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negatif (insan→insan):  2.721  (%87,4)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Doğru pozitif (YZ→YZ):  1.862  (%89,4)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pozitif (insan→YZ):  392  (%12,6)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Yanlış negatif (YZ→insan):  220  (%10,6)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Model her iki sınıfı da dengeli ayırıyor; Youden J eşiği (0,4316) ile yanlış alarm ile kaçırma arasında denge kuruldu.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Kararı Açıklamak — SHAP Analizi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Model neden 'yapay zekâ' diyor?</a:t>
            </a:r>
          </a:p>
        </p:txBody>
      </p:sp>
      <p:sp>
        <p:nvSpPr>
          <p:cNvPr id="8" name="Rectangle 7"/>
          <p:cNvSpPr/>
          <p:nvPr/>
        </p:nvSpPr>
        <p:spPr>
          <a:xfrm>
            <a:off x="1037373" y="1581912"/>
            <a:ext cx="4051733" cy="429767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shap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093" y="1627632"/>
            <a:ext cx="3960293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888736"/>
            <a:ext cx="53949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TreeSHAP global etki diyagramı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89320" y="1572768"/>
            <a:ext cx="585216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En Etkili 5 Öznitelik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989320" y="1965960"/>
            <a:ext cx="54864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#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37959" y="1965960"/>
            <a:ext cx="3657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629399" y="1965960"/>
            <a:ext cx="347472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195559" y="1965960"/>
            <a:ext cx="13716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Önem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350008"/>
            <a:ext cx="54864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016752" y="23500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1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37959" y="2350008"/>
            <a:ext cx="3657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629399" y="23500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spectral_flatness_std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0195559" y="2350008"/>
            <a:ext cx="1371600" cy="457200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0222991" y="23500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0,0619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28072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016752" y="28072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37959" y="28072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629399" y="28072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spectral_contrast_mean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195559" y="28072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10222991" y="28072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989320" y="32644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016752" y="32644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537959" y="32644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629399" y="32644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rms_energy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95559" y="32644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10222991" y="32644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0,0456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989320" y="3721608"/>
            <a:ext cx="54864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016752" y="37216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537959" y="3721608"/>
            <a:ext cx="3657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6629399" y="37216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onset_strength_std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95559" y="3721608"/>
            <a:ext cx="1371600" cy="457200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10222991" y="37216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0,0388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989320" y="4178808"/>
            <a:ext cx="5486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016752" y="4178808"/>
            <a:ext cx="49377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59" y="4178808"/>
            <a:ext cx="3657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629399" y="4178808"/>
            <a:ext cx="347472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spectral_flatness_mean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95559" y="4178808"/>
            <a:ext cx="137160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222991" y="4178808"/>
            <a:ext cx="1316736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0,0370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989320" y="4754880"/>
            <a:ext cx="5852160" cy="128016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Rectangle 48"/>
          <p:cNvSpPr/>
          <p:nvPr/>
        </p:nvSpPr>
        <p:spPr>
          <a:xfrm>
            <a:off x="5989320" y="4754880"/>
            <a:ext cx="91440" cy="128016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6208776" y="4873752"/>
            <a:ext cx="54864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Yorum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08776" y="5303520"/>
            <a:ext cx="5468112" cy="62179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YZ müziği spektral açıdan daha 'düz' ve düzenli. spectral_flatness_std bu farkı yakalayan en güçlü öznitelik — bulgu bağımsız deepfake literatürüyle de örtüşüyor.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6 · SONUÇLAR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Hangi Kaynakta Ne Kadar Başarılı?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Dürüst değerlendirme: güçlü ve zayıf noktalar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623560" cy="2103120"/>
          </a:xfrm>
          <a:prstGeom prst="rect">
            <a:avLst/>
          </a:prstGeom>
          <a:solidFill>
            <a:srgbClr val="E8F5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91440" cy="2103120"/>
          </a:xfrm>
          <a:prstGeom prst="rect">
            <a:avLst/>
          </a:prstGeom>
          <a:solidFill>
            <a:srgbClr val="1B6E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85216" y="1746504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İyi sonuçlar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5216" y="2176272"/>
            <a:ext cx="5239512" cy="144475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Suno parçaları:  %93,0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Echoes alt kümesi:  %88,6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Müzik üretim sistemlerinin spektral imzaları belirgin olduğundan model bunları yüksek doğrulukla yakalıyor.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913632"/>
            <a:ext cx="5623560" cy="2103120"/>
          </a:xfrm>
          <a:prstGeom prst="rect">
            <a:avLst/>
          </a:prstGeom>
          <a:solidFill>
            <a:srgbClr val="FCEC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365760" y="3913632"/>
            <a:ext cx="91440" cy="2103120"/>
          </a:xfrm>
          <a:prstGeom prst="rect">
            <a:avLst/>
          </a:prstGeom>
          <a:solidFill>
            <a:srgbClr val="B3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85216" y="4032504"/>
            <a:ext cx="525780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Zayıf nokta — neden?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" y="4462272"/>
            <a:ext cx="5239512" cy="144475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Deepfake seti:  %50,0 duyarlılık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Bu küme konuşma deepfake'inden türetilmiş; müzik üretim imzalarını taşımıyor. Düşüş bir başarısızlık değil, dağılım kayması (distribution shift) — gelecekte alan uyarlamasıyla giderilebilir.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81037" y="1581912"/>
            <a:ext cx="4033316" cy="283464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7" name="Picture 16" descr="threshold_swee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6757" y="1627632"/>
            <a:ext cx="3941876" cy="2743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6172200" y="4425696"/>
            <a:ext cx="565099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Karar eşiği taraması (0,40–0,50 platosu)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17720"/>
            <a:ext cx="5650992" cy="141732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6172200" y="4617720"/>
            <a:ext cx="91440" cy="141732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391656" y="4736592"/>
            <a:ext cx="5285231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Neden bunu gösteriyorum?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91656" y="5166359"/>
            <a:ext cx="5266944" cy="7589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242A30"/>
                </a:solidFill>
                <a:latin typeface="Calibri"/>
              </a:rPr>
              <a:t>Bir sistemin sınırlarını bilmek, onu güçlendirmenin ilk adımıdır. Deepfake düşüşünü saklamak yerine analiz ettim ve gelecek çalışma olarak planladım.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Platformu — Gerçek Ekran Görüntüsü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Next.js 14 · TypeScript · Tailwind CSS</a:t>
            </a:r>
          </a:p>
        </p:txBody>
      </p:sp>
      <p:sp>
        <p:nvSpPr>
          <p:cNvPr id="8" name="Rectangle 7"/>
          <p:cNvSpPr/>
          <p:nvPr/>
        </p:nvSpPr>
        <p:spPr>
          <a:xfrm>
            <a:off x="585215" y="1581912"/>
            <a:ext cx="6967728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uris_web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5" y="1627632"/>
            <a:ext cx="6876288" cy="42976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65760" y="5980176"/>
            <a:ext cx="740664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web arayüzü — analiz sayfası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55279" y="1627632"/>
            <a:ext cx="3867912" cy="4297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955279" y="1627632"/>
            <a:ext cx="91440" cy="4297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74736" y="1746504"/>
            <a:ext cx="35021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Web özellikleri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74736" y="2176272"/>
            <a:ext cx="3483864" cy="363931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YouTube bağlantısı veya dosya yükleme ile analiz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AURIS Pipeline paneli analiz adımlarını canlı gösterir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Spotify / Apple Music entegrasyonu (yakında)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Statik site üretimi → hızlı yükleme, düşük maliyet</a:t>
            </a:r>
          </a:p>
          <a:p>
            <a:pPr algn="l">
              <a:spcBef>
                <a:spcPts val="0"/>
              </a:spcBef>
              <a:spcAft>
                <a:spcPts val="5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5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Ortalama sayfa yükleme: 1,2 sn · Lighthouse 94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Web — Analiz ve Sonuç Akışı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1584769"/>
            <a:ext cx="5715000" cy="3606165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 descr="auris_web_sec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30489"/>
            <a:ext cx="5623560" cy="351472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365760" y="5200078"/>
            <a:ext cx="562356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Dosya yükleme ve analiz alanı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35624" y="1581912"/>
            <a:ext cx="5724144" cy="3611880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Picture 10" descr="auris_web_sec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81344" y="1627632"/>
            <a:ext cx="5632704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172200" y="5202936"/>
            <a:ext cx="5650992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YouTube bağlantı analizi ve sonuç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5303520"/>
            <a:ext cx="11457432" cy="777240"/>
          </a:xfrm>
          <a:prstGeom prst="rect">
            <a:avLst/>
          </a:prstGeom>
          <a:solidFill>
            <a:srgbClr val="EAEE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65760" y="5303520"/>
            <a:ext cx="91440" cy="77724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85216" y="542239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Kullanıcı akışı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" y="5660135"/>
            <a:ext cx="11073384" cy="11887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00" b="0" i="0" dirty="0" err="1">
                <a:solidFill>
                  <a:srgbClr val="242A30"/>
                </a:solidFill>
                <a:latin typeface="Calibri"/>
              </a:rPr>
              <a:t>Kullanıcı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dosya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/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bağlantı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verir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→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sistem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47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özniteliği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çıkarır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→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LightGBM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olasılık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üretir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→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sonuç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skoru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SHAP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gerekçesiyle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birlikte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00" b="0" i="0" dirty="0" err="1">
                <a:solidFill>
                  <a:srgbClr val="242A30"/>
                </a:solidFill>
                <a:latin typeface="Calibri"/>
              </a:rPr>
              <a:t>gösterilir</a:t>
            </a:r>
            <a:r>
              <a:rPr sz="110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7 · ARAYÜZLER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Mobil Uygulama — Gerçek Ekran Görüntüleri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Kotlin · Jetpack Compose · MVVM mimarisi</a:t>
            </a:r>
          </a:p>
        </p:txBody>
      </p:sp>
      <p:sp>
        <p:nvSpPr>
          <p:cNvPr id="8" name="Rectangle 7"/>
          <p:cNvSpPr/>
          <p:nvPr/>
        </p:nvSpPr>
        <p:spPr>
          <a:xfrm>
            <a:off x="10890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Picture 8" descr="auris_mobile_he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4766" y="1627632"/>
            <a:ext cx="2028147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14400" y="6071616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AURIS ana ekranı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32246" y="1581912"/>
            <a:ext cx="2119587" cy="4480559"/>
          </a:xfrm>
          <a:prstGeom prst="rect">
            <a:avLst/>
          </a:prstGeom>
          <a:solidFill>
            <a:srgbClr val="FFFFFF"/>
          </a:solidFill>
          <a:ln w="9525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2" name="Picture 11" descr="auris_mobile_uploa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77966" y="1627632"/>
            <a:ext cx="2028147" cy="438912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3657600" y="6071616"/>
            <a:ext cx="2468880" cy="2743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000" b="0" i="1">
                <a:solidFill>
                  <a:srgbClr val="6A7480"/>
                </a:solidFill>
                <a:latin typeface="Calibri"/>
              </a:rPr>
              <a:t>Yükleme sekmeleri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0" y="1627632"/>
            <a:ext cx="5239512" cy="438912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583680" y="1627632"/>
            <a:ext cx="91440" cy="43891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803136" y="1746504"/>
            <a:ext cx="487375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Mobil özellikler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3136" y="2176272"/>
            <a:ext cx="4855464" cy="3730752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Android 8.0+ desteği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Jetpack Compose ile modern, az kodlu arayüz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MVVM: iş mantığı arayüzden ayrı → test edilebilir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Retrofit + Kotlin Coroutines ile asenkron ağ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Room veritabanı ile yerel geçmiş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endParaRPr sz="1150" b="0" i="0">
              <a:solidFill>
                <a:srgbClr val="242A30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Başlatma süresi: 0,8 sn · Bellek: ~120 MB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50" b="0" i="0">
                <a:solidFill>
                  <a:srgbClr val="242A30"/>
                </a:solidFill>
                <a:latin typeface="Calibri"/>
              </a:rPr>
              <a:t>10 analiz için yalnız %3 batarya tüketimi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8 · TEKNOLOJI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Kullandım? — Teknoloji Yığını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Her katmanda neden bu araçları seçtim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65760" y="1627632"/>
            <a:ext cx="5577840" cy="50292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30352" y="162763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Yapay Zekâ / Veri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24942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librosa (öznitelik)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4360" y="259689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scikit-learn · LightGBM · XGBoost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4360" y="294436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PyTorch (derin modeller)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29184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SHAP (açıklanabilirlik)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162763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2E5A7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172200" y="1627632"/>
            <a:ext cx="5577840" cy="502920"/>
          </a:xfrm>
          <a:prstGeom prst="rect">
            <a:avLst/>
          </a:prstGeom>
          <a:solidFill>
            <a:srgbClr val="2E5A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336792" y="162763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Web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224942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Next.js 14 · React 18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259689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TypeScript (tip güvenliği)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94436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Tailwind CSS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329184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Statik site üretimi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8A66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65760" y="3867912"/>
            <a:ext cx="5577840" cy="502920"/>
          </a:xfrm>
          <a:prstGeom prst="rect">
            <a:avLst/>
          </a:prstGeom>
          <a:solidFill>
            <a:srgbClr val="8A66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30352" y="386791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Mobil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448970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Kotlin · Jetpack Compose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83717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MVVM mimarisi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518464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Retrofit · Coroutines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4360" y="553212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Room veritabanı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72200" y="3867912"/>
            <a:ext cx="5577840" cy="2057400"/>
          </a:xfrm>
          <a:prstGeom prst="rect">
            <a:avLst/>
          </a:prstGeom>
          <a:solidFill>
            <a:srgbClr val="FFFFFF"/>
          </a:solidFill>
          <a:ln w="15240">
            <a:solidFill>
              <a:srgbClr val="102A4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6172200" y="3867912"/>
            <a:ext cx="5577840" cy="50292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36792" y="3867912"/>
            <a:ext cx="5303520" cy="50292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Backend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00800" y="4489704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Python · FastAPI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4837176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RESTful API + JSON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0" y="5184648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Dosya doğrulama / güvenlik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00800" y="5532120"/>
            <a:ext cx="512064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0" i="0">
                <a:solidFill>
                  <a:srgbClr val="242A30"/>
                </a:solidFill>
                <a:latin typeface="Calibri"/>
              </a:rPr>
              <a:t>•  Otomatik API dokümanı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9 · KARŞILAŞTIRMA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AURIS Literatüre Göre Nerede?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024128"/>
            <a:ext cx="11338560" cy="32918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0" i="0">
                <a:solidFill>
                  <a:srgbClr val="ADC4D6"/>
                </a:solidFill>
                <a:latin typeface="Calibri"/>
              </a:rPr>
              <a:t>Yayımlanmış çalışmalarla sayısal karşılaştırma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627632"/>
            <a:ext cx="265176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57200" y="1627632"/>
            <a:ext cx="2468879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Çalışma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017520" y="1627632"/>
            <a:ext cx="33832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108960" y="1627632"/>
            <a:ext cx="32004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Calibri"/>
              </a:rPr>
              <a:t>Yaklaşım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0" y="1627632"/>
            <a:ext cx="182880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Veri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229600" y="1627632"/>
            <a:ext cx="1783080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012680" y="1627632"/>
            <a:ext cx="1810512" cy="38404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</a:rPr>
              <a:t>F1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65760" y="2011680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457200" y="2011680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Afchar vd. (2025)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17520" y="2011680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108960" y="2011680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Oto-kodlayıcı artefakt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0" y="2011680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28232" y="2011680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0" y="2011680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257031" y="2011680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80" y="2011680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10040111" y="2011680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0,872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5760" y="2578608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457200" y="2578608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Li vd. (2026)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017520" y="2578608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3108960" y="2578608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Açıklanabilir öznitelik + ML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800" y="2578608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28232" y="2578608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2578608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8257031" y="2578608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0,931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12680" y="2578608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10040111" y="2578608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0,884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5760" y="3145536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457200" y="3145536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Cros Vila vd. (2025)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017520" y="3145536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3108960" y="3145536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Spektral + ritmik + SVM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3145536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428232" y="3145536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Özel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229600" y="3145536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8257031" y="3145536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0,941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012680" y="3145536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10040111" y="3145536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65760" y="3712464"/>
            <a:ext cx="265176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57200" y="3712464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SONICS (2025)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017520" y="3712464"/>
            <a:ext cx="33832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108960" y="3712464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Transformer tabanlı DL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712464"/>
            <a:ext cx="182880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428232" y="3712464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SONICS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29600" y="3712464"/>
            <a:ext cx="1783080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8257031" y="3712464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0,960</a:t>
            </a:r>
          </a:p>
        </p:txBody>
      </p:sp>
      <p:sp>
        <p:nvSpPr>
          <p:cNvPr id="56" name="Rectangle 55"/>
          <p:cNvSpPr/>
          <p:nvPr/>
        </p:nvSpPr>
        <p:spPr>
          <a:xfrm>
            <a:off x="10012680" y="3712464"/>
            <a:ext cx="1810512" cy="566928"/>
          </a:xfrm>
          <a:prstGeom prst="rect">
            <a:avLst/>
          </a:prstGeom>
          <a:solidFill>
            <a:srgbClr val="EAEEF2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10040111" y="3712464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0,921</a:t>
            </a:r>
          </a:p>
        </p:txBody>
      </p:sp>
      <p:sp>
        <p:nvSpPr>
          <p:cNvPr id="58" name="Rectangle 57"/>
          <p:cNvSpPr/>
          <p:nvPr/>
        </p:nvSpPr>
        <p:spPr>
          <a:xfrm>
            <a:off x="365760" y="4279392"/>
            <a:ext cx="265176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457200" y="4279392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FakeMusicCaps (2025)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017520" y="4279392"/>
            <a:ext cx="33832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3108960" y="4279392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0" i="0">
                <a:solidFill>
                  <a:srgbClr val="242A30"/>
                </a:solidFill>
                <a:latin typeface="Calibri"/>
              </a:rPr>
              <a:t>Çok modlu MusicCaps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400800" y="4279392"/>
            <a:ext cx="182880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6428232" y="4279392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FMC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29600" y="4279392"/>
            <a:ext cx="1783080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8257031" y="4279392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0,943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10012680" y="4279392"/>
            <a:ext cx="1810512" cy="566928"/>
          </a:xfrm>
          <a:prstGeom prst="rect">
            <a:avLst/>
          </a:prstGeom>
          <a:solidFill>
            <a:srgbClr val="FFFFFF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10040111" y="4279392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0" i="0">
                <a:solidFill>
                  <a:srgbClr val="242A30"/>
                </a:solidFill>
                <a:latin typeface="Calibri"/>
              </a:rPr>
              <a:t>0,906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65760" y="4846320"/>
            <a:ext cx="265176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457200" y="4846320"/>
            <a:ext cx="2468879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AURIS (bu çalışma)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017520" y="4846320"/>
            <a:ext cx="33832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3108960" y="4846320"/>
            <a:ext cx="3200400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l"/>
            <a:r>
              <a:rPr sz="1100" b="1" i="0">
                <a:solidFill>
                  <a:srgbClr val="1B6E3C"/>
                </a:solidFill>
                <a:latin typeface="Calibri"/>
              </a:rPr>
              <a:t>47 öznitelik + 11 model topluluk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400800" y="4846320"/>
            <a:ext cx="182880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6428232" y="4846320"/>
            <a:ext cx="177393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5.195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29600" y="4846320"/>
            <a:ext cx="1783080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8257031" y="4846320"/>
            <a:ext cx="1728216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0,9548</a:t>
            </a:r>
          </a:p>
        </p:txBody>
      </p:sp>
      <p:sp>
        <p:nvSpPr>
          <p:cNvPr id="76" name="Rectangle 75"/>
          <p:cNvSpPr/>
          <p:nvPr/>
        </p:nvSpPr>
        <p:spPr>
          <a:xfrm>
            <a:off x="10012680" y="4846320"/>
            <a:ext cx="1810512" cy="566928"/>
          </a:xfrm>
          <a:prstGeom prst="rect">
            <a:avLst/>
          </a:prstGeom>
          <a:solidFill>
            <a:srgbClr val="FFF3DD"/>
          </a:solidFill>
          <a:ln w="6350">
            <a:solidFill>
              <a:srgbClr val="D2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10040111" y="4846320"/>
            <a:ext cx="1755648" cy="566928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100" b="1" i="0">
                <a:solidFill>
                  <a:srgbClr val="1B6E3C"/>
                </a:solidFill>
                <a:latin typeface="Calibri"/>
              </a:rPr>
              <a:t>0,8731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65760" y="5486400"/>
            <a:ext cx="11457432" cy="868680"/>
          </a:xfrm>
          <a:prstGeom prst="rect">
            <a:avLst/>
          </a:prstGeom>
          <a:solidFill>
            <a:srgbClr val="E2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Rectangle 78"/>
          <p:cNvSpPr/>
          <p:nvPr/>
        </p:nvSpPr>
        <p:spPr>
          <a:xfrm>
            <a:off x="365760" y="5486400"/>
            <a:ext cx="91440" cy="868680"/>
          </a:xfrm>
          <a:prstGeom prst="rect">
            <a:avLst/>
          </a:prstGeom>
          <a:solidFill>
            <a:srgbClr val="0A80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0" name="TextBox 79"/>
          <p:cNvSpPr txBox="1"/>
          <p:nvPr/>
        </p:nvSpPr>
        <p:spPr>
          <a:xfrm>
            <a:off x="585216" y="5605272"/>
            <a:ext cx="11091672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300" b="1" i="0">
                <a:solidFill>
                  <a:srgbClr val="102A4C"/>
                </a:solidFill>
                <a:latin typeface="Calibri"/>
              </a:rPr>
              <a:t>Konumum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03504" y="5806441"/>
            <a:ext cx="11073384" cy="210311"/>
          </a:xfrm>
          <a:prstGeom prst="rect">
            <a:avLst/>
          </a:prstGeom>
          <a:noFill/>
        </p:spPr>
        <p:txBody>
          <a:bodyPr wrap="square" lIns="25400" rIns="25400" anchor="t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150" b="0" i="0" dirty="0">
                <a:solidFill>
                  <a:srgbClr val="242A30"/>
                </a:solidFill>
                <a:latin typeface="Calibri"/>
              </a:rPr>
              <a:t>AURIS (0,9548), Transformer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tabanlı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SONICS (0,960)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ile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Li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vd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(0,931)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arasında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Üstelik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derin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öğrenme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altyapısı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gerektirmeden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ve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en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düşük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varyansla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(±0,0023) —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hafif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bir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sistemin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ne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kadar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rekabetçi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olabileceğini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 </a:t>
            </a:r>
            <a:r>
              <a:rPr sz="1150" b="0" i="0" dirty="0" err="1">
                <a:solidFill>
                  <a:srgbClr val="242A30"/>
                </a:solidFill>
                <a:latin typeface="Calibri"/>
              </a:rPr>
              <a:t>gösteriyor</a:t>
            </a:r>
            <a:r>
              <a:rPr sz="1150" b="0" i="0" dirty="0">
                <a:solidFill>
                  <a:srgbClr val="242A30"/>
                </a:solidFill>
                <a:latin typeface="Calibri"/>
              </a:rPr>
              <a:t>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3" name="TextBox 82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6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88952" cy="1371600"/>
          </a:xfrm>
          <a:prstGeom prst="rect">
            <a:avLst/>
          </a:prstGeom>
          <a:solidFill>
            <a:srgbClr val="102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88952" cy="50292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64592" cy="1371600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411480" y="146304"/>
            <a:ext cx="1005840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150" b="1" i="0">
                <a:solidFill>
                  <a:srgbClr val="D99A07"/>
                </a:solidFill>
                <a:latin typeface="Calibri"/>
              </a:rPr>
              <a:t>10 · DEĞERLENDIRME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20624"/>
            <a:ext cx="11338560" cy="603504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Calibri"/>
              </a:rPr>
              <a:t>Ne Eksik? Sırada Ne Var?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554480"/>
            <a:ext cx="562356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B32929"/>
                </a:solidFill>
                <a:latin typeface="Calibri"/>
              </a:rPr>
              <a:t>Bilinen Kısıtlar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975104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02920" y="2066544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Dağılım kayması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395728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Eğitim dışı YZ sistemlerine genelleme sınırlı (deepfake %50).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999232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02920" y="3090672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Aşırı uyum eğilimi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3419856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Ağaç modellerinde 8–14 puan eğitim-CV açığı.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4023360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02920" y="4114800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Öznitelik fazlalığı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2920" y="4443984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 17 öznitelik doğruluğa katkı sağlamıyor.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047488"/>
            <a:ext cx="5623560" cy="914400"/>
          </a:xfrm>
          <a:prstGeom prst="rect">
            <a:avLst/>
          </a:prstGeom>
          <a:solidFill>
            <a:srgbClr val="FCECEC"/>
          </a:solidFill>
          <a:ln w="12700">
            <a:solidFill>
              <a:srgbClr val="B3292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02920" y="5138928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B32929"/>
                </a:solidFill>
                <a:latin typeface="Calibri"/>
              </a:rPr>
              <a:t>⚠  Gerçek zaman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5468112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henüz test edilmedi.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99632" y="1554480"/>
            <a:ext cx="562356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400" b="1" i="0">
                <a:solidFill>
                  <a:srgbClr val="1B6E3C"/>
                </a:solidFill>
                <a:latin typeface="Calibri"/>
              </a:rPr>
              <a:t>Gelecek Çalışmalar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99632" y="1975104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336792" y="2066544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Genelleme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36792" y="2395728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SONICS/FakeMusicCaps ile üretici-bağımsız test; alan uyarlama.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99632" y="2999232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336792" y="3090672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Sağlamlık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36792" y="3419856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MP3 sıkıştırma, perde kaydırma, zaman gerdirme testleri.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99632" y="4023360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336792" y="4114800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Gerçek zaman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336792" y="4443984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Düşük gecikmeli çıkarım ve canlı ses akışı.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99632" y="5047488"/>
            <a:ext cx="5623560" cy="914400"/>
          </a:xfrm>
          <a:prstGeom prst="rect">
            <a:avLst/>
          </a:prstGeom>
          <a:solidFill>
            <a:srgbClr val="E8F5EB"/>
          </a:solidFill>
          <a:ln w="12700">
            <a:solidFill>
              <a:srgbClr val="1B6E3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336792" y="5138928"/>
            <a:ext cx="5394960" cy="32004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200" b="1" i="0">
                <a:solidFill>
                  <a:srgbClr val="1B6E3C"/>
                </a:solidFill>
                <a:latin typeface="Calibri"/>
              </a:rPr>
              <a:t>→  Ölçek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36792" y="5468112"/>
            <a:ext cx="5394960" cy="43891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1050" b="0" i="0">
                <a:solidFill>
                  <a:srgbClr val="242A30"/>
                </a:solidFill>
                <a:latin typeface="Calibri"/>
              </a:rPr>
              <a:t>Veri kümesini 10.000 örneğe genişletme.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65760" y="6419088"/>
            <a:ext cx="11457432" cy="10972"/>
          </a:xfrm>
          <a:prstGeom prst="rect">
            <a:avLst/>
          </a:prstGeom>
          <a:solidFill>
            <a:srgbClr val="D2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365760" y="6473952"/>
            <a:ext cx="4206240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l"/>
            <a:r>
              <a:rPr sz="900" b="0" i="0">
                <a:solidFill>
                  <a:srgbClr val="6A7480"/>
                </a:solidFill>
                <a:latin typeface="Calibri"/>
              </a:rPr>
              <a:t>AURIS · YZ Üretimli Müzik Tespiti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63440" y="6473952"/>
            <a:ext cx="7159752" cy="292608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r"/>
            <a:r>
              <a:rPr sz="900" b="0" i="0">
                <a:solidFill>
                  <a:srgbClr val="6A7480"/>
                </a:solidFill>
                <a:latin typeface="Calibri"/>
              </a:rPr>
              <a:t>Hasan Arthur Altuntaş  ·  BM498  ·  Düzce Üniversitesi  ·  2025-2026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2A4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2651760"/>
            <a:ext cx="12188952" cy="54864"/>
          </a:xfrm>
          <a:prstGeom prst="rect">
            <a:avLst/>
          </a:prstGeom>
          <a:solidFill>
            <a:srgbClr val="D99A0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11247120" cy="8229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3200" b="1" i="0">
                <a:solidFill>
                  <a:srgbClr val="D99A07"/>
                </a:solidFill>
                <a:latin typeface="Calibri"/>
              </a:rPr>
              <a:t>Özetle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91640"/>
            <a:ext cx="11247120" cy="73152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500" b="0" i="0">
                <a:solidFill>
                  <a:srgbClr val="CDDDE8"/>
                </a:solidFill>
                <a:latin typeface="Calibri"/>
              </a:rPr>
              <a:t>AURIS, yapay zekâ müziğini tespit eden; akademik olarak sağlam, ürün olarak çalışan, çok platformlu ve açıklanabilir bir sistem.</a:t>
            </a:r>
          </a:p>
        </p:txBody>
      </p:sp>
      <p:sp>
        <p:nvSpPr>
          <p:cNvPr id="5" name="Rectangle 4"/>
          <p:cNvSpPr/>
          <p:nvPr/>
        </p:nvSpPr>
        <p:spPr>
          <a:xfrm>
            <a:off x="1051560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0,9548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ROC-AUC</a:t>
            </a:r>
          </a:p>
        </p:txBody>
      </p:sp>
      <p:sp>
        <p:nvSpPr>
          <p:cNvPr id="8" name="Rectangle 7"/>
          <p:cNvSpPr/>
          <p:nvPr/>
        </p:nvSpPr>
        <p:spPr>
          <a:xfrm>
            <a:off x="3593591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593591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3591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Öznitelik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35623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135623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11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35623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Model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77656" y="3108960"/>
            <a:ext cx="2240280" cy="1280160"/>
          </a:xfrm>
          <a:prstGeom prst="rect">
            <a:avLst/>
          </a:prstGeom>
          <a:solidFill>
            <a:srgbClr val="081B33"/>
          </a:solidFill>
          <a:ln w="12700">
            <a:solidFill>
              <a:srgbClr val="0A80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8677656" y="3200400"/>
            <a:ext cx="2240280" cy="59436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2600" b="1" i="0">
                <a:solidFill>
                  <a:srgbClr val="D99A07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7656" y="3794760"/>
            <a:ext cx="2240280" cy="457200"/>
          </a:xfrm>
          <a:prstGeom prst="rect">
            <a:avLst/>
          </a:prstGeom>
          <a:noFill/>
        </p:spPr>
        <p:txBody>
          <a:bodyPr wrap="square" lIns="25400" tIns="12700" rIns="25400" bIns="12700" anchor="ctr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  <a:latin typeface="Calibri"/>
              </a:rPr>
              <a:t>Platform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800600"/>
            <a:ext cx="11247120" cy="45720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Teşekkürler — Sorularınızı bekliyorum.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440680"/>
            <a:ext cx="11247120" cy="365760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300" b="0" i="0">
                <a:solidFill>
                  <a:srgbClr val="ADC4D6"/>
                </a:solidFill>
                <a:latin typeface="Calibri"/>
              </a:rPr>
              <a:t>Hasan Arthur Altuntaş  ·  hasannarthurrr@gmail.com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852160"/>
            <a:ext cx="11247120" cy="347472"/>
          </a:xfrm>
          <a:prstGeom prst="rect">
            <a:avLst/>
          </a:prstGeom>
          <a:noFill/>
        </p:spPr>
        <p:txBody>
          <a:bodyPr wrap="square" lIns="25400" tIns="12700" rIns="25400" bIns="12700" anchor="t">
            <a:spAutoFit/>
          </a:bodyPr>
          <a:lstStyle/>
          <a:p>
            <a:pPr algn="ctr"/>
            <a:r>
              <a:rPr sz="1100" b="0" i="0">
                <a:solidFill>
                  <a:srgbClr val="5E7A94"/>
                </a:solidFill>
                <a:latin typeface="Calibri"/>
              </a:rPr>
              <a:t>Düzce Üniversitesi · Bilgisayar Mühendisliği · 2025-2026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2770</Words>
  <Application>Microsoft Office PowerPoint</Application>
  <PresentationFormat>Özel</PresentationFormat>
  <Paragraphs>592</Paragraphs>
  <Slides>24</Slides>
  <Notes>0</Notes>
  <HiddenSlides>0</HiddenSlides>
  <MMClips>0</MMClips>
  <ScaleCrop>false</ScaleCrop>
  <HeadingPairs>
    <vt:vector size="6" baseType="variant">
      <vt:variant>
        <vt:lpstr>Kullanılan Yazı Tipleri</vt:lpstr>
      </vt:variant>
      <vt:variant>
        <vt:i4>2</vt:i4>
      </vt:variant>
      <vt:variant>
        <vt:lpstr>Tema</vt:lpstr>
      </vt:variant>
      <vt:variant>
        <vt:i4>1</vt:i4>
      </vt:variant>
      <vt:variant>
        <vt:lpstr>Slayt Başlıkları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  <vt:lpstr>PowerPoint Sunusu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914 94</cp:lastModifiedBy>
  <cp:revision>11</cp:revision>
  <dcterms:created xsi:type="dcterms:W3CDTF">2013-01-27T09:14:16Z</dcterms:created>
  <dcterms:modified xsi:type="dcterms:W3CDTF">2026-06-05T11:28:59Z</dcterms:modified>
  <cp:category/>
</cp:coreProperties>
</file>