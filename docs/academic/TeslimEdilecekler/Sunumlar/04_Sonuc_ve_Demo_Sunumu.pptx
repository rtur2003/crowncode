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04 — Sonuç 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Elde edilen metrikler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ROC-AUC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%95,48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±0,0023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F1-Skoru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%92,7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5-fold ort.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Brier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0,083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iyi kalibre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0" y="1600200"/>
            <a:ext cx="2743200" cy="201168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0" y="169164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</a:rPr>
              <a:t>Youden θ*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2148840"/>
            <a:ext cx="25603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E0A800"/>
                </a:solidFill>
              </a:rPr>
              <a:t>0,4316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5440" y="288036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B0C8D8"/>
                </a:solidFill>
              </a:rPr>
              <a:t>optimum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84048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</a:rPr>
              <a:t>LightGBM 11 model içinde tüm metriklerde lider.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</a:rPr>
              <a:t>Spectral Flatness Std Dev en ayırt edici öznitelik (SHAP).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333333"/>
                </a:solidFill>
              </a:rPr>
              <a:t>Youden J eşik optimizasyonu F1'i %89,4'ten %92,7'ye taşıdı (+3,3 puan).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Model Karşılaştırması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841248"/>
            <a:ext cx="11521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0C8D8"/>
                </a:solidFill>
              </a:rPr>
              <a:t>Tüm modellerin ROC-AUC değerleri</a:t>
            </a:r>
          </a:p>
        </p:txBody>
      </p:sp>
      <p:pic>
        <p:nvPicPr>
          <p:cNvPr id="5" name="Picture 4" descr="paper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08760"/>
            <a:ext cx="114300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623620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3: Tüm modellerin performans karşılaştırması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Demo — Sistem Çalışma Akışı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1.  Müzik dosyası yüklenir (WAV / MP3).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2.  Ön işleme: 22 050 Hz, mono, 30 sn.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3.  47 öznitelik çıkarılır (librosa).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4.  LightGBM olasılık üretir.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5.  θ* = 0,4316 eşiği uygulanır.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6.  Çıktı: 'YZ' / 'İnsan' + olasılık skoru.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7.  SHAP ile karar yorumlanır.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Demo videosu teslim paketi içindedir: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</a:rPr>
              <a:t>  Uygulama/demo_video.mp4</a:t>
            </a:r>
          </a:p>
        </p:txBody>
      </p:sp>
      <p:pic>
        <p:nvPicPr>
          <p:cNvPr id="5" name="Picture 4" descr="paper_scor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08760"/>
            <a:ext cx="5486400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6035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777777"/>
                </a:solidFill>
              </a:rPr>
              <a:t>Şekil 9: P(YZ) tahmin olasılık dağılımı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1732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Akademik Katkı ve Özgün Değer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600200"/>
            <a:ext cx="11430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66420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47 boyutlu heterojen öznitelik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02082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5 akustik aileden derlenen müzik-spesifik kapsamlı set.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11430000" cy="841248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624327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606039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Topluluk öğrenmesi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8094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11 model soft-voting — tek model yaklaşımlarının üstünde.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520440"/>
            <a:ext cx="11430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58444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6616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SHAP açıklanabilirlik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4106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Müzik deepfake tespitinde SHAP ilk kez uygulandı.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480560"/>
            <a:ext cx="11430000" cy="841248"/>
          </a:xfrm>
          <a:prstGeom prst="rect">
            <a:avLst/>
          </a:prstGeom>
          <a:solidFill>
            <a:srgbClr val="F4F6F8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54456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52628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Youden J optimizasyonu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0118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Dengesiz sınıf için θ*=0,4316 — varsayılan 0,5'ten üstün.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440680"/>
            <a:ext cx="11430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504688"/>
            <a:ext cx="457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A87"/>
                </a:solidFill>
              </a:rPr>
              <a:t>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486400"/>
            <a:ext cx="3840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GUJSA yayını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861304"/>
            <a:ext cx="106070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Ulusal hakemli dergiye gönderilmek üzere hazırlandı.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0" y="6510528"/>
            <a:ext cx="1218895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99AA"/>
                </a:solidFill>
              </a:rPr>
              <a:t>Hasan Arthur Altuntaş  |  BM498  |  Düzce Üniversitesi  |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D2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64008"/>
            <a:ext cx="11521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BM498 — 04: Sonuç ve Demo Sunumu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0" y="1005840"/>
            <a:ext cx="7589520" cy="5394960"/>
          </a:xfrm>
          <a:prstGeom prst="rect">
            <a:avLst/>
          </a:prstGeom>
          <a:solidFill>
            <a:srgbClr val="FFFFFF"/>
          </a:solidFill>
          <a:ln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377440" y="1115568"/>
            <a:ext cx="7406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>
                <a:solidFill>
                  <a:srgbClr val="0D2B55"/>
                </a:solidFill>
              </a:rPr>
              <a:t>ÖĞRENCİ İMZA SAYFASI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691640"/>
            <a:ext cx="7406640" cy="0"/>
          </a:xfrm>
          <a:prstGeom prst="rect">
            <a:avLst/>
          </a:prstGeom>
          <a:ln w="19050">
            <a:solidFill>
              <a:srgbClr val="007A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187451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Adı Soyadı: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87451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Hasan Arthur Altuntaş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22128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68880" y="24231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Öğrenci Numarası: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94960" y="242316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5349240" y="276148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68880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Bölüm: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297180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Bilgisayar Mühendisliği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331012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68880" y="352043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Danışman: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60" y="352043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5349240" y="385876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68880" y="4069079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Tarihi: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4069079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4407407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68880" y="46177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D2B55"/>
                </a:solidFill>
              </a:rPr>
              <a:t>Sunum Adı: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4617720"/>
            <a:ext cx="4297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</a:rPr>
              <a:t>Sonuç ve Demo Sunumu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49240" y="4956048"/>
            <a:ext cx="4343400" cy="0"/>
          </a:xfrm>
          <a:prstGeom prst="rect">
            <a:avLst/>
          </a:prstGeom>
          <a:ln w="1270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68880" y="5394960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D2B55"/>
                </a:solidFill>
              </a:rPr>
              <a:t>İmza: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46120" y="5742432"/>
            <a:ext cx="6080760" cy="0"/>
          </a:xfrm>
          <a:prstGeom prst="rect">
            <a:avLst/>
          </a:prstGeom>
          <a:ln w="190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46120" y="5797296"/>
            <a:ext cx="6080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888888"/>
                </a:solidFill>
              </a:rPr>
              <a:t>(Öğrenci bu alanı imzalayarak sunumun kendisine ait olduğunu onaylar.)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