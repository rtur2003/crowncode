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4688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88952" cy="64008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A800"/>
                </a:solidFill>
              </a:rPr>
              <a:t>04 — SONUÇ 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Bulgular ve Çalışan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EC6D6"/>
                </a:solidFill>
              </a:rPr>
              <a:t>LightGBM lider model · gerçek çapraz doğrulama sonuçları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269748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01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A800"/>
                </a:solidFill>
              </a:rPr>
              <a:t>0,9548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22191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971800"/>
            <a:ext cx="269748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1501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A800"/>
                </a:solidFill>
              </a:rPr>
              <a:t>0,8839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822191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Doğruluk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971800"/>
            <a:ext cx="269748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5010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A800"/>
                </a:solidFill>
              </a:rPr>
              <a:t>0,8575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22191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F1-Skoru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81160" y="2971800"/>
            <a:ext cx="2423160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3150108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0A800"/>
                </a:solidFill>
              </a:rPr>
              <a:t>0,4316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822191"/>
            <a:ext cx="2423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Youden θ*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A2A2A"/>
                </a:solidFill>
              </a:rPr>
              <a:t>✓  LightGBM, 11 model içinde en yüksek ROC-AUC ve en düşük varyansı (±0,0023) elde etti.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A2A2A"/>
                </a:solidFill>
              </a:rPr>
              <a:t>✓  spectral_flatness_std, YZ-insan ayrımındaki en belirleyici öznitelik olarak öne çıktı.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A2A2A"/>
                </a:solidFill>
              </a:rPr>
              <a:t>✓  Youden J eşik optimizasyonu, dengesiz sınıf altında dengeli karar sağladı (θ*=0,4316).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07A"/>
                </a:solidFill>
              </a:rPr>
              <a:t>AURIS  ·  Hasan Arthur Altuntaş  ·  BM498 Mezuniyet Tezi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651052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07A"/>
                </a:solidFill>
              </a:rPr>
              <a:t>Düzce Üniversitesi ·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A800"/>
                </a:solidFill>
              </a:rPr>
              <a:t>SONUÇLAR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Tüm Modellerin Performans Karşılaştırması</a:t>
            </a:r>
          </a:p>
        </p:txBody>
      </p:sp>
      <p:pic>
        <p:nvPicPr>
          <p:cNvPr id="6" name="Picture 5" descr="paper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75895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071616"/>
            <a:ext cx="7589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707A"/>
                </a:solidFill>
              </a:rPr>
              <a:t>Şekil 3: Doğruluk, F1 ve ROC-AUC karşılaştırması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600200"/>
            <a:ext cx="3703320" cy="4434840"/>
          </a:xfrm>
          <a:prstGeom prst="rect">
            <a:avLst/>
          </a:prstGeom>
          <a:solidFill>
            <a:srgbClr val="E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600200"/>
            <a:ext cx="82296" cy="44348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70992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Öne çıkanlar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03120"/>
            <a:ext cx="3383279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>•  LightGBM (0,9548) ve Derin ÇKA (0,9542) başa baş.
•  7 ML modeli ort. %92,75 ROC-AUC; 4 DL modeli ort. %92,32.
•  1B-ESA hariç tutulduğunda DL ort. %94,62'ye yükseliyor.
•  Sonuç: 47 boyutlu öznitelik vektörü ayırt edici bilginin büyük bölümünü kodluyor; öznitelik mühendisliği model kapasitesinin önüne geçiyor.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07A"/>
                </a:solidFill>
              </a:rPr>
              <a:t>AURIS  ·  Hasan Arthur Altuntaş  ·  BM498 Mezuniyet Tezi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51052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07A"/>
                </a:solidFill>
              </a:rPr>
              <a:t>Düzce Üniversitesi ·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A800"/>
                </a:solidFill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Sistem Çalışma Akışı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66928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36776"/>
            <a:ext cx="56692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E0A80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7335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B55"/>
                </a:solidFill>
              </a:rPr>
              <a:t>Müzik dosyası yüklenir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A2A"/>
                </a:solidFill>
              </a:rPr>
              <a:t>WAV / MP3 formatı kabul edilir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0008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50008"/>
            <a:ext cx="566928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86584"/>
            <a:ext cx="56692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E0A800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231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B55"/>
                </a:solidFill>
              </a:rPr>
              <a:t>Ön işleme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157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A2A"/>
                </a:solidFill>
              </a:rPr>
              <a:t>22.050 Hz'e indirgenir, mono'ya çevrilir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99815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99815"/>
            <a:ext cx="566928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36391"/>
            <a:ext cx="56692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E0A80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729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B55"/>
                </a:solidFill>
              </a:rPr>
              <a:t>Öznitelik çıkarma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65575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A2A"/>
                </a:solidFill>
              </a:rPr>
              <a:t>librosa ile 47 boyutlu vektör hesaplanır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9624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49624"/>
            <a:ext cx="566928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86200"/>
            <a:ext cx="56692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E0A80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92277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B55"/>
                </a:solidFill>
              </a:rPr>
              <a:t>Model tahmini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21538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A2A"/>
                </a:solidFill>
              </a:rPr>
              <a:t>LightGBM yapay zekâ olasılığı üretir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99431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599431"/>
            <a:ext cx="566928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636007"/>
            <a:ext cx="56692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E0A800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672583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B55"/>
                </a:solidFill>
              </a:rPr>
              <a:t>Eşik uygulama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651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A2A"/>
                </a:solidFill>
              </a:rPr>
              <a:t>θ*=0,4316 ile sınıf kararı verilir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49240"/>
            <a:ext cx="6766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349240"/>
            <a:ext cx="566928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385816"/>
            <a:ext cx="56692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E0A800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2239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2B55"/>
                </a:solidFill>
              </a:rPr>
              <a:t>Açıklama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715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A2A"/>
                </a:solidFill>
              </a:rPr>
              <a:t>SHAP ile kararın gerekçesi gösterilir</a:t>
            </a:r>
          </a:p>
        </p:txBody>
      </p:sp>
      <p:pic>
        <p:nvPicPr>
          <p:cNvPr id="36" name="Picture 35" descr="paper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3080"/>
            <a:ext cx="4389120" cy="35661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406640" y="538581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707A"/>
                </a:solidFill>
              </a:rPr>
              <a:t>Şekil 9: P(YZ) olasılık dağılımı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5486400"/>
            <a:ext cx="4389120" cy="8686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5486400"/>
            <a:ext cx="82296" cy="868680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5596128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Çıktı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5989320"/>
            <a:ext cx="40690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>Sınıf etiketi (YZ / İnsan) + güven skoru + SHAP gerekçesi. Demo videosu teslim paketinde (Uygulama/).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07A"/>
                </a:solidFill>
              </a:rPr>
              <a:t>AURIS  ·  Hasan Arthur Altuntaş  ·  BM498 Mezuniyet Tezi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651052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07A"/>
                </a:solidFill>
              </a:rPr>
              <a:t>Düzce Üniversitesi ·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E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A800"/>
                </a:solidFill>
              </a:rPr>
              <a:t>DEĞERLENDIRME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Akademik Katkı ve Özgün Değer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A8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47 boyutlu heterojen öznitelik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6712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Beş akustik aileyi tek vektörde birleştiren, müzik-spesifik kapsamlı temsil.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099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A8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11 modelli topluluk öğrenmesi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6712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ML ve DL ailelerinin ortak protokolde sistematik karşılaştırması.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72968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826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A8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7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TreeSHAP açıklanabilirlik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3989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Müzik deepfake tespitinde global + yerel öznitelik etkisinin yorumlanması.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172968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2826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A87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310127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Youden J eşik optimizasyonu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73989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Dengesiz sınıf için θ*=0,4316; varsayılan 0,5 eşiğinden üstün denge.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45736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55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A87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828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Hafif ve rekabetçi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31266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Derin öğrenme altyapısı olmadan SONICS'e yakın ROC-AUC (0,9548).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745736"/>
            <a:ext cx="5577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855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A87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8828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GUJSA akademik yayını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312664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2A2A"/>
                </a:solidFill>
              </a:rPr>
              <a:t>39 güncel referansla ulusal hakemli dergi formatında hazırlandı.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8229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07A"/>
                </a:solidFill>
              </a:rPr>
              <a:t>AURIS  ·  Hasan Arthur Altuntaş  ·  BM498 Mezuniyet Tezi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651052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707A"/>
                </a:solidFill>
              </a:rPr>
              <a:t>Düzce Üniversitesi · 2025-2026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BM498 — 04: Sonuç ve Demo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960120"/>
            <a:ext cx="758952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078992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2B55"/>
                </a:solidFill>
              </a:rPr>
              <a:t>ÖĞRENCİ İMZA SAYFASI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627632"/>
            <a:ext cx="7406640" cy="0"/>
          </a:xfrm>
          <a:prstGeom prst="rect">
            <a:avLst/>
          </a:prstGeom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8105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8105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148840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377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715768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944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443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3282696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511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51129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849624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7822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4416552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4645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451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A2A2A"/>
                </a:solidFill>
              </a:rPr>
              <a:t>Sonuç ve Demo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983480"/>
            <a:ext cx="4343400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4406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5788152"/>
            <a:ext cx="6080760" cy="0"/>
          </a:xfrm>
          <a:prstGeom prst="rect">
            <a:avLst/>
          </a:prstGeom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5843016"/>
            <a:ext cx="6080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707A"/>
                </a:solidFill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