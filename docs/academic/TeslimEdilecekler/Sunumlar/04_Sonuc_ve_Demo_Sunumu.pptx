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514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14600"/>
            <a:ext cx="12188952" cy="54864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" cy="2514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D99A07"/>
                </a:solidFill>
                <a:latin typeface="Calibri"/>
              </a:rPr>
              <a:t>04 — SONUÇ 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Bulgular ve Çalışan Sistem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9728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600" b="0" i="0">
                <a:solidFill>
                  <a:srgbClr val="ADC4D6"/>
                </a:solidFill>
                <a:latin typeface="Calibri"/>
              </a:rPr>
              <a:t>LightGBM lider model · gerçek çapraz doğrulama sonuçları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80360"/>
            <a:ext cx="2697480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72384"/>
            <a:ext cx="269748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800" b="1" i="0">
                <a:solidFill>
                  <a:srgbClr val="D99A07"/>
                </a:solidFill>
                <a:latin typeface="Calibri"/>
              </a:rPr>
              <a:t>0,9548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44468"/>
            <a:ext cx="2697480" cy="4663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ROC-AUC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2880360"/>
            <a:ext cx="2697480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3072384"/>
            <a:ext cx="269748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800" b="1" i="0">
                <a:solidFill>
                  <a:srgbClr val="D99A07"/>
                </a:solidFill>
                <a:latin typeface="Calibri"/>
              </a:rPr>
              <a:t>0,8839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744468"/>
            <a:ext cx="2697480" cy="4663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Doğruluk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80360"/>
            <a:ext cx="2697480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3072384"/>
            <a:ext cx="269748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800" b="1" i="0">
                <a:solidFill>
                  <a:srgbClr val="D99A07"/>
                </a:solidFill>
                <a:latin typeface="Calibri"/>
              </a:rPr>
              <a:t>0,8575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744468"/>
            <a:ext cx="2697480" cy="4663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F1-Skoru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9720" y="2880360"/>
            <a:ext cx="2606040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9720" y="3072384"/>
            <a:ext cx="260604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400" b="1" i="0">
                <a:solidFill>
                  <a:srgbClr val="D99A07"/>
                </a:solidFill>
                <a:latin typeface="Calibri"/>
              </a:rPr>
              <a:t>0,4316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3744468"/>
            <a:ext cx="2606040" cy="4663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Youden θ*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617720"/>
            <a:ext cx="11247120" cy="17373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242A30"/>
                </a:solidFill>
                <a:latin typeface="Calibri"/>
              </a:rPr>
              <a:t>✓  LightGBM, 11 model içinde en yüksek ROC-AUC ve en düşük varyansı (±0,0023) elde etti.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242A30"/>
                </a:solidFill>
                <a:latin typeface="Calibri"/>
              </a:rPr>
              <a:t>✓  spectral_flatness_std, YZ-insan ayrımındaki en belirleyici öznitelik oldu.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242A30"/>
                </a:solidFill>
                <a:latin typeface="Calibri"/>
              </a:rPr>
              <a:t>✓  Youden J eşik optimizasyonu, dengesiz sınıf altında dengeli karar sağladı.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SONUÇLAR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Tüm Modellerin Performans Karşılaştırması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716826"/>
            <a:ext cx="7406640" cy="4027851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per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62546"/>
            <a:ext cx="7315200" cy="39364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753821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Şekil 3: Doğruluk, F1 ve ROC-AUC karşılaştırması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09560" y="1627632"/>
            <a:ext cx="3913632" cy="45262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09560" y="1627632"/>
            <a:ext cx="91440" cy="45262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29016" y="1746504"/>
            <a:ext cx="35478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Öne çıkanlar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9016" y="2176272"/>
            <a:ext cx="3529584" cy="386791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LightGBM (0,9548) ve Derin ÇKA (0,9542) başa baş.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7 ML modeli ort. %92,75 ROC-AUC; 4 DL modeli ort. %92,32.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1B-ESA hariç tutulduğunda DL ort. %94,62'ye yükseliyor.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Sonuç: 47 boyutlu vektör ayırt edici bilginin büyük bölümünü kodluyor — öznitelik mühendisliği model kapasitesinin önüne geçiyor.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Sistem Çalışma Akışı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27632"/>
            <a:ext cx="6766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594360" cy="65836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627632"/>
            <a:ext cx="5943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000" b="1" i="0">
                <a:solidFill>
                  <a:srgbClr val="D99A07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9928"/>
            <a:ext cx="5943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102A4C"/>
                </a:solidFill>
                <a:latin typeface="Calibri"/>
              </a:rPr>
              <a:t>Müzik dosyası yüklenir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002536"/>
            <a:ext cx="5943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WAV / MP3 formatı kabul edilir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77440"/>
            <a:ext cx="6766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594360" cy="65836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377440"/>
            <a:ext cx="5943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000" b="1" i="0">
                <a:solidFill>
                  <a:srgbClr val="D99A07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459736"/>
            <a:ext cx="5943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102A4C"/>
                </a:solidFill>
                <a:latin typeface="Calibri"/>
              </a:rPr>
              <a:t>Ön işleme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752344"/>
            <a:ext cx="5943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22.050 Hz'e indirgenir, mono'ya çevrilir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27248"/>
            <a:ext cx="6766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127248"/>
            <a:ext cx="594360" cy="65836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127248"/>
            <a:ext cx="5943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000" b="1" i="0">
                <a:solidFill>
                  <a:srgbClr val="D99A07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209544"/>
            <a:ext cx="5943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102A4C"/>
                </a:solidFill>
                <a:latin typeface="Calibri"/>
              </a:rPr>
              <a:t>Öznitelik çıkarma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502152"/>
            <a:ext cx="5943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librosa ile 47 boyutlu vektör hesaplanır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877056"/>
            <a:ext cx="6766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877056"/>
            <a:ext cx="594360" cy="65836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877056"/>
            <a:ext cx="5943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000" b="1" i="0">
                <a:solidFill>
                  <a:srgbClr val="D99A07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959352"/>
            <a:ext cx="5943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102A4C"/>
                </a:solidFill>
                <a:latin typeface="Calibri"/>
              </a:rPr>
              <a:t>Model tahmini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251960"/>
            <a:ext cx="5943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LightGBM yapay zekâ olasılığı üretir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626864"/>
            <a:ext cx="6766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626864"/>
            <a:ext cx="594360" cy="65836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4626864"/>
            <a:ext cx="5943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000" b="1" i="0">
                <a:solidFill>
                  <a:srgbClr val="D99A07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4709159"/>
            <a:ext cx="5943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102A4C"/>
                </a:solidFill>
                <a:latin typeface="Calibri"/>
              </a:rPr>
              <a:t>Eşik uygulama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5001768"/>
            <a:ext cx="5943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θ*=0,4316 ile sınıf kararı verilir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376672"/>
            <a:ext cx="6766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5376672"/>
            <a:ext cx="594360" cy="65836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5376672"/>
            <a:ext cx="5943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000" b="1" i="0">
                <a:solidFill>
                  <a:srgbClr val="D99A07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5458968"/>
            <a:ext cx="5943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102A4C"/>
                </a:solidFill>
                <a:latin typeface="Calibri"/>
              </a:rPr>
              <a:t>Açıklama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751576"/>
            <a:ext cx="59436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SHAP ile kararın gerekçesi gösterilir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0" y="1842432"/>
            <a:ext cx="4526279" cy="2898815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paper_scor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888152"/>
            <a:ext cx="4434840" cy="2807375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920" y="4750391"/>
            <a:ext cx="4434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Şekil 9: P(YZ) olasılık dağılımı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60920" y="5074920"/>
            <a:ext cx="4434840" cy="96012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60920" y="5074920"/>
            <a:ext cx="91440" cy="96012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80376" y="5193792"/>
            <a:ext cx="4069079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Çıktı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0376" y="5623559"/>
            <a:ext cx="4050791" cy="30175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Sınıf etiketi (YZ / İnsan), güven skoru ve SHAP gerekçesi. Demo videosu Uygulama/ klasöründe.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DEĞERLENDIRME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Akademik Katkı ve Özgün Değer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27632"/>
            <a:ext cx="557784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566928" cy="138988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627632"/>
            <a:ext cx="566928" cy="1389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400" b="1" i="0">
                <a:solidFill>
                  <a:srgbClr val="D99A07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73936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47 boyutlu heterojen öznitelik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231136"/>
            <a:ext cx="47548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Beş akustik aileyi tek vektörde birleştiren müzik-spesifik temsil.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627632"/>
            <a:ext cx="557784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627632"/>
            <a:ext cx="566928" cy="138988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627632"/>
            <a:ext cx="566928" cy="1389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400" b="1" i="0">
                <a:solidFill>
                  <a:srgbClr val="D99A07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1773936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11 modelli topluluk öğrenmesi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231136"/>
            <a:ext cx="47548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ML ve DL ailelerinin ortak protokolde sistematik karşılaştırması.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63824"/>
            <a:ext cx="557784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163824"/>
            <a:ext cx="566928" cy="138988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163824"/>
            <a:ext cx="566928" cy="1389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400" b="1" i="0">
                <a:solidFill>
                  <a:srgbClr val="D99A07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310128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TreeSHAP açıklanabilirlik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767328"/>
            <a:ext cx="47548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Müzik deepfake tespitinde global + yerel öznitelik etkisi.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3163824"/>
            <a:ext cx="557784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163824"/>
            <a:ext cx="566928" cy="138988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3163824"/>
            <a:ext cx="566928" cy="1389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400" b="1" i="0">
                <a:solidFill>
                  <a:srgbClr val="D99A07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3310128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Youden J eşik optimizasyonu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3767328"/>
            <a:ext cx="47548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Dengesiz sınıf için θ*=0,4316; varsayılan 0,5'ten üstün denge.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700016"/>
            <a:ext cx="557784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700016"/>
            <a:ext cx="566928" cy="138988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4700016"/>
            <a:ext cx="566928" cy="1389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400" b="1" i="0">
                <a:solidFill>
                  <a:srgbClr val="D99A07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484632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Hafif ve rekabetçi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5303520"/>
            <a:ext cx="47548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Derin öğrenme altyapısı olmadan SONICS'e yakın ROC-AUC.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4700016"/>
            <a:ext cx="557784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2200" y="4700016"/>
            <a:ext cx="566928" cy="138988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2200" y="4700016"/>
            <a:ext cx="566928" cy="1389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400" b="1" i="0">
                <a:solidFill>
                  <a:srgbClr val="D99A07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484632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GUJSA akademik yayını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5303520"/>
            <a:ext cx="47548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39 güncel referansla ulusal hakemli dergi formatında.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300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BM498 Mezuniyet Tezi — 04: Sonuç ve Demo Sunumu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2194560" y="960120"/>
            <a:ext cx="7772400" cy="5440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960120"/>
            <a:ext cx="7772400" cy="64008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960120"/>
            <a:ext cx="7772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ÖĞRENCİ İMZA SAYFASI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92024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Öğrenci Adı Soyadı: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0680" y="192024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Hasan Arthur Altuntaş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0" y="224942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4600" y="246888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Öğrenci Numarası: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0680" y="246888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394960" y="279806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4600" y="301752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Bölüm: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301752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Bilgisayar Mühendisliği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0" y="3346703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14600" y="356616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Danışman: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356616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389534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14600" y="411480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Sunum Tarihi: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411480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394960" y="444398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14600" y="466344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Sunum Adı: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466344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Sonuç ve Demo Sunumu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4960" y="499262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14600" y="5440680"/>
            <a:ext cx="27432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İmza: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0" y="5797296"/>
            <a:ext cx="6126480" cy="12801"/>
          </a:xfrm>
          <a:prstGeom prst="rect">
            <a:avLst/>
          </a:prstGeom>
          <a:solidFill>
            <a:srgbClr val="24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0" y="5852160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A7480"/>
                </a:solidFill>
                <a:latin typeface="Calibri"/>
              </a:rPr>
              <a:t>(Öğrenci bu alanı imzalayarak sunumun kendisine ait olduğunu onaylar.)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