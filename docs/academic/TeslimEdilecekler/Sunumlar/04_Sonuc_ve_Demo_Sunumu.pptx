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514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" cy="2514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D99A07"/>
                </a:solidFill>
                <a:latin typeface="Calibri"/>
              </a:rPr>
              <a:t>04 — SONUÇ 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Bulgular ve Çalışan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0" i="0">
                <a:solidFill>
                  <a:srgbClr val="ADC4D6"/>
                </a:solidFill>
                <a:latin typeface="Calibri"/>
              </a:rPr>
              <a:t>LightGBM lider model · gerçek çapraz doğrulama sonuçları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72384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4468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880360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3072384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0,8839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744468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Doğruluk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80360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072384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0,8575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744468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F1-Skoru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2880360"/>
            <a:ext cx="260604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3072384"/>
            <a:ext cx="26060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0,4316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3744468"/>
            <a:ext cx="260604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Youden θ*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17720"/>
            <a:ext cx="11247120" cy="17373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✓  LightGBM, 11 model içinde en yüksek ROC-AUC ve en düşük varyansı (±0,0023) elde etti.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✓  spectral_flatness_std, YZ-insan ayrımındaki en belirleyici öznitelik oldu.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✓  Youden J eşik optimizasyonu, dengesiz sınıf altında dengeli karar sağladı.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Tüm Modellerin Performans Karşılaştırması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16826"/>
            <a:ext cx="7406640" cy="4027851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per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62546"/>
            <a:ext cx="7315200" cy="3936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753821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Şekil 3: Doğruluk, F1 ve ROC-AUC karşılaştırması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9560" y="1627632"/>
            <a:ext cx="391363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09560" y="1627632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9016" y="1746504"/>
            <a:ext cx="35478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Öne çıkanlar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9016" y="2176272"/>
            <a:ext cx="3529584" cy="38679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LightGBM (0,9548) ve Derin ÇKA (0,9542) başa baş.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7 ML modeli ort. %92,75 ROC-AUC; 4 DL modeli ort. %92,32.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1B-ESA hariç tutulduğunda DL ort. %94,62'ye yükseliyor.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 vektör ayırt edici bilginin büyük bölümünü kodluyor — öznitelik mühendisliği model kapasitesinin önüne geçiyor.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Sistem Çalışma Akışı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27632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9928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Müzik dosyası yüklenir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002536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WAV / MP3 formatı kabul edilir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77440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459736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Ön işleme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752344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22.050 Hz'e indirgenir, mono'ya çevrilir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27248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127248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127248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209544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Öznitelik çıkarma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02152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librosa ile 47 boyutlu vektör hesaplanır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77056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877056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877056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959352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Model tahmini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251960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LightGBM yapay zekâ olasılığı üretir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626864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626864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626864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709159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Eşik uygulama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01768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θ*=0,4316 ile sınıf kararı verilir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376672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376672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376672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458968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Açıklama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751576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SHAP ile kararın gerekçesi gösterilir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0" y="1842432"/>
            <a:ext cx="4526279" cy="289881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paper_sco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888152"/>
            <a:ext cx="4434840" cy="280737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920" y="4750391"/>
            <a:ext cx="4434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Şekil 9: P(YZ) olasılık dağılımı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20" y="5074920"/>
            <a:ext cx="4434840" cy="9601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60920" y="5074920"/>
            <a:ext cx="91440" cy="96012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80376" y="5193792"/>
            <a:ext cx="406907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Çıktı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0376" y="5623559"/>
            <a:ext cx="4050791" cy="3017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Sınıf etiketi (YZ / İnsan), güven skoru ve SHAP gerekçesi. Demo videosu Uygulama/ klasöründe.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DEĞERLENDIRME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Akademik Katkı ve Özgün Değer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27632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73936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47 boyutlu heterojen öznitelik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231136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Beş akustik aileyi tek vektörde birleştiren müzik-spesifik temsil.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627632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627632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627632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1773936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11 modelli topluluk öğrenmesi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231136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ML ve DL ailelerinin ortak protokolde sistematik karşılaştırması.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63824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163824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163824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310128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TreeSHAP açıklanabilirlik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767328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Müzik deepfake tespitinde global + yerel öznitelik etkisi.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163824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163824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3163824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3310128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Youden J eşik optimizasyonu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767328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Dengesiz sınıf için θ*=0,4316; varsayılan 0,5'ten üstün denge.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700016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700016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700016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84632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Hafif ve rekabetçi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303520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Derin öğrenme altyapısı olmadan SONICS'e yakın ROC-AUC.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700016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4700016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4700016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84632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GUJSA akademik yayını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5303520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39 güncel referansla ulusal hakemli dergi formatında.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BM498 Mezuniyet Tezi — 04: Sonuç ve Demo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960120"/>
            <a:ext cx="777240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ÖĞRENCİ İMZA SAYFASI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9202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19202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2494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246888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46888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79806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301752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01752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3346703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356616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56616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389534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411480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11480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44398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6634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6634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Sonuç ve Demo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9926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600" y="5440680"/>
            <a:ext cx="27432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5797296"/>
            <a:ext cx="6126480" cy="12801"/>
          </a:xfrm>
          <a:prstGeom prst="rect">
            <a:avLst/>
          </a:prstGeom>
          <a:solidFill>
            <a:srgbClr val="24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5852160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A7480"/>
                </a:solidFill>
                <a:latin typeface="Calibri"/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