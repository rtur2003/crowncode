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04 — Sonuç 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Elde edilen metrikler (LightGBM)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2743200" cy="20116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4884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0A800"/>
                </a:solidFill>
              </a:rPr>
              <a:t>0,9548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803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8D8"/>
                </a:solidFill>
              </a:rPr>
              <a:t>5-katlı CV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600200"/>
            <a:ext cx="2743200" cy="20116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Doğruluk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14884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0A800"/>
                </a:solidFill>
              </a:rPr>
              <a:t>0,8839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8803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8D8"/>
                </a:solidFill>
              </a:rPr>
              <a:t>θ*=0,4316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00200"/>
            <a:ext cx="2743200" cy="20116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F1-Skoru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14884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0A800"/>
                </a:solidFill>
              </a:rPr>
              <a:t>0,8575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8803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8D8"/>
                </a:solidFill>
              </a:rPr>
              <a:t>dengeli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1600200"/>
            <a:ext cx="2743200" cy="20116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Youden θ*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14884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0A800"/>
                </a:solidFill>
              </a:rPr>
              <a:t>0,4316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8803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8D8"/>
                </a:solidFill>
              </a:rPr>
              <a:t>optimum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84048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333333"/>
                </a:solidFill>
              </a:rPr>
              <a:t>LightGBM 11 model içinde en yüksek ROC-AUC (0,9548) değerini sağladı.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3333"/>
                </a:solidFill>
              </a:rPr>
              <a:t>spectral_flatness_std en ayırt edici öznitelik olarak öne çıktı (SHAP).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3333"/>
                </a:solidFill>
              </a:rPr>
              <a:t>Youden J eşik optimizasyonu (θ*=0,4316) dengeli sınıf kararı sağladı.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Model Karşılaştırması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Tüm modellerin ROC-AUC değerleri</a:t>
            </a:r>
          </a:p>
        </p:txBody>
      </p:sp>
      <p:pic>
        <p:nvPicPr>
          <p:cNvPr id="5" name="Picture 4" descr="paper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08760"/>
            <a:ext cx="114300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2362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3: Tüm modellerin performans karşılaştırması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Demo — Sistem Çalışma Akışı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1.  Müzik dosyası yüklenir (WAV / MP3).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2.  Ön işleme: 22 050 Hz, mono.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3.  47 öznitelik çıkarılır (librosa).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4.  LightGBM olasılık üretir.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5.  θ* = 0,4316 eşiği uygulanır.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6.  Çıktı: 'YZ' / 'İnsan' + olasılık skoru.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7.  SHAP ile karar yorumlanır.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Demo videosu teslim paketindedir: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Uygulama/demo_video.mp4</a:t>
            </a:r>
          </a:p>
        </p:txBody>
      </p:sp>
      <p:pic>
        <p:nvPicPr>
          <p:cNvPr id="5" name="Picture 4" descr="paper_scor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08760"/>
            <a:ext cx="548640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6035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9: P(YZ) tahmin olasılık dağılımı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Akademik Katkı ve Özgün Değer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600200"/>
            <a:ext cx="11430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4208"/>
            <a:ext cx="457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A87"/>
                </a:solidFill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47 boyutlu heterojen öznitelik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2082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5 akustik aileden derlenen müzik-spesifik kapsamlı set.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11430000" cy="841248"/>
          </a:xfrm>
          <a:prstGeom prst="rect">
            <a:avLst/>
          </a:prstGeom>
          <a:solidFill>
            <a:srgbClr val="F4F6F8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24327"/>
            <a:ext cx="457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A87"/>
                </a:solidFill>
              </a:rP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39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Topluluk öğrenmesi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8094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11 model — tek model yaklaşımlarının üstünde sonuç.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520440"/>
            <a:ext cx="11430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584448"/>
            <a:ext cx="457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A87"/>
                </a:solidFill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6616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SHAP açıklanabilirlik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4106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Müzik deepfake tespitinde TreeSHAP entegrasyonu.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480560"/>
            <a:ext cx="11430000" cy="841248"/>
          </a:xfrm>
          <a:prstGeom prst="rect">
            <a:avLst/>
          </a:prstGeom>
          <a:solidFill>
            <a:srgbClr val="F4F6F8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544568"/>
            <a:ext cx="457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A87"/>
                </a:solidFill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52628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Youden J optimizasyonu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0118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Dengesiz sınıf için θ*=0,4316 — varsayılan 0,5'ten üstün.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440680"/>
            <a:ext cx="11430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504688"/>
            <a:ext cx="457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A87"/>
                </a:solidFill>
              </a:rPr>
              <a:t>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48640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GUJSA yayını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6130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Ulusal hakemli dergiye gönderilmek üzere hazırlandı.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BM498 — 04: Sonuç ve Demo Sunumu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1005840"/>
            <a:ext cx="7589520" cy="539496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0" y="1115568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D2B55"/>
                </a:solidFill>
              </a:rPr>
              <a:t>ÖĞRENCİ İMZA SAYFASI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691640"/>
            <a:ext cx="7406640" cy="0"/>
          </a:xfrm>
          <a:prstGeom prst="rect">
            <a:avLst/>
          </a:prstGeom>
          <a:ln w="1905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187451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Adı Soyadı: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87451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Hasan Arthur Altuntaş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22128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4231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Numarası: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4231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276148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2971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Bölüm: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9718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Bilgisayar Mühendisliği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331012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352043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Danışman: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52043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349240" y="385876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406907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Tarihi: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406907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4407407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46177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Adı: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46177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Sonuç ve Demo Sunumu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49240" y="49560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0" y="539496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İmza: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6120" y="5742432"/>
            <a:ext cx="6080760" cy="0"/>
          </a:xfrm>
          <a:prstGeom prst="rect">
            <a:avLst/>
          </a:prstGeom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5797296"/>
            <a:ext cx="6080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</a:rPr>
              <a:t>(Öğrenci bu alanı imzalayarak sunumun kendisine ait olduğunu onaylar.)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