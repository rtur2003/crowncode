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4688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64008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A800"/>
                </a:solidFill>
              </a:rPr>
              <a:t>01 — DÖNEM BAŞLANGIÇ SUNUMU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AURIS Proje Önerisi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EC6D6"/>
                </a:solidFill>
              </a:rPr>
              <a:t>Yapay Zekâ Üretimli Müzik Tespitinde Topluluk Öğrenmesi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6949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>Problem: Üretken YZ sistemleri (Suno, Udio, MusicGen) insan kaydından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>ayırt edilemeyen müzik üretiyor; otomatik tespit yöntemi gerekiyor.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>Amaç: %90+ ROC-AUC ile sınıflandırma yapan, açıklanabilir, hafif bir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>tespit sistemi geliştirmek.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>Yaklaşım: 47 boyutlu elle tasarlanmış akustik öznitelik vektörü +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A2A2A"/>
                </a:solidFill>
              </a:rPr>
              <a:t>11 modelden oluşan topluluk öğrenmesi.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2971800"/>
            <a:ext cx="3749039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3096615"/>
            <a:ext cx="3749039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0A800"/>
                </a:solidFill>
              </a:rPr>
              <a:t>5.195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7074"/>
            <a:ext cx="3749039" cy="307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Ses örneği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4069080"/>
            <a:ext cx="3749039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4193895"/>
            <a:ext cx="3749039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0A800"/>
                </a:solidFill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664354"/>
            <a:ext cx="3749039" cy="307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Akustik öznitelik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5166360"/>
            <a:ext cx="3749039" cy="9601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5291175"/>
            <a:ext cx="3749039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0A800"/>
                </a:solidFill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5761634"/>
            <a:ext cx="3749039" cy="307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Sınıflandırma modeli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BÖLÜM 1 · GIRIŞ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Problem Tanımı ve Motivasyon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875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AEC6D6"/>
                </a:solidFill>
              </a:rPr>
              <a:t>Üretken yapay zekânın müzik alanında yarattığı tespit ihtiyacı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5623560" cy="21031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82296" cy="2103120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09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Neden bir sorun?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53035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Metinden müziğe üretim sistemleri son üç yılda araştırma laboratuvarlarından tüketici uygulamalarına taştı. Kullanıcı tek bir metin istemiyle dakikalar içinde tam uzunlukta, deneyimsiz bir dinleyicinin insan bestesinden ayırt edemeyeceği parçalar üretebiliyor.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40480"/>
            <a:ext cx="5623560" cy="228600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840480"/>
            <a:ext cx="82296" cy="2286000"/>
          </a:xfrm>
          <a:prstGeom prst="rect">
            <a:avLst/>
          </a:prstGeom>
          <a:solidFill>
            <a:srgbClr val="B5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9502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Doğurduğu riskler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•  Telif hakkı ihlalleri ve içerik sahipliği belirsizliği
•  Akış platformlarında sahte dinlenme / gelir manipülasyonu
•  Dezenformasyon ve kimlik taklidi
•  Yaratıcı endüstride ekonomik değer kaybı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00200"/>
            <a:ext cx="5623560" cy="4526280"/>
          </a:xfrm>
          <a:prstGeom prst="rect">
            <a:avLst/>
          </a:prstGeom>
          <a:solidFill>
            <a:srgbClr val="E0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600200"/>
            <a:ext cx="82296" cy="452628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1709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Mevcut yöntemlerin yetersizliği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10312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Konuşma için ses derin sahte tespiti (ADD 2022, WaveFake) olgun bir alan; ancak müzik tespiti henüz emekleme aşamasında.
Tespit açıkları:
•  Tek bir akustik temsile (yalnızca MFCC veya yalnızca spektrogram) bağlı kalan yaklaşımlar genelleme yapamıyor.
•  Topluluk (ensemble) öğrenmesi müzik tespitine yeterince uygulanmamış.
•  Kararın hangi akustik özellikten kaynaklandığını açıklayan (SHAP tabanlı) bir sistem yok.
AURIS bu üç boşluğu birlikte ele alıyor.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BÖLÜM 1 · GIRIŞ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Çalışmanın Amacı ve Literatüre Katkısı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</a:rPr>
              <a:t>Araştırma Hedefleri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1168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>
                <a:solidFill>
                  <a:srgbClr val="2A2A2A"/>
                </a:solidFill>
              </a:rPr>
              <a:t>•  Müzik-spesifik, çok aileli 47 boyutlu öznitelik vektörü tasarlamak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A2A2A"/>
                </a:solidFill>
              </a:rPr>
              <a:t>•  Yedi makine öğrenmesi + dört derin öğrenme modelini ortak protokolde karşılaştırmak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A2A2A"/>
                </a:solidFill>
              </a:rPr>
              <a:t>•  5-katlı çapraz doğrulama ile güvenilir, varyansı düşük değerlendirme yapmak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A2A2A"/>
                </a:solidFill>
              </a:rPr>
              <a:t>•  Youden J ile karar eşiğini optimize etmek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A2A2A"/>
                </a:solidFill>
              </a:rPr>
              <a:t>•  TreeSHAP ile kararı açıklanabilir kılmak</a:t>
            </a:r>
          </a:p>
          <a:p>
            <a:pPr>
              <a:spcAft>
                <a:spcPts val="1200"/>
              </a:spcAft>
            </a:pPr>
            <a:r>
              <a:rPr sz="1350">
                <a:solidFill>
                  <a:srgbClr val="2A2A2A"/>
                </a:solidFill>
              </a:rPr>
              <a:t>•  GUJSA formatında akademik yayın üretmek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554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</a:rPr>
              <a:t>Literatürdeki Konumu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057400"/>
            <a:ext cx="5486400" cy="150876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057400"/>
            <a:ext cx="82296" cy="1508760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16712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Özgün değer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560320"/>
            <a:ext cx="5166360" cy="914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AURIS, müzik deepfake tespitinde topluluk öğrenmesi ile SHAP açıklanabilirliğini birleştiren ilk çalışmalardandır.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3749039"/>
            <a:ext cx="5486400" cy="128016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3749039"/>
            <a:ext cx="82296" cy="1280160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385876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Hafiflik avantajı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4251959"/>
            <a:ext cx="516636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Derin öğrenme altyapısı gerektirmeden, elle tasarlanmış özniteliklerle rekabetçi doğruluk hedefleniyor.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5212080"/>
            <a:ext cx="5486400" cy="96012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5212080"/>
            <a:ext cx="82296" cy="960120"/>
          </a:xfrm>
          <a:prstGeom prst="rect">
            <a:avLst/>
          </a:prstGeom>
          <a:solidFill>
            <a:srgbClr val="1A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532180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Açıklanabilirlik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5715000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Her tahmin, hangi akustik özelliğin kararı yönlendirdiğiyle birlikte sunulur.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4864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0A800"/>
                </a:solidFill>
              </a:rPr>
              <a:t>PROJE YÖNETIMI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02336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Çalışma Planı ve Risk Yönetimi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</a:rPr>
              <a:t>10 Haftalık Zaman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Veri toplama ve ön işleme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066544"/>
            <a:ext cx="1627632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084832"/>
            <a:ext cx="1627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H1-2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78608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Öznitelik mühendisliği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19472" y="2633472"/>
            <a:ext cx="1627632" cy="347472"/>
          </a:xfrm>
          <a:prstGeom prst="rect">
            <a:avLst/>
          </a:prstGeom>
          <a:solidFill>
            <a:srgbClr val="007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2651760"/>
            <a:ext cx="1627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H3-4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45536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Model eğitimi ve çapraz doğrulama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104" y="3200400"/>
            <a:ext cx="162763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3218688"/>
            <a:ext cx="1627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H5-6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712464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Değerlendirme ve SHAP analizi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4736" y="3767328"/>
            <a:ext cx="162763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3785616"/>
            <a:ext cx="1627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H7-8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279392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A2A2A"/>
                </a:solidFill>
              </a:rPr>
              <a:t>Yazım, sunum ve teslim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02368" y="4334255"/>
            <a:ext cx="1627632" cy="347472"/>
          </a:xfrm>
          <a:prstGeom prst="rect">
            <a:avLst/>
          </a:prstGeom>
          <a:solidFill>
            <a:srgbClr val="E0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2368" y="4352544"/>
            <a:ext cx="1627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H9-10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029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</a:rPr>
              <a:t>Risk Analizi ve Önlemler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40680"/>
            <a:ext cx="3749039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513832"/>
            <a:ext cx="35295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52A2A"/>
                </a:solidFill>
              </a:rPr>
              <a:t>⚠  Sınıf dengesizliği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5870448"/>
            <a:ext cx="35295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class_weight='balanced', is_unbalance=True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5440680"/>
            <a:ext cx="3749039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5513832"/>
            <a:ext cx="35295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52A2A"/>
                </a:solidFill>
              </a:rPr>
              <a:t>⚠  Aşırı uyum (overfitting)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5870448"/>
            <a:ext cx="35295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5-katlı CV, erken durdurma, düzenlileştirme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5440680"/>
            <a:ext cx="3749039" cy="914400"/>
          </a:xfrm>
          <a:prstGeom prst="rect">
            <a:avLst/>
          </a:prstGeom>
          <a:solidFill>
            <a:srgbClr val="FFFFFF"/>
          </a:solidFill>
          <a:ln w="15240">
            <a:solidFill>
              <a:srgbClr val="B5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56448" y="5513832"/>
            <a:ext cx="35295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52A2A"/>
                </a:solidFill>
              </a:rPr>
              <a:t>⚠  Veri sızıntısı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5870448"/>
            <a:ext cx="35295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A2A2A"/>
                </a:solidFill>
              </a:rPr>
              <a:t>StandardScaler her katta yalnız eğitim verisine fit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10528"/>
            <a:ext cx="8229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707A"/>
                </a:solidFill>
              </a:rPr>
              <a:t>AURIS  ·  Hasan Arthur Altuntaş  ·  BM498 Mezuniyet Tezi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651052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707A"/>
                </a:solidFill>
              </a:rPr>
              <a:t>Düzce Üniversitesi ·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BM498 — 01: Dönem Başlangıç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960120"/>
            <a:ext cx="7589520" cy="5440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078992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27632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105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1051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148840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3774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15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44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44368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282696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1129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49624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7822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7822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16552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45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4515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A2A2A"/>
                </a:solidFill>
              </a:rPr>
              <a:t>Dönem Başlangıç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83480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44068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88152"/>
            <a:ext cx="6080760" cy="0"/>
          </a:xfrm>
          <a:prstGeom prst="rect">
            <a:avLst/>
          </a:prstGeom>
          <a:ln w="19050">
            <a:solidFill>
              <a:srgbClr val="2A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843016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6707A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