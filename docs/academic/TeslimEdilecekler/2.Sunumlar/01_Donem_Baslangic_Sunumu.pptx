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514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14600"/>
            <a:ext cx="12188952" cy="54864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2514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D99A07"/>
                </a:solidFill>
                <a:latin typeface="Calibri"/>
              </a:rPr>
              <a:t>01 — DÖNEM BAŞLANGIÇ SUNUMU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AURIS — Proje Önerisi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0972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 i="0">
                <a:solidFill>
                  <a:srgbClr val="ADC4D6"/>
                </a:solidFill>
                <a:latin typeface="Calibri"/>
              </a:rPr>
              <a:t>Yapay Zekâ Üretimli Müzik Tespitinde Topluluk Öğrenmesi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80360"/>
            <a:ext cx="70408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880360"/>
            <a:ext cx="91440" cy="320040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999232"/>
            <a:ext cx="6675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Projenin Özü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429000"/>
            <a:ext cx="6656832" cy="254203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42A30"/>
                </a:solidFill>
                <a:latin typeface="Calibri"/>
              </a:rPr>
              <a:t>Problem: Üretken YZ sistemleri (Suno, Udio, MusicGen) insan kaydından ayırt edilemeyen müzik üretiyor.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42A30"/>
                </a:solidFill>
                <a:latin typeface="Calibri"/>
              </a:rPr>
              <a:t>Amaç: %90+ ROC-AUC sağlayan, açıklanabilir ve hafif bir tespit sistemi geliştirmek.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42A30"/>
                </a:solidFill>
                <a:latin typeface="Calibri"/>
              </a:rPr>
              <a:t>Yaklaşım: 47 boyutlu elle tasarlanmış akustik öznitelik + 11 modelli topluluk öğrenmesi.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42A30"/>
                </a:solidFill>
                <a:latin typeface="Calibri"/>
              </a:rPr>
              <a:t>Çıktı: Çalışan sistem, GUJSA makalesi, açık kaynak kod.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880360"/>
            <a:ext cx="3886200" cy="96012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3014776"/>
            <a:ext cx="3886200" cy="4800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600" b="1" i="0">
                <a:solidFill>
                  <a:srgbClr val="D99A07"/>
                </a:solidFill>
                <a:latin typeface="Calibri"/>
              </a:rPr>
              <a:t>5.195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485235"/>
            <a:ext cx="3886200" cy="326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Ses örneği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4005072"/>
            <a:ext cx="3886200" cy="96012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139488"/>
            <a:ext cx="3886200" cy="4800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600" b="1" i="0">
                <a:solidFill>
                  <a:srgbClr val="D99A07"/>
                </a:solidFill>
                <a:latin typeface="Calibri"/>
              </a:rPr>
              <a:t>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609947"/>
            <a:ext cx="3886200" cy="326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Akustik öznitelik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5129784"/>
            <a:ext cx="3886200" cy="96012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5264200"/>
            <a:ext cx="3886200" cy="4800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600" b="1" i="0">
                <a:solidFill>
                  <a:srgbClr val="D99A07"/>
                </a:solidFill>
                <a:latin typeface="Calibri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5734659"/>
            <a:ext cx="3886200" cy="326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Sınıflandırma modeli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BÖLÜM 1 · GIRIŞ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Problem Tanımı ve Motivasyon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113385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ADC4D6"/>
                </a:solidFill>
                <a:latin typeface="Calibri"/>
              </a:rPr>
              <a:t>Üretken yapay zekânın müzik alanında doğurduğu tespit ihtiyacı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623560" cy="2057400"/>
          </a:xfrm>
          <a:prstGeom prst="rect">
            <a:avLst/>
          </a:prstGeom>
          <a:solidFill>
            <a:srgbClr val="FF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91440" cy="20574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719072"/>
            <a:ext cx="5257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Neden bir sorun?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148840"/>
            <a:ext cx="5239512" cy="139903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Metinden müziğe üretim sistemleri son üç yılda tüketici uygulamalarına taştı. Kullanıcı tek bir metin istemiyle dakikalar içinde, deneyimsiz dinleyicinin insan bestesinden ayıramayacağı tam uzunlukta parçalar üretebiliyor.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94760"/>
            <a:ext cx="5623560" cy="2240280"/>
          </a:xfrm>
          <a:prstGeom prst="rect">
            <a:avLst/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794760"/>
            <a:ext cx="91440" cy="2240280"/>
          </a:xfrm>
          <a:prstGeom prst="rect">
            <a:avLst/>
          </a:prstGeom>
          <a:solidFill>
            <a:srgbClr val="B3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3913632"/>
            <a:ext cx="5257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Doğan riskler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4343400"/>
            <a:ext cx="5239512" cy="158191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Telif hakkı ihlalleri ve içerik sahipliği belirsizliği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Akış platformlarında sahte dinlenme / gelir manipülasyonu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Dezenformasyon ve üslup / kimlik taklidi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Yaratıcı endüstride ekonomik değer kaybı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600200"/>
            <a:ext cx="5650992" cy="4434840"/>
          </a:xfrm>
          <a:prstGeom prst="rect">
            <a:avLst/>
          </a:prstGeom>
          <a:solidFill>
            <a:srgbClr val="E2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600200"/>
            <a:ext cx="91440" cy="443484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1719072"/>
            <a:ext cx="5285231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Mevcut yöntemler neden yetersiz?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148840"/>
            <a:ext cx="5266944" cy="377647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Konuşma deepfake tespiti (ADD 2022, WaveFake) olgun bir alan; ancak müzik tespiti emekleme aşamasında.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✗  Tek temsile (yalnız MFCC ya da yalnız spektrogram) bağlı yöntemler genelleme yapamıyor.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✗  Topluluk öğrenmesi müzik tespitine yeterince uygulanmamış.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✗  Kararın hangi akustik özellikten geldiğini açıklayan (SHAP) sistem yok.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AURIS bu üç boşluğu birlikte ele alıyor.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BÖLÜM 1 · GIRIŞ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Çalışmanın Amacı ve Literatüre Katkısı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5669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102A4C"/>
                </a:solidFill>
                <a:latin typeface="Calibri"/>
              </a:rPr>
              <a:t>Araştırma Hedefleri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93392"/>
            <a:ext cx="5577840" cy="41148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242A30"/>
                </a:solidFill>
                <a:latin typeface="Calibri"/>
              </a:rPr>
              <a:t>•  Müzik-spesifik, beş aileli 47 boyutlu öznitelik vektörü tasarlamak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242A30"/>
                </a:solidFill>
                <a:latin typeface="Calibri"/>
              </a:rPr>
              <a:t>•  7 ML + 4 DL modelini ortak protokolde karşılaştırmak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242A30"/>
                </a:solidFill>
                <a:latin typeface="Calibri"/>
              </a:rPr>
              <a:t>•  5-katlı çapraz doğrulama ile düşük varyanslı değerlendirme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242A30"/>
                </a:solidFill>
                <a:latin typeface="Calibri"/>
              </a:rPr>
              <a:t>•  Youden J ile karar eşiğini optimize etmek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242A30"/>
                </a:solidFill>
                <a:latin typeface="Calibri"/>
              </a:rPr>
              <a:t>•  TreeSHAP ile kararı açıklanabilir kılmak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00" b="0" i="0">
                <a:solidFill>
                  <a:srgbClr val="242A30"/>
                </a:solidFill>
                <a:latin typeface="Calibri"/>
              </a:rPr>
              <a:t>•  GUJSA formatında akademik yayın üretmek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00200"/>
            <a:ext cx="5559552" cy="1371600"/>
          </a:xfrm>
          <a:prstGeom prst="rect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91440" cy="137160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1719072"/>
            <a:ext cx="519379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Özgün değer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148840"/>
            <a:ext cx="5175504" cy="71323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Müzik deepfake tespitinde topluluk öğrenmesi ile SHAP açıklanabilirliğini birleştiren ilk çalışmalardandır.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108960"/>
            <a:ext cx="5559552" cy="1371600"/>
          </a:xfrm>
          <a:prstGeom prst="rect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108960"/>
            <a:ext cx="91440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3227832"/>
            <a:ext cx="519379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Hafiflik avantajı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3657600"/>
            <a:ext cx="5175504" cy="71323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Derin öğrenme altyapısı gerektirmeden, elle tasarlanmış özniteliklerle rekabetçi doğruluk hedefleniyor.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4617720"/>
            <a:ext cx="5559552" cy="1417320"/>
          </a:xfrm>
          <a:prstGeom prst="rect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617720"/>
            <a:ext cx="91440" cy="1417320"/>
          </a:xfrm>
          <a:prstGeom prst="rect">
            <a:avLst/>
          </a:prstGeom>
          <a:solidFill>
            <a:srgbClr val="1B6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4736592"/>
            <a:ext cx="519379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Açıklanabilirlik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5166359"/>
            <a:ext cx="5175504" cy="75895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Her tahmin, kararı yönlendiren akustik özelliklerle birlikte sunulur — kara kutu değil.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PROJE YÖNETIMI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Çalışma Planı ve Risk Yönetimi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102A4C"/>
                </a:solidFill>
                <a:latin typeface="Calibri"/>
              </a:rPr>
              <a:t>10 Haftalık Zaman Planı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3200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Veri toplama ve ön işleme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075688"/>
            <a:ext cx="1572768" cy="329184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075688"/>
            <a:ext cx="157276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60320"/>
            <a:ext cx="3200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Öznitelik mühendisliği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0368" y="2624328"/>
            <a:ext cx="1572768" cy="329184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2624328"/>
            <a:ext cx="157276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108960"/>
            <a:ext cx="3200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Model eğitimi ve çapraz doğrulama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03136" y="3172968"/>
            <a:ext cx="1572768" cy="329184"/>
          </a:xfrm>
          <a:prstGeom prst="rect">
            <a:avLst/>
          </a:prstGeom>
          <a:solidFill>
            <a:srgbClr val="2E5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3136" y="3172968"/>
            <a:ext cx="157276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H5–6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657600"/>
            <a:ext cx="3200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Değerlendirme ve SHAP analizi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75904" y="3721608"/>
            <a:ext cx="1572768" cy="329184"/>
          </a:xfrm>
          <a:prstGeom prst="rect">
            <a:avLst/>
          </a:prstGeom>
          <a:solidFill>
            <a:srgbClr val="2E5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721608"/>
            <a:ext cx="157276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206240"/>
            <a:ext cx="3200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Yazım, sunum ve teslim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48672" y="4270248"/>
            <a:ext cx="1572768" cy="329184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48672" y="4270248"/>
            <a:ext cx="1572768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H9–10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92040"/>
            <a:ext cx="11430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102A4C"/>
                </a:solidFill>
                <a:latin typeface="Calibri"/>
              </a:rPr>
              <a:t>Risk Analizi ve Önlemler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21808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329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321808"/>
            <a:ext cx="82296" cy="914400"/>
          </a:xfrm>
          <a:prstGeom prst="rect">
            <a:avLst/>
          </a:prstGeom>
          <a:solidFill>
            <a:srgbClr val="B3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94960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B32929"/>
                </a:solidFill>
                <a:latin typeface="Calibri"/>
              </a:rPr>
              <a:t>⚠  Sınıf dengesizliği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42432"/>
            <a:ext cx="34290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class_weight='balanced', is_unbalance=True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15384" y="5321808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329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15384" y="5321808"/>
            <a:ext cx="82296" cy="914400"/>
          </a:xfrm>
          <a:prstGeom prst="rect">
            <a:avLst/>
          </a:prstGeom>
          <a:solidFill>
            <a:srgbClr val="B3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98264" y="5394960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B32929"/>
                </a:solidFill>
                <a:latin typeface="Calibri"/>
              </a:rPr>
              <a:t>⚠  Aşırı uyum (overfitting)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8264" y="5742432"/>
            <a:ext cx="34290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5-katlı CV, erken durdurma, düzenlileştirme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65008" y="5321808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329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5008" y="5321808"/>
            <a:ext cx="82296" cy="914400"/>
          </a:xfrm>
          <a:prstGeom prst="rect">
            <a:avLst/>
          </a:prstGeom>
          <a:solidFill>
            <a:srgbClr val="B3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7888" y="5394960"/>
            <a:ext cx="3429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B32929"/>
                </a:solidFill>
                <a:latin typeface="Calibri"/>
              </a:rPr>
              <a:t>⚠  Veri sızıntısı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5742432"/>
            <a:ext cx="342900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Scaler her katta yalnız eğitim verisine fit edilir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114300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BM498 Mezuniyet Tezi — 01: Dönem Başlangıç Sunumu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0" y="960120"/>
            <a:ext cx="7772400" cy="5440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4560" y="960120"/>
            <a:ext cx="7772400" cy="64008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960120"/>
            <a:ext cx="7772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ÖĞRENCİ İMZA SAYFASI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920240"/>
            <a:ext cx="2834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02A4C"/>
                </a:solidFill>
                <a:latin typeface="Calibri"/>
              </a:rPr>
              <a:t>Öğrenci Adı Soyadı: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0" y="1920240"/>
            <a:ext cx="4206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42A30"/>
                </a:solidFill>
                <a:latin typeface="Calibri"/>
              </a:rPr>
              <a:t>Hasan Arthur Altuntaş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2249424"/>
            <a:ext cx="4297680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468880"/>
            <a:ext cx="2834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02A4C"/>
                </a:solidFill>
                <a:latin typeface="Calibri"/>
              </a:rPr>
              <a:t>Öğrenci Numarası: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2468880"/>
            <a:ext cx="4206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42A30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2798064"/>
            <a:ext cx="4297680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3017520"/>
            <a:ext cx="2834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02A4C"/>
                </a:solidFill>
                <a:latin typeface="Calibri"/>
              </a:rPr>
              <a:t>Bölüm: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3017520"/>
            <a:ext cx="4206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42A30"/>
                </a:solidFill>
                <a:latin typeface="Calibri"/>
              </a:rPr>
              <a:t>Bilgisayar Mühendisliği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3346703"/>
            <a:ext cx="4297680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3566160"/>
            <a:ext cx="2834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02A4C"/>
                </a:solidFill>
                <a:latin typeface="Calibri"/>
              </a:rPr>
              <a:t>Danışman: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3566160"/>
            <a:ext cx="4206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42A30"/>
                </a:solidFill>
                <a:latin typeface="Calibr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3895344"/>
            <a:ext cx="4297680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4114800"/>
            <a:ext cx="2834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02A4C"/>
                </a:solidFill>
                <a:latin typeface="Calibri"/>
              </a:rPr>
              <a:t>Sunum Tarihi: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4114800"/>
            <a:ext cx="4206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42A30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4443984"/>
            <a:ext cx="4297680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663440"/>
            <a:ext cx="2834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02A4C"/>
                </a:solidFill>
                <a:latin typeface="Calibri"/>
              </a:rPr>
              <a:t>Sunum Adı: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4663440"/>
            <a:ext cx="4206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42A30"/>
                </a:solidFill>
                <a:latin typeface="Calibri"/>
              </a:rPr>
              <a:t>Dönem Başlangıç Sunumu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4992624"/>
            <a:ext cx="4297680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5440680"/>
            <a:ext cx="274320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İmza: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5797296"/>
            <a:ext cx="6126480" cy="12801"/>
          </a:xfrm>
          <a:prstGeom prst="rect">
            <a:avLst/>
          </a:prstGeom>
          <a:solidFill>
            <a:srgbClr val="24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5852160"/>
            <a:ext cx="6126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6A7480"/>
                </a:solidFill>
                <a:latin typeface="Calibri"/>
              </a:rPr>
              <a:t>(Öğrenci bu alanı imzalayarak sunumun kendisine ait olduğunu onaylar.)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